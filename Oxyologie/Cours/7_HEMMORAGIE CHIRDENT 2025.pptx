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44" r:id="rId1"/>
  </p:sldMasterIdLst>
  <p:notesMasterIdLst>
    <p:notesMasterId r:id="rId31"/>
  </p:notesMasterIdLst>
  <p:sldIdLst>
    <p:sldId id="272" r:id="rId2"/>
    <p:sldId id="257" r:id="rId3"/>
    <p:sldId id="259" r:id="rId4"/>
    <p:sldId id="282" r:id="rId5"/>
    <p:sldId id="285" r:id="rId6"/>
    <p:sldId id="284" r:id="rId7"/>
    <p:sldId id="283" r:id="rId8"/>
    <p:sldId id="260" r:id="rId9"/>
    <p:sldId id="274" r:id="rId10"/>
    <p:sldId id="276" r:id="rId11"/>
    <p:sldId id="277" r:id="rId12"/>
    <p:sldId id="278" r:id="rId13"/>
    <p:sldId id="261" r:id="rId14"/>
    <p:sldId id="273" r:id="rId15"/>
    <p:sldId id="275" r:id="rId16"/>
    <p:sldId id="262" r:id="rId17"/>
    <p:sldId id="263" r:id="rId18"/>
    <p:sldId id="264" r:id="rId19"/>
    <p:sldId id="265" r:id="rId20"/>
    <p:sldId id="266" r:id="rId21"/>
    <p:sldId id="286" r:id="rId22"/>
    <p:sldId id="287" r:id="rId23"/>
    <p:sldId id="288" r:id="rId24"/>
    <p:sldId id="289" r:id="rId25"/>
    <p:sldId id="291" r:id="rId26"/>
    <p:sldId id="280" r:id="rId27"/>
    <p:sldId id="290" r:id="rId28"/>
    <p:sldId id="267" r:id="rId29"/>
    <p:sldId id="270" r:id="rId30"/>
  </p:sldIdLst>
  <p:sldSz cx="9144000" cy="6858000" type="screen4x3"/>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7971" autoAdjust="0"/>
  </p:normalViewPr>
  <p:slideViewPr>
    <p:cSldViewPr>
      <p:cViewPr varScale="1">
        <p:scale>
          <a:sx n="69" d="100"/>
          <a:sy n="69" d="100"/>
        </p:scale>
        <p:origin x="1200" y="44"/>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bleStyles" Target="tableStyle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8AD9824-3C74-4510-90A7-AB8580622B7B}" type="datetimeFigureOut">
              <a:rPr lang="fr-FR" smtClean="0"/>
              <a:t>07/01/2025</a:t>
            </a:fld>
            <a:endParaRPr lang="fr-FR"/>
          </a:p>
        </p:txBody>
      </p:sp>
      <p:sp>
        <p:nvSpPr>
          <p:cNvPr id="4" name="Espace réservé de l'image des diapositives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commentair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2889B6E-FF2A-48B7-95D0-6E883B3468B4}" type="slidenum">
              <a:rPr lang="fr-FR" smtClean="0"/>
              <a:t>‹N°›</a:t>
            </a:fld>
            <a:endParaRPr lang="fr-FR"/>
          </a:p>
        </p:txBody>
      </p:sp>
    </p:spTree>
    <p:extLst>
      <p:ext uri="{BB962C8B-B14F-4D97-AF65-F5344CB8AC3E}">
        <p14:creationId xmlns:p14="http://schemas.microsoft.com/office/powerpoint/2010/main" val="400065686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pPr fontAlgn="base">
              <a:buFont typeface="Wingdings" panose="05000000000000000000" pitchFamily="2" charset="2"/>
              <a:buNone/>
            </a:pPr>
            <a:endParaRPr lang="fr-FR" dirty="0"/>
          </a:p>
          <a:p>
            <a:pPr fontAlgn="base"/>
            <a:endParaRPr lang="fr-FR" dirty="0"/>
          </a:p>
        </p:txBody>
      </p:sp>
      <p:sp>
        <p:nvSpPr>
          <p:cNvPr id="4" name="Espace réservé du numéro de diapositive 3"/>
          <p:cNvSpPr>
            <a:spLocks noGrp="1"/>
          </p:cNvSpPr>
          <p:nvPr>
            <p:ph type="sldNum" sz="quarter" idx="10"/>
          </p:nvPr>
        </p:nvSpPr>
        <p:spPr/>
        <p:txBody>
          <a:bodyPr/>
          <a:lstStyle/>
          <a:p>
            <a:fld id="{F2889B6E-FF2A-48B7-95D0-6E883B3468B4}" type="slidenum">
              <a:rPr lang="fr-FR" smtClean="0"/>
              <a:t>24</a:t>
            </a:fld>
            <a:endParaRPr lang="fr-FR"/>
          </a:p>
        </p:txBody>
      </p:sp>
    </p:spTree>
    <p:extLst>
      <p:ext uri="{BB962C8B-B14F-4D97-AF65-F5344CB8AC3E}">
        <p14:creationId xmlns:p14="http://schemas.microsoft.com/office/powerpoint/2010/main" val="113896247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Diapositive de titre">
    <p:bg>
      <p:bgRef idx="1003">
        <a:schemeClr val="bg1"/>
      </p:bgRef>
    </p:bg>
    <p:spTree>
      <p:nvGrpSpPr>
        <p:cNvPr id="1" name=""/>
        <p:cNvGrpSpPr/>
        <p:nvPr/>
      </p:nvGrpSpPr>
      <p:grpSpPr>
        <a:xfrm>
          <a:off x="0" y="0"/>
          <a:ext cx="0" cy="0"/>
          <a:chOff x="0" y="0"/>
          <a:chExt cx="0" cy="0"/>
        </a:xfrm>
      </p:grpSpPr>
      <p:sp>
        <p:nvSpPr>
          <p:cNvPr id="12" name="Rectangle 11"/>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useBgFill="1">
        <p:nvSpPr>
          <p:cNvPr id="13" name="Rectangle à coins arrondis 12"/>
          <p:cNvSpPr/>
          <p:nvPr/>
        </p:nvSpPr>
        <p:spPr>
          <a:xfrm>
            <a:off x="65313" y="69755"/>
            <a:ext cx="9013372" cy="6692201"/>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eaLnBrk="1" latinLnBrk="0" hangingPunct="1"/>
            <a:endParaRPr kumimoji="0" lang="en-US"/>
          </a:p>
        </p:txBody>
      </p:sp>
      <p:sp>
        <p:nvSpPr>
          <p:cNvPr id="9" name="Sous-titre 8"/>
          <p:cNvSpPr>
            <a:spLocks noGrp="1"/>
          </p:cNvSpPr>
          <p:nvPr>
            <p:ph type="subTitle" idx="1"/>
          </p:nvPr>
        </p:nvSpPr>
        <p:spPr>
          <a:xfrm>
            <a:off x="1295400" y="3200400"/>
            <a:ext cx="6400800" cy="1600200"/>
          </a:xfrm>
        </p:spPr>
        <p:txBody>
          <a:bodyPr/>
          <a:lstStyle>
            <a:lvl1pPr marL="0" indent="0" algn="ctr">
              <a:buNone/>
              <a:defRPr sz="2600">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fr-FR"/>
              <a:t>Cliquez pour modifier le style des sous-titres du masque</a:t>
            </a:r>
            <a:endParaRPr kumimoji="0" lang="en-US"/>
          </a:p>
        </p:txBody>
      </p:sp>
      <p:sp>
        <p:nvSpPr>
          <p:cNvPr id="28" name="Espace réservé de la date 27"/>
          <p:cNvSpPr>
            <a:spLocks noGrp="1"/>
          </p:cNvSpPr>
          <p:nvPr>
            <p:ph type="dt" sz="half" idx="10"/>
          </p:nvPr>
        </p:nvSpPr>
        <p:spPr/>
        <p:txBody>
          <a:bodyPr/>
          <a:lstStyle/>
          <a:p>
            <a:fld id="{C533E725-A526-486A-A3D5-10088E54BCC3}" type="datetimeFigureOut">
              <a:rPr lang="fr-FR" smtClean="0"/>
              <a:pPr/>
              <a:t>07/01/2025</a:t>
            </a:fld>
            <a:endParaRPr lang="fr-FR"/>
          </a:p>
        </p:txBody>
      </p:sp>
      <p:sp>
        <p:nvSpPr>
          <p:cNvPr id="17" name="Espace réservé du pied de page 16"/>
          <p:cNvSpPr>
            <a:spLocks noGrp="1"/>
          </p:cNvSpPr>
          <p:nvPr>
            <p:ph type="ftr" sz="quarter" idx="11"/>
          </p:nvPr>
        </p:nvSpPr>
        <p:spPr/>
        <p:txBody>
          <a:bodyPr/>
          <a:lstStyle/>
          <a:p>
            <a:endParaRPr lang="fr-FR"/>
          </a:p>
        </p:txBody>
      </p:sp>
      <p:sp>
        <p:nvSpPr>
          <p:cNvPr id="29" name="Espace réservé du numéro de diapositive 28"/>
          <p:cNvSpPr>
            <a:spLocks noGrp="1"/>
          </p:cNvSpPr>
          <p:nvPr>
            <p:ph type="sldNum" sz="quarter" idx="12"/>
          </p:nvPr>
        </p:nvSpPr>
        <p:spPr/>
        <p:txBody>
          <a:bodyPr lIns="0" tIns="0" rIns="0" bIns="0">
            <a:noAutofit/>
          </a:bodyPr>
          <a:lstStyle>
            <a:lvl1pPr>
              <a:defRPr sz="1400">
                <a:solidFill>
                  <a:srgbClr val="FFFFFF"/>
                </a:solidFill>
              </a:defRPr>
            </a:lvl1pPr>
          </a:lstStyle>
          <a:p>
            <a:fld id="{A0805FAA-67CB-4677-B4EC-5067B7020BAE}" type="slidenum">
              <a:rPr lang="fr-FR" smtClean="0"/>
              <a:pPr/>
              <a:t>‹N°›</a:t>
            </a:fld>
            <a:endParaRPr lang="fr-FR"/>
          </a:p>
        </p:txBody>
      </p:sp>
      <p:sp>
        <p:nvSpPr>
          <p:cNvPr id="7" name="Rectangle 6"/>
          <p:cNvSpPr/>
          <p:nvPr/>
        </p:nvSpPr>
        <p:spPr>
          <a:xfrm>
            <a:off x="62931" y="1449303"/>
            <a:ext cx="9021537" cy="1527349"/>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Rectangle 9"/>
          <p:cNvSpPr/>
          <p:nvPr/>
        </p:nvSpPr>
        <p:spPr>
          <a:xfrm>
            <a:off x="62931" y="1396720"/>
            <a:ext cx="9021537" cy="120580"/>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Rectangle 10"/>
          <p:cNvSpPr/>
          <p:nvPr/>
        </p:nvSpPr>
        <p:spPr>
          <a:xfrm>
            <a:off x="62931" y="2976649"/>
            <a:ext cx="9021537" cy="110532"/>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Titre 7"/>
          <p:cNvSpPr>
            <a:spLocks noGrp="1"/>
          </p:cNvSpPr>
          <p:nvPr>
            <p:ph type="ctrTitle"/>
          </p:nvPr>
        </p:nvSpPr>
        <p:spPr>
          <a:xfrm>
            <a:off x="457200" y="1505930"/>
            <a:ext cx="8229600" cy="1470025"/>
          </a:xfrm>
        </p:spPr>
        <p:txBody>
          <a:bodyPr anchor="ctr"/>
          <a:lstStyle>
            <a:lvl1pPr algn="ctr">
              <a:defRPr lang="en-US" dirty="0">
                <a:solidFill>
                  <a:srgbClr val="FFFFFF"/>
                </a:solidFill>
              </a:defRPr>
            </a:lvl1pPr>
          </a:lstStyle>
          <a:p>
            <a:r>
              <a:rPr kumimoji="0" lang="fr-FR"/>
              <a:t>Cliquez pour modifier le style du titre</a:t>
            </a:r>
            <a:endParaRPr kumimoji="0" lang="en-US"/>
          </a:p>
        </p:txBody>
      </p:sp>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kumimoji="0" lang="fr-FR"/>
              <a:t>Cliquez pour modifier le style du titre</a:t>
            </a:r>
            <a:endParaRPr kumimoji="0" lang="en-US"/>
          </a:p>
        </p:txBody>
      </p:sp>
      <p:sp>
        <p:nvSpPr>
          <p:cNvPr id="4" name="Espace réservé de la date 3"/>
          <p:cNvSpPr>
            <a:spLocks noGrp="1"/>
          </p:cNvSpPr>
          <p:nvPr>
            <p:ph type="dt" sz="half" idx="10"/>
          </p:nvPr>
        </p:nvSpPr>
        <p:spPr/>
        <p:txBody>
          <a:bodyPr/>
          <a:lstStyle/>
          <a:p>
            <a:fld id="{C533E725-A526-486A-A3D5-10088E54BCC3}" type="datetimeFigureOut">
              <a:rPr lang="fr-FR" smtClean="0"/>
              <a:pPr/>
              <a:t>07/01/2025</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A0805FAA-67CB-4677-B4EC-5067B7020BAE}" type="slidenum">
              <a:rPr lang="fr-FR" smtClean="0"/>
              <a:pPr/>
              <a:t>‹N°›</a:t>
            </a:fld>
            <a:endParaRPr lang="fr-FR"/>
          </a:p>
        </p:txBody>
      </p:sp>
      <p:sp>
        <p:nvSpPr>
          <p:cNvPr id="8" name="Espace réservé du contenu 7"/>
          <p:cNvSpPr>
            <a:spLocks noGrp="1"/>
          </p:cNvSpPr>
          <p:nvPr>
            <p:ph sz="quarter" idx="1"/>
          </p:nvPr>
        </p:nvSpPr>
        <p:spPr>
          <a:xfrm>
            <a:off x="914400" y="1447800"/>
            <a:ext cx="7772400" cy="4572000"/>
          </a:xfrm>
        </p:spPr>
        <p:txBody>
          <a:bodyPr vert="horz"/>
          <a:lstStyle/>
          <a:p>
            <a:pPr lvl="0" eaLnBrk="1" latinLnBrk="0" hangingPunct="1"/>
            <a:r>
              <a:rPr lang="fr-FR"/>
              <a:t>Cliquez pour modifier les styles du texte du masque</a:t>
            </a:r>
          </a:p>
          <a:p>
            <a:pPr lvl="1" eaLnBrk="1" latinLnBrk="0" hangingPunct="1"/>
            <a:r>
              <a:rPr lang="fr-FR"/>
              <a:t>Deuxième niveau</a:t>
            </a:r>
          </a:p>
          <a:p>
            <a:pPr lvl="2" eaLnBrk="1" latinLnBrk="0" hangingPunct="1"/>
            <a:r>
              <a:rPr lang="fr-FR"/>
              <a:t>Troisième niveau</a:t>
            </a:r>
          </a:p>
          <a:p>
            <a:pPr lvl="3" eaLnBrk="1" latinLnBrk="0" hangingPunct="1"/>
            <a:r>
              <a:rPr lang="fr-FR"/>
              <a:t>Quatrième niveau</a:t>
            </a:r>
          </a:p>
          <a:p>
            <a:pPr lvl="4" eaLnBrk="1" latinLnBrk="0" hangingPunct="1"/>
            <a:r>
              <a:rPr lang="fr-FR"/>
              <a:t>Cinquième niveau</a:t>
            </a:r>
            <a:endParaRPr kumimoji="0"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Titre de section">
    <p:bg>
      <p:bgRef idx="1003">
        <a:schemeClr val="bg1"/>
      </p:bgRef>
    </p:bg>
    <p:spTree>
      <p:nvGrpSpPr>
        <p:cNvPr id="1" name=""/>
        <p:cNvGrpSpPr/>
        <p:nvPr/>
      </p:nvGrpSpPr>
      <p:grpSpPr>
        <a:xfrm>
          <a:off x="0" y="0"/>
          <a:ext cx="0" cy="0"/>
          <a:chOff x="0" y="0"/>
          <a:chExt cx="0" cy="0"/>
        </a:xfrm>
      </p:grpSpPr>
      <p:sp>
        <p:nvSpPr>
          <p:cNvPr id="11" name="Rectangle 10"/>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useBgFill="1">
        <p:nvSpPr>
          <p:cNvPr id="10" name="Rectangle à coins arrondis 9"/>
          <p:cNvSpPr/>
          <p:nvPr/>
        </p:nvSpPr>
        <p:spPr>
          <a:xfrm>
            <a:off x="65313" y="69755"/>
            <a:ext cx="9013372" cy="6692201"/>
          </a:xfrm>
          <a:prstGeom prst="roundRect">
            <a:avLst>
              <a:gd name="adj" fmla="val 4929"/>
            </a:avLst>
          </a:prstGeom>
          <a:ln w="6350" cap="sq" cmpd="sng" algn="ctr">
            <a:solidFill>
              <a:schemeClr val="tx1">
                <a:alpha val="100000"/>
              </a:schemeClr>
            </a:solidFill>
            <a:prstDash val="solid"/>
          </a:ln>
          <a:effectLst/>
        </p:spPr>
        <p:style>
          <a:lnRef idx="3">
            <a:schemeClr val="lt1"/>
          </a:lnRef>
          <a:fillRef idx="1003">
            <a:schemeClr val="lt1"/>
          </a:fillRef>
          <a:effectRef idx="1">
            <a:schemeClr val="accent1"/>
          </a:effectRef>
          <a:fontRef idx="minor">
            <a:schemeClr val="lt1"/>
          </a:fontRef>
        </p:style>
        <p:txBody>
          <a:bodyPr anchor="ctr"/>
          <a:lstStyle/>
          <a:p>
            <a:pPr algn="ctr" eaLnBrk="1" latinLnBrk="0" hangingPunct="1"/>
            <a:endParaRPr kumimoji="0" lang="en-US"/>
          </a:p>
        </p:txBody>
      </p:sp>
      <p:sp>
        <p:nvSpPr>
          <p:cNvPr id="2" name="Titre 1"/>
          <p:cNvSpPr>
            <a:spLocks noGrp="1"/>
          </p:cNvSpPr>
          <p:nvPr>
            <p:ph type="title"/>
          </p:nvPr>
        </p:nvSpPr>
        <p:spPr>
          <a:xfrm>
            <a:off x="722313" y="952500"/>
            <a:ext cx="7772400" cy="1362075"/>
          </a:xfrm>
        </p:spPr>
        <p:txBody>
          <a:bodyPr anchor="b" anchorCtr="0"/>
          <a:lstStyle>
            <a:lvl1pPr algn="l">
              <a:buNone/>
              <a:defRPr sz="4000" b="0" cap="none"/>
            </a:lvl1pPr>
          </a:lstStyle>
          <a:p>
            <a:r>
              <a:rPr kumimoji="0" lang="fr-FR"/>
              <a:t>Cliquez pour modifier le style du titre</a:t>
            </a:r>
            <a:endParaRPr kumimoji="0" lang="en-US"/>
          </a:p>
        </p:txBody>
      </p:sp>
      <p:sp>
        <p:nvSpPr>
          <p:cNvPr id="3" name="Espace réservé du texte 2"/>
          <p:cNvSpPr>
            <a:spLocks noGrp="1"/>
          </p:cNvSpPr>
          <p:nvPr>
            <p:ph type="body" idx="1"/>
          </p:nvPr>
        </p:nvSpPr>
        <p:spPr>
          <a:xfrm>
            <a:off x="722313" y="2547938"/>
            <a:ext cx="7772400" cy="1338262"/>
          </a:xfrm>
        </p:spPr>
        <p:txBody>
          <a:bodyPr anchor="t" anchorCtr="0"/>
          <a:lstStyle>
            <a:lvl1pPr marL="0" indent="0">
              <a:buNone/>
              <a:defRPr sz="2400">
                <a:solidFill>
                  <a:schemeClr val="tx1">
                    <a:tint val="75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fr-FR"/>
              <a:t>Cliquez pour modifier les styles du texte du masque</a:t>
            </a:r>
          </a:p>
        </p:txBody>
      </p:sp>
      <p:sp>
        <p:nvSpPr>
          <p:cNvPr id="4" name="Espace réservé de la date 3"/>
          <p:cNvSpPr>
            <a:spLocks noGrp="1"/>
          </p:cNvSpPr>
          <p:nvPr>
            <p:ph type="dt" sz="half" idx="10"/>
          </p:nvPr>
        </p:nvSpPr>
        <p:spPr/>
        <p:txBody>
          <a:bodyPr/>
          <a:lstStyle/>
          <a:p>
            <a:fld id="{C533E725-A526-486A-A3D5-10088E54BCC3}" type="datetimeFigureOut">
              <a:rPr lang="fr-FR" smtClean="0"/>
              <a:pPr/>
              <a:t>07/01/2025</a:t>
            </a:fld>
            <a:endParaRPr lang="fr-FR"/>
          </a:p>
        </p:txBody>
      </p:sp>
      <p:sp>
        <p:nvSpPr>
          <p:cNvPr id="5" name="Espace réservé du pied de page 4"/>
          <p:cNvSpPr>
            <a:spLocks noGrp="1"/>
          </p:cNvSpPr>
          <p:nvPr>
            <p:ph type="ftr" sz="quarter" idx="11"/>
          </p:nvPr>
        </p:nvSpPr>
        <p:spPr>
          <a:xfrm>
            <a:off x="800100" y="6172200"/>
            <a:ext cx="4000500" cy="457200"/>
          </a:xfrm>
        </p:spPr>
        <p:txBody>
          <a:bodyPr/>
          <a:lstStyle/>
          <a:p>
            <a:endParaRPr lang="fr-FR"/>
          </a:p>
        </p:txBody>
      </p:sp>
      <p:sp>
        <p:nvSpPr>
          <p:cNvPr id="7" name="Rectangle 6"/>
          <p:cNvSpPr/>
          <p:nvPr/>
        </p:nvSpPr>
        <p:spPr>
          <a:xfrm flipV="1">
            <a:off x="69412" y="2376830"/>
            <a:ext cx="9013515" cy="91440"/>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Rectangle 7"/>
          <p:cNvSpPr/>
          <p:nvPr/>
        </p:nvSpPr>
        <p:spPr>
          <a:xfrm>
            <a:off x="69146" y="2341475"/>
            <a:ext cx="9013781" cy="45719"/>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Rectangle 8"/>
          <p:cNvSpPr/>
          <p:nvPr/>
        </p:nvSpPr>
        <p:spPr>
          <a:xfrm>
            <a:off x="68306" y="2468880"/>
            <a:ext cx="9014621" cy="45720"/>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6" name="Espace réservé du numéro de diapositive 5"/>
          <p:cNvSpPr>
            <a:spLocks noGrp="1"/>
          </p:cNvSpPr>
          <p:nvPr>
            <p:ph type="sldNum" sz="quarter" idx="12"/>
          </p:nvPr>
        </p:nvSpPr>
        <p:spPr>
          <a:xfrm>
            <a:off x="146304" y="6208776"/>
            <a:ext cx="457200" cy="457200"/>
          </a:xfrm>
        </p:spPr>
        <p:txBody>
          <a:bodyPr/>
          <a:lstStyle/>
          <a:p>
            <a:fld id="{A0805FAA-67CB-4677-B4EC-5067B7020BAE}" type="slidenum">
              <a:rPr lang="fr-FR" smtClean="0"/>
              <a:pPr/>
              <a:t>‹N°›</a:t>
            </a:fld>
            <a:endParaRPr lang="fr-FR"/>
          </a:p>
        </p:txBody>
      </p:sp>
    </p:spTree>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kumimoji="0" lang="fr-FR"/>
              <a:t>Cliquez pour modifier le style du titre</a:t>
            </a:r>
            <a:endParaRPr kumimoji="0" lang="en-US"/>
          </a:p>
        </p:txBody>
      </p:sp>
      <p:sp>
        <p:nvSpPr>
          <p:cNvPr id="5" name="Espace réservé de la date 4"/>
          <p:cNvSpPr>
            <a:spLocks noGrp="1"/>
          </p:cNvSpPr>
          <p:nvPr>
            <p:ph type="dt" sz="half" idx="10"/>
          </p:nvPr>
        </p:nvSpPr>
        <p:spPr/>
        <p:txBody>
          <a:bodyPr/>
          <a:lstStyle/>
          <a:p>
            <a:fld id="{C533E725-A526-486A-A3D5-10088E54BCC3}" type="datetimeFigureOut">
              <a:rPr lang="fr-FR" smtClean="0"/>
              <a:pPr/>
              <a:t>07/01/2025</a:t>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A0805FAA-67CB-4677-B4EC-5067B7020BAE}" type="slidenum">
              <a:rPr lang="fr-FR" smtClean="0"/>
              <a:pPr/>
              <a:t>‹N°›</a:t>
            </a:fld>
            <a:endParaRPr lang="fr-FR"/>
          </a:p>
        </p:txBody>
      </p:sp>
      <p:sp>
        <p:nvSpPr>
          <p:cNvPr id="9" name="Espace réservé du contenu 8"/>
          <p:cNvSpPr>
            <a:spLocks noGrp="1"/>
          </p:cNvSpPr>
          <p:nvPr>
            <p:ph sz="quarter" idx="1"/>
          </p:nvPr>
        </p:nvSpPr>
        <p:spPr>
          <a:xfrm>
            <a:off x="914400" y="1447800"/>
            <a:ext cx="3749040" cy="4572000"/>
          </a:xfrm>
        </p:spPr>
        <p:txBody>
          <a:bodyPr vert="horz"/>
          <a:lstStyle/>
          <a:p>
            <a:pPr lvl="0" eaLnBrk="1" latinLnBrk="0" hangingPunct="1"/>
            <a:r>
              <a:rPr lang="fr-FR"/>
              <a:t>Cliquez pour modifier les styles du texte du masque</a:t>
            </a:r>
          </a:p>
          <a:p>
            <a:pPr lvl="1" eaLnBrk="1" latinLnBrk="0" hangingPunct="1"/>
            <a:r>
              <a:rPr lang="fr-FR"/>
              <a:t>Deuxième niveau</a:t>
            </a:r>
          </a:p>
          <a:p>
            <a:pPr lvl="2" eaLnBrk="1" latinLnBrk="0" hangingPunct="1"/>
            <a:r>
              <a:rPr lang="fr-FR"/>
              <a:t>Troisième niveau</a:t>
            </a:r>
          </a:p>
          <a:p>
            <a:pPr lvl="3" eaLnBrk="1" latinLnBrk="0" hangingPunct="1"/>
            <a:r>
              <a:rPr lang="fr-FR"/>
              <a:t>Quatrième niveau</a:t>
            </a:r>
          </a:p>
          <a:p>
            <a:pPr lvl="4" eaLnBrk="1" latinLnBrk="0" hangingPunct="1"/>
            <a:r>
              <a:rPr lang="fr-FR"/>
              <a:t>Cinquième niveau</a:t>
            </a:r>
            <a:endParaRPr kumimoji="0" lang="en-US"/>
          </a:p>
        </p:txBody>
      </p:sp>
      <p:sp>
        <p:nvSpPr>
          <p:cNvPr id="11" name="Espace réservé du contenu 10"/>
          <p:cNvSpPr>
            <a:spLocks noGrp="1"/>
          </p:cNvSpPr>
          <p:nvPr>
            <p:ph sz="quarter" idx="2"/>
          </p:nvPr>
        </p:nvSpPr>
        <p:spPr>
          <a:xfrm>
            <a:off x="4933950" y="1447800"/>
            <a:ext cx="3749040" cy="4572000"/>
          </a:xfrm>
        </p:spPr>
        <p:txBody>
          <a:bodyPr vert="horz"/>
          <a:lstStyle/>
          <a:p>
            <a:pPr lvl="0" eaLnBrk="1" latinLnBrk="0" hangingPunct="1"/>
            <a:r>
              <a:rPr lang="fr-FR"/>
              <a:t>Cliquez pour modifier les styles du texte du masque</a:t>
            </a:r>
          </a:p>
          <a:p>
            <a:pPr lvl="1" eaLnBrk="1" latinLnBrk="0" hangingPunct="1"/>
            <a:r>
              <a:rPr lang="fr-FR"/>
              <a:t>Deuxième niveau</a:t>
            </a:r>
          </a:p>
          <a:p>
            <a:pPr lvl="2" eaLnBrk="1" latinLnBrk="0" hangingPunct="1"/>
            <a:r>
              <a:rPr lang="fr-FR"/>
              <a:t>Troisième niveau</a:t>
            </a:r>
          </a:p>
          <a:p>
            <a:pPr lvl="3" eaLnBrk="1" latinLnBrk="0" hangingPunct="1"/>
            <a:r>
              <a:rPr lang="fr-FR"/>
              <a:t>Quatrième niveau</a:t>
            </a:r>
          </a:p>
          <a:p>
            <a:pPr lvl="4" eaLnBrk="1" latinLnBrk="0" hangingPunct="1"/>
            <a:r>
              <a:rPr lang="fr-FR"/>
              <a:t>Cinquième niveau</a:t>
            </a:r>
            <a:endParaRPr kumimoji="0"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p:cNvSpPr>
            <a:spLocks noGrp="1"/>
          </p:cNvSpPr>
          <p:nvPr>
            <p:ph type="title"/>
          </p:nvPr>
        </p:nvSpPr>
        <p:spPr>
          <a:xfrm>
            <a:off x="914400" y="273050"/>
            <a:ext cx="7772400" cy="1143000"/>
          </a:xfrm>
        </p:spPr>
        <p:txBody>
          <a:bodyPr anchor="b" anchorCtr="0"/>
          <a:lstStyle>
            <a:lvl1pPr>
              <a:defRPr/>
            </a:lvl1pPr>
          </a:lstStyle>
          <a:p>
            <a:r>
              <a:rPr kumimoji="0" lang="fr-FR"/>
              <a:t>Cliquez pour modifier le style du titre</a:t>
            </a:r>
            <a:endParaRPr kumimoji="0" lang="en-US"/>
          </a:p>
        </p:txBody>
      </p:sp>
      <p:sp>
        <p:nvSpPr>
          <p:cNvPr id="3" name="Espace réservé du texte 2"/>
          <p:cNvSpPr>
            <a:spLocks noGrp="1"/>
          </p:cNvSpPr>
          <p:nvPr>
            <p:ph type="body" idx="1"/>
          </p:nvPr>
        </p:nvSpPr>
        <p:spPr>
          <a:xfrm>
            <a:off x="914400" y="1447800"/>
            <a:ext cx="3733800" cy="762000"/>
          </a:xfrm>
          <a:noFill/>
          <a:ln w="12700" cap="sq" cmpd="sng" algn="ctr">
            <a:noFill/>
            <a:prstDash val="solid"/>
          </a:ln>
        </p:spPr>
        <p:txBody>
          <a:bodyPr lIns="91440" anchor="b" anchorCtr="0">
            <a:noAutofit/>
          </a:bodyPr>
          <a:lstStyle>
            <a:lvl1pPr marL="0" indent="0">
              <a:buNone/>
              <a:defRPr sz="2400" b="1">
                <a:solidFill>
                  <a:schemeClr val="accent1"/>
                </a:solidFill>
                <a:latin typeface="+mj-lt"/>
                <a:ea typeface="+mj-ea"/>
                <a:cs typeface="+mj-cs"/>
              </a:defRPr>
            </a:lvl1pPr>
            <a:lvl2pPr>
              <a:buNone/>
              <a:defRPr sz="2000" b="1"/>
            </a:lvl2pPr>
            <a:lvl3pPr>
              <a:buNone/>
              <a:defRPr sz="1800" b="1"/>
            </a:lvl3pPr>
            <a:lvl4pPr>
              <a:buNone/>
              <a:defRPr sz="1600" b="1"/>
            </a:lvl4pPr>
            <a:lvl5pPr>
              <a:buNone/>
              <a:defRPr sz="1600" b="1"/>
            </a:lvl5pPr>
          </a:lstStyle>
          <a:p>
            <a:pPr lvl="0" eaLnBrk="1" latinLnBrk="0" hangingPunct="1"/>
            <a:r>
              <a:rPr kumimoji="0" lang="fr-FR"/>
              <a:t>Cliquez pour modifier les styles du texte du masque</a:t>
            </a:r>
          </a:p>
        </p:txBody>
      </p:sp>
      <p:sp>
        <p:nvSpPr>
          <p:cNvPr id="4" name="Espace réservé du texte 3"/>
          <p:cNvSpPr>
            <a:spLocks noGrp="1"/>
          </p:cNvSpPr>
          <p:nvPr>
            <p:ph type="body" sz="half" idx="3"/>
          </p:nvPr>
        </p:nvSpPr>
        <p:spPr>
          <a:xfrm>
            <a:off x="4953000" y="1447800"/>
            <a:ext cx="3733800" cy="762000"/>
          </a:xfrm>
          <a:noFill/>
          <a:ln w="12700" cap="sq" cmpd="sng" algn="ctr">
            <a:noFill/>
            <a:prstDash val="solid"/>
          </a:ln>
        </p:spPr>
        <p:txBody>
          <a:bodyPr lIns="91440" anchor="b" anchorCtr="0">
            <a:noAutofit/>
          </a:bodyPr>
          <a:lstStyle>
            <a:lvl1pPr marL="0" indent="0">
              <a:buNone/>
              <a:defRPr sz="2400" b="1">
                <a:solidFill>
                  <a:schemeClr val="accent1"/>
                </a:solidFill>
                <a:latin typeface="+mj-lt"/>
                <a:ea typeface="+mj-ea"/>
                <a:cs typeface="+mj-cs"/>
              </a:defRPr>
            </a:lvl1pPr>
            <a:lvl2pPr>
              <a:buNone/>
              <a:defRPr sz="2000" b="1"/>
            </a:lvl2pPr>
            <a:lvl3pPr>
              <a:buNone/>
              <a:defRPr sz="1800" b="1"/>
            </a:lvl3pPr>
            <a:lvl4pPr>
              <a:buNone/>
              <a:defRPr sz="1600" b="1"/>
            </a:lvl4pPr>
            <a:lvl5pPr>
              <a:buNone/>
              <a:defRPr sz="1600" b="1"/>
            </a:lvl5pPr>
          </a:lstStyle>
          <a:p>
            <a:pPr lvl="0" eaLnBrk="1" latinLnBrk="0" hangingPunct="1"/>
            <a:r>
              <a:rPr kumimoji="0" lang="fr-FR"/>
              <a:t>Cliquez pour modifier les styles du texte du masque</a:t>
            </a:r>
          </a:p>
        </p:txBody>
      </p:sp>
      <p:sp>
        <p:nvSpPr>
          <p:cNvPr id="7" name="Espace réservé de la date 6"/>
          <p:cNvSpPr>
            <a:spLocks noGrp="1"/>
          </p:cNvSpPr>
          <p:nvPr>
            <p:ph type="dt" sz="half" idx="10"/>
          </p:nvPr>
        </p:nvSpPr>
        <p:spPr/>
        <p:txBody>
          <a:bodyPr/>
          <a:lstStyle/>
          <a:p>
            <a:fld id="{C533E725-A526-486A-A3D5-10088E54BCC3}" type="datetimeFigureOut">
              <a:rPr lang="fr-FR" smtClean="0"/>
              <a:pPr/>
              <a:t>07/01/2025</a:t>
            </a:fld>
            <a:endParaRPr lang="fr-FR"/>
          </a:p>
        </p:txBody>
      </p:sp>
      <p:sp>
        <p:nvSpPr>
          <p:cNvPr id="8" name="Espace réservé du pied de page 7"/>
          <p:cNvSpPr>
            <a:spLocks noGrp="1"/>
          </p:cNvSpPr>
          <p:nvPr>
            <p:ph type="ftr" sz="quarter" idx="11"/>
          </p:nvPr>
        </p:nvSpPr>
        <p:spPr/>
        <p:txBody>
          <a:bodyPr/>
          <a:lstStyle/>
          <a:p>
            <a:endParaRPr lang="fr-FR"/>
          </a:p>
        </p:txBody>
      </p:sp>
      <p:sp>
        <p:nvSpPr>
          <p:cNvPr id="9" name="Espace réservé du numéro de diapositive 8"/>
          <p:cNvSpPr>
            <a:spLocks noGrp="1"/>
          </p:cNvSpPr>
          <p:nvPr>
            <p:ph type="sldNum" sz="quarter" idx="12"/>
          </p:nvPr>
        </p:nvSpPr>
        <p:spPr/>
        <p:txBody>
          <a:bodyPr/>
          <a:lstStyle/>
          <a:p>
            <a:fld id="{A0805FAA-67CB-4677-B4EC-5067B7020BAE}" type="slidenum">
              <a:rPr lang="fr-FR" smtClean="0"/>
              <a:pPr/>
              <a:t>‹N°›</a:t>
            </a:fld>
            <a:endParaRPr lang="fr-FR"/>
          </a:p>
        </p:txBody>
      </p:sp>
      <p:sp>
        <p:nvSpPr>
          <p:cNvPr id="11" name="Espace réservé du contenu 10"/>
          <p:cNvSpPr>
            <a:spLocks noGrp="1"/>
          </p:cNvSpPr>
          <p:nvPr>
            <p:ph sz="half" idx="2"/>
          </p:nvPr>
        </p:nvSpPr>
        <p:spPr>
          <a:xfrm>
            <a:off x="914400" y="2247900"/>
            <a:ext cx="3733800" cy="3886200"/>
          </a:xfrm>
        </p:spPr>
        <p:txBody>
          <a:bodyPr vert="horz"/>
          <a:lstStyle/>
          <a:p>
            <a:pPr lvl="0" eaLnBrk="1" latinLnBrk="0" hangingPunct="1"/>
            <a:r>
              <a:rPr lang="fr-FR"/>
              <a:t>Cliquez pour modifier les styles du texte du masque</a:t>
            </a:r>
          </a:p>
          <a:p>
            <a:pPr lvl="1" eaLnBrk="1" latinLnBrk="0" hangingPunct="1"/>
            <a:r>
              <a:rPr lang="fr-FR"/>
              <a:t>Deuxième niveau</a:t>
            </a:r>
          </a:p>
          <a:p>
            <a:pPr lvl="2" eaLnBrk="1" latinLnBrk="0" hangingPunct="1"/>
            <a:r>
              <a:rPr lang="fr-FR"/>
              <a:t>Troisième niveau</a:t>
            </a:r>
          </a:p>
          <a:p>
            <a:pPr lvl="3" eaLnBrk="1" latinLnBrk="0" hangingPunct="1"/>
            <a:r>
              <a:rPr lang="fr-FR"/>
              <a:t>Quatrième niveau</a:t>
            </a:r>
          </a:p>
          <a:p>
            <a:pPr lvl="4" eaLnBrk="1" latinLnBrk="0" hangingPunct="1"/>
            <a:r>
              <a:rPr lang="fr-FR"/>
              <a:t>Cinquième niveau</a:t>
            </a:r>
            <a:endParaRPr kumimoji="0" lang="en-US"/>
          </a:p>
        </p:txBody>
      </p:sp>
      <p:sp>
        <p:nvSpPr>
          <p:cNvPr id="13" name="Espace réservé du contenu 12"/>
          <p:cNvSpPr>
            <a:spLocks noGrp="1"/>
          </p:cNvSpPr>
          <p:nvPr>
            <p:ph sz="half" idx="4"/>
          </p:nvPr>
        </p:nvSpPr>
        <p:spPr>
          <a:xfrm>
            <a:off x="4953000" y="2247900"/>
            <a:ext cx="3733800" cy="3886200"/>
          </a:xfrm>
        </p:spPr>
        <p:txBody>
          <a:bodyPr vert="horz"/>
          <a:lstStyle/>
          <a:p>
            <a:pPr lvl="0" eaLnBrk="1" latinLnBrk="0" hangingPunct="1"/>
            <a:r>
              <a:rPr lang="fr-FR"/>
              <a:t>Cliquez pour modifier les styles du texte du masque</a:t>
            </a:r>
          </a:p>
          <a:p>
            <a:pPr lvl="1" eaLnBrk="1" latinLnBrk="0" hangingPunct="1"/>
            <a:r>
              <a:rPr lang="fr-FR"/>
              <a:t>Deuxième niveau</a:t>
            </a:r>
          </a:p>
          <a:p>
            <a:pPr lvl="2" eaLnBrk="1" latinLnBrk="0" hangingPunct="1"/>
            <a:r>
              <a:rPr lang="fr-FR"/>
              <a:t>Troisième niveau</a:t>
            </a:r>
          </a:p>
          <a:p>
            <a:pPr lvl="3" eaLnBrk="1" latinLnBrk="0" hangingPunct="1"/>
            <a:r>
              <a:rPr lang="fr-FR"/>
              <a:t>Quatrième niveau</a:t>
            </a:r>
          </a:p>
          <a:p>
            <a:pPr lvl="4" eaLnBrk="1" latinLnBrk="0" hangingPunct="1"/>
            <a:r>
              <a:rPr lang="fr-FR"/>
              <a:t>Cinquième niveau</a:t>
            </a:r>
            <a:endParaRPr kumimoji="0"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kumimoji="0" lang="fr-FR"/>
              <a:t>Cliquez pour modifier le style du titre</a:t>
            </a:r>
            <a:endParaRPr kumimoji="0" lang="en-US"/>
          </a:p>
        </p:txBody>
      </p:sp>
      <p:sp>
        <p:nvSpPr>
          <p:cNvPr id="3" name="Espace réservé de la date 2"/>
          <p:cNvSpPr>
            <a:spLocks noGrp="1"/>
          </p:cNvSpPr>
          <p:nvPr>
            <p:ph type="dt" sz="half" idx="10"/>
          </p:nvPr>
        </p:nvSpPr>
        <p:spPr/>
        <p:txBody>
          <a:bodyPr/>
          <a:lstStyle/>
          <a:p>
            <a:fld id="{C533E725-A526-486A-A3D5-10088E54BCC3}" type="datetimeFigureOut">
              <a:rPr lang="fr-FR" smtClean="0"/>
              <a:pPr/>
              <a:t>07/01/2025</a:t>
            </a:fld>
            <a:endParaRPr lang="fr-FR"/>
          </a:p>
        </p:txBody>
      </p:sp>
      <p:sp>
        <p:nvSpPr>
          <p:cNvPr id="4" name="Espace réservé du pied de page 3"/>
          <p:cNvSpPr>
            <a:spLocks noGrp="1"/>
          </p:cNvSpPr>
          <p:nvPr>
            <p:ph type="ftr" sz="quarter" idx="11"/>
          </p:nvPr>
        </p:nvSpPr>
        <p:spPr/>
        <p:txBody>
          <a:bodyPr/>
          <a:lstStyle/>
          <a:p>
            <a:endParaRPr lang="fr-FR"/>
          </a:p>
        </p:txBody>
      </p:sp>
      <p:sp>
        <p:nvSpPr>
          <p:cNvPr id="5" name="Espace réservé du numéro de diapositive 4"/>
          <p:cNvSpPr>
            <a:spLocks noGrp="1"/>
          </p:cNvSpPr>
          <p:nvPr>
            <p:ph type="sldNum" sz="quarter" idx="12"/>
          </p:nvPr>
        </p:nvSpPr>
        <p:spPr/>
        <p:txBody>
          <a:bodyPr/>
          <a:lstStyle/>
          <a:p>
            <a:fld id="{A0805FAA-67CB-4677-B4EC-5067B7020BAE}" type="slidenum">
              <a:rPr lang="fr-FR" smtClean="0"/>
              <a:pPr/>
              <a:t>‹N°›</a:t>
            </a:fld>
            <a:endParaRPr lang="fr-F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p:cNvSpPr>
            <a:spLocks noGrp="1"/>
          </p:cNvSpPr>
          <p:nvPr>
            <p:ph type="dt" sz="half" idx="10"/>
          </p:nvPr>
        </p:nvSpPr>
        <p:spPr/>
        <p:txBody>
          <a:bodyPr/>
          <a:lstStyle/>
          <a:p>
            <a:fld id="{C533E725-A526-486A-A3D5-10088E54BCC3}" type="datetimeFigureOut">
              <a:rPr lang="fr-FR" smtClean="0"/>
              <a:pPr/>
              <a:t>07/01/2025</a:t>
            </a:fld>
            <a:endParaRPr lang="fr-FR"/>
          </a:p>
        </p:txBody>
      </p:sp>
      <p:sp>
        <p:nvSpPr>
          <p:cNvPr id="3" name="Espace réservé du pied de page 2"/>
          <p:cNvSpPr>
            <a:spLocks noGrp="1"/>
          </p:cNvSpPr>
          <p:nvPr>
            <p:ph type="ftr" sz="quarter" idx="11"/>
          </p:nvPr>
        </p:nvSpPr>
        <p:spPr/>
        <p:txBody>
          <a:bodyPr/>
          <a:lstStyle/>
          <a:p>
            <a:endParaRPr lang="fr-FR"/>
          </a:p>
        </p:txBody>
      </p:sp>
      <p:sp>
        <p:nvSpPr>
          <p:cNvPr id="4" name="Espace réservé du numéro de diapositive 3"/>
          <p:cNvSpPr>
            <a:spLocks noGrp="1"/>
          </p:cNvSpPr>
          <p:nvPr>
            <p:ph type="sldNum" sz="quarter" idx="12"/>
          </p:nvPr>
        </p:nvSpPr>
        <p:spPr/>
        <p:txBody>
          <a:bodyPr/>
          <a:lstStyle/>
          <a:p>
            <a:fld id="{A0805FAA-67CB-4677-B4EC-5067B7020BAE}" type="slidenum">
              <a:rPr lang="fr-FR" smtClean="0"/>
              <a:pPr/>
              <a:t>‹N°›</a:t>
            </a:fld>
            <a:endParaRPr lang="fr-F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8" name="Rectangle 7"/>
          <p:cNvSpPr/>
          <p:nvPr/>
        </p:nvSpPr>
        <p:spPr>
          <a:xfrm>
            <a:off x="0" y="0"/>
            <a:ext cx="9144000" cy="6858000"/>
          </a:xfrm>
          <a:prstGeom prst="rect">
            <a:avLst/>
          </a:prstGeom>
          <a:solidFill>
            <a:srgbClr val="FFFFFF"/>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useBgFill="1">
        <p:nvSpPr>
          <p:cNvPr id="9" name="Rectangle à coins arrondis 8"/>
          <p:cNvSpPr/>
          <p:nvPr/>
        </p:nvSpPr>
        <p:spPr>
          <a:xfrm>
            <a:off x="64008" y="69755"/>
            <a:ext cx="9013372" cy="6693408"/>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eaLnBrk="1" latinLnBrk="0" hangingPunct="1"/>
            <a:endParaRPr kumimoji="0" lang="en-US"/>
          </a:p>
        </p:txBody>
      </p:sp>
      <p:sp>
        <p:nvSpPr>
          <p:cNvPr id="2" name="Titre 1"/>
          <p:cNvSpPr>
            <a:spLocks noGrp="1"/>
          </p:cNvSpPr>
          <p:nvPr>
            <p:ph type="title"/>
          </p:nvPr>
        </p:nvSpPr>
        <p:spPr>
          <a:xfrm>
            <a:off x="914400" y="273050"/>
            <a:ext cx="7772400" cy="1143000"/>
          </a:xfrm>
        </p:spPr>
        <p:txBody>
          <a:bodyPr anchor="b" anchorCtr="0"/>
          <a:lstStyle>
            <a:lvl1pPr algn="l">
              <a:buNone/>
              <a:defRPr sz="4000" b="0"/>
            </a:lvl1pPr>
          </a:lstStyle>
          <a:p>
            <a:r>
              <a:rPr kumimoji="0" lang="fr-FR"/>
              <a:t>Cliquez pour modifier le style du titre</a:t>
            </a:r>
            <a:endParaRPr kumimoji="0" lang="en-US"/>
          </a:p>
        </p:txBody>
      </p:sp>
      <p:sp>
        <p:nvSpPr>
          <p:cNvPr id="3" name="Espace réservé du texte 2"/>
          <p:cNvSpPr>
            <a:spLocks noGrp="1"/>
          </p:cNvSpPr>
          <p:nvPr>
            <p:ph type="body" idx="2"/>
          </p:nvPr>
        </p:nvSpPr>
        <p:spPr>
          <a:xfrm>
            <a:off x="914400" y="1600200"/>
            <a:ext cx="1905000" cy="4495800"/>
          </a:xfrm>
        </p:spPr>
        <p:txBody>
          <a:bodyPr/>
          <a:lstStyle>
            <a:lvl1pPr marL="0" indent="0">
              <a:buNone/>
              <a:defRPr sz="1800"/>
            </a:lvl1pPr>
            <a:lvl2pPr>
              <a:buNone/>
              <a:defRPr sz="1200"/>
            </a:lvl2pPr>
            <a:lvl3pPr>
              <a:buNone/>
              <a:defRPr sz="1000"/>
            </a:lvl3pPr>
            <a:lvl4pPr>
              <a:buNone/>
              <a:defRPr sz="900"/>
            </a:lvl4pPr>
            <a:lvl5pPr>
              <a:buNone/>
              <a:defRPr sz="900"/>
            </a:lvl5pPr>
          </a:lstStyle>
          <a:p>
            <a:pPr lvl="0" eaLnBrk="1" latinLnBrk="0" hangingPunct="1"/>
            <a:r>
              <a:rPr kumimoji="0" lang="fr-FR"/>
              <a:t>Cliquez pour modifier les styles du texte du masque</a:t>
            </a:r>
          </a:p>
        </p:txBody>
      </p:sp>
      <p:sp>
        <p:nvSpPr>
          <p:cNvPr id="5" name="Espace réservé de la date 4"/>
          <p:cNvSpPr>
            <a:spLocks noGrp="1"/>
          </p:cNvSpPr>
          <p:nvPr>
            <p:ph type="dt" sz="half" idx="10"/>
          </p:nvPr>
        </p:nvSpPr>
        <p:spPr/>
        <p:txBody>
          <a:bodyPr/>
          <a:lstStyle/>
          <a:p>
            <a:fld id="{C533E725-A526-486A-A3D5-10088E54BCC3}" type="datetimeFigureOut">
              <a:rPr lang="fr-FR" smtClean="0"/>
              <a:pPr/>
              <a:t>07/01/2025</a:t>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A0805FAA-67CB-4677-B4EC-5067B7020BAE}" type="slidenum">
              <a:rPr lang="fr-FR" smtClean="0"/>
              <a:pPr/>
              <a:t>‹N°›</a:t>
            </a:fld>
            <a:endParaRPr lang="fr-FR"/>
          </a:p>
        </p:txBody>
      </p:sp>
      <p:sp>
        <p:nvSpPr>
          <p:cNvPr id="11" name="Espace réservé du contenu 10"/>
          <p:cNvSpPr>
            <a:spLocks noGrp="1"/>
          </p:cNvSpPr>
          <p:nvPr>
            <p:ph sz="quarter" idx="1"/>
          </p:nvPr>
        </p:nvSpPr>
        <p:spPr>
          <a:xfrm>
            <a:off x="2971800" y="1600200"/>
            <a:ext cx="5715000" cy="4495800"/>
          </a:xfrm>
        </p:spPr>
        <p:txBody>
          <a:bodyPr vert="horz"/>
          <a:lstStyle/>
          <a:p>
            <a:pPr lvl="0" eaLnBrk="1" latinLnBrk="0" hangingPunct="1"/>
            <a:r>
              <a:rPr lang="fr-FR"/>
              <a:t>Cliquez pour modifier les styles du texte du masque</a:t>
            </a:r>
          </a:p>
          <a:p>
            <a:pPr lvl="1" eaLnBrk="1" latinLnBrk="0" hangingPunct="1"/>
            <a:r>
              <a:rPr lang="fr-FR"/>
              <a:t>Deuxième niveau</a:t>
            </a:r>
          </a:p>
          <a:p>
            <a:pPr lvl="2" eaLnBrk="1" latinLnBrk="0" hangingPunct="1"/>
            <a:r>
              <a:rPr lang="fr-FR"/>
              <a:t>Troisième niveau</a:t>
            </a:r>
          </a:p>
          <a:p>
            <a:pPr lvl="3" eaLnBrk="1" latinLnBrk="0" hangingPunct="1"/>
            <a:r>
              <a:rPr lang="fr-FR"/>
              <a:t>Quatrième niveau</a:t>
            </a:r>
          </a:p>
          <a:p>
            <a:pPr lvl="4" eaLnBrk="1" latinLnBrk="0" hangingPunct="1"/>
            <a:r>
              <a:rPr lang="fr-FR"/>
              <a:t>Cinquième niveau</a:t>
            </a:r>
            <a:endParaRPr kumimoji="0"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914400" y="4900550"/>
            <a:ext cx="7315200" cy="522288"/>
          </a:xfrm>
        </p:spPr>
        <p:txBody>
          <a:bodyPr anchor="ctr">
            <a:noAutofit/>
          </a:bodyPr>
          <a:lstStyle>
            <a:lvl1pPr algn="l">
              <a:buNone/>
              <a:defRPr sz="2800" b="0"/>
            </a:lvl1pPr>
          </a:lstStyle>
          <a:p>
            <a:r>
              <a:rPr kumimoji="0" lang="fr-FR"/>
              <a:t>Cliquez pour modifier le style du titre</a:t>
            </a:r>
            <a:endParaRPr kumimoji="0" lang="en-US"/>
          </a:p>
        </p:txBody>
      </p:sp>
      <p:sp>
        <p:nvSpPr>
          <p:cNvPr id="4" name="Espace réservé du texte 3"/>
          <p:cNvSpPr>
            <a:spLocks noGrp="1"/>
          </p:cNvSpPr>
          <p:nvPr>
            <p:ph type="body" sz="half" idx="2"/>
          </p:nvPr>
        </p:nvSpPr>
        <p:spPr>
          <a:xfrm>
            <a:off x="914400" y="5445825"/>
            <a:ext cx="7315200" cy="685800"/>
          </a:xfrm>
        </p:spPr>
        <p:txBody>
          <a:bodyPr/>
          <a:lstStyle>
            <a:lvl1pPr marL="0" indent="0">
              <a:buFontTx/>
              <a:buNone/>
              <a:defRPr sz="1600"/>
            </a:lvl1pPr>
            <a:lvl2pPr>
              <a:defRPr sz="1200"/>
            </a:lvl2pPr>
            <a:lvl3pPr>
              <a:defRPr sz="1000"/>
            </a:lvl3pPr>
            <a:lvl4pPr>
              <a:defRPr sz="900"/>
            </a:lvl4pPr>
            <a:lvl5pPr>
              <a:defRPr sz="900"/>
            </a:lvl5pPr>
          </a:lstStyle>
          <a:p>
            <a:pPr lvl="0" eaLnBrk="1" latinLnBrk="0" hangingPunct="1"/>
            <a:r>
              <a:rPr kumimoji="0" lang="fr-FR"/>
              <a:t>Cliquez pour modifier les styles du texte du masque</a:t>
            </a:r>
          </a:p>
        </p:txBody>
      </p:sp>
      <p:sp>
        <p:nvSpPr>
          <p:cNvPr id="5" name="Espace réservé de la date 4"/>
          <p:cNvSpPr>
            <a:spLocks noGrp="1"/>
          </p:cNvSpPr>
          <p:nvPr>
            <p:ph type="dt" sz="half" idx="10"/>
          </p:nvPr>
        </p:nvSpPr>
        <p:spPr/>
        <p:txBody>
          <a:bodyPr/>
          <a:lstStyle/>
          <a:p>
            <a:fld id="{C533E725-A526-486A-A3D5-10088E54BCC3}" type="datetimeFigureOut">
              <a:rPr lang="fr-FR" smtClean="0"/>
              <a:pPr/>
              <a:t>07/01/2025</a:t>
            </a:fld>
            <a:endParaRPr lang="fr-FR"/>
          </a:p>
        </p:txBody>
      </p:sp>
      <p:sp>
        <p:nvSpPr>
          <p:cNvPr id="6" name="Espace réservé du pied de page 5"/>
          <p:cNvSpPr>
            <a:spLocks noGrp="1"/>
          </p:cNvSpPr>
          <p:nvPr>
            <p:ph type="ftr" sz="quarter" idx="11"/>
          </p:nvPr>
        </p:nvSpPr>
        <p:spPr>
          <a:xfrm>
            <a:off x="914400" y="6172200"/>
            <a:ext cx="3886200" cy="457200"/>
          </a:xfrm>
        </p:spPr>
        <p:txBody>
          <a:bodyPr/>
          <a:lstStyle/>
          <a:p>
            <a:endParaRPr lang="fr-FR"/>
          </a:p>
        </p:txBody>
      </p:sp>
      <p:sp>
        <p:nvSpPr>
          <p:cNvPr id="7" name="Espace réservé du numéro de diapositive 6"/>
          <p:cNvSpPr>
            <a:spLocks noGrp="1"/>
          </p:cNvSpPr>
          <p:nvPr>
            <p:ph type="sldNum" sz="quarter" idx="12"/>
          </p:nvPr>
        </p:nvSpPr>
        <p:spPr>
          <a:xfrm>
            <a:off x="146304" y="6208776"/>
            <a:ext cx="457200" cy="457200"/>
          </a:xfrm>
        </p:spPr>
        <p:txBody>
          <a:bodyPr/>
          <a:lstStyle/>
          <a:p>
            <a:fld id="{A0805FAA-67CB-4677-B4EC-5067B7020BAE}" type="slidenum">
              <a:rPr lang="fr-FR" smtClean="0"/>
              <a:pPr/>
              <a:t>‹N°›</a:t>
            </a:fld>
            <a:endParaRPr lang="fr-FR"/>
          </a:p>
        </p:txBody>
      </p:sp>
      <p:sp>
        <p:nvSpPr>
          <p:cNvPr id="11" name="Rectangle 10"/>
          <p:cNvSpPr/>
          <p:nvPr/>
        </p:nvSpPr>
        <p:spPr>
          <a:xfrm flipV="1">
            <a:off x="68307" y="4683555"/>
            <a:ext cx="9006840" cy="91440"/>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Rectangle 11"/>
          <p:cNvSpPr/>
          <p:nvPr/>
        </p:nvSpPr>
        <p:spPr>
          <a:xfrm>
            <a:off x="68508" y="4650474"/>
            <a:ext cx="9006639" cy="45719"/>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3" name="Rectangle 12"/>
          <p:cNvSpPr/>
          <p:nvPr/>
        </p:nvSpPr>
        <p:spPr>
          <a:xfrm>
            <a:off x="68510" y="4773224"/>
            <a:ext cx="9006637" cy="48807"/>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 name="Espace réservé pour une image  2"/>
          <p:cNvSpPr>
            <a:spLocks noGrp="1"/>
          </p:cNvSpPr>
          <p:nvPr>
            <p:ph type="pic" idx="1"/>
          </p:nvPr>
        </p:nvSpPr>
        <p:spPr>
          <a:xfrm>
            <a:off x="68308" y="66675"/>
            <a:ext cx="9001873" cy="4581525"/>
          </a:xfrm>
          <a:prstGeom prst="round2SameRect">
            <a:avLst>
              <a:gd name="adj1" fmla="val 7101"/>
              <a:gd name="adj2" fmla="val 0"/>
            </a:avLst>
          </a:prstGeom>
          <a:solidFill>
            <a:schemeClr val="bg2"/>
          </a:solidFill>
          <a:ln w="6350">
            <a:solidFill>
              <a:schemeClr val="tx1"/>
            </a:solidFill>
          </a:ln>
        </p:spPr>
        <p:txBody>
          <a:bodyPr/>
          <a:lstStyle>
            <a:lvl1pPr marL="0" indent="0">
              <a:buNone/>
              <a:defRPr sz="3200"/>
            </a:lvl1pPr>
          </a:lstStyle>
          <a:p>
            <a:r>
              <a:rPr kumimoji="0" lang="fr-FR"/>
              <a:t>Cliquez sur l'icône pour ajouter une image</a:t>
            </a:r>
            <a:endParaRPr kumimoji="0"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kumimoji="0" lang="fr-FR"/>
              <a:t>Cliquez pour modifier le style du titre</a:t>
            </a:r>
            <a:endParaRPr kumimoji="0" lang="en-US"/>
          </a:p>
        </p:txBody>
      </p:sp>
      <p:sp>
        <p:nvSpPr>
          <p:cNvPr id="3" name="Espace réservé du texte vertical 2"/>
          <p:cNvSpPr>
            <a:spLocks noGrp="1"/>
          </p:cNvSpPr>
          <p:nvPr>
            <p:ph type="body" orient="vert" idx="1"/>
          </p:nvPr>
        </p:nvSpPr>
        <p:spPr/>
        <p:txBody>
          <a:bodyPr vert="eaVert"/>
          <a:lstStyle/>
          <a:p>
            <a:pPr lvl="0" eaLnBrk="1" latinLnBrk="0" hangingPunct="1"/>
            <a:r>
              <a:rPr lang="fr-FR"/>
              <a:t>Cliquez pour modifier les styles du texte du masque</a:t>
            </a:r>
          </a:p>
          <a:p>
            <a:pPr lvl="1" eaLnBrk="1" latinLnBrk="0" hangingPunct="1"/>
            <a:r>
              <a:rPr lang="fr-FR"/>
              <a:t>Deuxième niveau</a:t>
            </a:r>
          </a:p>
          <a:p>
            <a:pPr lvl="2" eaLnBrk="1" latinLnBrk="0" hangingPunct="1"/>
            <a:r>
              <a:rPr lang="fr-FR"/>
              <a:t>Troisième niveau</a:t>
            </a:r>
          </a:p>
          <a:p>
            <a:pPr lvl="3" eaLnBrk="1" latinLnBrk="0" hangingPunct="1"/>
            <a:r>
              <a:rPr lang="fr-FR"/>
              <a:t>Quatrième niveau</a:t>
            </a:r>
          </a:p>
          <a:p>
            <a:pPr lvl="4" eaLnBrk="1" latinLnBrk="0" hangingPunct="1"/>
            <a:r>
              <a:rPr lang="fr-FR"/>
              <a:t>Cinquième niveau</a:t>
            </a:r>
            <a:endParaRPr kumimoji="0" lang="en-US"/>
          </a:p>
        </p:txBody>
      </p:sp>
      <p:sp>
        <p:nvSpPr>
          <p:cNvPr id="4" name="Espace réservé de la date 3"/>
          <p:cNvSpPr>
            <a:spLocks noGrp="1"/>
          </p:cNvSpPr>
          <p:nvPr>
            <p:ph type="dt" sz="half" idx="10"/>
          </p:nvPr>
        </p:nvSpPr>
        <p:spPr/>
        <p:txBody>
          <a:bodyPr/>
          <a:lstStyle/>
          <a:p>
            <a:fld id="{C533E725-A526-486A-A3D5-10088E54BCC3}" type="datetimeFigureOut">
              <a:rPr lang="fr-FR" smtClean="0"/>
              <a:pPr/>
              <a:t>07/01/2025</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A0805FAA-67CB-4677-B4EC-5067B7020BAE}" type="slidenum">
              <a:rPr lang="fr-FR" smtClean="0"/>
              <a:pPr/>
              <a:t>‹N°›</a:t>
            </a:fld>
            <a:endParaRPr lang="fr-F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p:cNvSpPr>
            <a:spLocks noGrp="1"/>
          </p:cNvSpPr>
          <p:nvPr>
            <p:ph type="title" orient="vert"/>
          </p:nvPr>
        </p:nvSpPr>
        <p:spPr>
          <a:xfrm>
            <a:off x="6629400" y="274641"/>
            <a:ext cx="2011680" cy="5851525"/>
          </a:xfrm>
        </p:spPr>
        <p:txBody>
          <a:bodyPr vert="eaVert"/>
          <a:lstStyle/>
          <a:p>
            <a:r>
              <a:rPr kumimoji="0" lang="fr-FR"/>
              <a:t>Cliquez pour modifier le style du titre</a:t>
            </a:r>
            <a:endParaRPr kumimoji="0" lang="en-US"/>
          </a:p>
        </p:txBody>
      </p:sp>
      <p:sp>
        <p:nvSpPr>
          <p:cNvPr id="3" name="Espace réservé du texte vertical 2"/>
          <p:cNvSpPr>
            <a:spLocks noGrp="1"/>
          </p:cNvSpPr>
          <p:nvPr>
            <p:ph type="body" orient="vert" idx="1"/>
          </p:nvPr>
        </p:nvSpPr>
        <p:spPr>
          <a:xfrm>
            <a:off x="914400" y="274640"/>
            <a:ext cx="5562600" cy="5851525"/>
          </a:xfrm>
        </p:spPr>
        <p:txBody>
          <a:bodyPr vert="eaVert"/>
          <a:lstStyle/>
          <a:p>
            <a:pPr lvl="0" eaLnBrk="1" latinLnBrk="0" hangingPunct="1"/>
            <a:r>
              <a:rPr lang="fr-FR"/>
              <a:t>Cliquez pour modifier les styles du texte du masque</a:t>
            </a:r>
          </a:p>
          <a:p>
            <a:pPr lvl="1" eaLnBrk="1" latinLnBrk="0" hangingPunct="1"/>
            <a:r>
              <a:rPr lang="fr-FR"/>
              <a:t>Deuxième niveau</a:t>
            </a:r>
          </a:p>
          <a:p>
            <a:pPr lvl="2" eaLnBrk="1" latinLnBrk="0" hangingPunct="1"/>
            <a:r>
              <a:rPr lang="fr-FR"/>
              <a:t>Troisième niveau</a:t>
            </a:r>
          </a:p>
          <a:p>
            <a:pPr lvl="3" eaLnBrk="1" latinLnBrk="0" hangingPunct="1"/>
            <a:r>
              <a:rPr lang="fr-FR"/>
              <a:t>Quatrième niveau</a:t>
            </a:r>
          </a:p>
          <a:p>
            <a:pPr lvl="4" eaLnBrk="1" latinLnBrk="0" hangingPunct="1"/>
            <a:r>
              <a:rPr lang="fr-FR"/>
              <a:t>Cinquième niveau</a:t>
            </a:r>
            <a:endParaRPr kumimoji="0" lang="en-US"/>
          </a:p>
        </p:txBody>
      </p:sp>
      <p:sp>
        <p:nvSpPr>
          <p:cNvPr id="4" name="Espace réservé de la date 3"/>
          <p:cNvSpPr>
            <a:spLocks noGrp="1"/>
          </p:cNvSpPr>
          <p:nvPr>
            <p:ph type="dt" sz="half" idx="10"/>
          </p:nvPr>
        </p:nvSpPr>
        <p:spPr/>
        <p:txBody>
          <a:bodyPr/>
          <a:lstStyle/>
          <a:p>
            <a:fld id="{C533E725-A526-486A-A3D5-10088E54BCC3}" type="datetimeFigureOut">
              <a:rPr lang="fr-FR" smtClean="0"/>
              <a:pPr/>
              <a:t>07/01/2025</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A0805FAA-67CB-4677-B4EC-5067B7020BAE}" type="slidenum">
              <a:rPr lang="fr-FR" smtClean="0"/>
              <a:pPr/>
              <a:t>‹N°›</a:t>
            </a:fld>
            <a:endParaRPr lang="fr-F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9" name="Rectangle 8"/>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useBgFill="1">
        <p:nvSpPr>
          <p:cNvPr id="8" name="Rectangle à coins arrondis 7"/>
          <p:cNvSpPr/>
          <p:nvPr/>
        </p:nvSpPr>
        <p:spPr>
          <a:xfrm>
            <a:off x="64008" y="69755"/>
            <a:ext cx="9013372" cy="6693408"/>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eaLnBrk="1" latinLnBrk="0" hangingPunct="1"/>
            <a:endParaRPr kumimoji="0" lang="en-US"/>
          </a:p>
        </p:txBody>
      </p:sp>
      <p:sp>
        <p:nvSpPr>
          <p:cNvPr id="22" name="Espace réservé du titre 21"/>
          <p:cNvSpPr>
            <a:spLocks noGrp="1"/>
          </p:cNvSpPr>
          <p:nvPr>
            <p:ph type="title"/>
          </p:nvPr>
        </p:nvSpPr>
        <p:spPr>
          <a:xfrm>
            <a:off x="914400" y="274638"/>
            <a:ext cx="7772400" cy="1143000"/>
          </a:xfrm>
          <a:prstGeom prst="rect">
            <a:avLst/>
          </a:prstGeom>
        </p:spPr>
        <p:txBody>
          <a:bodyPr bIns="91440" anchor="b" anchorCtr="0">
            <a:normAutofit/>
          </a:bodyPr>
          <a:lstStyle/>
          <a:p>
            <a:r>
              <a:rPr kumimoji="0" lang="fr-FR"/>
              <a:t>Cliquez pour modifier le style du titre</a:t>
            </a:r>
            <a:endParaRPr kumimoji="0" lang="en-US"/>
          </a:p>
        </p:txBody>
      </p:sp>
      <p:sp>
        <p:nvSpPr>
          <p:cNvPr id="13" name="Espace réservé du texte 12"/>
          <p:cNvSpPr>
            <a:spLocks noGrp="1"/>
          </p:cNvSpPr>
          <p:nvPr>
            <p:ph type="body" idx="1"/>
          </p:nvPr>
        </p:nvSpPr>
        <p:spPr>
          <a:xfrm>
            <a:off x="914400" y="1447800"/>
            <a:ext cx="7772400" cy="4572000"/>
          </a:xfrm>
          <a:prstGeom prst="rect">
            <a:avLst/>
          </a:prstGeom>
        </p:spPr>
        <p:txBody>
          <a:bodyPr>
            <a:normAutofit/>
          </a:bodyPr>
          <a:lstStyle/>
          <a:p>
            <a:pPr lvl="0" eaLnBrk="1" latinLnBrk="0" hangingPunct="1"/>
            <a:r>
              <a:rPr kumimoji="0" lang="fr-FR"/>
              <a:t>Cliquez pour modifier les styles du texte du masque</a:t>
            </a:r>
          </a:p>
          <a:p>
            <a:pPr lvl="1" eaLnBrk="1" latinLnBrk="0" hangingPunct="1"/>
            <a:r>
              <a:rPr kumimoji="0" lang="fr-FR"/>
              <a:t>Deuxième niveau</a:t>
            </a:r>
          </a:p>
          <a:p>
            <a:pPr lvl="2" eaLnBrk="1" latinLnBrk="0" hangingPunct="1"/>
            <a:r>
              <a:rPr kumimoji="0" lang="fr-FR"/>
              <a:t>Troisième niveau</a:t>
            </a:r>
          </a:p>
          <a:p>
            <a:pPr lvl="3" eaLnBrk="1" latinLnBrk="0" hangingPunct="1"/>
            <a:r>
              <a:rPr kumimoji="0" lang="fr-FR"/>
              <a:t>Quatrième niveau</a:t>
            </a:r>
          </a:p>
          <a:p>
            <a:pPr lvl="4" eaLnBrk="1" latinLnBrk="0" hangingPunct="1"/>
            <a:r>
              <a:rPr kumimoji="0" lang="fr-FR"/>
              <a:t>Cinquième niveau</a:t>
            </a:r>
            <a:endParaRPr kumimoji="0" lang="en-US"/>
          </a:p>
        </p:txBody>
      </p:sp>
      <p:sp>
        <p:nvSpPr>
          <p:cNvPr id="14" name="Espace réservé de la date 13"/>
          <p:cNvSpPr>
            <a:spLocks noGrp="1"/>
          </p:cNvSpPr>
          <p:nvPr>
            <p:ph type="dt" sz="half" idx="2"/>
          </p:nvPr>
        </p:nvSpPr>
        <p:spPr>
          <a:xfrm>
            <a:off x="6172200" y="6191250"/>
            <a:ext cx="2476500" cy="476250"/>
          </a:xfrm>
          <a:prstGeom prst="rect">
            <a:avLst/>
          </a:prstGeom>
        </p:spPr>
        <p:txBody>
          <a:bodyPr anchor="ctr" anchorCtr="0"/>
          <a:lstStyle>
            <a:lvl1pPr algn="r" eaLnBrk="1" latinLnBrk="0" hangingPunct="1">
              <a:defRPr kumimoji="0" sz="1400">
                <a:solidFill>
                  <a:schemeClr val="tx2"/>
                </a:solidFill>
              </a:defRPr>
            </a:lvl1pPr>
          </a:lstStyle>
          <a:p>
            <a:fld id="{C533E725-A526-486A-A3D5-10088E54BCC3}" type="datetimeFigureOut">
              <a:rPr lang="fr-FR" smtClean="0"/>
              <a:pPr/>
              <a:t>07/01/2025</a:t>
            </a:fld>
            <a:endParaRPr lang="fr-FR"/>
          </a:p>
        </p:txBody>
      </p:sp>
      <p:sp>
        <p:nvSpPr>
          <p:cNvPr id="3" name="Espace réservé du pied de page 2"/>
          <p:cNvSpPr>
            <a:spLocks noGrp="1"/>
          </p:cNvSpPr>
          <p:nvPr>
            <p:ph type="ftr" sz="quarter" idx="3"/>
          </p:nvPr>
        </p:nvSpPr>
        <p:spPr>
          <a:xfrm>
            <a:off x="914400" y="6172200"/>
            <a:ext cx="3962400" cy="457200"/>
          </a:xfrm>
          <a:prstGeom prst="rect">
            <a:avLst/>
          </a:prstGeom>
        </p:spPr>
        <p:txBody>
          <a:bodyPr anchor="ctr" anchorCtr="0"/>
          <a:lstStyle>
            <a:lvl1pPr eaLnBrk="1" latinLnBrk="0" hangingPunct="1">
              <a:defRPr kumimoji="0" sz="1400">
                <a:solidFill>
                  <a:schemeClr val="tx2"/>
                </a:solidFill>
              </a:defRPr>
            </a:lvl1pPr>
          </a:lstStyle>
          <a:p>
            <a:endParaRPr lang="fr-FR"/>
          </a:p>
        </p:txBody>
      </p:sp>
      <p:sp>
        <p:nvSpPr>
          <p:cNvPr id="23" name="Espace réservé du numéro de diapositive 22"/>
          <p:cNvSpPr>
            <a:spLocks noGrp="1"/>
          </p:cNvSpPr>
          <p:nvPr>
            <p:ph type="sldNum" sz="quarter" idx="4"/>
          </p:nvPr>
        </p:nvSpPr>
        <p:spPr>
          <a:xfrm>
            <a:off x="146304" y="6210300"/>
            <a:ext cx="457200" cy="457200"/>
          </a:xfrm>
          <a:prstGeom prst="ellipse">
            <a:avLst/>
          </a:prstGeom>
          <a:solidFill>
            <a:schemeClr val="accent1"/>
          </a:solidFill>
        </p:spPr>
        <p:txBody>
          <a:bodyPr wrap="none" lIns="0" tIns="0" rIns="0" bIns="0" anchor="ctr" anchorCtr="1">
            <a:noAutofit/>
          </a:bodyPr>
          <a:lstStyle>
            <a:lvl1pPr algn="ctr" eaLnBrk="1" latinLnBrk="0" hangingPunct="1">
              <a:defRPr kumimoji="0" sz="1400">
                <a:solidFill>
                  <a:srgbClr val="FFFFFF"/>
                </a:solidFill>
                <a:latin typeface="+mj-lt"/>
                <a:ea typeface="+mj-ea"/>
                <a:cs typeface="+mj-cs"/>
              </a:defRPr>
            </a:lvl1pPr>
          </a:lstStyle>
          <a:p>
            <a:fld id="{A0805FAA-67CB-4677-B4EC-5067B7020BAE}" type="slidenum">
              <a:rPr lang="fr-FR" smtClean="0"/>
              <a:pPr/>
              <a:t>‹N°›</a:t>
            </a:fld>
            <a:endParaRPr lang="fr-FR"/>
          </a:p>
        </p:txBody>
      </p:sp>
    </p:spTree>
  </p:cSld>
  <p:clrMap bg1="lt1" tx1="dk1" bg2="lt2" tx2="dk2" accent1="accent1" accent2="accent2" accent3="accent3" accent4="accent4" accent5="accent5" accent6="accent6" hlink="hlink" folHlink="folHlink"/>
  <p:sldLayoutIdLst>
    <p:sldLayoutId id="2147483745" r:id="rId1"/>
    <p:sldLayoutId id="2147483746" r:id="rId2"/>
    <p:sldLayoutId id="2147483747" r:id="rId3"/>
    <p:sldLayoutId id="2147483748" r:id="rId4"/>
    <p:sldLayoutId id="2147483749" r:id="rId5"/>
    <p:sldLayoutId id="2147483750" r:id="rId6"/>
    <p:sldLayoutId id="2147483751" r:id="rId7"/>
    <p:sldLayoutId id="2147483752" r:id="rId8"/>
    <p:sldLayoutId id="2147483753" r:id="rId9"/>
    <p:sldLayoutId id="2147483754" r:id="rId10"/>
    <p:sldLayoutId id="2147483755" r:id="rId11"/>
  </p:sldLayoutIdLst>
  <p:txStyles>
    <p:titleStyle>
      <a:lvl1pPr algn="l" rtl="0" eaLnBrk="1" latinLnBrk="0" hangingPunct="1">
        <a:spcBef>
          <a:spcPct val="0"/>
        </a:spcBef>
        <a:buNone/>
        <a:defRPr kumimoji="0" sz="4000" kern="1200">
          <a:solidFill>
            <a:schemeClr val="tx2"/>
          </a:solidFill>
          <a:latin typeface="+mj-lt"/>
          <a:ea typeface="+mj-ea"/>
          <a:cs typeface="+mj-cs"/>
        </a:defRPr>
      </a:lvl1pPr>
    </p:titleStyle>
    <p:bodyStyle>
      <a:lvl1pPr marL="274320" indent="-274320" algn="l" rtl="0" eaLnBrk="1" latinLnBrk="0" hangingPunct="1">
        <a:spcBef>
          <a:spcPts val="580"/>
        </a:spcBef>
        <a:buClr>
          <a:schemeClr val="accent1"/>
        </a:buClr>
        <a:buSzPct val="85000"/>
        <a:buFont typeface="Wingdings 2"/>
        <a:buChar char=""/>
        <a:defRPr kumimoji="0" sz="2600" kern="1200">
          <a:solidFill>
            <a:schemeClr val="tx1"/>
          </a:solidFill>
          <a:latin typeface="+mn-lt"/>
          <a:ea typeface="+mn-ea"/>
          <a:cs typeface="+mn-cs"/>
        </a:defRPr>
      </a:lvl1pPr>
      <a:lvl2pPr marL="548640" indent="-228600" algn="l" rtl="0" eaLnBrk="1" latinLnBrk="0" hangingPunct="1">
        <a:spcBef>
          <a:spcPts val="370"/>
        </a:spcBef>
        <a:buClr>
          <a:schemeClr val="accent2"/>
        </a:buClr>
        <a:buSzPct val="85000"/>
        <a:buFont typeface="Wingdings 2"/>
        <a:buChar char=""/>
        <a:defRPr kumimoji="0" sz="2400" kern="1200">
          <a:solidFill>
            <a:schemeClr val="tx1"/>
          </a:solidFill>
          <a:latin typeface="+mn-lt"/>
          <a:ea typeface="+mn-ea"/>
          <a:cs typeface="+mn-cs"/>
        </a:defRPr>
      </a:lvl2pPr>
      <a:lvl3pPr marL="822960" indent="-228600" algn="l" rtl="0" eaLnBrk="1" latinLnBrk="0" hangingPunct="1">
        <a:spcBef>
          <a:spcPts val="370"/>
        </a:spcBef>
        <a:buClr>
          <a:schemeClr val="accent1">
            <a:tint val="60000"/>
          </a:schemeClr>
        </a:buClr>
        <a:buSzPct val="85000"/>
        <a:buFont typeface="Wingdings 2"/>
        <a:buChar char=""/>
        <a:defRPr kumimoji="0" sz="2000" kern="1200">
          <a:solidFill>
            <a:schemeClr val="tx1"/>
          </a:solidFill>
          <a:latin typeface="+mn-lt"/>
          <a:ea typeface="+mn-ea"/>
          <a:cs typeface="+mn-cs"/>
        </a:defRPr>
      </a:lvl3pPr>
      <a:lvl4pPr marL="1097280" indent="-228600" algn="l" rtl="0" eaLnBrk="1" latinLnBrk="0" hangingPunct="1">
        <a:spcBef>
          <a:spcPts val="370"/>
        </a:spcBef>
        <a:buClr>
          <a:schemeClr val="accent3"/>
        </a:buClr>
        <a:buSzPct val="80000"/>
        <a:buFont typeface="Wingdings 2"/>
        <a:buChar char=""/>
        <a:defRPr kumimoji="0" sz="2000" kern="1200">
          <a:solidFill>
            <a:schemeClr val="tx1"/>
          </a:solidFill>
          <a:latin typeface="+mn-lt"/>
          <a:ea typeface="+mn-ea"/>
          <a:cs typeface="+mn-cs"/>
        </a:defRPr>
      </a:lvl4pPr>
      <a:lvl5pPr marL="1371600" indent="-228600" algn="l" rtl="0" eaLnBrk="1" latinLnBrk="0" hangingPunct="1">
        <a:spcBef>
          <a:spcPts val="370"/>
        </a:spcBef>
        <a:buClr>
          <a:schemeClr val="accent3"/>
        </a:buClr>
        <a:buFontTx/>
        <a:buChar char="o"/>
        <a:defRPr kumimoji="0" sz="2000" kern="1200">
          <a:solidFill>
            <a:schemeClr val="tx1"/>
          </a:solidFill>
          <a:latin typeface="+mn-lt"/>
          <a:ea typeface="+mn-ea"/>
          <a:cs typeface="+mn-cs"/>
        </a:defRPr>
      </a:lvl5pPr>
      <a:lvl6pPr marL="1645920" indent="-228600" algn="l" rtl="0" eaLnBrk="1" latinLnBrk="0" hangingPunct="1">
        <a:spcBef>
          <a:spcPts val="370"/>
        </a:spcBef>
        <a:buClr>
          <a:schemeClr val="accent3"/>
        </a:buClr>
        <a:buChar char="•"/>
        <a:defRPr kumimoji="0" sz="1800" kern="1200" baseline="0">
          <a:solidFill>
            <a:schemeClr val="tx1"/>
          </a:solidFill>
          <a:latin typeface="+mn-lt"/>
          <a:ea typeface="+mn-ea"/>
          <a:cs typeface="+mn-cs"/>
        </a:defRPr>
      </a:lvl6pPr>
      <a:lvl7pPr marL="1920240" indent="-228600" algn="l" rtl="0" eaLnBrk="1" latinLnBrk="0" hangingPunct="1">
        <a:spcBef>
          <a:spcPts val="370"/>
        </a:spcBef>
        <a:buClr>
          <a:schemeClr val="accent2"/>
        </a:buClr>
        <a:buChar char="•"/>
        <a:defRPr kumimoji="0" sz="1800" kern="1200">
          <a:solidFill>
            <a:schemeClr val="tx1"/>
          </a:solidFill>
          <a:latin typeface="+mn-lt"/>
          <a:ea typeface="+mn-ea"/>
          <a:cs typeface="+mn-cs"/>
        </a:defRPr>
      </a:lvl7pPr>
      <a:lvl8pPr marL="2194560" indent="-228600" algn="l" rtl="0" eaLnBrk="1" latinLnBrk="0" hangingPunct="1">
        <a:spcBef>
          <a:spcPts val="370"/>
        </a:spcBef>
        <a:buClr>
          <a:schemeClr val="accent1">
            <a:tint val="60000"/>
          </a:schemeClr>
        </a:buClr>
        <a:buChar char="•"/>
        <a:defRPr kumimoji="0" sz="1800" kern="1200">
          <a:solidFill>
            <a:schemeClr val="tx1"/>
          </a:solidFill>
          <a:latin typeface="+mn-lt"/>
          <a:ea typeface="+mn-ea"/>
          <a:cs typeface="+mn-cs"/>
        </a:defRPr>
      </a:lvl8pPr>
      <a:lvl9pPr marL="2468880" indent="-228600" algn="l" rtl="0" eaLnBrk="1" latinLnBrk="0" hangingPunct="1">
        <a:spcBef>
          <a:spcPts val="370"/>
        </a:spcBef>
        <a:buClr>
          <a:schemeClr val="accent2">
            <a:tint val="60000"/>
          </a:schemeClr>
        </a:buClr>
        <a:buChar char="•"/>
        <a:defRPr kumimoji="0" sz="1800" kern="120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BB0567B-DD26-420B-845D-593A30CA219F}"/>
              </a:ext>
            </a:extLst>
          </p:cNvPr>
          <p:cNvSpPr>
            <a:spLocks noGrp="1"/>
          </p:cNvSpPr>
          <p:nvPr>
            <p:ph type="title"/>
          </p:nvPr>
        </p:nvSpPr>
        <p:spPr>
          <a:xfrm>
            <a:off x="251520" y="692696"/>
            <a:ext cx="8568952" cy="1080120"/>
          </a:xfrm>
        </p:spPr>
        <p:txBody>
          <a:bodyPr anchor="ctr"/>
          <a:lstStyle/>
          <a:p>
            <a:r>
              <a:rPr lang="fr-FR" b="1" dirty="0">
                <a:solidFill>
                  <a:srgbClr val="FF0000"/>
                </a:solidFill>
                <a:latin typeface="Calibri" panose="020F0502020204030204" pitchFamily="34" charset="0"/>
              </a:rPr>
              <a:t>HEMMORAGIE AU CABINET DENTAIRE </a:t>
            </a:r>
          </a:p>
        </p:txBody>
      </p:sp>
      <p:pic>
        <p:nvPicPr>
          <p:cNvPr id="4" name="Picture 2">
            <a:extLst>
              <a:ext uri="{FF2B5EF4-FFF2-40B4-BE49-F238E27FC236}">
                <a16:creationId xmlns:a16="http://schemas.microsoft.com/office/drawing/2014/main" id="{FE750EEA-2A96-43B8-BFB0-DDA0D8054DE7}"/>
              </a:ext>
            </a:extLst>
          </p:cNvPr>
          <p:cNvPicPr>
            <a:picLocks noGrp="1" noChangeAspect="1" noChangeArrowheads="1"/>
          </p:cNvPicPr>
          <p:nvPr>
            <p:ph sz="quarter" idx="1"/>
          </p:nvPr>
        </p:nvPicPr>
        <p:blipFill>
          <a:blip r:embed="rId2"/>
          <a:srcRect/>
          <a:stretch>
            <a:fillRect/>
          </a:stretch>
        </p:blipFill>
        <p:spPr bwMode="auto">
          <a:xfrm>
            <a:off x="189360" y="1484784"/>
            <a:ext cx="8568952" cy="3456384"/>
          </a:xfrm>
          <a:prstGeom prst="rect">
            <a:avLst/>
          </a:prstGeom>
          <a:noFill/>
          <a:ln w="9525">
            <a:noFill/>
            <a:miter lim="800000"/>
            <a:headEnd/>
            <a:tailEnd/>
          </a:ln>
          <a:effectLst/>
        </p:spPr>
      </p:pic>
      <p:sp>
        <p:nvSpPr>
          <p:cNvPr id="3" name="Rectangle à coins arrondis 2"/>
          <p:cNvSpPr/>
          <p:nvPr/>
        </p:nvSpPr>
        <p:spPr>
          <a:xfrm>
            <a:off x="214473" y="5085185"/>
            <a:ext cx="8640960" cy="1149714"/>
          </a:xfrm>
          <a:prstGeom prst="round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fr-FR" sz="4400" b="1" dirty="0">
                <a:solidFill>
                  <a:srgbClr val="FF0000"/>
                </a:solidFill>
              </a:rPr>
              <a:t>Dr S.BELLAHDID</a:t>
            </a:r>
          </a:p>
          <a:p>
            <a:pPr algn="ctr"/>
            <a:r>
              <a:rPr lang="fr-FR" sz="3200" b="1" dirty="0">
                <a:solidFill>
                  <a:srgbClr val="FF0000"/>
                </a:solidFill>
              </a:rPr>
              <a:t>Réanimation médicale CHU Mustapha   </a:t>
            </a:r>
            <a:r>
              <a:rPr lang="fr-FR" sz="3200" b="1" dirty="0">
                <a:solidFill>
                  <a:schemeClr val="accent1">
                    <a:lumMod val="40000"/>
                    <a:lumOff val="60000"/>
                  </a:schemeClr>
                </a:solidFill>
              </a:rPr>
              <a:t> </a:t>
            </a:r>
          </a:p>
        </p:txBody>
      </p:sp>
    </p:spTree>
    <p:extLst>
      <p:ext uri="{BB962C8B-B14F-4D97-AF65-F5344CB8AC3E}">
        <p14:creationId xmlns:p14="http://schemas.microsoft.com/office/powerpoint/2010/main" val="197839248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solidFill>
            <a:schemeClr val="accent1">
              <a:lumMod val="20000"/>
              <a:lumOff val="80000"/>
            </a:schemeClr>
          </a:solidFill>
        </p:spPr>
        <p:style>
          <a:lnRef idx="1">
            <a:schemeClr val="accent1"/>
          </a:lnRef>
          <a:fillRef idx="2">
            <a:schemeClr val="accent1"/>
          </a:fillRef>
          <a:effectRef idx="1">
            <a:schemeClr val="accent1"/>
          </a:effectRef>
          <a:fontRef idx="minor">
            <a:schemeClr val="dk1"/>
          </a:fontRef>
        </p:style>
        <p:txBody>
          <a:bodyPr/>
          <a:lstStyle/>
          <a:p>
            <a:r>
              <a:rPr lang="fr-FR" b="1" dirty="0">
                <a:latin typeface="Calibri" panose="020F0502020204030204" pitchFamily="34" charset="0"/>
              </a:rPr>
              <a:t>                    </a:t>
            </a:r>
            <a:r>
              <a:rPr lang="fr-FR" sz="4800" b="1" dirty="0">
                <a:latin typeface="Calibri" panose="020F0502020204030204" pitchFamily="34" charset="0"/>
              </a:rPr>
              <a:t>PLAN</a:t>
            </a:r>
          </a:p>
        </p:txBody>
      </p:sp>
      <p:sp>
        <p:nvSpPr>
          <p:cNvPr id="3" name="Espace réservé du contenu 2"/>
          <p:cNvSpPr>
            <a:spLocks noGrp="1"/>
          </p:cNvSpPr>
          <p:nvPr>
            <p:ph sz="quarter" idx="1"/>
          </p:nvPr>
        </p:nvSpPr>
        <p:spPr/>
        <p:style>
          <a:lnRef idx="2">
            <a:schemeClr val="accent1"/>
          </a:lnRef>
          <a:fillRef idx="1">
            <a:schemeClr val="lt1"/>
          </a:fillRef>
          <a:effectRef idx="0">
            <a:schemeClr val="accent1"/>
          </a:effectRef>
          <a:fontRef idx="minor">
            <a:schemeClr val="dk1"/>
          </a:fontRef>
        </p:style>
        <p:txBody>
          <a:bodyPr>
            <a:normAutofit/>
          </a:bodyPr>
          <a:lstStyle/>
          <a:p>
            <a:pPr marL="0" indent="0">
              <a:buNone/>
            </a:pPr>
            <a:r>
              <a:rPr lang="fr-FR" sz="3600" b="1" dirty="0">
                <a:solidFill>
                  <a:schemeClr val="tx1"/>
                </a:solidFill>
                <a:latin typeface="Calibri" panose="020F0502020204030204" pitchFamily="34" charset="0"/>
              </a:rPr>
              <a:t>I-INTRODUCTION</a:t>
            </a:r>
          </a:p>
          <a:p>
            <a:pPr marL="0" indent="0">
              <a:buNone/>
            </a:pPr>
            <a:r>
              <a:rPr lang="fr-FR" sz="3600" b="1" dirty="0">
                <a:solidFill>
                  <a:schemeClr val="tx1"/>
                </a:solidFill>
                <a:latin typeface="Calibri" panose="020F0502020204030204" pitchFamily="34" charset="0"/>
              </a:rPr>
              <a:t>II-ACTES A RISQUE HEMORAGIQUE </a:t>
            </a:r>
          </a:p>
          <a:p>
            <a:pPr marL="0" indent="0">
              <a:buNone/>
            </a:pPr>
            <a:r>
              <a:rPr lang="fr-FR" sz="3600" b="1" dirty="0">
                <a:solidFill>
                  <a:schemeClr val="tx1"/>
                </a:solidFill>
                <a:latin typeface="Calibri" panose="020F0502020204030204" pitchFamily="34" charset="0"/>
              </a:rPr>
              <a:t>III-DIAGNOSTIC POSITIF</a:t>
            </a:r>
          </a:p>
          <a:p>
            <a:pPr marL="0" indent="0">
              <a:buNone/>
            </a:pPr>
            <a:r>
              <a:rPr lang="fr-FR" sz="3600" b="1" dirty="0">
                <a:solidFill>
                  <a:schemeClr val="tx1"/>
                </a:solidFill>
                <a:latin typeface="Calibri" panose="020F0502020204030204" pitchFamily="34" charset="0"/>
              </a:rPr>
              <a:t>IV-ETIOLOGIES </a:t>
            </a:r>
          </a:p>
          <a:p>
            <a:pPr marL="0" indent="0">
              <a:buNone/>
            </a:pPr>
            <a:r>
              <a:rPr lang="fr-FR" sz="3600" b="1" dirty="0">
                <a:solidFill>
                  <a:schemeClr val="tx1"/>
                </a:solidFill>
                <a:latin typeface="Calibri" panose="020F0502020204030204" pitchFamily="34" charset="0"/>
              </a:rPr>
              <a:t>V-TRAITEMENT </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457200" y="214290"/>
            <a:ext cx="8229600" cy="1071570"/>
          </a:xfrm>
          <a:solidFill>
            <a:schemeClr val="accent1">
              <a:lumMod val="20000"/>
              <a:lumOff val="80000"/>
            </a:schemeClr>
          </a:solidFill>
        </p:spPr>
        <p:style>
          <a:lnRef idx="1">
            <a:schemeClr val="accent1"/>
          </a:lnRef>
          <a:fillRef idx="2">
            <a:schemeClr val="accent1"/>
          </a:fillRef>
          <a:effectRef idx="1">
            <a:schemeClr val="accent1"/>
          </a:effectRef>
          <a:fontRef idx="minor">
            <a:schemeClr val="dk1"/>
          </a:fontRef>
        </p:style>
        <p:txBody>
          <a:bodyPr/>
          <a:lstStyle/>
          <a:p>
            <a:r>
              <a:rPr lang="fr-FR" b="1" dirty="0">
                <a:solidFill>
                  <a:schemeClr val="tx1"/>
                </a:solidFill>
              </a:rPr>
              <a:t>           I/INTRODUCTION</a:t>
            </a:r>
          </a:p>
        </p:txBody>
      </p:sp>
      <p:sp>
        <p:nvSpPr>
          <p:cNvPr id="3" name="Espace réservé du contenu 2"/>
          <p:cNvSpPr>
            <a:spLocks noGrp="1"/>
          </p:cNvSpPr>
          <p:nvPr>
            <p:ph sz="quarter" idx="1"/>
          </p:nvPr>
        </p:nvSpPr>
        <p:spPr>
          <a:xfrm>
            <a:off x="457200" y="1142984"/>
            <a:ext cx="8229600" cy="5429288"/>
          </a:xfrm>
        </p:spPr>
        <p:style>
          <a:lnRef idx="2">
            <a:schemeClr val="accent1"/>
          </a:lnRef>
          <a:fillRef idx="1">
            <a:schemeClr val="lt1"/>
          </a:fillRef>
          <a:effectRef idx="0">
            <a:schemeClr val="accent1"/>
          </a:effectRef>
          <a:fontRef idx="minor">
            <a:schemeClr val="dk1"/>
          </a:fontRef>
        </p:style>
        <p:txBody>
          <a:bodyPr/>
          <a:lstStyle/>
          <a:p>
            <a:pPr>
              <a:buNone/>
            </a:pPr>
            <a:endParaRPr lang="fr-FR" dirty="0"/>
          </a:p>
          <a:p>
            <a:pPr>
              <a:buFont typeface="Wingdings" panose="05000000000000000000" pitchFamily="2" charset="2"/>
              <a:buChar char="Ø"/>
            </a:pPr>
            <a:r>
              <a:rPr lang="fr-FR" dirty="0"/>
              <a:t> </a:t>
            </a:r>
            <a:r>
              <a:rPr lang="fr-FR" sz="2800" dirty="0">
                <a:latin typeface="Calibri" panose="020F0502020204030204" pitchFamily="34" charset="0"/>
              </a:rPr>
              <a:t>Les actes sanglants font partie de la pratique courante du médecin dentiste: </a:t>
            </a:r>
            <a:r>
              <a:rPr lang="fr-FR" sz="2800" dirty="0">
                <a:solidFill>
                  <a:srgbClr val="FF0000"/>
                </a:solidFill>
                <a:latin typeface="Calibri" panose="020F0502020204030204" pitchFamily="34" charset="0"/>
              </a:rPr>
              <a:t>Urgence fréquente  au cabinet dentaire+++</a:t>
            </a:r>
          </a:p>
          <a:p>
            <a:pPr>
              <a:buNone/>
            </a:pPr>
            <a:r>
              <a:rPr lang="fr-FR" sz="2800" dirty="0">
                <a:latin typeface="Calibri" panose="020F0502020204030204" pitchFamily="34" charset="0"/>
              </a:rPr>
              <a:t>Urgence vraie nécessitant une </a:t>
            </a:r>
            <a:r>
              <a:rPr lang="fr-FR" sz="2800" dirty="0">
                <a:solidFill>
                  <a:schemeClr val="tx1"/>
                </a:solidFill>
                <a:latin typeface="Calibri" panose="020F0502020204030204" pitchFamily="34" charset="0"/>
              </a:rPr>
              <a:t>prise en charge rapide.</a:t>
            </a:r>
          </a:p>
          <a:p>
            <a:pPr>
              <a:buNone/>
            </a:pPr>
            <a:r>
              <a:rPr lang="fr-FR" sz="2800" b="1" u="sng" dirty="0">
                <a:solidFill>
                  <a:schemeClr val="tx1"/>
                </a:solidFill>
                <a:latin typeface="Calibri" panose="020F0502020204030204" pitchFamily="34" charset="0"/>
              </a:rPr>
              <a:t>Objectifs:</a:t>
            </a:r>
          </a:p>
          <a:p>
            <a:pPr>
              <a:buNone/>
            </a:pPr>
            <a:r>
              <a:rPr lang="fr-FR" sz="2800" dirty="0">
                <a:solidFill>
                  <a:schemeClr val="tx1"/>
                </a:solidFill>
                <a:latin typeface="Calibri" panose="020F0502020204030204" pitchFamily="34" charset="0"/>
              </a:rPr>
              <a:t> 1/</a:t>
            </a:r>
            <a:r>
              <a:rPr lang="fr-FR" sz="2800" dirty="0">
                <a:latin typeface="Calibri" panose="020F0502020204030204" pitchFamily="34" charset="0"/>
              </a:rPr>
              <a:t>Détecter les patients à risque hémorragique .</a:t>
            </a:r>
          </a:p>
          <a:p>
            <a:pPr>
              <a:buNone/>
            </a:pPr>
            <a:r>
              <a:rPr lang="fr-FR" sz="2800" dirty="0">
                <a:latin typeface="Calibri" panose="020F0502020204030204" pitchFamily="34" charset="0"/>
              </a:rPr>
              <a:t> 2/Faire face à une hémorragie qui survient au moment des soins </a:t>
            </a:r>
          </a:p>
          <a:p>
            <a:pPr>
              <a:buNone/>
            </a:pPr>
            <a:r>
              <a:rPr lang="fr-FR" sz="2800" dirty="0">
                <a:latin typeface="Calibri" panose="020F0502020204030204" pitchFamily="34" charset="0"/>
              </a:rPr>
              <a:t>3/ Prendre en charge en urgence un patient présentant une hémorragie.</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D2B76A1-3606-4BD7-8A1E-8C1B52E8DC57}"/>
              </a:ext>
            </a:extLst>
          </p:cNvPr>
          <p:cNvSpPr>
            <a:spLocks noGrp="1"/>
          </p:cNvSpPr>
          <p:nvPr>
            <p:ph type="title"/>
          </p:nvPr>
        </p:nvSpPr>
        <p:spPr>
          <a:xfrm>
            <a:off x="914400" y="274638"/>
            <a:ext cx="7772400" cy="778098"/>
          </a:xfrm>
          <a:solidFill>
            <a:schemeClr val="accent1">
              <a:lumMod val="20000"/>
              <a:lumOff val="80000"/>
            </a:schemeClr>
          </a:solidFill>
        </p:spPr>
        <p:txBody>
          <a:bodyPr>
            <a:normAutofit/>
          </a:bodyPr>
          <a:lstStyle/>
          <a:p>
            <a:r>
              <a:rPr lang="fr-FR" sz="3600" b="1" dirty="0">
                <a:solidFill>
                  <a:schemeClr val="tx1"/>
                </a:solidFill>
                <a:latin typeface="Calibri" panose="020F0502020204030204" pitchFamily="34" charset="0"/>
              </a:rPr>
              <a:t>  II/ACTES A RISQUE HEMORAGIQUE </a:t>
            </a:r>
          </a:p>
        </p:txBody>
      </p:sp>
      <p:sp>
        <p:nvSpPr>
          <p:cNvPr id="3" name="Espace réservé du contenu 2">
            <a:extLst>
              <a:ext uri="{FF2B5EF4-FFF2-40B4-BE49-F238E27FC236}">
                <a16:creationId xmlns:a16="http://schemas.microsoft.com/office/drawing/2014/main" id="{3F588469-ECAD-400C-95B3-C9651669C1A8}"/>
              </a:ext>
            </a:extLst>
          </p:cNvPr>
          <p:cNvSpPr>
            <a:spLocks noGrp="1"/>
          </p:cNvSpPr>
          <p:nvPr>
            <p:ph sz="quarter" idx="1"/>
          </p:nvPr>
        </p:nvSpPr>
        <p:spPr>
          <a:xfrm>
            <a:off x="914400" y="1052736"/>
            <a:ext cx="7772400" cy="4967064"/>
          </a:xfrm>
        </p:spPr>
        <p:txBody>
          <a:bodyPr>
            <a:normAutofit lnSpcReduction="10000"/>
          </a:bodyPr>
          <a:lstStyle/>
          <a:p>
            <a:pPr marL="0" indent="0">
              <a:buNone/>
            </a:pPr>
            <a:endParaRPr lang="fr-FR" dirty="0"/>
          </a:p>
          <a:p>
            <a:pPr>
              <a:buFont typeface="Wingdings" panose="05000000000000000000" pitchFamily="2" charset="2"/>
              <a:buChar char="Ø"/>
            </a:pPr>
            <a:r>
              <a:rPr lang="fr-FR" dirty="0">
                <a:latin typeface="Calibri" panose="020F0502020204030204" pitchFamily="34" charset="0"/>
              </a:rPr>
              <a:t>Avulsion de plus de trois dents , ou dans différents quadrants</a:t>
            </a:r>
          </a:p>
          <a:p>
            <a:pPr>
              <a:buFont typeface="Wingdings" panose="05000000000000000000" pitchFamily="2" charset="2"/>
              <a:buChar char="Ø"/>
            </a:pPr>
            <a:r>
              <a:rPr lang="fr-FR" dirty="0">
                <a:latin typeface="Calibri" panose="020F0502020204030204" pitchFamily="34" charset="0"/>
              </a:rPr>
              <a:t>Avulsion en zone </a:t>
            </a:r>
            <a:r>
              <a:rPr lang="fr-FR" b="1" dirty="0">
                <a:latin typeface="Calibri" panose="020F0502020204030204" pitchFamily="34" charset="0"/>
              </a:rPr>
              <a:t>inflammatoire</a:t>
            </a:r>
            <a:r>
              <a:rPr lang="fr-FR" dirty="0">
                <a:latin typeface="Calibri" panose="020F0502020204030204" pitchFamily="34" charset="0"/>
              </a:rPr>
              <a:t>  </a:t>
            </a:r>
          </a:p>
          <a:p>
            <a:pPr>
              <a:buFont typeface="Wingdings" panose="05000000000000000000" pitchFamily="2" charset="2"/>
              <a:buChar char="Ø"/>
            </a:pPr>
            <a:r>
              <a:rPr lang="fr-FR" dirty="0">
                <a:latin typeface="Calibri" panose="020F0502020204030204" pitchFamily="34" charset="0"/>
              </a:rPr>
              <a:t>Avulsion de dents incluses ou de dents à </a:t>
            </a:r>
            <a:r>
              <a:rPr lang="fr-FR" dirty="0" err="1">
                <a:latin typeface="Calibri" panose="020F0502020204030204" pitchFamily="34" charset="0"/>
              </a:rPr>
              <a:t>paradonte</a:t>
            </a:r>
            <a:r>
              <a:rPr lang="fr-FR" dirty="0">
                <a:latin typeface="Calibri" panose="020F0502020204030204" pitchFamily="34" charset="0"/>
              </a:rPr>
              <a:t> amoindrie lié à aux  maladies parodontales qui sont des lésions à composante inflammatoire résultant d'une agression bactérienne de l'espace </a:t>
            </a:r>
          </a:p>
          <a:p>
            <a:pPr marL="0" indent="0">
              <a:buNone/>
            </a:pPr>
            <a:r>
              <a:rPr lang="fr-FR" dirty="0">
                <a:latin typeface="Calibri" panose="020F0502020204030204" pitchFamily="34" charset="0"/>
              </a:rPr>
              <a:t>   </a:t>
            </a:r>
            <a:r>
              <a:rPr lang="fr-FR" dirty="0" err="1">
                <a:latin typeface="Calibri" panose="020F0502020204030204" pitchFamily="34" charset="0"/>
              </a:rPr>
              <a:t>gingivo</a:t>
            </a:r>
            <a:r>
              <a:rPr lang="fr-FR" dirty="0">
                <a:latin typeface="Calibri" panose="020F0502020204030204" pitchFamily="34" charset="0"/>
              </a:rPr>
              <a:t>-dentaire, modulées par les facteurs immunologiques de l'hôte qui en déterminent l'évolution. </a:t>
            </a:r>
          </a:p>
          <a:p>
            <a:pPr marL="0" indent="0">
              <a:buNone/>
            </a:pPr>
            <a:r>
              <a:rPr lang="fr-FR" dirty="0"/>
              <a:t> </a:t>
            </a:r>
          </a:p>
        </p:txBody>
      </p:sp>
      <p:pic>
        <p:nvPicPr>
          <p:cNvPr id="4" name="Image 3"/>
          <p:cNvPicPr>
            <a:picLocks noChangeAspect="1"/>
          </p:cNvPicPr>
          <p:nvPr/>
        </p:nvPicPr>
        <p:blipFill>
          <a:blip r:embed="rId2"/>
          <a:stretch>
            <a:fillRect/>
          </a:stretch>
        </p:blipFill>
        <p:spPr>
          <a:xfrm>
            <a:off x="3419872" y="4984911"/>
            <a:ext cx="4338985" cy="1640706"/>
          </a:xfrm>
          <a:prstGeom prst="rect">
            <a:avLst/>
          </a:prstGeom>
        </p:spPr>
      </p:pic>
    </p:spTree>
    <p:extLst>
      <p:ext uri="{BB962C8B-B14F-4D97-AF65-F5344CB8AC3E}">
        <p14:creationId xmlns:p14="http://schemas.microsoft.com/office/powerpoint/2010/main" val="419341250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498376" y="114564"/>
            <a:ext cx="8147248" cy="1143000"/>
          </a:xfrm>
          <a:solidFill>
            <a:schemeClr val="accent1">
              <a:lumMod val="20000"/>
              <a:lumOff val="80000"/>
            </a:schemeClr>
          </a:solidFill>
        </p:spPr>
        <p:txBody>
          <a:bodyPr>
            <a:normAutofit/>
          </a:bodyPr>
          <a:lstStyle/>
          <a:p>
            <a:r>
              <a:rPr lang="fr-FR" b="1" dirty="0">
                <a:solidFill>
                  <a:schemeClr val="tx1"/>
                </a:solidFill>
                <a:latin typeface="Calibri" panose="020F0502020204030204" pitchFamily="34" charset="0"/>
              </a:rPr>
              <a:t>II/ACTES A RISQUE HEMORAGIQUE </a:t>
            </a:r>
            <a:endParaRPr lang="fr-FR" dirty="0"/>
          </a:p>
        </p:txBody>
      </p:sp>
      <p:pic>
        <p:nvPicPr>
          <p:cNvPr id="4" name="Espace réservé du contenu 3"/>
          <p:cNvPicPr>
            <a:picLocks noGrp="1" noChangeAspect="1"/>
          </p:cNvPicPr>
          <p:nvPr>
            <p:ph sz="quarter" idx="1"/>
          </p:nvPr>
        </p:nvPicPr>
        <p:blipFill>
          <a:blip r:embed="rId2"/>
          <a:stretch>
            <a:fillRect/>
          </a:stretch>
        </p:blipFill>
        <p:spPr>
          <a:xfrm>
            <a:off x="611560" y="1388492"/>
            <a:ext cx="8075240" cy="3940720"/>
          </a:xfrm>
          <a:prstGeom prst="rect">
            <a:avLst/>
          </a:prstGeom>
        </p:spPr>
      </p:pic>
      <p:sp>
        <p:nvSpPr>
          <p:cNvPr id="6" name="Rectangle 5"/>
          <p:cNvSpPr/>
          <p:nvPr/>
        </p:nvSpPr>
        <p:spPr>
          <a:xfrm>
            <a:off x="539552" y="5445224"/>
            <a:ext cx="8147248" cy="1048096"/>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fr-FR" sz="2000" dirty="0">
                <a:solidFill>
                  <a:schemeClr val="tx1"/>
                </a:solidFill>
                <a:latin typeface="Calibri" panose="020F0502020204030204" pitchFamily="34" charset="0"/>
              </a:rPr>
              <a:t>Sous </a:t>
            </a:r>
            <a:r>
              <a:rPr lang="fr-FR" b="1" i="1" dirty="0">
                <a:solidFill>
                  <a:schemeClr val="tx1"/>
                </a:solidFill>
                <a:latin typeface="Calibri" panose="020F0502020204030204" pitchFamily="34" charset="0"/>
              </a:rPr>
              <a:t>l’effet des bactéries, l’os a été détruit. Du tartre s’est formé sur et sous la gencive, entretenant l’inflammation, et empêchant la gencive de se recoller sur la racine. Le long de la dent s’est créée une poche, dans laquelle les bactéries prolifèrent et entretiennent le déchaussement</a:t>
            </a:r>
            <a:r>
              <a:rPr lang="fr-FR" i="1" dirty="0">
                <a:solidFill>
                  <a:srgbClr val="333333"/>
                </a:solidFill>
                <a:latin typeface="Merriweather"/>
              </a:rPr>
              <a:t>.</a:t>
            </a:r>
            <a:r>
              <a:rPr lang="fr-FR" dirty="0">
                <a:solidFill>
                  <a:schemeClr val="tx1"/>
                </a:solidFill>
              </a:rPr>
              <a:t> </a:t>
            </a:r>
          </a:p>
        </p:txBody>
      </p:sp>
    </p:spTree>
    <p:extLst>
      <p:ext uri="{BB962C8B-B14F-4D97-AF65-F5344CB8AC3E}">
        <p14:creationId xmlns:p14="http://schemas.microsoft.com/office/powerpoint/2010/main" val="88627777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179512" y="116632"/>
            <a:ext cx="8964488" cy="1143000"/>
          </a:xfrm>
          <a:solidFill>
            <a:schemeClr val="accent1">
              <a:lumMod val="20000"/>
              <a:lumOff val="80000"/>
            </a:schemeClr>
          </a:solidFill>
        </p:spPr>
        <p:txBody>
          <a:bodyPr>
            <a:normAutofit/>
          </a:bodyPr>
          <a:lstStyle/>
          <a:p>
            <a:r>
              <a:rPr lang="fr-FR" b="1" dirty="0">
                <a:solidFill>
                  <a:schemeClr val="tx1"/>
                </a:solidFill>
                <a:latin typeface="Calibri" panose="020F0502020204030204" pitchFamily="34" charset="0"/>
              </a:rPr>
              <a:t>II/ACTES A RISQUE HEMORAGIQUE </a:t>
            </a:r>
            <a:endParaRPr lang="fr-FR" dirty="0"/>
          </a:p>
        </p:txBody>
      </p:sp>
      <p:sp>
        <p:nvSpPr>
          <p:cNvPr id="3" name="Espace réservé du contenu 2"/>
          <p:cNvSpPr>
            <a:spLocks noGrp="1"/>
          </p:cNvSpPr>
          <p:nvPr>
            <p:ph sz="quarter" idx="1"/>
          </p:nvPr>
        </p:nvSpPr>
        <p:spPr/>
        <p:txBody>
          <a:bodyPr>
            <a:normAutofit/>
          </a:bodyPr>
          <a:lstStyle/>
          <a:p>
            <a:pPr>
              <a:buFont typeface="Wingdings" panose="05000000000000000000" pitchFamily="2" charset="2"/>
              <a:buChar char="Ø"/>
            </a:pPr>
            <a:endParaRPr lang="fr-FR" dirty="0"/>
          </a:p>
          <a:p>
            <a:pPr>
              <a:buFont typeface="Wingdings" panose="05000000000000000000" pitchFamily="2" charset="2"/>
              <a:buChar char="Ø"/>
            </a:pPr>
            <a:r>
              <a:rPr lang="fr-FR" dirty="0"/>
              <a:t>Chirurgie parodontale ,Greffe gingivale avec prélèvement palatine </a:t>
            </a:r>
          </a:p>
          <a:p>
            <a:pPr>
              <a:buFont typeface="Wingdings" panose="05000000000000000000" pitchFamily="2" charset="2"/>
              <a:buChar char="Ø"/>
            </a:pPr>
            <a:r>
              <a:rPr lang="fr-FR" dirty="0" err="1"/>
              <a:t>Désinclusion</a:t>
            </a:r>
            <a:r>
              <a:rPr lang="fr-FR" dirty="0"/>
              <a:t> avec traction  </a:t>
            </a:r>
            <a:r>
              <a:rPr lang="fr-FR" dirty="0" err="1"/>
              <a:t>chirurgico</a:t>
            </a:r>
            <a:r>
              <a:rPr lang="fr-FR" dirty="0"/>
              <a:t>-orthodontique </a:t>
            </a:r>
          </a:p>
          <a:p>
            <a:pPr>
              <a:buFont typeface="Wingdings" panose="05000000000000000000" pitchFamily="2" charset="2"/>
              <a:buChar char="Ø"/>
            </a:pPr>
            <a:r>
              <a:rPr lang="fr-FR" dirty="0"/>
              <a:t>Enucléations kystiques et chirurgie apicale (lésion&gt;2cm ou de  tumeurs bénignes</a:t>
            </a:r>
          </a:p>
          <a:p>
            <a:pPr>
              <a:buFont typeface="Wingdings" panose="05000000000000000000" pitchFamily="2" charset="2"/>
              <a:buChar char="Ø"/>
            </a:pPr>
            <a:r>
              <a:rPr lang="fr-FR" dirty="0"/>
              <a:t> Biopsie ,Elévation de sinus, fermeture d’une communication bucco sinusienne</a:t>
            </a:r>
          </a:p>
          <a:p>
            <a:pPr>
              <a:buFont typeface="Wingdings" panose="05000000000000000000" pitchFamily="2" charset="2"/>
              <a:buChar char="Ø"/>
            </a:pPr>
            <a:r>
              <a:rPr lang="fr-FR" dirty="0"/>
              <a:t> Greffes osseuses ,Implants multiples </a:t>
            </a:r>
          </a:p>
          <a:p>
            <a:pPr>
              <a:buFont typeface="Wingdings" panose="05000000000000000000" pitchFamily="2" charset="2"/>
              <a:buChar char="Ø"/>
            </a:pPr>
            <a:r>
              <a:rPr lang="fr-FR" dirty="0"/>
              <a:t>Chirurgie des tissus mous (lithiase salivaire).</a:t>
            </a:r>
          </a:p>
          <a:p>
            <a:pPr marL="0" indent="0">
              <a:buNone/>
            </a:pPr>
            <a:endParaRPr lang="fr-FR" dirty="0"/>
          </a:p>
        </p:txBody>
      </p:sp>
    </p:spTree>
    <p:extLst>
      <p:ext uri="{BB962C8B-B14F-4D97-AF65-F5344CB8AC3E}">
        <p14:creationId xmlns:p14="http://schemas.microsoft.com/office/powerpoint/2010/main" val="69511669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C879889-63EB-4B22-8CC6-7E1CA4CF23AB}"/>
              </a:ext>
            </a:extLst>
          </p:cNvPr>
          <p:cNvSpPr>
            <a:spLocks noGrp="1"/>
          </p:cNvSpPr>
          <p:nvPr>
            <p:ph type="title"/>
          </p:nvPr>
        </p:nvSpPr>
        <p:spPr>
          <a:xfrm>
            <a:off x="251520" y="274638"/>
            <a:ext cx="8435280" cy="1143000"/>
          </a:xfrm>
          <a:solidFill>
            <a:schemeClr val="accent1">
              <a:lumMod val="20000"/>
              <a:lumOff val="80000"/>
            </a:schemeClr>
          </a:solidFill>
        </p:spPr>
        <p:txBody>
          <a:bodyPr>
            <a:normAutofit/>
          </a:bodyPr>
          <a:lstStyle/>
          <a:p>
            <a:r>
              <a:rPr lang="fr-FR" b="1" dirty="0">
                <a:solidFill>
                  <a:schemeClr val="tx1"/>
                </a:solidFill>
                <a:latin typeface="Calibri" panose="020F0502020204030204" pitchFamily="34" charset="0"/>
              </a:rPr>
              <a:t>II/ACTES A RISQUE HEMORAGIQUE  </a:t>
            </a:r>
          </a:p>
        </p:txBody>
      </p:sp>
      <p:sp>
        <p:nvSpPr>
          <p:cNvPr id="3" name="Espace réservé du contenu 2">
            <a:extLst>
              <a:ext uri="{FF2B5EF4-FFF2-40B4-BE49-F238E27FC236}">
                <a16:creationId xmlns:a16="http://schemas.microsoft.com/office/drawing/2014/main" id="{67692B98-9ED1-488A-8F42-8B0296D8B809}"/>
              </a:ext>
            </a:extLst>
          </p:cNvPr>
          <p:cNvSpPr>
            <a:spLocks noGrp="1"/>
          </p:cNvSpPr>
          <p:nvPr>
            <p:ph sz="quarter" idx="1"/>
          </p:nvPr>
        </p:nvSpPr>
        <p:spPr>
          <a:xfrm>
            <a:off x="251520" y="1447800"/>
            <a:ext cx="8435280" cy="5135562"/>
          </a:xfrm>
        </p:spPr>
        <p:txBody>
          <a:bodyPr/>
          <a:lstStyle/>
          <a:p>
            <a:pPr marL="0" indent="0">
              <a:buNone/>
            </a:pPr>
            <a:r>
              <a:rPr lang="fr-FR" dirty="0"/>
              <a:t> </a:t>
            </a:r>
            <a:r>
              <a:rPr lang="fr-FR" b="1" dirty="0">
                <a:solidFill>
                  <a:srgbClr val="EE0000"/>
                </a:solidFill>
              </a:rPr>
              <a:t>A</a:t>
            </a:r>
            <a:r>
              <a:rPr lang="fr-FR" b="1" u="sng" dirty="0">
                <a:solidFill>
                  <a:srgbClr val="EE0000"/>
                </a:solidFill>
              </a:rPr>
              <a:t>CTES CONTRE INDIQUES EN CAS DE RISQUE HEMORAGIQUE : </a:t>
            </a:r>
          </a:p>
          <a:p>
            <a:pPr marL="0" indent="0">
              <a:buNone/>
            </a:pPr>
            <a:endParaRPr lang="fr-FR" dirty="0">
              <a:solidFill>
                <a:srgbClr val="FF0000"/>
              </a:solidFill>
              <a:latin typeface="Calibri" panose="020F0502020204030204" pitchFamily="34" charset="0"/>
            </a:endParaRPr>
          </a:p>
          <a:p>
            <a:pPr marL="0" indent="0">
              <a:buNone/>
            </a:pPr>
            <a:r>
              <a:rPr lang="fr-FR" dirty="0">
                <a:latin typeface="Calibri" panose="020F0502020204030204" pitchFamily="34" charset="0"/>
              </a:rPr>
              <a:t>1-Anesthésie</a:t>
            </a:r>
            <a:r>
              <a:rPr lang="fr-FR" dirty="0">
                <a:solidFill>
                  <a:srgbClr val="FF0000"/>
                </a:solidFill>
                <a:latin typeface="Calibri" panose="020F0502020204030204" pitchFamily="34" charset="0"/>
              </a:rPr>
              <a:t> </a:t>
            </a:r>
            <a:r>
              <a:rPr lang="fr-FR" dirty="0">
                <a:latin typeface="Calibri" panose="020F0502020204030204" pitchFamily="34" charset="0"/>
              </a:rPr>
              <a:t>locorégionale du nerf alvéolaire inférieure (déconseillée)</a:t>
            </a:r>
          </a:p>
          <a:p>
            <a:pPr marL="0" indent="0">
              <a:buNone/>
            </a:pPr>
            <a:r>
              <a:rPr lang="fr-FR" dirty="0">
                <a:latin typeface="Calibri" panose="020F0502020204030204" pitchFamily="34" charset="0"/>
              </a:rPr>
              <a:t>2-Un plateau technique insuffisant  du praticien contre indique tous les gestes chirurgicaux à risque hémorragique </a:t>
            </a:r>
          </a:p>
          <a:p>
            <a:pPr marL="0" indent="0">
              <a:buNone/>
            </a:pPr>
            <a:r>
              <a:rPr lang="fr-FR" dirty="0">
                <a:latin typeface="Calibri" panose="020F0502020204030204" pitchFamily="34" charset="0"/>
              </a:rPr>
              <a:t>3-Greffe gingivale libre</a:t>
            </a:r>
          </a:p>
        </p:txBody>
      </p:sp>
    </p:spTree>
    <p:extLst>
      <p:ext uri="{BB962C8B-B14F-4D97-AF65-F5344CB8AC3E}">
        <p14:creationId xmlns:p14="http://schemas.microsoft.com/office/powerpoint/2010/main" val="217560899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395536" y="274638"/>
            <a:ext cx="8424936" cy="1143000"/>
          </a:xfrm>
          <a:solidFill>
            <a:schemeClr val="accent1">
              <a:lumMod val="20000"/>
              <a:lumOff val="80000"/>
            </a:schemeClr>
          </a:solidFill>
        </p:spPr>
        <p:style>
          <a:lnRef idx="1">
            <a:schemeClr val="accent1"/>
          </a:lnRef>
          <a:fillRef idx="2">
            <a:schemeClr val="accent1"/>
          </a:fillRef>
          <a:effectRef idx="1">
            <a:schemeClr val="accent1"/>
          </a:effectRef>
          <a:fontRef idx="minor">
            <a:schemeClr val="dk1"/>
          </a:fontRef>
        </p:style>
        <p:txBody>
          <a:bodyPr/>
          <a:lstStyle/>
          <a:p>
            <a:r>
              <a:rPr lang="fr-FR" b="1" dirty="0">
                <a:latin typeface="Calibri" panose="020F0502020204030204" pitchFamily="34" charset="0"/>
              </a:rPr>
              <a:t>III/DIAGNOSTIC POSITIF  </a:t>
            </a:r>
          </a:p>
        </p:txBody>
      </p:sp>
      <p:sp>
        <p:nvSpPr>
          <p:cNvPr id="3" name="Espace réservé du contenu 2"/>
          <p:cNvSpPr>
            <a:spLocks noGrp="1"/>
          </p:cNvSpPr>
          <p:nvPr>
            <p:ph sz="quarter" idx="1"/>
          </p:nvPr>
        </p:nvSpPr>
        <p:spPr>
          <a:xfrm>
            <a:off x="395536" y="1417638"/>
            <a:ext cx="8424936" cy="4602162"/>
          </a:xfrm>
        </p:spPr>
        <p:txBody>
          <a:bodyPr>
            <a:normAutofit/>
          </a:bodyPr>
          <a:lstStyle/>
          <a:p>
            <a:pPr>
              <a:buNone/>
            </a:pPr>
            <a:r>
              <a:rPr lang="fr-FR" sz="3600" b="1" u="sng" dirty="0">
                <a:solidFill>
                  <a:srgbClr val="FF0000"/>
                </a:solidFill>
                <a:latin typeface="Calibri" panose="020F0502020204030204" pitchFamily="34" charset="0"/>
              </a:rPr>
              <a:t>1/interrogatoire :</a:t>
            </a:r>
          </a:p>
          <a:p>
            <a:pPr>
              <a:buNone/>
            </a:pPr>
            <a:r>
              <a:rPr lang="fr-FR" sz="3000" b="1" dirty="0">
                <a:latin typeface="Calibri" panose="020F0502020204030204" pitchFamily="34" charset="0"/>
              </a:rPr>
              <a:t>C’est le meilleur test de dépistage du risque hémorragique .</a:t>
            </a:r>
          </a:p>
          <a:p>
            <a:pPr>
              <a:buNone/>
            </a:pPr>
            <a:r>
              <a:rPr lang="fr-FR" sz="3000" b="1" u="sng" dirty="0">
                <a:solidFill>
                  <a:srgbClr val="00B0F0"/>
                </a:solidFill>
                <a:latin typeface="Calibri" panose="020F0502020204030204" pitchFamily="34" charset="0"/>
              </a:rPr>
              <a:t>AGE </a:t>
            </a:r>
            <a:r>
              <a:rPr lang="fr-FR" sz="3000" b="1" dirty="0">
                <a:solidFill>
                  <a:srgbClr val="00B0F0"/>
                </a:solidFill>
                <a:latin typeface="Calibri" panose="020F0502020204030204" pitchFamily="34" charset="0"/>
              </a:rPr>
              <a:t>:</a:t>
            </a:r>
          </a:p>
          <a:p>
            <a:pPr>
              <a:buFont typeface="Wingdings" panose="05000000000000000000" pitchFamily="2" charset="2"/>
              <a:buChar char="§"/>
            </a:pPr>
            <a:r>
              <a:rPr lang="fr-FR" sz="2400" b="1" dirty="0">
                <a:latin typeface="Calibri" panose="020F0502020204030204" pitchFamily="34" charset="0"/>
              </a:rPr>
              <a:t>Le jeune Age oriente vers une pathologie constitutionnelle</a:t>
            </a:r>
          </a:p>
          <a:p>
            <a:pPr>
              <a:buFont typeface="Wingdings" panose="05000000000000000000" pitchFamily="2" charset="2"/>
              <a:buChar char="§"/>
            </a:pPr>
            <a:r>
              <a:rPr lang="fr-FR" sz="2400" b="1" dirty="0">
                <a:latin typeface="Calibri" panose="020F0502020204030204" pitchFamily="34" charset="0"/>
              </a:rPr>
              <a:t>La symptomatologie chez le sujet âgé oriente plutôt vers une pathologie acquise </a:t>
            </a:r>
          </a:p>
          <a:p>
            <a:pPr>
              <a:buNone/>
            </a:pPr>
            <a:r>
              <a:rPr lang="fr-FR" sz="2400" b="1" u="sng" dirty="0">
                <a:solidFill>
                  <a:srgbClr val="00B0F0"/>
                </a:solidFill>
                <a:latin typeface="Calibri" panose="020F0502020204030204" pitchFamily="34" charset="0"/>
              </a:rPr>
              <a:t>SEXE :</a:t>
            </a:r>
            <a:r>
              <a:rPr lang="fr-FR" sz="2400" b="1" u="sng" dirty="0">
                <a:latin typeface="Calibri" panose="020F0502020204030204" pitchFamily="34" charset="0"/>
              </a:rPr>
              <a:t>P</a:t>
            </a:r>
            <a:r>
              <a:rPr lang="fr-FR" sz="2400" b="1" dirty="0">
                <a:latin typeface="Calibri" panose="020F0502020204030204" pitchFamily="34" charset="0"/>
              </a:rPr>
              <a:t>ermet d’exclure une hémophilie chez la femme </a:t>
            </a:r>
          </a:p>
          <a:p>
            <a:pPr>
              <a:buNone/>
            </a:pPr>
            <a:endParaRPr lang="fr-FR" u="sng" dirty="0"/>
          </a:p>
          <a:p>
            <a:pPr marL="0" indent="0">
              <a:buNone/>
            </a:pPr>
            <a:endParaRPr lang="fr-FR" dirty="0"/>
          </a:p>
          <a:p>
            <a:endParaRPr lang="fr-FR"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BD80137-2E40-4018-B83F-C1585D7D9434}"/>
              </a:ext>
            </a:extLst>
          </p:cNvPr>
          <p:cNvSpPr>
            <a:spLocks noGrp="1"/>
          </p:cNvSpPr>
          <p:nvPr>
            <p:ph type="title"/>
          </p:nvPr>
        </p:nvSpPr>
        <p:spPr>
          <a:xfrm>
            <a:off x="467544" y="274638"/>
            <a:ext cx="8219256" cy="1143000"/>
          </a:xfrm>
          <a:solidFill>
            <a:schemeClr val="accent1">
              <a:lumMod val="20000"/>
              <a:lumOff val="80000"/>
            </a:schemeClr>
          </a:solidFill>
        </p:spPr>
        <p:txBody>
          <a:bodyPr/>
          <a:lstStyle/>
          <a:p>
            <a:r>
              <a:rPr lang="fr-FR" b="1" dirty="0">
                <a:solidFill>
                  <a:schemeClr val="tx1"/>
                </a:solidFill>
                <a:latin typeface="Calibri" panose="020F0502020204030204" pitchFamily="34" charset="0"/>
              </a:rPr>
              <a:t>III/DIAGNOSTIC POSITIF  </a:t>
            </a:r>
          </a:p>
        </p:txBody>
      </p:sp>
      <p:sp>
        <p:nvSpPr>
          <p:cNvPr id="3" name="Espace réservé du contenu 2">
            <a:extLst>
              <a:ext uri="{FF2B5EF4-FFF2-40B4-BE49-F238E27FC236}">
                <a16:creationId xmlns:a16="http://schemas.microsoft.com/office/drawing/2014/main" id="{A559AD35-5CF7-4940-A6B0-5EA03FA05BB0}"/>
              </a:ext>
            </a:extLst>
          </p:cNvPr>
          <p:cNvSpPr>
            <a:spLocks noGrp="1"/>
          </p:cNvSpPr>
          <p:nvPr>
            <p:ph sz="quarter" idx="1"/>
          </p:nvPr>
        </p:nvSpPr>
        <p:spPr>
          <a:xfrm>
            <a:off x="107504" y="1447800"/>
            <a:ext cx="8784976" cy="5135562"/>
          </a:xfrm>
        </p:spPr>
        <p:txBody>
          <a:bodyPr>
            <a:normAutofit fontScale="77500" lnSpcReduction="20000"/>
          </a:bodyPr>
          <a:lstStyle/>
          <a:p>
            <a:pPr>
              <a:buFont typeface="Wingdings" pitchFamily="2" charset="2"/>
              <a:buChar char="Ø"/>
            </a:pPr>
            <a:endParaRPr lang="fr-FR" dirty="0"/>
          </a:p>
          <a:p>
            <a:pPr>
              <a:buNone/>
            </a:pPr>
            <a:r>
              <a:rPr lang="fr-FR" sz="4400" b="1" u="sng" dirty="0">
                <a:solidFill>
                  <a:srgbClr val="00B0F0"/>
                </a:solidFill>
                <a:latin typeface="Calibri" panose="020F0502020204030204" pitchFamily="34" charset="0"/>
              </a:rPr>
              <a:t> Antécédents médicaux :</a:t>
            </a:r>
            <a:endParaRPr lang="fr-FR" sz="3600" u="sng" dirty="0">
              <a:solidFill>
                <a:srgbClr val="00B0F0"/>
              </a:solidFill>
            </a:endParaRPr>
          </a:p>
          <a:p>
            <a:pPr>
              <a:buFont typeface="Wingdings" panose="05000000000000000000" pitchFamily="2" charset="2"/>
              <a:buChar char="Ø"/>
            </a:pPr>
            <a:r>
              <a:rPr lang="fr-FR" sz="3600" dirty="0"/>
              <a:t>Hypertension artérielle</a:t>
            </a:r>
          </a:p>
          <a:p>
            <a:pPr>
              <a:buFont typeface="Wingdings" panose="05000000000000000000" pitchFamily="2" charset="2"/>
              <a:buChar char="Ø"/>
            </a:pPr>
            <a:r>
              <a:rPr lang="fr-FR" sz="3600" dirty="0"/>
              <a:t>Atteinte hépatique :hépatite virale à l’origine d’ un déficit en facteurs de coagulation </a:t>
            </a:r>
          </a:p>
          <a:p>
            <a:pPr>
              <a:buFont typeface="Wingdings" panose="05000000000000000000" pitchFamily="2" charset="2"/>
              <a:buChar char="Ø"/>
            </a:pPr>
            <a:r>
              <a:rPr lang="fr-FR" sz="3600" dirty="0"/>
              <a:t>Patients sous chimiothérapie (leucémies)</a:t>
            </a:r>
          </a:p>
          <a:p>
            <a:pPr>
              <a:buFont typeface="Wingdings" panose="05000000000000000000" pitchFamily="2" charset="2"/>
              <a:buChar char="Ø"/>
            </a:pPr>
            <a:r>
              <a:rPr lang="fr-FR" sz="3600" dirty="0"/>
              <a:t>Hémopathie (maladie de biermer  ou anémie par carence en vitamine  B12  )</a:t>
            </a:r>
          </a:p>
          <a:p>
            <a:pPr>
              <a:buFont typeface="Wingdings" panose="05000000000000000000" pitchFamily="2" charset="2"/>
              <a:buChar char="Ø"/>
            </a:pPr>
            <a:r>
              <a:rPr lang="fr-FR" sz="3600" dirty="0"/>
              <a:t>Insuffisance rénale :</a:t>
            </a:r>
            <a:r>
              <a:rPr lang="fr-FR" sz="3600" dirty="0" err="1"/>
              <a:t>Trhombopathie</a:t>
            </a:r>
            <a:r>
              <a:rPr lang="fr-FR" sz="3600" dirty="0"/>
              <a:t> </a:t>
            </a:r>
          </a:p>
          <a:p>
            <a:pPr>
              <a:buFont typeface="Wingdings" panose="05000000000000000000" pitchFamily="2" charset="2"/>
              <a:buChar char="Ø"/>
            </a:pPr>
            <a:r>
              <a:rPr lang="fr-FR" sz="3600" dirty="0"/>
              <a:t>Le patient a-t-il suivi toutes les recommandations données par le stomatologue suite à l'avulsion dentaire (ne pas cracher, abstention de prise d'alimentation et boisson chaude).</a:t>
            </a:r>
            <a:endParaRPr lang="fr-FR" dirty="0"/>
          </a:p>
          <a:p>
            <a:endParaRPr lang="fr-FR" dirty="0"/>
          </a:p>
        </p:txBody>
      </p:sp>
    </p:spTree>
    <p:extLst>
      <p:ext uri="{BB962C8B-B14F-4D97-AF65-F5344CB8AC3E}">
        <p14:creationId xmlns:p14="http://schemas.microsoft.com/office/powerpoint/2010/main" val="327348290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9089446-B1EF-484E-911C-31E439297D00}"/>
              </a:ext>
            </a:extLst>
          </p:cNvPr>
          <p:cNvSpPr>
            <a:spLocks noGrp="1"/>
          </p:cNvSpPr>
          <p:nvPr>
            <p:ph type="title"/>
          </p:nvPr>
        </p:nvSpPr>
        <p:spPr>
          <a:xfrm>
            <a:off x="251520" y="274638"/>
            <a:ext cx="8435280" cy="1143000"/>
          </a:xfrm>
          <a:solidFill>
            <a:schemeClr val="accent1">
              <a:lumMod val="20000"/>
              <a:lumOff val="80000"/>
            </a:schemeClr>
          </a:solidFill>
        </p:spPr>
        <p:txBody>
          <a:bodyPr/>
          <a:lstStyle/>
          <a:p>
            <a:r>
              <a:rPr lang="fr-FR" b="1" dirty="0">
                <a:solidFill>
                  <a:schemeClr val="tx1"/>
                </a:solidFill>
                <a:latin typeface="Calibri" panose="020F0502020204030204" pitchFamily="34" charset="0"/>
              </a:rPr>
              <a:t>III/DIAGNOSTIC POSITIF  </a:t>
            </a:r>
            <a:endParaRPr lang="fr-FR" dirty="0"/>
          </a:p>
        </p:txBody>
      </p:sp>
      <p:sp>
        <p:nvSpPr>
          <p:cNvPr id="3" name="Espace réservé du contenu 2">
            <a:extLst>
              <a:ext uri="{FF2B5EF4-FFF2-40B4-BE49-F238E27FC236}">
                <a16:creationId xmlns:a16="http://schemas.microsoft.com/office/drawing/2014/main" id="{79BCD12C-BD0F-49AF-8925-995A4776A6D1}"/>
              </a:ext>
            </a:extLst>
          </p:cNvPr>
          <p:cNvSpPr>
            <a:spLocks noGrp="1"/>
          </p:cNvSpPr>
          <p:nvPr>
            <p:ph sz="quarter" idx="1"/>
          </p:nvPr>
        </p:nvSpPr>
        <p:spPr>
          <a:xfrm>
            <a:off x="251520" y="1447800"/>
            <a:ext cx="8712968" cy="5135562"/>
          </a:xfrm>
        </p:spPr>
        <p:txBody>
          <a:bodyPr>
            <a:normAutofit fontScale="92500" lnSpcReduction="10000"/>
          </a:bodyPr>
          <a:lstStyle/>
          <a:p>
            <a:pPr>
              <a:buNone/>
            </a:pPr>
            <a:r>
              <a:rPr lang="fr-FR" sz="3600" b="1" dirty="0" err="1">
                <a:solidFill>
                  <a:srgbClr val="00B0F0"/>
                </a:solidFill>
                <a:latin typeface="Calibri" panose="020F0502020204030204" pitchFamily="34" charset="0"/>
              </a:rPr>
              <a:t>Antécédadants</a:t>
            </a:r>
            <a:r>
              <a:rPr lang="fr-FR" sz="3600" b="1" dirty="0">
                <a:solidFill>
                  <a:srgbClr val="00B0F0"/>
                </a:solidFill>
                <a:latin typeface="Calibri" panose="020F0502020204030204" pitchFamily="34" charset="0"/>
              </a:rPr>
              <a:t> médicaux :</a:t>
            </a:r>
          </a:p>
          <a:p>
            <a:pPr>
              <a:buNone/>
            </a:pPr>
            <a:r>
              <a:rPr lang="fr-FR" b="1" dirty="0">
                <a:latin typeface="Calibri" panose="020F0502020204030204" pitchFamily="34" charset="0"/>
              </a:rPr>
              <a:t>Certains médicaments ont une influence sur l’hémostase </a:t>
            </a:r>
            <a:endParaRPr lang="fr-FR" dirty="0">
              <a:latin typeface="Calibri" panose="020F0502020204030204" pitchFamily="34" charset="0"/>
            </a:endParaRPr>
          </a:p>
          <a:p>
            <a:pPr>
              <a:buFont typeface="Wingdings" panose="05000000000000000000" pitchFamily="2" charset="2"/>
              <a:buChar char="Ø"/>
            </a:pPr>
            <a:r>
              <a:rPr lang="fr-FR" dirty="0">
                <a:latin typeface="Calibri" panose="020F0502020204030204" pitchFamily="34" charset="0"/>
              </a:rPr>
              <a:t>Traitement en cours:</a:t>
            </a:r>
          </a:p>
          <a:p>
            <a:pPr marL="1079500" indent="0">
              <a:buFont typeface="Wingdings" pitchFamily="2" charset="2"/>
              <a:buChar char="§"/>
            </a:pPr>
            <a:r>
              <a:rPr lang="fr-FR" dirty="0">
                <a:latin typeface="Calibri" panose="020F0502020204030204" pitchFamily="34" charset="0"/>
              </a:rPr>
              <a:t>  Aspirine </a:t>
            </a:r>
          </a:p>
          <a:p>
            <a:pPr marL="1079500" indent="0">
              <a:buFont typeface="Wingdings" pitchFamily="2" charset="2"/>
              <a:buChar char="§"/>
            </a:pPr>
            <a:r>
              <a:rPr lang="fr-FR" dirty="0">
                <a:latin typeface="Calibri" panose="020F0502020204030204" pitchFamily="34" charset="0"/>
              </a:rPr>
              <a:t>   AINS (anti-inflammatoire non stéroïdien) à l’origine d’ une inactivation irréversible des plaquettes</a:t>
            </a:r>
          </a:p>
          <a:p>
            <a:pPr marL="1079500" indent="0">
              <a:buFont typeface="Wingdings" pitchFamily="2" charset="2"/>
              <a:buChar char="§"/>
            </a:pPr>
            <a:r>
              <a:rPr lang="fr-FR" dirty="0">
                <a:latin typeface="Calibri" panose="020F0502020204030204" pitchFamily="34" charset="0"/>
              </a:rPr>
              <a:t>Anticoagulants :antivitamine K (</a:t>
            </a:r>
            <a:r>
              <a:rPr lang="fr-FR" dirty="0" err="1">
                <a:latin typeface="Calibri" panose="020F0502020204030204" pitchFamily="34" charset="0"/>
              </a:rPr>
              <a:t>sintrom</a:t>
            </a:r>
            <a:r>
              <a:rPr lang="fr-FR" dirty="0">
                <a:latin typeface="Calibri" panose="020F0502020204030204" pitchFamily="34" charset="0"/>
              </a:rPr>
              <a:t>),antiagrégants plaquettaires </a:t>
            </a:r>
          </a:p>
          <a:p>
            <a:pPr marL="269875" indent="-269875">
              <a:buFont typeface="Wingdings" panose="05000000000000000000" pitchFamily="2" charset="2"/>
              <a:buChar char="Ø"/>
              <a:tabLst>
                <a:tab pos="269875" algn="l"/>
              </a:tabLst>
            </a:pPr>
            <a:r>
              <a:rPr lang="fr-FR" sz="3200" b="1" dirty="0">
                <a:solidFill>
                  <a:srgbClr val="00B0F0"/>
                </a:solidFill>
                <a:latin typeface="Calibri" panose="020F0502020204030204" pitchFamily="34" charset="0"/>
              </a:rPr>
              <a:t>Antécédents chirurgicaux :</a:t>
            </a:r>
          </a:p>
          <a:p>
            <a:pPr marL="0" indent="0">
              <a:buNone/>
            </a:pPr>
            <a:r>
              <a:rPr lang="fr-FR" dirty="0">
                <a:latin typeface="Calibri" panose="020F0502020204030204" pitchFamily="34" charset="0"/>
              </a:rPr>
              <a:t>Les interventions antérieures doivent être notifiées  :Avulsions dentaires </a:t>
            </a:r>
            <a:r>
              <a:rPr lang="fr-FR" dirty="0" err="1">
                <a:latin typeface="Calibri" panose="020F0502020204030204" pitchFamily="34" charset="0"/>
              </a:rPr>
              <a:t>antérieures,amygdaléctomies</a:t>
            </a:r>
            <a:r>
              <a:rPr lang="fr-FR" dirty="0">
                <a:latin typeface="Calibri" panose="020F0502020204030204" pitchFamily="34" charset="0"/>
              </a:rPr>
              <a:t> ou ablation des végétations adénoïde</a:t>
            </a:r>
            <a:r>
              <a:rPr lang="fr-FR" b="1" u="sng" dirty="0">
                <a:solidFill>
                  <a:srgbClr val="0070C0"/>
                </a:solidFill>
                <a:latin typeface="Calibri" panose="020F0502020204030204" pitchFamily="34" charset="0"/>
              </a:rPr>
              <a:t> </a:t>
            </a:r>
            <a:r>
              <a:rPr lang="fr-FR" dirty="0">
                <a:latin typeface="Calibri" panose="020F0502020204030204" pitchFamily="34" charset="0"/>
              </a:rPr>
              <a:t>à la recherche d’ incidents hémorragiques          </a:t>
            </a:r>
          </a:p>
          <a:p>
            <a:endParaRPr lang="fr-FR" dirty="0"/>
          </a:p>
        </p:txBody>
      </p:sp>
    </p:spTree>
    <p:extLst>
      <p:ext uri="{BB962C8B-B14F-4D97-AF65-F5344CB8AC3E}">
        <p14:creationId xmlns:p14="http://schemas.microsoft.com/office/powerpoint/2010/main" val="108809627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DE01998-BCBF-4DBD-A4AD-DDEF0CB91EB6}"/>
              </a:ext>
            </a:extLst>
          </p:cNvPr>
          <p:cNvSpPr>
            <a:spLocks noGrp="1"/>
          </p:cNvSpPr>
          <p:nvPr>
            <p:ph type="title"/>
          </p:nvPr>
        </p:nvSpPr>
        <p:spPr>
          <a:solidFill>
            <a:schemeClr val="accent1">
              <a:lumMod val="20000"/>
              <a:lumOff val="80000"/>
            </a:schemeClr>
          </a:solidFill>
        </p:spPr>
        <p:txBody>
          <a:bodyPr/>
          <a:lstStyle/>
          <a:p>
            <a:r>
              <a:rPr lang="fr-FR" b="1" dirty="0">
                <a:solidFill>
                  <a:schemeClr val="tx1"/>
                </a:solidFill>
                <a:latin typeface="Calibri" panose="020F0502020204030204" pitchFamily="34" charset="0"/>
              </a:rPr>
              <a:t>III/DIAGNOSTIC POSITIF  </a:t>
            </a:r>
            <a:endParaRPr lang="fr-FR" dirty="0"/>
          </a:p>
        </p:txBody>
      </p:sp>
      <p:sp>
        <p:nvSpPr>
          <p:cNvPr id="3" name="Espace réservé du contenu 2">
            <a:extLst>
              <a:ext uri="{FF2B5EF4-FFF2-40B4-BE49-F238E27FC236}">
                <a16:creationId xmlns:a16="http://schemas.microsoft.com/office/drawing/2014/main" id="{DF244DCD-C27E-4702-8D16-A07626DF55A8}"/>
              </a:ext>
            </a:extLst>
          </p:cNvPr>
          <p:cNvSpPr>
            <a:spLocks noGrp="1"/>
          </p:cNvSpPr>
          <p:nvPr>
            <p:ph sz="quarter" idx="1"/>
          </p:nvPr>
        </p:nvSpPr>
        <p:spPr/>
        <p:txBody>
          <a:bodyPr>
            <a:normAutofit/>
          </a:bodyPr>
          <a:lstStyle/>
          <a:p>
            <a:pPr marL="0" indent="0">
              <a:buNone/>
            </a:pPr>
            <a:r>
              <a:rPr lang="fr-FR" sz="3200" b="1" u="sng" dirty="0">
                <a:solidFill>
                  <a:srgbClr val="FF0000"/>
                </a:solidFill>
                <a:latin typeface="Calibri" panose="020F0502020204030204" pitchFamily="34" charset="0"/>
              </a:rPr>
              <a:t>2/Examen clinique :</a:t>
            </a:r>
          </a:p>
          <a:p>
            <a:pPr marL="0" indent="0">
              <a:buNone/>
            </a:pPr>
            <a:r>
              <a:rPr lang="fr-FR" sz="3200" b="1" i="1" u="sng" dirty="0">
                <a:solidFill>
                  <a:srgbClr val="00B0F0"/>
                </a:solidFill>
                <a:latin typeface="Calibri" panose="020F0502020204030204" pitchFamily="34" charset="0"/>
              </a:rPr>
              <a:t>Examen de la cavité buccale  </a:t>
            </a:r>
            <a:r>
              <a:rPr lang="fr-FR" sz="3200" i="1" u="sng" dirty="0">
                <a:solidFill>
                  <a:srgbClr val="00B0F0"/>
                </a:solidFill>
                <a:latin typeface="Calibri" panose="020F0502020204030204" pitchFamily="34" charset="0"/>
              </a:rPr>
              <a:t>:</a:t>
            </a:r>
            <a:r>
              <a:rPr lang="fr-FR" sz="2400" i="1" dirty="0">
                <a:latin typeface="Calibri" panose="020F0502020204030204" pitchFamily="34" charset="0"/>
              </a:rPr>
              <a:t>rechercher </a:t>
            </a:r>
          </a:p>
          <a:p>
            <a:pPr>
              <a:buFont typeface="Wingdings" panose="05000000000000000000" pitchFamily="2" charset="2"/>
              <a:buChar char="Ø"/>
            </a:pPr>
            <a:r>
              <a:rPr lang="fr-FR" sz="2400" i="1" dirty="0">
                <a:latin typeface="Calibri" panose="020F0502020204030204" pitchFamily="34" charset="0"/>
              </a:rPr>
              <a:t> </a:t>
            </a:r>
            <a:r>
              <a:rPr lang="fr-FR" sz="2400" b="1" i="1" dirty="0">
                <a:latin typeface="Calibri" panose="020F0502020204030204" pitchFamily="34" charset="0"/>
              </a:rPr>
              <a:t>un purpura pétéchial </a:t>
            </a:r>
            <a:r>
              <a:rPr lang="fr-FR" sz="2400" i="1" dirty="0">
                <a:latin typeface="Calibri" panose="020F0502020204030204" pitchFamily="34" charset="0"/>
              </a:rPr>
              <a:t>évocateur d’ une thrombopénie ou thrombopathie </a:t>
            </a:r>
          </a:p>
          <a:p>
            <a:pPr>
              <a:buFont typeface="Wingdings" panose="05000000000000000000" pitchFamily="2" charset="2"/>
              <a:buChar char="Ø"/>
            </a:pPr>
            <a:r>
              <a:rPr lang="fr-FR" b="1" i="1" dirty="0">
                <a:latin typeface="Calibri" panose="020F0502020204030204" pitchFamily="34" charset="0"/>
              </a:rPr>
              <a:t>Gingivorragies </a:t>
            </a:r>
            <a:r>
              <a:rPr lang="fr-FR" dirty="0"/>
              <a:t>: spontanées ou provoquées </a:t>
            </a:r>
          </a:p>
          <a:p>
            <a:pPr>
              <a:buFont typeface="Wingdings" panose="05000000000000000000" pitchFamily="2" charset="2"/>
              <a:buChar char="Ø"/>
            </a:pPr>
            <a:r>
              <a:rPr lang="fr-FR" sz="2400" b="1" i="1" dirty="0">
                <a:latin typeface="Calibri" panose="020F0502020204030204" pitchFamily="34" charset="0"/>
              </a:rPr>
              <a:t>Hématomes et </a:t>
            </a:r>
            <a:r>
              <a:rPr lang="fr-FR" sz="2400" b="1" i="1" dirty="0" err="1">
                <a:latin typeface="Calibri" panose="020F0502020204030204" pitchFamily="34" charset="0"/>
              </a:rPr>
              <a:t>écchymoses</a:t>
            </a:r>
            <a:r>
              <a:rPr lang="fr-FR" sz="2400" b="1" i="1" dirty="0">
                <a:latin typeface="Calibri" panose="020F0502020204030204" pitchFamily="34" charset="0"/>
              </a:rPr>
              <a:t> </a:t>
            </a:r>
            <a:r>
              <a:rPr lang="fr-FR" sz="2400" i="1" dirty="0">
                <a:latin typeface="Calibri" panose="020F0502020204030204" pitchFamily="34" charset="0"/>
              </a:rPr>
              <a:t>retrouvées en cas de thrombopénie </a:t>
            </a:r>
          </a:p>
          <a:p>
            <a:pPr>
              <a:buFont typeface="Wingdings" panose="05000000000000000000" pitchFamily="2" charset="2"/>
              <a:buChar char="Ø"/>
            </a:pPr>
            <a:endParaRPr lang="fr-FR" sz="2400" i="1" dirty="0">
              <a:latin typeface="Calibri" panose="020F0502020204030204" pitchFamily="34" charset="0"/>
            </a:endParaRPr>
          </a:p>
          <a:p>
            <a:pPr>
              <a:buFont typeface="Wingdings" panose="05000000000000000000" pitchFamily="2" charset="2"/>
              <a:buChar char="Ø"/>
            </a:pPr>
            <a:endParaRPr lang="fr-FR" sz="2400" i="1" dirty="0">
              <a:latin typeface="Calibri" panose="020F0502020204030204" pitchFamily="34" charset="0"/>
            </a:endParaRPr>
          </a:p>
          <a:p>
            <a:pPr>
              <a:buFont typeface="Wingdings" panose="05000000000000000000" pitchFamily="2" charset="2"/>
              <a:buChar char="Ø"/>
            </a:pPr>
            <a:endParaRPr lang="fr-FR" sz="2400" i="1" dirty="0">
              <a:latin typeface="Calibri" panose="020F0502020204030204" pitchFamily="34" charset="0"/>
            </a:endParaRPr>
          </a:p>
        </p:txBody>
      </p:sp>
      <p:pic>
        <p:nvPicPr>
          <p:cNvPr id="4" name="Image 3">
            <a:extLst>
              <a:ext uri="{FF2B5EF4-FFF2-40B4-BE49-F238E27FC236}">
                <a16:creationId xmlns:a16="http://schemas.microsoft.com/office/drawing/2014/main" id="{939B02C5-A2E5-46AA-8914-A19D5F36C5C5}"/>
              </a:ext>
            </a:extLst>
          </p:cNvPr>
          <p:cNvPicPr>
            <a:picLocks noChangeAspect="1"/>
          </p:cNvPicPr>
          <p:nvPr/>
        </p:nvPicPr>
        <p:blipFill>
          <a:blip r:embed="rId2"/>
          <a:stretch>
            <a:fillRect/>
          </a:stretch>
        </p:blipFill>
        <p:spPr>
          <a:xfrm>
            <a:off x="2195736" y="4653136"/>
            <a:ext cx="5581650" cy="1809750"/>
          </a:xfrm>
          <a:prstGeom prst="rect">
            <a:avLst/>
          </a:prstGeom>
        </p:spPr>
      </p:pic>
    </p:spTree>
    <p:extLst>
      <p:ext uri="{BB962C8B-B14F-4D97-AF65-F5344CB8AC3E}">
        <p14:creationId xmlns:p14="http://schemas.microsoft.com/office/powerpoint/2010/main" val="407902685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A37FB9E-485E-407F-A40C-73CF269731E1}"/>
              </a:ext>
            </a:extLst>
          </p:cNvPr>
          <p:cNvSpPr>
            <a:spLocks noGrp="1"/>
          </p:cNvSpPr>
          <p:nvPr>
            <p:ph type="title"/>
          </p:nvPr>
        </p:nvSpPr>
        <p:spPr>
          <a:solidFill>
            <a:schemeClr val="accent1">
              <a:lumMod val="20000"/>
              <a:lumOff val="80000"/>
            </a:schemeClr>
          </a:solidFill>
        </p:spPr>
        <p:txBody>
          <a:bodyPr/>
          <a:lstStyle/>
          <a:p>
            <a:r>
              <a:rPr lang="fr-FR" b="1" dirty="0">
                <a:solidFill>
                  <a:schemeClr val="tx1"/>
                </a:solidFill>
                <a:latin typeface="Calibri" panose="020F0502020204030204" pitchFamily="34" charset="0"/>
              </a:rPr>
              <a:t>III/DIAGNOSTIC POSITIF </a:t>
            </a:r>
            <a:endParaRPr lang="fr-FR" dirty="0"/>
          </a:p>
        </p:txBody>
      </p:sp>
      <p:sp>
        <p:nvSpPr>
          <p:cNvPr id="3" name="Espace réservé du contenu 2">
            <a:extLst>
              <a:ext uri="{FF2B5EF4-FFF2-40B4-BE49-F238E27FC236}">
                <a16:creationId xmlns:a16="http://schemas.microsoft.com/office/drawing/2014/main" id="{0ADA2CE6-782F-4D12-8524-E96CF3186688}"/>
              </a:ext>
            </a:extLst>
          </p:cNvPr>
          <p:cNvSpPr>
            <a:spLocks noGrp="1"/>
          </p:cNvSpPr>
          <p:nvPr>
            <p:ph sz="quarter" idx="1"/>
          </p:nvPr>
        </p:nvSpPr>
        <p:spPr/>
        <p:txBody>
          <a:bodyPr/>
          <a:lstStyle/>
          <a:p>
            <a:pPr marL="0" indent="0">
              <a:buNone/>
            </a:pPr>
            <a:r>
              <a:rPr lang="fr-FR" sz="3200" b="1" u="sng" dirty="0">
                <a:solidFill>
                  <a:srgbClr val="00B0F0"/>
                </a:solidFill>
                <a:latin typeface="Calibri" panose="020F0502020204030204" pitchFamily="34" charset="0"/>
              </a:rPr>
              <a:t>Examen clinique suite </a:t>
            </a:r>
            <a:r>
              <a:rPr lang="fr-FR" sz="3200" b="1" dirty="0">
                <a:solidFill>
                  <a:srgbClr val="00B0F0"/>
                </a:solidFill>
                <a:latin typeface="Calibri" panose="020F0502020204030204" pitchFamily="34" charset="0"/>
              </a:rPr>
              <a:t>:</a:t>
            </a:r>
          </a:p>
          <a:p>
            <a:pPr>
              <a:buClr>
                <a:schemeClr val="tx1"/>
              </a:buClr>
              <a:buFont typeface="Wingdings" panose="05000000000000000000" pitchFamily="2" charset="2"/>
              <a:buChar char="Ø"/>
            </a:pPr>
            <a:r>
              <a:rPr lang="fr-FR" dirty="0">
                <a:latin typeface="Calibri" panose="020F0502020204030204" pitchFamily="34" charset="0"/>
              </a:rPr>
              <a:t>Rechercher des manifestations générales en rapport avec un trouble de l’ hémostase  :</a:t>
            </a:r>
          </a:p>
          <a:p>
            <a:pPr marL="0" indent="0">
              <a:buNone/>
            </a:pPr>
            <a:r>
              <a:rPr lang="fr-FR" dirty="0">
                <a:latin typeface="Calibri" panose="020F0502020204030204" pitchFamily="34" charset="0"/>
              </a:rPr>
              <a:t>           -Epistaxis surtout bilatéral </a:t>
            </a:r>
          </a:p>
          <a:p>
            <a:pPr marL="0" indent="0">
              <a:buNone/>
            </a:pPr>
            <a:r>
              <a:rPr lang="fr-FR" dirty="0">
                <a:latin typeface="Calibri" panose="020F0502020204030204" pitchFamily="34" charset="0"/>
              </a:rPr>
              <a:t>          -Hématome :en dehors d’ un traumatisme ou d’ une chirurgie </a:t>
            </a:r>
          </a:p>
          <a:p>
            <a:pPr marL="0" indent="0">
              <a:buNone/>
            </a:pPr>
            <a:r>
              <a:rPr lang="fr-FR" dirty="0">
                <a:latin typeface="Calibri" panose="020F0502020204030204" pitchFamily="34" charset="0"/>
              </a:rPr>
              <a:t>            -Purpura ,pétéchies et ecchymoses </a:t>
            </a:r>
          </a:p>
          <a:p>
            <a:pPr marL="0" indent="0">
              <a:buNone/>
            </a:pPr>
            <a:endParaRPr lang="fr-FR" b="1" dirty="0">
              <a:latin typeface="Calibri" panose="020F0502020204030204" pitchFamily="34" charset="0"/>
            </a:endParaRPr>
          </a:p>
        </p:txBody>
      </p:sp>
    </p:spTree>
    <p:extLst>
      <p:ext uri="{BB962C8B-B14F-4D97-AF65-F5344CB8AC3E}">
        <p14:creationId xmlns:p14="http://schemas.microsoft.com/office/powerpoint/2010/main" val="379870559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323528" y="274638"/>
            <a:ext cx="8357292" cy="1143000"/>
          </a:xfrm>
        </p:spPr>
        <p:style>
          <a:lnRef idx="1">
            <a:schemeClr val="accent1"/>
          </a:lnRef>
          <a:fillRef idx="2">
            <a:schemeClr val="accent1"/>
          </a:fillRef>
          <a:effectRef idx="1">
            <a:schemeClr val="accent1"/>
          </a:effectRef>
          <a:fontRef idx="minor">
            <a:schemeClr val="dk1"/>
          </a:fontRef>
        </p:style>
        <p:txBody>
          <a:bodyPr/>
          <a:lstStyle/>
          <a:p>
            <a:r>
              <a:rPr lang="fr-FR" b="1" dirty="0">
                <a:latin typeface="Calibri" panose="020F0502020204030204" pitchFamily="34" charset="0"/>
              </a:rPr>
              <a:t>III/DIAGNOSTIC POSITIF </a:t>
            </a:r>
          </a:p>
        </p:txBody>
      </p:sp>
      <p:sp>
        <p:nvSpPr>
          <p:cNvPr id="3" name="Espace réservé du contenu 2"/>
          <p:cNvSpPr>
            <a:spLocks noGrp="1"/>
          </p:cNvSpPr>
          <p:nvPr>
            <p:ph sz="quarter" idx="1"/>
          </p:nvPr>
        </p:nvSpPr>
        <p:spPr>
          <a:xfrm>
            <a:off x="323528" y="1436604"/>
            <a:ext cx="8357292" cy="5421395"/>
          </a:xfrm>
        </p:spPr>
        <p:txBody>
          <a:bodyPr>
            <a:normAutofit fontScale="62500" lnSpcReduction="20000"/>
          </a:bodyPr>
          <a:lstStyle/>
          <a:p>
            <a:pPr marL="0" indent="0">
              <a:buNone/>
            </a:pPr>
            <a:r>
              <a:rPr lang="fr-FR" sz="5800" u="sng" dirty="0">
                <a:solidFill>
                  <a:srgbClr val="FF0000"/>
                </a:solidFill>
                <a:latin typeface="Calibri" panose="020F0502020204030204" pitchFamily="34" charset="0"/>
              </a:rPr>
              <a:t>3/EXAMENS COMPLEMENTAIRES:</a:t>
            </a:r>
            <a:endParaRPr lang="fr-FR" sz="5800" u="sng" dirty="0">
              <a:solidFill>
                <a:srgbClr val="00B0F0"/>
              </a:solidFill>
              <a:latin typeface="Calibri" panose="020F0502020204030204" pitchFamily="34" charset="0"/>
            </a:endParaRPr>
          </a:p>
          <a:p>
            <a:pPr>
              <a:buNone/>
            </a:pPr>
            <a:r>
              <a:rPr lang="fr-FR" sz="4500" b="1" u="sng" dirty="0">
                <a:solidFill>
                  <a:srgbClr val="00B0F0"/>
                </a:solidFill>
                <a:latin typeface="Calibri" panose="020F0502020204030204" pitchFamily="34" charset="0"/>
              </a:rPr>
              <a:t> </a:t>
            </a:r>
            <a:r>
              <a:rPr lang="fr-FR" sz="4200" b="1" u="sng" dirty="0">
                <a:solidFill>
                  <a:srgbClr val="00B050"/>
                </a:solidFill>
                <a:latin typeface="Calibri" panose="020F0502020204030204" pitchFamily="34" charset="0"/>
              </a:rPr>
              <a:t>3-1 BILAN D’HEMOSTASE  :</a:t>
            </a:r>
          </a:p>
          <a:p>
            <a:pPr>
              <a:buClr>
                <a:schemeClr val="tx1"/>
              </a:buClr>
              <a:buFont typeface="Wingdings" panose="05000000000000000000" pitchFamily="2" charset="2"/>
              <a:buChar char="Ø"/>
            </a:pPr>
            <a:r>
              <a:rPr lang="fr-FR" sz="3600" b="1" dirty="0"/>
              <a:t> </a:t>
            </a:r>
            <a:r>
              <a:rPr lang="fr-FR" sz="5100" b="1" dirty="0">
                <a:solidFill>
                  <a:srgbClr val="7030A0"/>
                </a:solidFill>
              </a:rPr>
              <a:t>NFS</a:t>
            </a:r>
            <a:r>
              <a:rPr lang="fr-FR" sz="3600" b="1" dirty="0"/>
              <a:t>=formule numération sanguine:</a:t>
            </a:r>
          </a:p>
          <a:p>
            <a:pPr marL="0" indent="0">
              <a:buNone/>
            </a:pPr>
            <a:r>
              <a:rPr lang="fr-FR" sz="3600" b="1" dirty="0"/>
              <a:t>À partir d’ un prélèvement sanguin on calcule la numération des plaquettes </a:t>
            </a:r>
          </a:p>
          <a:p>
            <a:pPr marL="0" indent="0">
              <a:buNone/>
            </a:pPr>
            <a:r>
              <a:rPr lang="fr-FR" sz="3600" b="1" dirty="0"/>
              <a:t>La norme en plaquettes =150000-400000/u L</a:t>
            </a:r>
          </a:p>
          <a:p>
            <a:pPr marL="0" indent="0">
              <a:buNone/>
            </a:pPr>
            <a:r>
              <a:rPr lang="fr-FR" sz="3600" b="1" dirty="0"/>
              <a:t>On parle de thrombopénie  si taux de plaquettes &lt; 150000/ u L</a:t>
            </a:r>
          </a:p>
          <a:p>
            <a:pPr>
              <a:buClr>
                <a:schemeClr val="tx1"/>
              </a:buClr>
              <a:buFont typeface="Wingdings" panose="05000000000000000000" pitchFamily="2" charset="2"/>
              <a:buChar char="Ø"/>
            </a:pPr>
            <a:r>
              <a:rPr lang="fr-FR" sz="3600" b="1" dirty="0"/>
              <a:t> </a:t>
            </a:r>
            <a:r>
              <a:rPr lang="fr-FR" sz="5100" b="1" dirty="0">
                <a:solidFill>
                  <a:srgbClr val="7030A0"/>
                </a:solidFill>
              </a:rPr>
              <a:t>TP</a:t>
            </a:r>
            <a:r>
              <a:rPr lang="fr-FR" sz="3600" b="1" dirty="0"/>
              <a:t>=Taux de prothrombine  normal entre 80 à 100 %  il mesure la vitesse de coagulation sanguine </a:t>
            </a:r>
          </a:p>
          <a:p>
            <a:pPr>
              <a:buClr>
                <a:schemeClr val="tx1"/>
              </a:buClr>
              <a:buFont typeface="Wingdings" panose="05000000000000000000" pitchFamily="2" charset="2"/>
              <a:buChar char="Ø"/>
            </a:pPr>
            <a:r>
              <a:rPr lang="fr-FR" sz="4400" b="1" dirty="0">
                <a:solidFill>
                  <a:srgbClr val="7030A0"/>
                </a:solidFill>
              </a:rPr>
              <a:t> INR</a:t>
            </a:r>
            <a:r>
              <a:rPr lang="fr-FR" sz="3600" b="1" dirty="0"/>
              <a:t>=International </a:t>
            </a:r>
            <a:r>
              <a:rPr lang="fr-FR" sz="3600" b="1" dirty="0" err="1"/>
              <a:t>Normalized</a:t>
            </a:r>
            <a:r>
              <a:rPr lang="fr-FR" sz="3600" b="1" dirty="0"/>
              <a:t> Ratio  </a:t>
            </a:r>
          </a:p>
          <a:p>
            <a:pPr marL="0" indent="0">
              <a:buClr>
                <a:schemeClr val="tx1"/>
              </a:buClr>
              <a:buNone/>
            </a:pPr>
            <a:r>
              <a:rPr lang="fr-FR" sz="3600" b="1" dirty="0"/>
              <a:t>     INR normal est compris entre  0,8 à 1,2 </a:t>
            </a:r>
          </a:p>
          <a:p>
            <a:pPr>
              <a:buClr>
                <a:schemeClr val="tx1"/>
              </a:buClr>
              <a:buFont typeface="Wingdings" panose="05000000000000000000" pitchFamily="2" charset="2"/>
              <a:buChar char="Ø"/>
            </a:pPr>
            <a:r>
              <a:rPr lang="fr-FR" sz="4400" b="1" dirty="0">
                <a:solidFill>
                  <a:srgbClr val="7030A0"/>
                </a:solidFill>
              </a:rPr>
              <a:t> TCA</a:t>
            </a:r>
            <a:r>
              <a:rPr lang="fr-FR" sz="3600" b="1" dirty="0"/>
              <a:t>=Temps de céphaline activée mesure le temps de coagulation d’ un plasma à 37 ° C  la norme est de 30 à 40 secondes </a:t>
            </a:r>
            <a:endParaRPr lang="fr-FR" sz="3600" dirty="0"/>
          </a:p>
          <a:p>
            <a:pPr>
              <a:buNone/>
            </a:pPr>
            <a:endParaRPr lang="fr-FR"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AEF93BD-C18A-4B86-AC39-87C37FF18F1E}"/>
              </a:ext>
            </a:extLst>
          </p:cNvPr>
          <p:cNvSpPr>
            <a:spLocks noGrp="1"/>
          </p:cNvSpPr>
          <p:nvPr>
            <p:ph type="title"/>
          </p:nvPr>
        </p:nvSpPr>
        <p:spPr>
          <a:solidFill>
            <a:schemeClr val="accent1">
              <a:lumMod val="20000"/>
              <a:lumOff val="80000"/>
            </a:schemeClr>
          </a:solidFill>
        </p:spPr>
        <p:txBody>
          <a:bodyPr/>
          <a:lstStyle/>
          <a:p>
            <a:r>
              <a:rPr lang="fr-FR" b="1" dirty="0">
                <a:solidFill>
                  <a:schemeClr val="tx1"/>
                </a:solidFill>
                <a:latin typeface="Calibri" panose="020F0502020204030204" pitchFamily="34" charset="0"/>
              </a:rPr>
              <a:t>III/DIAGNOSTIC POSITIF </a:t>
            </a:r>
            <a:endParaRPr lang="fr-FR" dirty="0">
              <a:solidFill>
                <a:schemeClr val="tx1"/>
              </a:solidFill>
            </a:endParaRPr>
          </a:p>
        </p:txBody>
      </p:sp>
      <p:sp>
        <p:nvSpPr>
          <p:cNvPr id="3" name="Espace réservé du contenu 2">
            <a:extLst>
              <a:ext uri="{FF2B5EF4-FFF2-40B4-BE49-F238E27FC236}">
                <a16:creationId xmlns:a16="http://schemas.microsoft.com/office/drawing/2014/main" id="{0B0BC6E1-3986-4F71-AE4A-ECFCC7CC0B10}"/>
              </a:ext>
            </a:extLst>
          </p:cNvPr>
          <p:cNvSpPr>
            <a:spLocks noGrp="1"/>
          </p:cNvSpPr>
          <p:nvPr>
            <p:ph sz="quarter" idx="1"/>
          </p:nvPr>
        </p:nvSpPr>
        <p:spPr/>
        <p:txBody>
          <a:bodyPr/>
          <a:lstStyle/>
          <a:p>
            <a:pPr marL="0" indent="0">
              <a:buNone/>
            </a:pPr>
            <a:r>
              <a:rPr lang="fr-FR" sz="3600" b="1" u="sng" dirty="0">
                <a:solidFill>
                  <a:srgbClr val="00B050"/>
                </a:solidFill>
              </a:rPr>
              <a:t>3-2.Bilan radiologique</a:t>
            </a:r>
          </a:p>
          <a:p>
            <a:pPr>
              <a:buFont typeface="Wingdings" panose="05000000000000000000" pitchFamily="2" charset="2"/>
              <a:buChar char="Ø"/>
            </a:pPr>
            <a:r>
              <a:rPr lang="fr-FR" sz="2800" dirty="0"/>
              <a:t>Panoramique dentaire ou rétro-alvéolaire.</a:t>
            </a:r>
          </a:p>
          <a:p>
            <a:pPr>
              <a:buFont typeface="Wingdings" panose="05000000000000000000" pitchFamily="2" charset="2"/>
              <a:buChar char="Ø"/>
            </a:pPr>
            <a:r>
              <a:rPr lang="fr-FR" sz="2800" dirty="0"/>
              <a:t>Ce bilan radiographique doit permettre de déceler:</a:t>
            </a:r>
          </a:p>
          <a:p>
            <a:pPr marL="0" indent="0">
              <a:buNone/>
            </a:pPr>
            <a:r>
              <a:rPr lang="fr-FR" sz="2800" dirty="0"/>
              <a:t>       - une fracture de l'alvéole dentaire</a:t>
            </a:r>
          </a:p>
          <a:p>
            <a:pPr marL="0" indent="0">
              <a:buNone/>
            </a:pPr>
            <a:r>
              <a:rPr lang="fr-FR" sz="2800" dirty="0"/>
              <a:t>       -un apex fracturé laissé dans l'alvéole ou </a:t>
            </a:r>
          </a:p>
          <a:p>
            <a:pPr marL="0" indent="0">
              <a:buNone/>
            </a:pPr>
            <a:r>
              <a:rPr lang="fr-FR" sz="2800" dirty="0"/>
              <a:t>       -une lésion non curetée.</a:t>
            </a:r>
          </a:p>
          <a:p>
            <a:pPr marL="0" indent="0">
              <a:buNone/>
            </a:pPr>
            <a:endParaRPr lang="fr-FR" dirty="0"/>
          </a:p>
        </p:txBody>
      </p:sp>
    </p:spTree>
    <p:extLst>
      <p:ext uri="{BB962C8B-B14F-4D97-AF65-F5344CB8AC3E}">
        <p14:creationId xmlns:p14="http://schemas.microsoft.com/office/powerpoint/2010/main" val="188984010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30CD271-48F9-4E0D-BF78-6EB9C2164A7F}"/>
              </a:ext>
            </a:extLst>
          </p:cNvPr>
          <p:cNvSpPr>
            <a:spLocks noGrp="1"/>
          </p:cNvSpPr>
          <p:nvPr>
            <p:ph type="title"/>
          </p:nvPr>
        </p:nvSpPr>
        <p:spPr>
          <a:xfrm>
            <a:off x="251520" y="274638"/>
            <a:ext cx="8640960" cy="1143000"/>
          </a:xfrm>
          <a:solidFill>
            <a:schemeClr val="accent1">
              <a:lumMod val="20000"/>
              <a:lumOff val="80000"/>
            </a:schemeClr>
          </a:solidFill>
        </p:spPr>
        <p:txBody>
          <a:bodyPr/>
          <a:lstStyle/>
          <a:p>
            <a:r>
              <a:rPr lang="fr-FR" b="1" dirty="0">
                <a:solidFill>
                  <a:schemeClr val="tx1"/>
                </a:solidFill>
                <a:latin typeface="Calibri" panose="020F0502020204030204" pitchFamily="34" charset="0"/>
              </a:rPr>
              <a:t>III/DIAGNOSTIC POSITIF </a:t>
            </a:r>
            <a:endParaRPr lang="fr-FR" dirty="0">
              <a:solidFill>
                <a:schemeClr val="tx1"/>
              </a:solidFill>
            </a:endParaRPr>
          </a:p>
        </p:txBody>
      </p:sp>
      <p:sp>
        <p:nvSpPr>
          <p:cNvPr id="3" name="Espace réservé du contenu 2">
            <a:extLst>
              <a:ext uri="{FF2B5EF4-FFF2-40B4-BE49-F238E27FC236}">
                <a16:creationId xmlns:a16="http://schemas.microsoft.com/office/drawing/2014/main" id="{5D31BBB3-D5D4-4D5D-8E1C-7D8096299C1B}"/>
              </a:ext>
            </a:extLst>
          </p:cNvPr>
          <p:cNvSpPr>
            <a:spLocks noGrp="1"/>
          </p:cNvSpPr>
          <p:nvPr>
            <p:ph sz="quarter" idx="1"/>
          </p:nvPr>
        </p:nvSpPr>
        <p:spPr/>
        <p:txBody>
          <a:bodyPr/>
          <a:lstStyle/>
          <a:p>
            <a:pPr>
              <a:buFont typeface="Wingdings" panose="05000000000000000000" pitchFamily="2" charset="2"/>
              <a:buChar char="Ø"/>
            </a:pPr>
            <a:r>
              <a:rPr lang="fr-FR" sz="2800" dirty="0">
                <a:latin typeface="Calibri" panose="020F0502020204030204" pitchFamily="34" charset="0"/>
              </a:rPr>
              <a:t>À partir de ces investigations et surtout de l'interrogatoire du malade, on est à même de qualifier le type de l'hémorragie et son degré de gravité :</a:t>
            </a:r>
          </a:p>
          <a:p>
            <a:pPr marL="0" indent="0">
              <a:buNone/>
            </a:pPr>
            <a:r>
              <a:rPr lang="fr-FR" sz="2800" dirty="0">
                <a:latin typeface="Calibri" panose="020F0502020204030204" pitchFamily="34" charset="0"/>
              </a:rPr>
              <a:t>     -S'il n'y a pas de pathologie médicale grave, il s'agit d'une hémorragie dont le traitement est local </a:t>
            </a:r>
          </a:p>
          <a:p>
            <a:pPr marL="0" indent="0">
              <a:buNone/>
            </a:pPr>
            <a:r>
              <a:rPr lang="fr-FR" sz="2800" dirty="0">
                <a:latin typeface="Calibri" panose="020F0502020204030204" pitchFamily="34" charset="0"/>
              </a:rPr>
              <a:t>    -S'il y a des perturbations biologiques importantes (taux de prothrombine inférieur à 30 %, hémophilie) une hospitalisation est impérative.</a:t>
            </a:r>
          </a:p>
          <a:p>
            <a:endParaRPr lang="fr-FR" dirty="0"/>
          </a:p>
        </p:txBody>
      </p:sp>
    </p:spTree>
    <p:extLst>
      <p:ext uri="{BB962C8B-B14F-4D97-AF65-F5344CB8AC3E}">
        <p14:creationId xmlns:p14="http://schemas.microsoft.com/office/powerpoint/2010/main" val="180950732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style>
          <a:lnRef idx="1">
            <a:schemeClr val="accent1"/>
          </a:lnRef>
          <a:fillRef idx="2">
            <a:schemeClr val="accent1"/>
          </a:fillRef>
          <a:effectRef idx="1">
            <a:schemeClr val="accent1"/>
          </a:effectRef>
          <a:fontRef idx="minor">
            <a:schemeClr val="dk1"/>
          </a:fontRef>
        </p:style>
        <p:txBody>
          <a:bodyPr/>
          <a:lstStyle/>
          <a:p>
            <a:r>
              <a:rPr lang="fr-FR" b="1" dirty="0">
                <a:solidFill>
                  <a:schemeClr val="tx1"/>
                </a:solidFill>
                <a:latin typeface="Calibri" panose="020F0502020204030204" pitchFamily="34" charset="0"/>
              </a:rPr>
              <a:t>IV/ETIOLOGIES </a:t>
            </a:r>
            <a:endParaRPr lang="fr-FR" b="1" dirty="0">
              <a:solidFill>
                <a:schemeClr val="tx1"/>
              </a:solidFill>
            </a:endParaRPr>
          </a:p>
        </p:txBody>
      </p:sp>
      <p:sp>
        <p:nvSpPr>
          <p:cNvPr id="3" name="Espace réservé du contenu 2"/>
          <p:cNvSpPr>
            <a:spLocks noGrp="1"/>
          </p:cNvSpPr>
          <p:nvPr>
            <p:ph sz="quarter" idx="1"/>
          </p:nvPr>
        </p:nvSpPr>
        <p:spPr>
          <a:xfrm>
            <a:off x="747993" y="1628800"/>
            <a:ext cx="7772400" cy="4572000"/>
          </a:xfrm>
        </p:spPr>
        <p:txBody>
          <a:bodyPr>
            <a:normAutofit/>
          </a:bodyPr>
          <a:lstStyle/>
          <a:p>
            <a:pPr>
              <a:buNone/>
            </a:pPr>
            <a:r>
              <a:rPr lang="fr-FR" b="1" u="sng" dirty="0">
                <a:solidFill>
                  <a:srgbClr val="FF0000"/>
                </a:solidFill>
                <a:latin typeface="Calibri" panose="020F0502020204030204" pitchFamily="34" charset="0"/>
              </a:rPr>
              <a:t>1/CAUSES GÉNÉRALES DIRECTES</a:t>
            </a:r>
          </a:p>
          <a:p>
            <a:pPr>
              <a:buFont typeface="Wingdings" pitchFamily="2" charset="2"/>
              <a:buChar char="Ø"/>
            </a:pPr>
            <a:r>
              <a:rPr lang="fr-FR" dirty="0"/>
              <a:t> Affections hématologiques :</a:t>
            </a:r>
          </a:p>
          <a:p>
            <a:pPr>
              <a:buFont typeface="Wingdings" pitchFamily="2" charset="2"/>
              <a:buChar char="Ø"/>
            </a:pPr>
            <a:endParaRPr lang="fr-FR" dirty="0"/>
          </a:p>
          <a:p>
            <a:pPr marL="0" indent="0">
              <a:buNone/>
            </a:pPr>
            <a:endParaRPr lang="fr-FR" dirty="0"/>
          </a:p>
          <a:p>
            <a:pPr marL="0" indent="0">
              <a:buNone/>
            </a:pPr>
            <a:r>
              <a:rPr lang="fr-FR" dirty="0"/>
              <a:t>-Anémies-Thrombopénies </a:t>
            </a:r>
          </a:p>
          <a:p>
            <a:pPr marL="0" indent="0">
              <a:buNone/>
            </a:pPr>
            <a:r>
              <a:rPr lang="fr-FR" dirty="0"/>
              <a:t>-Hémophilies .</a:t>
            </a:r>
          </a:p>
          <a:p>
            <a:pPr>
              <a:buFont typeface="Wingdings" pitchFamily="2" charset="2"/>
              <a:buChar char="Ø"/>
            </a:pPr>
            <a:r>
              <a:rPr lang="fr-FR" dirty="0"/>
              <a:t> Le déficit en vitamine  K. </a:t>
            </a:r>
          </a:p>
          <a:p>
            <a:pPr>
              <a:buFont typeface="Wingdings" pitchFamily="2" charset="2"/>
              <a:buChar char="Ø"/>
            </a:pPr>
            <a:r>
              <a:rPr lang="fr-FR" dirty="0"/>
              <a:t> Les anomalies vasculaires (maladie de Rendu </a:t>
            </a:r>
            <a:r>
              <a:rPr lang="fr-FR" dirty="0" err="1"/>
              <a:t>OsIer</a:t>
            </a:r>
            <a:r>
              <a:rPr lang="fr-FR" dirty="0"/>
              <a:t>)</a:t>
            </a:r>
          </a:p>
          <a:p>
            <a:pPr>
              <a:buFont typeface="Wingdings" pitchFamily="2" charset="2"/>
              <a:buChar char="Ø"/>
            </a:pPr>
            <a:r>
              <a:rPr lang="fr-FR" dirty="0"/>
              <a:t>Les malformations artérioveineuses </a:t>
            </a:r>
          </a:p>
        </p:txBody>
      </p:sp>
      <p:pic>
        <p:nvPicPr>
          <p:cNvPr id="4" name="Image 3">
            <a:extLst>
              <a:ext uri="{FF2B5EF4-FFF2-40B4-BE49-F238E27FC236}">
                <a16:creationId xmlns:a16="http://schemas.microsoft.com/office/drawing/2014/main" id="{5EDC91A5-E2D6-4281-BA7C-E5C7C31AEB36}"/>
              </a:ext>
            </a:extLst>
          </p:cNvPr>
          <p:cNvPicPr>
            <a:picLocks noChangeAspect="1"/>
          </p:cNvPicPr>
          <p:nvPr/>
        </p:nvPicPr>
        <p:blipFill>
          <a:blip r:embed="rId2"/>
          <a:stretch>
            <a:fillRect/>
          </a:stretch>
        </p:blipFill>
        <p:spPr>
          <a:xfrm>
            <a:off x="4620283" y="2194942"/>
            <a:ext cx="3384376" cy="1594098"/>
          </a:xfrm>
          <a:prstGeom prst="rect">
            <a:avLst/>
          </a:prstGeom>
        </p:spPr>
      </p:pic>
      <p:sp>
        <p:nvSpPr>
          <p:cNvPr id="5" name="Rectangle 4">
            <a:extLst>
              <a:ext uri="{FF2B5EF4-FFF2-40B4-BE49-F238E27FC236}">
                <a16:creationId xmlns:a16="http://schemas.microsoft.com/office/drawing/2014/main" id="{9F8F0928-7F1F-499F-81B6-8DE5B428EAF7}"/>
              </a:ext>
            </a:extLst>
          </p:cNvPr>
          <p:cNvSpPr/>
          <p:nvPr/>
        </p:nvSpPr>
        <p:spPr>
          <a:xfrm>
            <a:off x="814321" y="2631951"/>
            <a:ext cx="2808312" cy="720080"/>
          </a:xfrm>
          <a:prstGeom prst="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b="1" dirty="0">
                <a:solidFill>
                  <a:schemeClr val="tx1"/>
                </a:solidFill>
              </a:rPr>
              <a:t>Gingivorragie liée à une thrombopénie </a:t>
            </a:r>
          </a:p>
        </p:txBody>
      </p:sp>
      <p:cxnSp>
        <p:nvCxnSpPr>
          <p:cNvPr id="7" name="Connecteur droit avec flèche 6">
            <a:extLst>
              <a:ext uri="{FF2B5EF4-FFF2-40B4-BE49-F238E27FC236}">
                <a16:creationId xmlns:a16="http://schemas.microsoft.com/office/drawing/2014/main" id="{63B87662-F95C-40C7-B839-44AD032C9507}"/>
              </a:ext>
            </a:extLst>
          </p:cNvPr>
          <p:cNvCxnSpPr>
            <a:cxnSpLocks/>
            <a:stCxn id="5" idx="3"/>
            <a:endCxn id="4" idx="1"/>
          </p:cNvCxnSpPr>
          <p:nvPr/>
        </p:nvCxnSpPr>
        <p:spPr>
          <a:xfrm>
            <a:off x="3622633" y="2991991"/>
            <a:ext cx="997650" cy="0"/>
          </a:xfrm>
          <a:prstGeom prst="straightConnector1">
            <a:avLst/>
          </a:prstGeom>
          <a:ln w="57150">
            <a:tailEnd type="triangle"/>
          </a:ln>
        </p:spPr>
        <p:style>
          <a:lnRef idx="1">
            <a:schemeClr val="dk1"/>
          </a:lnRef>
          <a:fillRef idx="0">
            <a:schemeClr val="dk1"/>
          </a:fillRef>
          <a:effectRef idx="0">
            <a:schemeClr val="dk1"/>
          </a:effectRef>
          <a:fontRef idx="minor">
            <a:schemeClr val="tx1"/>
          </a:fontRef>
        </p:style>
      </p:cxn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style>
          <a:lnRef idx="1">
            <a:schemeClr val="accent1"/>
          </a:lnRef>
          <a:fillRef idx="2">
            <a:schemeClr val="accent1"/>
          </a:fillRef>
          <a:effectRef idx="1">
            <a:schemeClr val="accent1"/>
          </a:effectRef>
          <a:fontRef idx="minor">
            <a:schemeClr val="dk1"/>
          </a:fontRef>
        </p:style>
        <p:txBody>
          <a:bodyPr/>
          <a:lstStyle/>
          <a:p>
            <a:r>
              <a:rPr lang="fr-FR" b="1" dirty="0">
                <a:solidFill>
                  <a:schemeClr val="tx1"/>
                </a:solidFill>
                <a:latin typeface="Calibri" panose="020F0502020204030204" pitchFamily="34" charset="0"/>
              </a:rPr>
              <a:t>IV/ETIOLOGIES</a:t>
            </a:r>
          </a:p>
        </p:txBody>
      </p:sp>
      <p:sp>
        <p:nvSpPr>
          <p:cNvPr id="3" name="Espace réservé du contenu 2"/>
          <p:cNvSpPr>
            <a:spLocks noGrp="1"/>
          </p:cNvSpPr>
          <p:nvPr>
            <p:ph sz="quarter" idx="1"/>
          </p:nvPr>
        </p:nvSpPr>
        <p:spPr>
          <a:xfrm>
            <a:off x="850605" y="1417638"/>
            <a:ext cx="7772400" cy="4572000"/>
          </a:xfrm>
        </p:spPr>
        <p:txBody>
          <a:bodyPr>
            <a:normAutofit fontScale="92500"/>
          </a:bodyPr>
          <a:lstStyle/>
          <a:p>
            <a:pPr>
              <a:buNone/>
            </a:pPr>
            <a:endParaRPr lang="fr-FR" b="1" u="sng" dirty="0">
              <a:solidFill>
                <a:srgbClr val="FF0000"/>
              </a:solidFill>
            </a:endParaRPr>
          </a:p>
          <a:p>
            <a:pPr>
              <a:buNone/>
            </a:pPr>
            <a:r>
              <a:rPr lang="fr-FR" sz="3500" b="1" u="sng" dirty="0">
                <a:solidFill>
                  <a:srgbClr val="FF0000"/>
                </a:solidFill>
              </a:rPr>
              <a:t>2/CAUSES GÉNÉRALES INDIRECTES</a:t>
            </a:r>
            <a:r>
              <a:rPr lang="fr-FR" sz="3500" b="1" dirty="0">
                <a:solidFill>
                  <a:srgbClr val="FF0000"/>
                </a:solidFill>
              </a:rPr>
              <a:t>:</a:t>
            </a:r>
            <a:endParaRPr lang="fr-FR" sz="3500" b="1" dirty="0"/>
          </a:p>
          <a:p>
            <a:pPr>
              <a:buFont typeface="Wingdings" pitchFamily="2" charset="2"/>
              <a:buChar char="Ø"/>
            </a:pPr>
            <a:r>
              <a:rPr lang="fr-FR" b="1" u="sng" dirty="0"/>
              <a:t>Prise médicamenteuse</a:t>
            </a:r>
            <a:r>
              <a:rPr lang="fr-FR" dirty="0"/>
              <a:t>:</a:t>
            </a:r>
          </a:p>
          <a:p>
            <a:pPr>
              <a:buFont typeface="Wingdings" pitchFamily="2" charset="2"/>
              <a:buChar char="§"/>
            </a:pPr>
            <a:r>
              <a:rPr lang="fr-FR" dirty="0"/>
              <a:t>Anti-inflammatoires non stéroïdiens,</a:t>
            </a:r>
          </a:p>
          <a:p>
            <a:pPr>
              <a:buFont typeface="Wingdings" pitchFamily="2" charset="2"/>
              <a:buChar char="§"/>
            </a:pPr>
            <a:r>
              <a:rPr lang="fr-FR" dirty="0"/>
              <a:t>les médicaments à base d'acide </a:t>
            </a:r>
            <a:r>
              <a:rPr lang="fr-FR" dirty="0" err="1"/>
              <a:t>acétyl</a:t>
            </a:r>
            <a:r>
              <a:rPr lang="fr-FR" dirty="0"/>
              <a:t> salicylé (aspirine, </a:t>
            </a:r>
            <a:r>
              <a:rPr lang="fr-FR" dirty="0" err="1"/>
              <a:t>aspégic</a:t>
            </a:r>
            <a:r>
              <a:rPr lang="fr-FR" dirty="0"/>
              <a:t> )</a:t>
            </a:r>
          </a:p>
          <a:p>
            <a:pPr>
              <a:buFont typeface="Wingdings" pitchFamily="2" charset="2"/>
              <a:buChar char="§"/>
            </a:pPr>
            <a:r>
              <a:rPr lang="fr-FR" dirty="0"/>
              <a:t> Anticoagulants (héparine, anti-vit K ).</a:t>
            </a:r>
          </a:p>
          <a:p>
            <a:pPr>
              <a:buFont typeface="Wingdings" pitchFamily="2" charset="2"/>
              <a:buChar char="Ø"/>
            </a:pPr>
            <a:r>
              <a:rPr lang="fr-FR" b="1" u="sng" dirty="0"/>
              <a:t>maladies générales</a:t>
            </a:r>
            <a:r>
              <a:rPr lang="fr-FR" dirty="0"/>
              <a:t>:</a:t>
            </a:r>
          </a:p>
          <a:p>
            <a:pPr>
              <a:buNone/>
            </a:pPr>
            <a:r>
              <a:rPr lang="fr-FR" dirty="0"/>
              <a:t>    -Pathologies hépatiques (cirrhoses, hépatites ...)</a:t>
            </a:r>
          </a:p>
          <a:p>
            <a:pPr>
              <a:buNone/>
            </a:pPr>
            <a:r>
              <a:rPr lang="fr-FR" dirty="0"/>
              <a:t>    -Ethylisme</a:t>
            </a:r>
          </a:p>
          <a:p>
            <a:pPr>
              <a:buNone/>
            </a:pPr>
            <a:r>
              <a:rPr lang="fr-FR" dirty="0"/>
              <a:t> </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style>
          <a:lnRef idx="1">
            <a:schemeClr val="accent1"/>
          </a:lnRef>
          <a:fillRef idx="2">
            <a:schemeClr val="accent1"/>
          </a:fillRef>
          <a:effectRef idx="1">
            <a:schemeClr val="accent1"/>
          </a:effectRef>
          <a:fontRef idx="minor">
            <a:schemeClr val="dk1"/>
          </a:fontRef>
        </p:style>
        <p:txBody>
          <a:bodyPr/>
          <a:lstStyle/>
          <a:p>
            <a:r>
              <a:rPr lang="fr-FR" b="1" dirty="0">
                <a:solidFill>
                  <a:schemeClr val="tx1"/>
                </a:solidFill>
                <a:latin typeface="Calibri" panose="020F0502020204030204" pitchFamily="34" charset="0"/>
              </a:rPr>
              <a:t>IV/ETIOLOGIES</a:t>
            </a:r>
          </a:p>
        </p:txBody>
      </p:sp>
      <p:sp>
        <p:nvSpPr>
          <p:cNvPr id="3" name="Espace réservé du contenu 2"/>
          <p:cNvSpPr>
            <a:spLocks noGrp="1"/>
          </p:cNvSpPr>
          <p:nvPr>
            <p:ph sz="quarter" idx="1"/>
          </p:nvPr>
        </p:nvSpPr>
        <p:spPr/>
        <p:txBody>
          <a:bodyPr>
            <a:normAutofit fontScale="92500" lnSpcReduction="20000"/>
          </a:bodyPr>
          <a:lstStyle/>
          <a:p>
            <a:pPr>
              <a:buNone/>
            </a:pPr>
            <a:endParaRPr lang="fr-FR" b="1" u="sng" dirty="0">
              <a:solidFill>
                <a:srgbClr val="FF0000"/>
              </a:solidFill>
            </a:endParaRPr>
          </a:p>
          <a:p>
            <a:pPr>
              <a:buNone/>
            </a:pPr>
            <a:r>
              <a:rPr lang="fr-FR" sz="3200" b="1" u="sng" dirty="0">
                <a:solidFill>
                  <a:srgbClr val="FF0000"/>
                </a:solidFill>
                <a:latin typeface="Calibri" panose="020F0502020204030204" pitchFamily="34" charset="0"/>
              </a:rPr>
              <a:t>3/CAUSES LOCALES:</a:t>
            </a:r>
            <a:endParaRPr lang="fr-FR" sz="3200" u="sng" dirty="0">
              <a:latin typeface="Calibri" panose="020F0502020204030204" pitchFamily="34" charset="0"/>
            </a:endParaRPr>
          </a:p>
          <a:p>
            <a:pPr>
              <a:buFont typeface="Wingdings" pitchFamily="2" charset="2"/>
              <a:buChar char="Ø"/>
            </a:pPr>
            <a:r>
              <a:rPr lang="fr-FR" dirty="0"/>
              <a:t>Intervention en présence d'une inflammation,</a:t>
            </a:r>
          </a:p>
          <a:p>
            <a:pPr>
              <a:buFont typeface="Wingdings" pitchFamily="2" charset="2"/>
              <a:buChar char="Ø"/>
            </a:pPr>
            <a:r>
              <a:rPr lang="fr-FR" dirty="0"/>
              <a:t>Causes iatrogéniques :</a:t>
            </a:r>
          </a:p>
          <a:p>
            <a:r>
              <a:rPr lang="fr-FR" dirty="0"/>
              <a:t> fracture osseuse </a:t>
            </a:r>
          </a:p>
          <a:p>
            <a:r>
              <a:rPr lang="fr-FR" dirty="0"/>
              <a:t> blessures par dérapage d’un instrument rotatif à haute vitesse, une déchirure tissulaire due à une mauvaise incision </a:t>
            </a:r>
          </a:p>
          <a:p>
            <a:r>
              <a:rPr lang="fr-FR" dirty="0"/>
              <a:t> Rupture d’une artériole ou veinule au cours de l’acte chirurgical</a:t>
            </a:r>
          </a:p>
          <a:p>
            <a:pPr>
              <a:buFont typeface="Wingdings" pitchFamily="2" charset="2"/>
              <a:buChar char="§"/>
            </a:pPr>
            <a:r>
              <a:rPr lang="fr-FR" dirty="0"/>
              <a:t>Présence d’un  granulome non cureté</a:t>
            </a:r>
          </a:p>
          <a:p>
            <a:pPr>
              <a:buFont typeface="Wingdings" pitchFamily="2" charset="2"/>
              <a:buChar char="§"/>
            </a:pPr>
            <a:r>
              <a:rPr lang="fr-FR" dirty="0"/>
              <a:t> Présence d'angiome etc...</a:t>
            </a:r>
          </a:p>
          <a:p>
            <a:pPr>
              <a:buFont typeface="Wingdings" pitchFamily="2" charset="2"/>
              <a:buChar char="Ø"/>
            </a:pPr>
            <a:r>
              <a:rPr lang="fr-FR" dirty="0"/>
              <a:t> Causes post chirurgicales par perturbation du caillot :abus de bain de bouche.</a:t>
            </a:r>
          </a:p>
          <a:p>
            <a:endParaRPr lang="fr-FR"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style>
          <a:lnRef idx="1">
            <a:schemeClr val="accent1"/>
          </a:lnRef>
          <a:fillRef idx="2">
            <a:schemeClr val="accent1"/>
          </a:fillRef>
          <a:effectRef idx="1">
            <a:schemeClr val="accent1"/>
          </a:effectRef>
          <a:fontRef idx="minor">
            <a:schemeClr val="dk1"/>
          </a:fontRef>
        </p:style>
        <p:txBody>
          <a:bodyPr/>
          <a:lstStyle/>
          <a:p>
            <a:r>
              <a:rPr lang="fr-FR" b="1" dirty="0">
                <a:solidFill>
                  <a:schemeClr val="tx1"/>
                </a:solidFill>
              </a:rPr>
              <a:t>V/TAITEMENT</a:t>
            </a:r>
          </a:p>
        </p:txBody>
      </p:sp>
      <p:sp>
        <p:nvSpPr>
          <p:cNvPr id="3" name="Espace réservé du contenu 2"/>
          <p:cNvSpPr>
            <a:spLocks noGrp="1"/>
          </p:cNvSpPr>
          <p:nvPr>
            <p:ph sz="quarter" idx="1"/>
          </p:nvPr>
        </p:nvSpPr>
        <p:spPr>
          <a:xfrm>
            <a:off x="839449" y="1556792"/>
            <a:ext cx="7772400" cy="4572000"/>
          </a:xfrm>
        </p:spPr>
        <p:txBody>
          <a:bodyPr>
            <a:normAutofit lnSpcReduction="10000"/>
          </a:bodyPr>
          <a:lstStyle/>
          <a:p>
            <a:pPr>
              <a:buNone/>
            </a:pPr>
            <a:r>
              <a:rPr lang="fr-FR" sz="3200" b="1" u="sng" dirty="0">
                <a:solidFill>
                  <a:srgbClr val="FF0000"/>
                </a:solidFill>
                <a:latin typeface="Calibri" panose="020F0502020204030204" pitchFamily="34" charset="0"/>
              </a:rPr>
              <a:t>1/PREVENTIF</a:t>
            </a:r>
            <a:r>
              <a:rPr lang="fr-FR" sz="3200" b="1" u="sng" dirty="0">
                <a:solidFill>
                  <a:srgbClr val="0070C0"/>
                </a:solidFill>
                <a:latin typeface="Calibri" panose="020F0502020204030204" pitchFamily="34" charset="0"/>
              </a:rPr>
              <a:t>:</a:t>
            </a:r>
          </a:p>
          <a:p>
            <a:pPr>
              <a:buNone/>
            </a:pPr>
            <a:r>
              <a:rPr lang="fr-FR" sz="3200" b="1" dirty="0">
                <a:solidFill>
                  <a:srgbClr val="0070C0"/>
                </a:solidFill>
              </a:rPr>
              <a:t>Avant</a:t>
            </a:r>
            <a:r>
              <a:rPr lang="fr-FR" sz="3200" dirty="0">
                <a:solidFill>
                  <a:srgbClr val="0070C0"/>
                </a:solidFill>
              </a:rPr>
              <a:t> </a:t>
            </a:r>
            <a:r>
              <a:rPr lang="fr-FR" sz="3200" dirty="0"/>
              <a:t>tout acte sanglant faire un interrogatoire sur les:  </a:t>
            </a:r>
          </a:p>
          <a:p>
            <a:pPr>
              <a:buFont typeface="Wingdings" pitchFamily="2" charset="2"/>
              <a:buChar char="§"/>
            </a:pPr>
            <a:r>
              <a:rPr lang="fr-FR" sz="3200" dirty="0"/>
              <a:t> Antécédents familiaux et personnels. </a:t>
            </a:r>
          </a:p>
          <a:p>
            <a:pPr>
              <a:buFont typeface="Wingdings" pitchFamily="2" charset="2"/>
              <a:buChar char="§"/>
            </a:pPr>
            <a:r>
              <a:rPr lang="fr-FR" sz="3200" dirty="0"/>
              <a:t>Les interventions antérieures.</a:t>
            </a:r>
          </a:p>
          <a:p>
            <a:pPr>
              <a:buFont typeface="Wingdings" pitchFamily="2" charset="2"/>
              <a:buChar char="§"/>
            </a:pPr>
            <a:r>
              <a:rPr lang="fr-FR" sz="3200" dirty="0"/>
              <a:t>L’existence de saignements spontanés et répétés cutanés, muqueux ou digestifs qui sont des signes de fragilité capillaire.</a:t>
            </a:r>
          </a:p>
          <a:p>
            <a:pPr>
              <a:buFont typeface="Wingdings" pitchFamily="2" charset="2"/>
              <a:buChar char="§"/>
            </a:pPr>
            <a:r>
              <a:rPr lang="fr-FR" sz="3200" dirty="0"/>
              <a:t>Faire un examen clinique minutieux.</a:t>
            </a:r>
          </a:p>
          <a:p>
            <a:pPr>
              <a:buNone/>
            </a:pPr>
            <a:endParaRPr lang="fr-FR"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914400" y="274638"/>
            <a:ext cx="7772400" cy="654032"/>
          </a:xfrm>
        </p:spPr>
        <p:style>
          <a:lnRef idx="1">
            <a:schemeClr val="accent1"/>
          </a:lnRef>
          <a:fillRef idx="2">
            <a:schemeClr val="accent1"/>
          </a:fillRef>
          <a:effectRef idx="1">
            <a:schemeClr val="accent1"/>
          </a:effectRef>
          <a:fontRef idx="minor">
            <a:schemeClr val="dk1"/>
          </a:fontRef>
        </p:style>
        <p:txBody>
          <a:bodyPr>
            <a:normAutofit fontScale="90000"/>
          </a:bodyPr>
          <a:lstStyle/>
          <a:p>
            <a:r>
              <a:rPr lang="fr-FR" b="1" dirty="0">
                <a:solidFill>
                  <a:schemeClr val="tx1"/>
                </a:solidFill>
              </a:rPr>
              <a:t>   V/TRAITEMENT</a:t>
            </a:r>
          </a:p>
        </p:txBody>
      </p:sp>
      <p:sp>
        <p:nvSpPr>
          <p:cNvPr id="3" name="Espace réservé du contenu 2"/>
          <p:cNvSpPr>
            <a:spLocks noGrp="1"/>
          </p:cNvSpPr>
          <p:nvPr>
            <p:ph sz="quarter" idx="1"/>
          </p:nvPr>
        </p:nvSpPr>
        <p:spPr>
          <a:xfrm>
            <a:off x="914400" y="928670"/>
            <a:ext cx="7772400" cy="5019692"/>
          </a:xfrm>
        </p:spPr>
        <p:txBody>
          <a:bodyPr>
            <a:normAutofit fontScale="77500" lnSpcReduction="20000"/>
          </a:bodyPr>
          <a:lstStyle/>
          <a:p>
            <a:pPr marL="0" indent="0">
              <a:buNone/>
            </a:pPr>
            <a:r>
              <a:rPr lang="fr-FR" sz="3800" b="1" u="sng" dirty="0">
                <a:solidFill>
                  <a:srgbClr val="FF0000"/>
                </a:solidFill>
                <a:latin typeface="Calibri" panose="020F0502020204030204" pitchFamily="34" charset="0"/>
              </a:rPr>
              <a:t>2/Curatif général:</a:t>
            </a:r>
          </a:p>
          <a:p>
            <a:pPr>
              <a:buFont typeface="Wingdings" panose="05000000000000000000" pitchFamily="2" charset="2"/>
              <a:buChar char="Ø"/>
            </a:pPr>
            <a:r>
              <a:rPr lang="fr-FR" sz="3200" b="1" dirty="0">
                <a:latin typeface="Calibri" panose="020F0502020204030204" pitchFamily="34" charset="0"/>
              </a:rPr>
              <a:t>Le patient doit être en position assise.</a:t>
            </a:r>
            <a:r>
              <a:rPr lang="fr-FR" sz="2400" dirty="0"/>
              <a:t> </a:t>
            </a:r>
          </a:p>
          <a:p>
            <a:pPr>
              <a:buFont typeface="Wingdings" panose="05000000000000000000" pitchFamily="2" charset="2"/>
              <a:buChar char="Ø"/>
            </a:pPr>
            <a:r>
              <a:rPr lang="fr-FR" sz="3400" b="1" dirty="0"/>
              <a:t>Le rassurer sur la non-gravité de son hémorragie, lui expliquer les étapes du traitement</a:t>
            </a:r>
            <a:endParaRPr lang="fr-FR" sz="3400" b="1" u="sng" dirty="0">
              <a:latin typeface="Calibri" panose="020F0502020204030204" pitchFamily="34" charset="0"/>
            </a:endParaRPr>
          </a:p>
          <a:p>
            <a:pPr>
              <a:buFont typeface="Wingdings" panose="05000000000000000000" pitchFamily="2" charset="2"/>
              <a:buChar char="Ø"/>
            </a:pPr>
            <a:r>
              <a:rPr lang="fr-FR" sz="3000" b="1" dirty="0">
                <a:latin typeface="Calibri" panose="020F0502020204030204" pitchFamily="34" charset="0"/>
              </a:rPr>
              <a:t>Un apport de facteurs manquant: </a:t>
            </a:r>
          </a:p>
          <a:p>
            <a:pPr>
              <a:buNone/>
            </a:pPr>
            <a:r>
              <a:rPr lang="fr-FR" sz="3000" dirty="0">
                <a:latin typeface="Calibri" panose="020F0502020204030204" pitchFamily="34" charset="0"/>
              </a:rPr>
              <a:t>    apport de vitamine  K si déficit.</a:t>
            </a:r>
          </a:p>
          <a:p>
            <a:pPr>
              <a:buFont typeface="Wingdings" pitchFamily="2" charset="2"/>
              <a:buChar char="Ø"/>
            </a:pPr>
            <a:r>
              <a:rPr lang="fr-FR" sz="3000" b="1" dirty="0">
                <a:latin typeface="Calibri" panose="020F0502020204030204" pitchFamily="34" charset="0"/>
              </a:rPr>
              <a:t>Une suppression  du facteur déclenchant </a:t>
            </a:r>
            <a:r>
              <a:rPr lang="fr-FR" sz="3000" dirty="0">
                <a:latin typeface="Calibri" panose="020F0502020204030204" pitchFamily="34" charset="0"/>
              </a:rPr>
              <a:t>:</a:t>
            </a:r>
          </a:p>
          <a:p>
            <a:pPr>
              <a:buNone/>
            </a:pPr>
            <a:r>
              <a:rPr lang="fr-FR" sz="3000" dirty="0">
                <a:latin typeface="Calibri" panose="020F0502020204030204" pitchFamily="34" charset="0"/>
              </a:rPr>
              <a:t>         arrêt d’ Aspégic </a:t>
            </a:r>
          </a:p>
          <a:p>
            <a:pPr>
              <a:buFont typeface="Wingdings" panose="05000000000000000000" pitchFamily="2" charset="2"/>
              <a:buChar char="Ø"/>
            </a:pPr>
            <a:r>
              <a:rPr lang="fr-FR" sz="3100" b="1" dirty="0">
                <a:latin typeface="Calibri" panose="020F0502020204030204" pitchFamily="34" charset="0"/>
              </a:rPr>
              <a:t>Hémostatiques systémiques </a:t>
            </a:r>
            <a:r>
              <a:rPr lang="fr-FR" sz="3600" dirty="0"/>
              <a:t>:L’acide tranexamique est commercialisé sous le nom Exacyl® sous forme de comprimés solutions buvable ou injectable c’est un anti-fibrinolytique qui s’ oppose à la plasmine et permet une meilleure stabilisation du caillot . </a:t>
            </a:r>
            <a:endParaRPr lang="fr-FR" sz="3600" dirty="0">
              <a:latin typeface="Calibri" panose="020F0502020204030204" pitchFamily="34" charset="0"/>
            </a:endParaRPr>
          </a:p>
          <a:p>
            <a:pPr marL="0" indent="0">
              <a:buNone/>
            </a:pPr>
            <a:endParaRPr lang="fr-FR" sz="3200" dirty="0">
              <a:latin typeface="Calibri" panose="020F0502020204030204" pitchFamily="34" charset="0"/>
            </a:endParaRPr>
          </a:p>
          <a:p>
            <a:pPr>
              <a:buNone/>
            </a:pPr>
            <a:endParaRPr lang="fr-FR" sz="3200" dirty="0">
              <a:latin typeface="Calibri" panose="020F0502020204030204" pitchFamily="34" charset="0"/>
            </a:endParaRPr>
          </a:p>
          <a:p>
            <a:pPr>
              <a:buNone/>
            </a:pPr>
            <a:endParaRPr lang="fr-FR" sz="5100" b="1" dirty="0">
              <a:solidFill>
                <a:srgbClr val="FF0000"/>
              </a:solidFill>
            </a:endParaRPr>
          </a:p>
          <a:p>
            <a:pPr>
              <a:buNone/>
            </a:pPr>
            <a:endParaRPr lang="fr-FR" sz="5100" dirty="0"/>
          </a:p>
          <a:p>
            <a:pPr>
              <a:buNone/>
            </a:pPr>
            <a:endParaRPr lang="fr-FR" sz="32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107504" y="274638"/>
            <a:ext cx="8579296" cy="1143000"/>
          </a:xfrm>
          <a:solidFill>
            <a:schemeClr val="accent1">
              <a:lumMod val="20000"/>
              <a:lumOff val="80000"/>
            </a:schemeClr>
          </a:solidFill>
        </p:spPr>
        <p:txBody>
          <a:bodyPr/>
          <a:lstStyle/>
          <a:p>
            <a:r>
              <a:rPr lang="fr-FR" b="1" dirty="0">
                <a:solidFill>
                  <a:schemeClr val="tx1"/>
                </a:solidFill>
                <a:latin typeface="Calibri" panose="020F0502020204030204" pitchFamily="34" charset="0"/>
              </a:rPr>
              <a:t>          V/TRAITEMENT</a:t>
            </a:r>
            <a:endParaRPr lang="fr-FR" dirty="0"/>
          </a:p>
        </p:txBody>
      </p:sp>
      <p:sp>
        <p:nvSpPr>
          <p:cNvPr id="3" name="Espace réservé du contenu 2"/>
          <p:cNvSpPr>
            <a:spLocks noGrp="1"/>
          </p:cNvSpPr>
          <p:nvPr>
            <p:ph sz="quarter" idx="1"/>
          </p:nvPr>
        </p:nvSpPr>
        <p:spPr>
          <a:xfrm>
            <a:off x="107504" y="1447800"/>
            <a:ext cx="8579296" cy="4572000"/>
          </a:xfrm>
        </p:spPr>
        <p:txBody>
          <a:bodyPr/>
          <a:lstStyle/>
          <a:p>
            <a:pPr>
              <a:buFont typeface="Wingdings" panose="05000000000000000000" pitchFamily="2" charset="2"/>
              <a:buChar char="Ø"/>
            </a:pPr>
            <a:r>
              <a:rPr lang="fr-FR" dirty="0"/>
              <a:t> </a:t>
            </a:r>
            <a:r>
              <a:rPr lang="fr-FR" dirty="0">
                <a:latin typeface="Calibri" panose="020F0502020204030204" pitchFamily="34" charset="0"/>
              </a:rPr>
              <a:t>les hémorragies sont classées suivant la cause et l’heure de  leur survenue  par rapport à l’avulsion dentaire :</a:t>
            </a:r>
          </a:p>
          <a:p>
            <a:pPr marL="0" indent="0">
              <a:buNone/>
            </a:pPr>
            <a:r>
              <a:rPr lang="fr-FR" dirty="0">
                <a:latin typeface="Calibri" panose="020F0502020204030204" pitchFamily="34" charset="0"/>
              </a:rPr>
              <a:t>1- L’hémorragie survient dans l’heure qui suit l’avulsion dentaire</a:t>
            </a:r>
          </a:p>
          <a:p>
            <a:pPr marL="0" indent="0">
              <a:buNone/>
            </a:pPr>
            <a:r>
              <a:rPr lang="fr-FR" dirty="0">
                <a:latin typeface="Calibri" panose="020F0502020204030204" pitchFamily="34" charset="0"/>
              </a:rPr>
              <a:t>2-L’hémorragie par  lésion muqueuse</a:t>
            </a:r>
          </a:p>
          <a:p>
            <a:pPr marL="0" indent="0">
              <a:buNone/>
            </a:pPr>
            <a:r>
              <a:rPr lang="fr-FR" dirty="0">
                <a:latin typeface="Calibri" panose="020F0502020204030204" pitchFamily="34" charset="0"/>
              </a:rPr>
              <a:t>3- L’hémorragie  par lésion osseuse</a:t>
            </a:r>
          </a:p>
          <a:p>
            <a:pPr marL="0" indent="0">
              <a:buNone/>
            </a:pPr>
            <a:r>
              <a:rPr lang="fr-FR" dirty="0">
                <a:latin typeface="Calibri" panose="020F0502020204030204" pitchFamily="34" charset="0"/>
              </a:rPr>
              <a:t>4- L’hémorragie survient plusieurs heures après l’acte chirurgical</a:t>
            </a:r>
          </a:p>
        </p:txBody>
      </p:sp>
    </p:spTree>
    <p:extLst>
      <p:ext uri="{BB962C8B-B14F-4D97-AF65-F5344CB8AC3E}">
        <p14:creationId xmlns:p14="http://schemas.microsoft.com/office/powerpoint/2010/main" val="337664178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251520" y="274638"/>
            <a:ext cx="8435280" cy="1143000"/>
          </a:xfrm>
          <a:solidFill>
            <a:schemeClr val="accent1">
              <a:lumMod val="20000"/>
              <a:lumOff val="80000"/>
            </a:schemeClr>
          </a:solidFill>
        </p:spPr>
        <p:txBody>
          <a:bodyPr/>
          <a:lstStyle/>
          <a:p>
            <a:r>
              <a:rPr lang="fr-FR" b="1" dirty="0">
                <a:solidFill>
                  <a:schemeClr val="tx1"/>
                </a:solidFill>
                <a:latin typeface="Calibri" panose="020F0502020204030204" pitchFamily="34" charset="0"/>
              </a:rPr>
              <a:t>V/TRAITEMENT</a:t>
            </a:r>
            <a:endParaRPr lang="fr-FR" dirty="0"/>
          </a:p>
        </p:txBody>
      </p:sp>
      <p:sp>
        <p:nvSpPr>
          <p:cNvPr id="3" name="Espace réservé du contenu 2"/>
          <p:cNvSpPr>
            <a:spLocks noGrp="1"/>
          </p:cNvSpPr>
          <p:nvPr>
            <p:ph sz="quarter" idx="1"/>
          </p:nvPr>
        </p:nvSpPr>
        <p:spPr>
          <a:xfrm>
            <a:off x="914400" y="1447800"/>
            <a:ext cx="7772400" cy="5410200"/>
          </a:xfrm>
        </p:spPr>
        <p:txBody>
          <a:bodyPr>
            <a:normAutofit/>
          </a:bodyPr>
          <a:lstStyle/>
          <a:p>
            <a:pPr marL="0" indent="0" fontAlgn="base">
              <a:buNone/>
            </a:pPr>
            <a:r>
              <a:rPr lang="fr-FR" b="1" u="sng" dirty="0">
                <a:solidFill>
                  <a:srgbClr val="FF0000"/>
                </a:solidFill>
                <a:latin typeface="Calibri" panose="020F0502020204030204" pitchFamily="34" charset="0"/>
              </a:rPr>
              <a:t>1-conduite à tenir devant une hémorragie qui survient dans l’heure qui suit l’ avulsion dentaire :</a:t>
            </a:r>
          </a:p>
          <a:p>
            <a:pPr fontAlgn="base">
              <a:buFont typeface="Wingdings" panose="05000000000000000000" pitchFamily="2" charset="2"/>
              <a:buChar char="Ø"/>
            </a:pPr>
            <a:r>
              <a:rPr lang="fr-FR" b="1" dirty="0">
                <a:solidFill>
                  <a:srgbClr val="00B050"/>
                </a:solidFill>
              </a:rPr>
              <a:t>Faire rincer la bouche </a:t>
            </a:r>
            <a:r>
              <a:rPr lang="fr-FR" dirty="0"/>
              <a:t>du patient afin de nettoyer la cavité buccale et Apprécier  l’abondance de l’hémorragie </a:t>
            </a:r>
            <a:r>
              <a:rPr lang="fr-FR" dirty="0" err="1"/>
              <a:t>aprés</a:t>
            </a:r>
            <a:r>
              <a:rPr lang="fr-FR" dirty="0"/>
              <a:t> nettoyage avec des compresses</a:t>
            </a:r>
          </a:p>
          <a:p>
            <a:pPr fontAlgn="base">
              <a:buFont typeface="Wingdings" panose="05000000000000000000" pitchFamily="2" charset="2"/>
              <a:buChar char="Ø"/>
            </a:pPr>
            <a:r>
              <a:rPr lang="fr-FR" dirty="0">
                <a:solidFill>
                  <a:srgbClr val="00B050"/>
                </a:solidFill>
              </a:rPr>
              <a:t>Refaire une anesthésie locale </a:t>
            </a:r>
            <a:r>
              <a:rPr lang="fr-FR" dirty="0"/>
              <a:t>avec un vasoconstricteur  si nécessaire et en absence de contre-indication </a:t>
            </a:r>
          </a:p>
          <a:p>
            <a:pPr fontAlgn="base">
              <a:buFont typeface="Wingdings" panose="05000000000000000000" pitchFamily="2" charset="2"/>
              <a:buChar char="Ø"/>
            </a:pPr>
            <a:r>
              <a:rPr lang="fr-FR" dirty="0">
                <a:solidFill>
                  <a:srgbClr val="00B050"/>
                </a:solidFill>
              </a:rPr>
              <a:t>Nettoyer l’alvéole </a:t>
            </a:r>
            <a:r>
              <a:rPr lang="fr-FR" dirty="0"/>
              <a:t>minutieusement</a:t>
            </a:r>
          </a:p>
          <a:p>
            <a:pPr fontAlgn="base">
              <a:buFont typeface="Wingdings" panose="05000000000000000000" pitchFamily="2" charset="2"/>
              <a:buChar char="Ø"/>
            </a:pPr>
            <a:r>
              <a:rPr lang="fr-FR" dirty="0">
                <a:solidFill>
                  <a:srgbClr val="00B050"/>
                </a:solidFill>
              </a:rPr>
              <a:t>Extraire l’apex résiduel </a:t>
            </a:r>
            <a:r>
              <a:rPr lang="fr-FR" dirty="0"/>
              <a:t>et cureter une lésion apicale si elles existent </a:t>
            </a:r>
          </a:p>
          <a:p>
            <a:pPr fontAlgn="base">
              <a:buFont typeface="Wingdings" panose="05000000000000000000" pitchFamily="2" charset="2"/>
              <a:buChar char="Ø"/>
            </a:pPr>
            <a:r>
              <a:rPr lang="fr-FR" b="1" dirty="0">
                <a:solidFill>
                  <a:srgbClr val="00B050"/>
                </a:solidFill>
              </a:rPr>
              <a:t>Bourrer l’alvéole par un hémostatique </a:t>
            </a:r>
            <a:r>
              <a:rPr lang="fr-FR" dirty="0"/>
              <a:t>: </a:t>
            </a:r>
          </a:p>
          <a:p>
            <a:pPr marL="0" indent="0" fontAlgn="base">
              <a:buNone/>
            </a:pPr>
            <a:r>
              <a:rPr lang="fr-FR" dirty="0"/>
              <a:t>     </a:t>
            </a:r>
            <a:r>
              <a:rPr lang="fr-FR" b="1" dirty="0" err="1"/>
              <a:t>Surgicel</a:t>
            </a:r>
            <a:r>
              <a:rPr lang="fr-FR" b="1" dirty="0"/>
              <a:t>® ou </a:t>
            </a:r>
            <a:r>
              <a:rPr lang="fr-FR" b="1" dirty="0" err="1"/>
              <a:t>Thrombase</a:t>
            </a:r>
            <a:r>
              <a:rPr lang="fr-FR" b="1" dirty="0"/>
              <a:t> </a:t>
            </a:r>
            <a:r>
              <a:rPr lang="fr-FR" dirty="0"/>
              <a:t>500 en poudre.</a:t>
            </a:r>
          </a:p>
          <a:p>
            <a:pPr fontAlgn="base">
              <a:buFont typeface="Wingdings" panose="05000000000000000000" pitchFamily="2" charset="2"/>
              <a:buChar char="Ø"/>
            </a:pPr>
            <a:endParaRPr lang="fr-FR" dirty="0"/>
          </a:p>
          <a:p>
            <a:pPr fontAlgn="base">
              <a:buFont typeface="Wingdings" panose="05000000000000000000" pitchFamily="2" charset="2"/>
              <a:buChar char="Ø"/>
            </a:pPr>
            <a:endParaRPr lang="fr-FR" dirty="0"/>
          </a:p>
        </p:txBody>
      </p:sp>
    </p:spTree>
    <p:extLst>
      <p:ext uri="{BB962C8B-B14F-4D97-AF65-F5344CB8AC3E}">
        <p14:creationId xmlns:p14="http://schemas.microsoft.com/office/powerpoint/2010/main" val="94965050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solidFill>
            <a:schemeClr val="accent2">
              <a:lumMod val="20000"/>
              <a:lumOff val="80000"/>
            </a:schemeClr>
          </a:solidFill>
        </p:spPr>
        <p:txBody>
          <a:bodyPr/>
          <a:lstStyle/>
          <a:p>
            <a:r>
              <a:rPr lang="fr-FR" b="1" dirty="0">
                <a:solidFill>
                  <a:schemeClr val="tx1"/>
                </a:solidFill>
                <a:latin typeface="Calibri" panose="020F0502020204030204" pitchFamily="34" charset="0"/>
              </a:rPr>
              <a:t>V/TRAITEMENT</a:t>
            </a:r>
            <a:endParaRPr lang="fr-FR" dirty="0"/>
          </a:p>
        </p:txBody>
      </p:sp>
      <p:sp>
        <p:nvSpPr>
          <p:cNvPr id="3" name="Espace réservé du contenu 2"/>
          <p:cNvSpPr>
            <a:spLocks noGrp="1"/>
          </p:cNvSpPr>
          <p:nvPr>
            <p:ph sz="quarter" idx="1"/>
          </p:nvPr>
        </p:nvSpPr>
        <p:spPr/>
        <p:txBody>
          <a:bodyPr/>
          <a:lstStyle/>
          <a:p>
            <a:pPr>
              <a:buFont typeface="Wingdings" panose="05000000000000000000" pitchFamily="2" charset="2"/>
              <a:buChar char="Ø"/>
            </a:pPr>
            <a:r>
              <a:rPr lang="fr-FR" dirty="0"/>
              <a:t>Faire une </a:t>
            </a:r>
            <a:r>
              <a:rPr lang="fr-FR" b="1" dirty="0"/>
              <a:t>compression qui sera maintenue pendant 20 minutes</a:t>
            </a:r>
            <a:r>
              <a:rPr lang="fr-FR" dirty="0"/>
              <a:t> (on doit obtenir une bonne qualité du thrombus blanc ou caillot). </a:t>
            </a:r>
          </a:p>
          <a:p>
            <a:pPr>
              <a:buFont typeface="Wingdings" panose="05000000000000000000" pitchFamily="2" charset="2"/>
              <a:buChar char="Ø"/>
            </a:pPr>
            <a:r>
              <a:rPr lang="fr-FR" dirty="0"/>
              <a:t>Cette compression sera faite à l’aide d’un petit paquet de compresses roulées et placées au niveau de l’alvéole. </a:t>
            </a:r>
          </a:p>
          <a:p>
            <a:pPr>
              <a:buFont typeface="Wingdings" panose="05000000000000000000" pitchFamily="2" charset="2"/>
              <a:buChar char="Ø"/>
            </a:pPr>
            <a:r>
              <a:rPr lang="fr-FR" dirty="0"/>
              <a:t>Le contrôle de </a:t>
            </a:r>
            <a:r>
              <a:rPr lang="fr-FR" b="1" dirty="0"/>
              <a:t>l’arrêt de l’hémorragie </a:t>
            </a:r>
            <a:r>
              <a:rPr lang="fr-FR" dirty="0"/>
              <a:t>s’effectuera </a:t>
            </a:r>
            <a:r>
              <a:rPr lang="fr-FR" b="1" dirty="0"/>
              <a:t>20 minutes après la mise en place de la compression </a:t>
            </a:r>
            <a:r>
              <a:rPr lang="fr-FR" dirty="0"/>
              <a:t>; si nécessaire changer les compresses afin d’</a:t>
            </a:r>
            <a:r>
              <a:rPr lang="fr-FR" dirty="0" err="1"/>
              <a:t>evaluer</a:t>
            </a:r>
            <a:r>
              <a:rPr lang="fr-FR" dirty="0"/>
              <a:t>  la qualité de l’hémostase locale et l’arrêt de l’hémorragie</a:t>
            </a:r>
          </a:p>
        </p:txBody>
      </p:sp>
    </p:spTree>
    <p:extLst>
      <p:ext uri="{BB962C8B-B14F-4D97-AF65-F5344CB8AC3E}">
        <p14:creationId xmlns:p14="http://schemas.microsoft.com/office/powerpoint/2010/main" val="316154922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solidFill>
            <a:schemeClr val="accent1">
              <a:lumMod val="20000"/>
              <a:lumOff val="80000"/>
            </a:schemeClr>
          </a:solidFill>
        </p:spPr>
        <p:txBody>
          <a:bodyPr/>
          <a:lstStyle/>
          <a:p>
            <a:r>
              <a:rPr lang="fr-FR" b="1" dirty="0">
                <a:solidFill>
                  <a:schemeClr val="tx1"/>
                </a:solidFill>
                <a:latin typeface="Calibri" panose="020F0502020204030204" pitchFamily="34" charset="0"/>
              </a:rPr>
              <a:t>V/TRAITEMENT</a:t>
            </a:r>
            <a:endParaRPr lang="fr-FR" dirty="0"/>
          </a:p>
        </p:txBody>
      </p:sp>
      <p:sp>
        <p:nvSpPr>
          <p:cNvPr id="3" name="Espace réservé du contenu 2"/>
          <p:cNvSpPr>
            <a:spLocks noGrp="1"/>
          </p:cNvSpPr>
          <p:nvPr>
            <p:ph sz="quarter" idx="1"/>
          </p:nvPr>
        </p:nvSpPr>
        <p:spPr>
          <a:xfrm>
            <a:off x="914400" y="1447800"/>
            <a:ext cx="7772400" cy="5293568"/>
          </a:xfrm>
        </p:spPr>
        <p:txBody>
          <a:bodyPr>
            <a:normAutofit/>
          </a:bodyPr>
          <a:lstStyle/>
          <a:p>
            <a:pPr marL="0" indent="0" fontAlgn="base">
              <a:buNone/>
            </a:pPr>
            <a:r>
              <a:rPr lang="fr-FR" b="1" u="sng" dirty="0">
                <a:solidFill>
                  <a:srgbClr val="FF0000"/>
                </a:solidFill>
                <a:latin typeface="Calibri" panose="020F0502020204030204" pitchFamily="34" charset="0"/>
              </a:rPr>
              <a:t>2- L’hémorragie causée par une lésion muqueuse: </a:t>
            </a:r>
          </a:p>
          <a:p>
            <a:pPr marL="0" indent="0" fontAlgn="base">
              <a:buNone/>
            </a:pPr>
            <a:r>
              <a:rPr lang="fr-FR" sz="2400" dirty="0">
                <a:latin typeface="Calibri" panose="020F0502020204030204" pitchFamily="34" charset="0"/>
              </a:rPr>
              <a:t>Apres </a:t>
            </a:r>
            <a:r>
              <a:rPr lang="fr-FR" sz="2400" dirty="0"/>
              <a:t>anesthésie </a:t>
            </a:r>
            <a:r>
              <a:rPr lang="fr-FR" sz="2400" dirty="0" err="1"/>
              <a:t>locale,</a:t>
            </a:r>
            <a:r>
              <a:rPr lang="fr-FR" dirty="0" err="1"/>
              <a:t>Procéder</a:t>
            </a:r>
            <a:r>
              <a:rPr lang="fr-FR" dirty="0"/>
              <a:t> à la remise en état de la muqueuse Nettoyer  ,Suturer la  plaie rigoureusement </a:t>
            </a:r>
            <a:r>
              <a:rPr lang="fr-FR" dirty="0" err="1"/>
              <a:t>apres</a:t>
            </a:r>
            <a:r>
              <a:rPr lang="fr-FR" dirty="0"/>
              <a:t> l’ avoir nettoyée et faire une </a:t>
            </a:r>
            <a:r>
              <a:rPr lang="fr-FR" b="1" dirty="0">
                <a:solidFill>
                  <a:srgbClr val="7030A0"/>
                </a:solidFill>
              </a:rPr>
              <a:t>Compression externe+++</a:t>
            </a:r>
          </a:p>
          <a:p>
            <a:pPr marL="0" indent="0" fontAlgn="base">
              <a:buNone/>
            </a:pPr>
            <a:r>
              <a:rPr lang="fr-FR" b="1" u="sng" dirty="0">
                <a:solidFill>
                  <a:srgbClr val="FF0000"/>
                </a:solidFill>
              </a:rPr>
              <a:t>3-L’hémorragie est causée par une lésion osseuse;</a:t>
            </a:r>
          </a:p>
          <a:p>
            <a:pPr marL="0" indent="0" fontAlgn="base">
              <a:buNone/>
            </a:pPr>
            <a:r>
              <a:rPr lang="fr-FR" dirty="0"/>
              <a:t>  faire une anesthésie </a:t>
            </a:r>
            <a:r>
              <a:rPr lang="fr-FR" dirty="0" err="1"/>
              <a:t>locale,Déposer</a:t>
            </a:r>
            <a:r>
              <a:rPr lang="fr-FR" dirty="0"/>
              <a:t> le fragment osseux mobile en le détachant des tissus </a:t>
            </a:r>
            <a:r>
              <a:rPr lang="fr-FR" dirty="0" err="1"/>
              <a:t>muqueux,Mettre</a:t>
            </a:r>
            <a:r>
              <a:rPr lang="fr-FR" dirty="0"/>
              <a:t> en place une hémostase locale de sécurité et faire une </a:t>
            </a:r>
            <a:r>
              <a:rPr lang="fr-FR" b="1" u="sng" dirty="0">
                <a:solidFill>
                  <a:srgbClr val="7030A0"/>
                </a:solidFill>
              </a:rPr>
              <a:t>Compression externe</a:t>
            </a:r>
            <a:r>
              <a:rPr lang="fr-FR" b="1" dirty="0">
                <a:solidFill>
                  <a:srgbClr val="7030A0"/>
                </a:solidFill>
              </a:rPr>
              <a:t>+++++</a:t>
            </a:r>
          </a:p>
        </p:txBody>
      </p:sp>
    </p:spTree>
    <p:extLst>
      <p:ext uri="{BB962C8B-B14F-4D97-AF65-F5344CB8AC3E}">
        <p14:creationId xmlns:p14="http://schemas.microsoft.com/office/powerpoint/2010/main" val="413249112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2784617F-099C-D607-4DB4-3EEE52983809}"/>
              </a:ext>
            </a:extLst>
          </p:cNvPr>
          <p:cNvSpPr>
            <a:spLocks noGrp="1"/>
          </p:cNvSpPr>
          <p:nvPr>
            <p:ph sz="quarter" idx="1"/>
          </p:nvPr>
        </p:nvSpPr>
        <p:spPr>
          <a:xfrm>
            <a:off x="179512" y="1447800"/>
            <a:ext cx="8712968" cy="5135562"/>
          </a:xfrm>
        </p:spPr>
        <p:txBody>
          <a:bodyPr/>
          <a:lstStyle/>
          <a:p>
            <a:pPr marL="0" indent="0" fontAlgn="base">
              <a:buNone/>
            </a:pPr>
            <a:r>
              <a:rPr lang="fr-FR" b="1" u="sng" dirty="0">
                <a:solidFill>
                  <a:srgbClr val="FF0000"/>
                </a:solidFill>
              </a:rPr>
              <a:t>4-L’hémorragie plusieurs heures après l’acte </a:t>
            </a:r>
            <a:r>
              <a:rPr lang="fr-FR" b="1" u="sng" dirty="0" err="1">
                <a:solidFill>
                  <a:srgbClr val="FF0000"/>
                </a:solidFill>
              </a:rPr>
              <a:t>chirurgical:</a:t>
            </a:r>
            <a:r>
              <a:rPr lang="fr-FR" dirty="0" err="1"/>
              <a:t>Cette</a:t>
            </a:r>
            <a:r>
              <a:rPr lang="fr-FR" dirty="0"/>
              <a:t> hémorragie peut être due à une infection locale qui a entraîné une dégradation de la qualité du caillot.:</a:t>
            </a:r>
          </a:p>
          <a:p>
            <a:pPr fontAlgn="base">
              <a:buFont typeface="Wingdings" panose="05000000000000000000" pitchFamily="2" charset="2"/>
              <a:buChar char="Ø"/>
            </a:pPr>
            <a:r>
              <a:rPr lang="fr-FR" dirty="0"/>
              <a:t>Apres anesthésie locale et  rinçage de la cavité buccal</a:t>
            </a:r>
          </a:p>
          <a:p>
            <a:pPr fontAlgn="base">
              <a:buFont typeface="Wingdings" panose="05000000000000000000" pitchFamily="2" charset="2"/>
              <a:buChar char="Ø"/>
            </a:pPr>
            <a:r>
              <a:rPr lang="fr-FR" dirty="0"/>
              <a:t>Nettoyer l’alvéole au sérum physiologique avec une petite seringue</a:t>
            </a:r>
          </a:p>
          <a:p>
            <a:pPr fontAlgn="base">
              <a:buFont typeface="Wingdings" panose="05000000000000000000" pitchFamily="2" charset="2"/>
              <a:buChar char="Ø"/>
            </a:pPr>
            <a:r>
              <a:rPr lang="fr-FR" dirty="0"/>
              <a:t>Mettre en place un hémostatique local (</a:t>
            </a:r>
            <a:r>
              <a:rPr lang="fr-FR" dirty="0" err="1"/>
              <a:t>Surgicel</a:t>
            </a:r>
            <a:r>
              <a:rPr lang="fr-FR" dirty="0"/>
              <a:t>®) puis faire une  compression externe de sécurité  tout en surveillant l’</a:t>
            </a:r>
            <a:r>
              <a:rPr lang="fr-FR" dirty="0" err="1"/>
              <a:t>arret</a:t>
            </a:r>
            <a:r>
              <a:rPr lang="fr-FR" dirty="0"/>
              <a:t> du saignement .</a:t>
            </a:r>
          </a:p>
          <a:p>
            <a:pPr marL="0" indent="0" fontAlgn="base">
              <a:buNone/>
            </a:pPr>
            <a:endParaRPr lang="fr-FR" dirty="0"/>
          </a:p>
          <a:p>
            <a:endParaRPr lang="fr-FR" dirty="0"/>
          </a:p>
        </p:txBody>
      </p:sp>
      <p:sp>
        <p:nvSpPr>
          <p:cNvPr id="4" name="Titre 1">
            <a:extLst>
              <a:ext uri="{FF2B5EF4-FFF2-40B4-BE49-F238E27FC236}">
                <a16:creationId xmlns:a16="http://schemas.microsoft.com/office/drawing/2014/main" id="{365A35A9-728A-2B43-F53F-D397BD765087}"/>
              </a:ext>
            </a:extLst>
          </p:cNvPr>
          <p:cNvSpPr>
            <a:spLocks noGrp="1"/>
          </p:cNvSpPr>
          <p:nvPr>
            <p:ph type="title"/>
          </p:nvPr>
        </p:nvSpPr>
        <p:spPr>
          <a:xfrm>
            <a:off x="0" y="274638"/>
            <a:ext cx="8892480" cy="1143000"/>
          </a:xfrm>
          <a:solidFill>
            <a:schemeClr val="accent1">
              <a:lumMod val="20000"/>
              <a:lumOff val="80000"/>
            </a:schemeClr>
          </a:solidFill>
        </p:spPr>
        <p:txBody>
          <a:bodyPr/>
          <a:lstStyle/>
          <a:p>
            <a:r>
              <a:rPr lang="fr-FR" b="1" dirty="0">
                <a:solidFill>
                  <a:schemeClr val="tx1"/>
                </a:solidFill>
                <a:latin typeface="Calibri" panose="020F0502020204030204" pitchFamily="34" charset="0"/>
              </a:rPr>
              <a:t>                     V/TRAITEMENT</a:t>
            </a:r>
            <a:endParaRPr lang="fr-FR" dirty="0"/>
          </a:p>
        </p:txBody>
      </p:sp>
    </p:spTree>
    <p:extLst>
      <p:ext uri="{BB962C8B-B14F-4D97-AF65-F5344CB8AC3E}">
        <p14:creationId xmlns:p14="http://schemas.microsoft.com/office/powerpoint/2010/main" val="171844878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794481E-AA4E-4446-A6E2-F492CB1A6602}"/>
              </a:ext>
            </a:extLst>
          </p:cNvPr>
          <p:cNvSpPr>
            <a:spLocks noGrp="1"/>
          </p:cNvSpPr>
          <p:nvPr>
            <p:ph type="title"/>
          </p:nvPr>
        </p:nvSpPr>
        <p:spPr>
          <a:xfrm>
            <a:off x="914399" y="274638"/>
            <a:ext cx="8019281" cy="1143000"/>
          </a:xfrm>
          <a:solidFill>
            <a:schemeClr val="accent1">
              <a:lumMod val="20000"/>
              <a:lumOff val="80000"/>
            </a:schemeClr>
          </a:solidFill>
        </p:spPr>
        <p:txBody>
          <a:bodyPr/>
          <a:lstStyle/>
          <a:p>
            <a:r>
              <a:rPr lang="fr-FR" b="1" dirty="0">
                <a:solidFill>
                  <a:schemeClr val="tx1"/>
                </a:solidFill>
              </a:rPr>
              <a:t>    </a:t>
            </a:r>
            <a:r>
              <a:rPr lang="fr-FR" b="1" dirty="0">
                <a:solidFill>
                  <a:schemeClr val="tx1"/>
                </a:solidFill>
                <a:latin typeface="Calibri" panose="020F0502020204030204" pitchFamily="34" charset="0"/>
              </a:rPr>
              <a:t>V/ TRAITEMENT</a:t>
            </a:r>
            <a:endParaRPr lang="fr-FR" dirty="0">
              <a:latin typeface="Calibri" panose="020F0502020204030204" pitchFamily="34" charset="0"/>
            </a:endParaRPr>
          </a:p>
        </p:txBody>
      </p:sp>
      <p:pic>
        <p:nvPicPr>
          <p:cNvPr id="4" name="Espace réservé du contenu 3">
            <a:extLst>
              <a:ext uri="{FF2B5EF4-FFF2-40B4-BE49-F238E27FC236}">
                <a16:creationId xmlns:a16="http://schemas.microsoft.com/office/drawing/2014/main" id="{7A672AFC-21C9-4A05-844B-421E712256BE}"/>
              </a:ext>
            </a:extLst>
          </p:cNvPr>
          <p:cNvPicPr>
            <a:picLocks noGrp="1" noChangeAspect="1"/>
          </p:cNvPicPr>
          <p:nvPr>
            <p:ph sz="quarter" idx="1"/>
          </p:nvPr>
        </p:nvPicPr>
        <p:blipFill>
          <a:blip r:embed="rId2"/>
          <a:stretch>
            <a:fillRect/>
          </a:stretch>
        </p:blipFill>
        <p:spPr>
          <a:xfrm>
            <a:off x="3491880" y="1417638"/>
            <a:ext cx="5441801" cy="5035698"/>
          </a:xfrm>
          <a:prstGeom prst="rect">
            <a:avLst/>
          </a:prstGeom>
        </p:spPr>
      </p:pic>
      <p:sp>
        <p:nvSpPr>
          <p:cNvPr id="5" name="Rectangle 4">
            <a:extLst>
              <a:ext uri="{FF2B5EF4-FFF2-40B4-BE49-F238E27FC236}">
                <a16:creationId xmlns:a16="http://schemas.microsoft.com/office/drawing/2014/main" id="{1B05F9B6-0907-4D4D-8D22-5B6916F027B0}"/>
              </a:ext>
            </a:extLst>
          </p:cNvPr>
          <p:cNvSpPr/>
          <p:nvPr/>
        </p:nvSpPr>
        <p:spPr>
          <a:xfrm>
            <a:off x="755576" y="1489646"/>
            <a:ext cx="2664296" cy="4963690"/>
          </a:xfrm>
          <a:prstGeom prst="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2400" dirty="0">
                <a:solidFill>
                  <a:schemeClr val="tx1"/>
                </a:solidFill>
                <a:latin typeface="Calibri" panose="020F0502020204030204" pitchFamily="34" charset="0"/>
              </a:rPr>
              <a:t>Compression locale immédiate à l’ aide d’une compresse stérile maintenue par le praticien au moins </a:t>
            </a:r>
            <a:r>
              <a:rPr lang="fr-FR" sz="2400" b="1" dirty="0">
                <a:solidFill>
                  <a:srgbClr val="FF0000"/>
                </a:solidFill>
                <a:latin typeface="Calibri" panose="020F0502020204030204" pitchFamily="34" charset="0"/>
              </a:rPr>
              <a:t>pendant </a:t>
            </a:r>
            <a:r>
              <a:rPr lang="fr-FR" sz="2400" b="1" u="sng" dirty="0">
                <a:solidFill>
                  <a:srgbClr val="FF0000"/>
                </a:solidFill>
                <a:latin typeface="Calibri" panose="020F0502020204030204" pitchFamily="34" charset="0"/>
              </a:rPr>
              <a:t>10 minutes ++++</a:t>
            </a:r>
          </a:p>
        </p:txBody>
      </p:sp>
    </p:spTree>
    <p:extLst>
      <p:ext uri="{BB962C8B-B14F-4D97-AF65-F5344CB8AC3E}">
        <p14:creationId xmlns:p14="http://schemas.microsoft.com/office/powerpoint/2010/main" val="215610930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179512" y="274638"/>
            <a:ext cx="8712968" cy="1143000"/>
          </a:xfrm>
          <a:solidFill>
            <a:schemeClr val="accent1">
              <a:lumMod val="20000"/>
              <a:lumOff val="80000"/>
            </a:schemeClr>
          </a:solidFill>
        </p:spPr>
        <p:txBody>
          <a:bodyPr/>
          <a:lstStyle/>
          <a:p>
            <a:r>
              <a:rPr lang="fr-FR" b="1" dirty="0">
                <a:solidFill>
                  <a:schemeClr val="tx1"/>
                </a:solidFill>
                <a:latin typeface="Calibri" panose="020F0502020204030204" pitchFamily="34" charset="0"/>
              </a:rPr>
              <a:t> V/TRAITEMENT</a:t>
            </a:r>
            <a:endParaRPr lang="fr-FR" dirty="0"/>
          </a:p>
        </p:txBody>
      </p:sp>
      <p:sp>
        <p:nvSpPr>
          <p:cNvPr id="3" name="Espace réservé du contenu 2"/>
          <p:cNvSpPr>
            <a:spLocks noGrp="1"/>
          </p:cNvSpPr>
          <p:nvPr>
            <p:ph sz="quarter" idx="1"/>
          </p:nvPr>
        </p:nvSpPr>
        <p:spPr>
          <a:xfrm>
            <a:off x="179512" y="1447800"/>
            <a:ext cx="8712968" cy="5077544"/>
          </a:xfrm>
        </p:spPr>
        <p:txBody>
          <a:bodyPr/>
          <a:lstStyle/>
          <a:p>
            <a:pPr marL="0" indent="0">
              <a:buNone/>
            </a:pPr>
            <a:r>
              <a:rPr lang="fr-FR" b="1" u="sng" dirty="0">
                <a:solidFill>
                  <a:srgbClr val="FF0000"/>
                </a:solidFill>
              </a:rPr>
              <a:t>5-Traitement prophylactique antiinfectieux :</a:t>
            </a:r>
          </a:p>
          <a:p>
            <a:pPr marL="0" indent="0">
              <a:buNone/>
            </a:pPr>
            <a:r>
              <a:rPr lang="fr-FR" dirty="0"/>
              <a:t>-Amoxicilline : 1 g x 24 h pendant 6 jours </a:t>
            </a:r>
          </a:p>
          <a:p>
            <a:pPr marL="0" indent="0">
              <a:buNone/>
            </a:pPr>
            <a:r>
              <a:rPr lang="fr-FR" b="1" u="sng" dirty="0">
                <a:solidFill>
                  <a:srgbClr val="FF0000"/>
                </a:solidFill>
              </a:rPr>
              <a:t>6-Traitement Antalgique : Paracétamol® </a:t>
            </a:r>
          </a:p>
          <a:p>
            <a:pPr marL="0" indent="0">
              <a:buNone/>
            </a:pPr>
            <a:r>
              <a:rPr lang="fr-FR" b="1" dirty="0">
                <a:solidFill>
                  <a:srgbClr val="FF0000"/>
                </a:solidFill>
              </a:rPr>
              <a:t>«  Aspirine contre-indiqué ». </a:t>
            </a:r>
          </a:p>
          <a:p>
            <a:pPr marL="0" indent="0">
              <a:buNone/>
            </a:pPr>
            <a:r>
              <a:rPr lang="fr-FR" dirty="0"/>
              <a:t>-Revoir le patient  24 heures </a:t>
            </a:r>
            <a:r>
              <a:rPr lang="fr-FR" dirty="0" err="1"/>
              <a:t>aprés</a:t>
            </a:r>
            <a:r>
              <a:rPr lang="fr-FR" dirty="0"/>
              <a:t>  pour apprécier la qualité alvéolaire. </a:t>
            </a:r>
          </a:p>
          <a:p>
            <a:pPr marL="0" indent="0">
              <a:buNone/>
            </a:pPr>
            <a:r>
              <a:rPr lang="fr-FR" dirty="0"/>
              <a:t>-Si prescription de </a:t>
            </a:r>
            <a:r>
              <a:rPr lang="fr-FR" b="1" dirty="0">
                <a:solidFill>
                  <a:srgbClr val="00B050"/>
                </a:solidFill>
              </a:rPr>
              <a:t>bain de bouche </a:t>
            </a:r>
            <a:r>
              <a:rPr lang="fr-FR" dirty="0"/>
              <a:t>les débuter </a:t>
            </a:r>
            <a:r>
              <a:rPr lang="fr-FR" b="1" dirty="0">
                <a:solidFill>
                  <a:srgbClr val="00B050"/>
                </a:solidFill>
              </a:rPr>
              <a:t>24 heures après les soins d’urgence.</a:t>
            </a:r>
            <a:r>
              <a:rPr lang="fr-FR" dirty="0"/>
              <a:t>  </a:t>
            </a:r>
          </a:p>
          <a:p>
            <a:pPr marL="0" indent="0">
              <a:buNone/>
            </a:pPr>
            <a:r>
              <a:rPr lang="fr-FR" b="1" u="sng" dirty="0">
                <a:solidFill>
                  <a:srgbClr val="FF0000"/>
                </a:solidFill>
              </a:rPr>
              <a:t>7-Surveillance clinique:</a:t>
            </a:r>
            <a:r>
              <a:rPr lang="fr-FR" dirty="0"/>
              <a:t>  pendant </a:t>
            </a:r>
            <a:r>
              <a:rPr lang="fr-FR" b="1" dirty="0">
                <a:solidFill>
                  <a:schemeClr val="tx1">
                    <a:lumMod val="95000"/>
                    <a:lumOff val="5000"/>
                  </a:schemeClr>
                </a:solidFill>
              </a:rPr>
              <a:t>2 heures </a:t>
            </a:r>
            <a:r>
              <a:rPr lang="fr-FR" dirty="0"/>
              <a:t>dans la salle d’attente ou dans une salle de repos</a:t>
            </a:r>
            <a:endParaRPr lang="fr-FR" b="1" u="sng" dirty="0">
              <a:solidFill>
                <a:srgbClr val="00B050"/>
              </a:solidFill>
            </a:endParaRPr>
          </a:p>
          <a:p>
            <a:pPr marL="0" indent="0">
              <a:buNone/>
            </a:pPr>
            <a:endParaRPr lang="fr-FR" b="1" u="sng" dirty="0">
              <a:solidFill>
                <a:srgbClr val="FF0000"/>
              </a:solidFill>
            </a:endParaRPr>
          </a:p>
        </p:txBody>
      </p:sp>
    </p:spTree>
    <p:extLst>
      <p:ext uri="{BB962C8B-B14F-4D97-AF65-F5344CB8AC3E}">
        <p14:creationId xmlns:p14="http://schemas.microsoft.com/office/powerpoint/2010/main" val="356975490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35496" y="287201"/>
            <a:ext cx="8928992" cy="1143000"/>
          </a:xfrm>
        </p:spPr>
        <p:style>
          <a:lnRef idx="1">
            <a:schemeClr val="accent1"/>
          </a:lnRef>
          <a:fillRef idx="2">
            <a:schemeClr val="accent1"/>
          </a:fillRef>
          <a:effectRef idx="1">
            <a:schemeClr val="accent1"/>
          </a:effectRef>
          <a:fontRef idx="minor">
            <a:schemeClr val="dk1"/>
          </a:fontRef>
        </p:style>
        <p:txBody>
          <a:bodyPr/>
          <a:lstStyle/>
          <a:p>
            <a:r>
              <a:rPr lang="fr-FR" b="1" dirty="0">
                <a:solidFill>
                  <a:schemeClr val="tx1"/>
                </a:solidFill>
              </a:rPr>
              <a:t>V/TRAITEMENT</a:t>
            </a:r>
          </a:p>
        </p:txBody>
      </p:sp>
      <p:sp>
        <p:nvSpPr>
          <p:cNvPr id="3" name="Espace réservé du contenu 2"/>
          <p:cNvSpPr>
            <a:spLocks noGrp="1"/>
          </p:cNvSpPr>
          <p:nvPr>
            <p:ph sz="quarter" idx="1"/>
          </p:nvPr>
        </p:nvSpPr>
        <p:spPr>
          <a:xfrm>
            <a:off x="914400" y="1447800"/>
            <a:ext cx="7772400" cy="5005536"/>
          </a:xfrm>
        </p:spPr>
        <p:txBody>
          <a:bodyPr>
            <a:normAutofit fontScale="85000" lnSpcReduction="20000"/>
          </a:bodyPr>
          <a:lstStyle/>
          <a:p>
            <a:pPr marL="0" indent="0">
              <a:buNone/>
            </a:pPr>
            <a:endParaRPr lang="fr-FR" sz="3200" b="1" u="sng" dirty="0">
              <a:solidFill>
                <a:srgbClr val="FF0000"/>
              </a:solidFill>
              <a:latin typeface="Calibri" panose="020F0502020204030204" pitchFamily="34" charset="0"/>
            </a:endParaRPr>
          </a:p>
          <a:p>
            <a:pPr marL="0" indent="0">
              <a:buNone/>
            </a:pPr>
            <a:r>
              <a:rPr lang="fr-FR" sz="3200" b="1" u="sng" dirty="0">
                <a:solidFill>
                  <a:srgbClr val="FF0000"/>
                </a:solidFill>
                <a:latin typeface="Calibri" panose="020F0502020204030204" pitchFamily="34" charset="0"/>
              </a:rPr>
              <a:t>Traitement à Action locale:</a:t>
            </a:r>
          </a:p>
          <a:p>
            <a:pPr>
              <a:buFont typeface="Wingdings" panose="05000000000000000000" pitchFamily="2" charset="2"/>
              <a:buChar char="Ø"/>
            </a:pPr>
            <a:r>
              <a:rPr lang="fr-FR" sz="3200" b="1" dirty="0" err="1">
                <a:latin typeface="Calibri" panose="020F0502020204030204" pitchFamily="34" charset="0"/>
              </a:rPr>
              <a:t>Surgicel</a:t>
            </a:r>
            <a:endParaRPr lang="fr-FR" sz="3200" b="1" dirty="0">
              <a:latin typeface="Calibri" panose="020F0502020204030204" pitchFamily="34" charset="0"/>
            </a:endParaRPr>
          </a:p>
          <a:p>
            <a:pPr>
              <a:buFont typeface="Wingdings" panose="05000000000000000000" pitchFamily="2" charset="2"/>
              <a:buChar char="Ø"/>
            </a:pPr>
            <a:r>
              <a:rPr lang="fr-FR" sz="3000" b="1" dirty="0"/>
              <a:t>Collagène résorbable </a:t>
            </a:r>
            <a:endParaRPr lang="fr-FR" sz="3600" b="1" dirty="0"/>
          </a:p>
          <a:p>
            <a:pPr marL="0" indent="0">
              <a:buNone/>
            </a:pPr>
            <a:r>
              <a:rPr lang="fr-FR" sz="3200" dirty="0"/>
              <a:t> La mise en place de collagène au sein de l’alvéole dentaire joue le rôle d’obstacle mécanique empêchant l’hémorragie</a:t>
            </a:r>
            <a:endParaRPr lang="fr-FR" sz="3600" dirty="0"/>
          </a:p>
          <a:p>
            <a:pPr>
              <a:buClr>
                <a:schemeClr val="tx1"/>
              </a:buClr>
              <a:buFont typeface="Wingdings" panose="05000000000000000000" pitchFamily="2" charset="2"/>
              <a:buChar char="Ø"/>
            </a:pPr>
            <a:r>
              <a:rPr lang="fr-FR" sz="2800" b="1" dirty="0">
                <a:latin typeface="Calibri" panose="020F0502020204030204" pitchFamily="34" charset="0"/>
              </a:rPr>
              <a:t>Gouttières </a:t>
            </a:r>
            <a:r>
              <a:rPr lang="fr-FR" sz="2800" dirty="0"/>
              <a:t>(</a:t>
            </a:r>
            <a:r>
              <a:rPr lang="fr-FR" sz="2800" dirty="0" err="1"/>
              <a:t>stens</a:t>
            </a:r>
            <a:r>
              <a:rPr lang="fr-FR" sz="2800" dirty="0"/>
              <a:t>, pâte de Kerr, résine ..etc....)</a:t>
            </a:r>
          </a:p>
          <a:p>
            <a:pPr>
              <a:buClr>
                <a:schemeClr val="tx1"/>
              </a:buClr>
              <a:buFont typeface="Wingdings" panose="05000000000000000000" pitchFamily="2" charset="2"/>
              <a:buChar char="Ø"/>
            </a:pPr>
            <a:r>
              <a:rPr lang="fr-FR" sz="2800" b="1" dirty="0"/>
              <a:t>Moyens chirurgicaux :</a:t>
            </a:r>
            <a:r>
              <a:rPr lang="fr-FR" sz="2800" b="1" dirty="0">
                <a:solidFill>
                  <a:srgbClr val="EE0000"/>
                </a:solidFill>
              </a:rPr>
              <a:t>points de suture </a:t>
            </a:r>
          </a:p>
          <a:p>
            <a:pPr marL="0" indent="0">
              <a:buClr>
                <a:schemeClr val="tx1"/>
              </a:buClr>
              <a:buNone/>
            </a:pPr>
            <a:r>
              <a:rPr lang="fr-FR" sz="2800" dirty="0"/>
              <a:t>en cas d’ hémorragie abondante avec du fil tressé </a:t>
            </a:r>
          </a:p>
          <a:p>
            <a:pPr marL="0" indent="0">
              <a:buClr>
                <a:schemeClr val="tx1"/>
              </a:buClr>
              <a:buNone/>
            </a:pPr>
            <a:r>
              <a:rPr lang="fr-FR" sz="2800" dirty="0"/>
              <a:t>3/0 ou 4/0 pour éviter de déchirer </a:t>
            </a:r>
          </a:p>
          <a:p>
            <a:pPr marL="0" indent="0">
              <a:buClr>
                <a:schemeClr val="tx1"/>
              </a:buClr>
              <a:buNone/>
            </a:pPr>
            <a:r>
              <a:rPr lang="fr-FR" sz="2800" dirty="0"/>
              <a:t>les tissus -lors de la suture , </a:t>
            </a:r>
          </a:p>
          <a:p>
            <a:pPr marL="0" indent="0">
              <a:buClr>
                <a:schemeClr val="tx1"/>
              </a:buClr>
              <a:buNone/>
            </a:pPr>
            <a:r>
              <a:rPr lang="fr-FR" sz="2800" dirty="0"/>
              <a:t>le fil non résorbable  est  préconisé .</a:t>
            </a:r>
          </a:p>
          <a:p>
            <a:endParaRPr lang="fr-FR" dirty="0"/>
          </a:p>
        </p:txBody>
      </p:sp>
      <p:pic>
        <p:nvPicPr>
          <p:cNvPr id="4" name="Image 3">
            <a:extLst>
              <a:ext uri="{FF2B5EF4-FFF2-40B4-BE49-F238E27FC236}">
                <a16:creationId xmlns:a16="http://schemas.microsoft.com/office/drawing/2014/main" id="{0D39F881-70D8-4A1B-840C-4D62675D8790}"/>
              </a:ext>
            </a:extLst>
          </p:cNvPr>
          <p:cNvPicPr>
            <a:picLocks noChangeAspect="1"/>
          </p:cNvPicPr>
          <p:nvPr/>
        </p:nvPicPr>
        <p:blipFill>
          <a:blip r:embed="rId2"/>
          <a:stretch>
            <a:fillRect/>
          </a:stretch>
        </p:blipFill>
        <p:spPr>
          <a:xfrm>
            <a:off x="5292080" y="5507140"/>
            <a:ext cx="2160240" cy="1063659"/>
          </a:xfrm>
          <a:prstGeom prst="rect">
            <a:avLst/>
          </a:prstGeom>
        </p:spPr>
      </p:pic>
      <p:pic>
        <p:nvPicPr>
          <p:cNvPr id="5" name="Picture 2">
            <a:extLst>
              <a:ext uri="{FF2B5EF4-FFF2-40B4-BE49-F238E27FC236}">
                <a16:creationId xmlns:a16="http://schemas.microsoft.com/office/drawing/2014/main" id="{0DBFB393-5F08-CE82-0F73-CC19F2C93224}"/>
              </a:ext>
            </a:extLst>
          </p:cNvPr>
          <p:cNvPicPr>
            <a:picLocks noGrp="1" noChangeAspect="1" noChangeArrowheads="1"/>
          </p:cNvPicPr>
          <p:nvPr/>
        </p:nvPicPr>
        <p:blipFill>
          <a:blip r:embed="rId3"/>
          <a:srcRect/>
          <a:stretch>
            <a:fillRect/>
          </a:stretch>
        </p:blipFill>
        <p:spPr bwMode="auto">
          <a:xfrm>
            <a:off x="6528455" y="4144759"/>
            <a:ext cx="1656184" cy="1344782"/>
          </a:xfrm>
          <a:prstGeom prst="rect">
            <a:avLst/>
          </a:prstGeom>
          <a:noFill/>
          <a:ln w="9525">
            <a:noFill/>
            <a:miter lim="800000"/>
            <a:headEnd/>
            <a:tailEnd/>
          </a:ln>
          <a:effectLst/>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style>
          <a:lnRef idx="1">
            <a:schemeClr val="accent1"/>
          </a:lnRef>
          <a:fillRef idx="2">
            <a:schemeClr val="accent1"/>
          </a:fillRef>
          <a:effectRef idx="1">
            <a:schemeClr val="accent1"/>
          </a:effectRef>
          <a:fontRef idx="minor">
            <a:schemeClr val="dk1"/>
          </a:fontRef>
        </p:style>
        <p:txBody>
          <a:bodyPr/>
          <a:lstStyle/>
          <a:p>
            <a:r>
              <a:rPr lang="fr-FR" b="1" dirty="0">
                <a:latin typeface="Calibri" panose="020F0502020204030204" pitchFamily="34" charset="0"/>
              </a:rPr>
              <a:t>             CONCLUSION</a:t>
            </a:r>
          </a:p>
        </p:txBody>
      </p:sp>
      <p:sp>
        <p:nvSpPr>
          <p:cNvPr id="3" name="Espace réservé du contenu 2"/>
          <p:cNvSpPr>
            <a:spLocks noGrp="1"/>
          </p:cNvSpPr>
          <p:nvPr>
            <p:ph sz="quarter" idx="1"/>
          </p:nvPr>
        </p:nvSpPr>
        <p:spPr/>
        <p:txBody>
          <a:bodyPr>
            <a:normAutofit fontScale="92500"/>
          </a:bodyPr>
          <a:lstStyle/>
          <a:p>
            <a:pPr marL="0" indent="0">
              <a:buNone/>
            </a:pPr>
            <a:endParaRPr lang="fr-FR" dirty="0"/>
          </a:p>
          <a:p>
            <a:pPr>
              <a:buFont typeface="Wingdings" panose="05000000000000000000" pitchFamily="2" charset="2"/>
              <a:buChar char="Ø"/>
            </a:pPr>
            <a:r>
              <a:rPr lang="fr-FR" dirty="0"/>
              <a:t> L’évaluation du risque hémorragique est un prérequis indispensable avant tout acte chirurgical .</a:t>
            </a:r>
          </a:p>
          <a:p>
            <a:pPr>
              <a:buFont typeface="Wingdings" panose="05000000000000000000" pitchFamily="2" charset="2"/>
              <a:buChar char="Ø"/>
            </a:pPr>
            <a:r>
              <a:rPr lang="fr-FR" dirty="0"/>
              <a:t>  l’interrogatoire et la recherche d’un trouble  de l’hémostase, induit ou acquis, permet de réduire au maximum le risque de survenue d’un accident hémorragique, sans pour autant l’annuler.</a:t>
            </a:r>
          </a:p>
          <a:p>
            <a:pPr>
              <a:buFont typeface="Wingdings" panose="05000000000000000000" pitchFamily="2" charset="2"/>
              <a:buChar char="Ø"/>
            </a:pPr>
            <a:r>
              <a:rPr lang="fr-FR" dirty="0"/>
              <a:t>La prise en charge d’ une hémorragie va de  la simple compression jusqu’à l’utilisation  de techniques chirurgicales d’hémostase et  l’arrêt du saignement  est conditionné par le respect  des indications et contre indications des gestes a risque </a:t>
            </a:r>
            <a:r>
              <a:rPr lang="fr-FR" dirty="0" err="1"/>
              <a:t>hémoragique</a:t>
            </a:r>
            <a:r>
              <a:rPr lang="fr-FR" dirty="0"/>
              <a:t> . </a:t>
            </a:r>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apitaux">
  <a:themeElements>
    <a:clrScheme name="Capitaux">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Capitaux">
      <a:majorFont>
        <a:latin typeface="Franklin Gothic Book"/>
        <a:ea typeface=""/>
        <a:cs typeface=""/>
        <a:font script="Grek" typeface="Calibri"/>
        <a:font script="Cyrl" typeface="Calibri"/>
        <a:font script="Jpan" typeface="HGｺﾞｼｯｸM"/>
        <a:font script="Hang" typeface="바탕"/>
        <a:font script="Hans" typeface="幼圆"/>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Perpetua"/>
        <a:ea typeface=""/>
        <a:cs typeface=""/>
        <a:font script="Grek" typeface="Cambria"/>
        <a:font script="Cyrl" typeface="Cambria"/>
        <a:font script="Jpan" typeface="HG創英ﾌﾟﾚｾﾞﾝｽEB"/>
        <a:font script="Hang" typeface="맑은 고딕"/>
        <a:font script="Hans" typeface="宋体"/>
        <a:font script="Hant" typeface="新細明體"/>
        <a:font script="Arab" typeface="Times New Roman"/>
        <a:font script="Hebr" typeface="Aharoni"/>
        <a:font script="Thai" typeface="Eucrosia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Capitaux">
      <a:fillStyleLst>
        <a:solidFill>
          <a:schemeClr val="phClr"/>
        </a:solidFill>
        <a:blipFill>
          <a:blip xmlns:r="http://schemas.openxmlformats.org/officeDocument/2006/relationships" r:embed="rId1">
            <a:duotone>
              <a:schemeClr val="phClr">
                <a:tint val="30000"/>
                <a:satMod val="300000"/>
              </a:schemeClr>
              <a:schemeClr val="phClr">
                <a:tint val="40000"/>
                <a:satMod val="200000"/>
              </a:schemeClr>
            </a:duotone>
          </a:blip>
          <a:tile tx="0" ty="0" sx="70000" sy="70000" flip="none" algn="ctr"/>
        </a:blipFill>
        <a:blipFill>
          <a:blip xmlns:r="http://schemas.openxmlformats.org/officeDocument/2006/relationships" r:embed="rId1">
            <a:duotone>
              <a:schemeClr val="phClr">
                <a:shade val="22000"/>
                <a:satMod val="160000"/>
              </a:schemeClr>
              <a:schemeClr val="phClr">
                <a:shade val="45000"/>
                <a:satMod val="100000"/>
              </a:schemeClr>
            </a:duotone>
          </a:blip>
          <a:tile tx="0" ty="0" sx="65000" sy="65000" flip="none" algn="ctr"/>
        </a:blipFill>
      </a:fillStyleLst>
      <a:lnStyleLst>
        <a:ln w="9525" cap="flat" cmpd="sng" algn="ctr">
          <a:solidFill>
            <a:schemeClr val="phClr">
              <a:shade val="60000"/>
              <a:satMod val="110000"/>
            </a:schemeClr>
          </a:solidFill>
          <a:prstDash val="solid"/>
        </a:ln>
        <a:ln w="12700" cap="flat" cmpd="sng" algn="ctr">
          <a:solidFill>
            <a:schemeClr val="phClr"/>
          </a:solidFill>
          <a:prstDash val="solid"/>
        </a:ln>
        <a:ln w="38100" cap="flat" cmpd="sng" algn="ctr">
          <a:solidFill>
            <a:schemeClr val="phClr"/>
          </a:solidFill>
          <a:prstDash val="solid"/>
        </a:ln>
      </a:lnStyleLst>
      <a:effectStyleLst>
        <a:effectStyle>
          <a:effectLst>
            <a:outerShdw blurRad="38100" dist="25400" dir="5400000" algn="t" rotWithShape="0">
              <a:srgbClr val="000000">
                <a:alpha val="50000"/>
              </a:srgbClr>
            </a:outerShdw>
          </a:effectLst>
        </a:effectStyle>
        <a:effectStyle>
          <a:effectLst>
            <a:outerShdw blurRad="38100" dist="25400" dir="5400000" algn="t" rotWithShape="0">
              <a:srgbClr val="000000">
                <a:alpha val="50000"/>
              </a:srgbClr>
            </a:outerShdw>
          </a:effectLst>
        </a:effectStyle>
        <a:effectStyle>
          <a:effectLst>
            <a:outerShdw blurRad="50800" dist="50800" dir="5400000" algn="t" rotWithShape="0">
              <a:srgbClr val="000000">
                <a:alpha val="60000"/>
              </a:srgbClr>
            </a:outerShdw>
          </a:effectLst>
          <a:scene3d>
            <a:camera prst="isometricBottomUp" fov="0">
              <a:rot lat="0" lon="0" rev="0"/>
            </a:camera>
            <a:lightRig rig="soft" dir="b">
              <a:rot lat="0" lon="0" rev="9000000"/>
            </a:lightRig>
          </a:scene3d>
          <a:sp3d contourW="35000" prstMaterial="matte">
            <a:bevelT w="45000" h="38100" prst="convex"/>
            <a:contourClr>
              <a:schemeClr val="phClr">
                <a:tint val="10000"/>
                <a:satMod val="130000"/>
              </a:schemeClr>
            </a:contourClr>
          </a:sp3d>
        </a:effectStyle>
      </a:effectStyleLst>
      <a:bgFillStyleLst>
        <a:solidFill>
          <a:schemeClr val="phClr"/>
        </a:solidFill>
        <a:gradFill rotWithShape="1">
          <a:gsLst>
            <a:gs pos="0">
              <a:schemeClr val="phClr">
                <a:shade val="40000"/>
                <a:satMod val="165000"/>
              </a:schemeClr>
            </a:gs>
            <a:gs pos="50000">
              <a:schemeClr val="phClr">
                <a:shade val="80000"/>
                <a:satMod val="155000"/>
              </a:schemeClr>
            </a:gs>
            <a:gs pos="100000">
              <a:schemeClr val="phClr">
                <a:tint val="95000"/>
                <a:satMod val="200000"/>
              </a:schemeClr>
            </a:gs>
          </a:gsLst>
          <a:lin ang="16200000" scaled="1"/>
        </a:gradFill>
        <a:blipFill>
          <a:blip xmlns:r="http://schemas.openxmlformats.org/officeDocument/2006/relationships" r:embed="rId1">
            <a:duotone>
              <a:schemeClr val="phClr">
                <a:tint val="95000"/>
                <a:satMod val="200000"/>
              </a:schemeClr>
              <a:schemeClr val="phClr">
                <a:shade val="80000"/>
                <a:satMod val="100000"/>
              </a:schemeClr>
            </a:duotone>
          </a:blip>
          <a:tile tx="0" ty="0" sx="55000" sy="55000" flip="none" algn="tl"/>
        </a:blipFill>
      </a:bgFillStyleLst>
    </a:fmtScheme>
  </a:themeElements>
  <a:objectDefaults/>
  <a:extraClrScheme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Equity</Template>
  <TotalTime>1587</TotalTime>
  <Words>1791</Words>
  <Application>Microsoft Office PowerPoint</Application>
  <PresentationFormat>Affichage à l'écran (4:3)</PresentationFormat>
  <Paragraphs>209</Paragraphs>
  <Slides>29</Slides>
  <Notes>1</Notes>
  <HiddenSlides>0</HiddenSlides>
  <MMClips>0</MMClips>
  <ScaleCrop>false</ScaleCrop>
  <HeadingPairs>
    <vt:vector size="6" baseType="variant">
      <vt:variant>
        <vt:lpstr>Polices utilisées</vt:lpstr>
      </vt:variant>
      <vt:variant>
        <vt:i4>6</vt:i4>
      </vt:variant>
      <vt:variant>
        <vt:lpstr>Thème</vt:lpstr>
      </vt:variant>
      <vt:variant>
        <vt:i4>1</vt:i4>
      </vt:variant>
      <vt:variant>
        <vt:lpstr>Titres des diapositives</vt:lpstr>
      </vt:variant>
      <vt:variant>
        <vt:i4>29</vt:i4>
      </vt:variant>
    </vt:vector>
  </HeadingPairs>
  <TitlesOfParts>
    <vt:vector size="36" baseType="lpstr">
      <vt:lpstr>Calibri</vt:lpstr>
      <vt:lpstr>Franklin Gothic Book</vt:lpstr>
      <vt:lpstr>Merriweather</vt:lpstr>
      <vt:lpstr>Perpetua</vt:lpstr>
      <vt:lpstr>Wingdings</vt:lpstr>
      <vt:lpstr>Wingdings 2</vt:lpstr>
      <vt:lpstr>Capitaux</vt:lpstr>
      <vt:lpstr>HEMMORAGIE AU CABINET DENTAIRE </vt:lpstr>
      <vt:lpstr>                    PLAN</vt:lpstr>
      <vt:lpstr>           I/INTRODUCTION</vt:lpstr>
      <vt:lpstr>  II/ACTES A RISQUE HEMORAGIQUE </vt:lpstr>
      <vt:lpstr>II/ACTES A RISQUE HEMORAGIQUE </vt:lpstr>
      <vt:lpstr>II/ACTES A RISQUE HEMORAGIQUE </vt:lpstr>
      <vt:lpstr>II/ACTES A RISQUE HEMORAGIQUE  </vt:lpstr>
      <vt:lpstr>III/DIAGNOSTIC POSITIF  </vt:lpstr>
      <vt:lpstr>III/DIAGNOSTIC POSITIF  </vt:lpstr>
      <vt:lpstr>III/DIAGNOSTIC POSITIF  </vt:lpstr>
      <vt:lpstr>III/DIAGNOSTIC POSITIF  </vt:lpstr>
      <vt:lpstr>III/DIAGNOSTIC POSITIF </vt:lpstr>
      <vt:lpstr>III/DIAGNOSTIC POSITIF </vt:lpstr>
      <vt:lpstr>III/DIAGNOSTIC POSITIF </vt:lpstr>
      <vt:lpstr>III/DIAGNOSTIC POSITIF </vt:lpstr>
      <vt:lpstr>IV/ETIOLOGIES </vt:lpstr>
      <vt:lpstr>IV/ETIOLOGIES</vt:lpstr>
      <vt:lpstr>IV/ETIOLOGIES</vt:lpstr>
      <vt:lpstr>V/TAITEMENT</vt:lpstr>
      <vt:lpstr>   V/TRAITEMENT</vt:lpstr>
      <vt:lpstr>          V/TRAITEMENT</vt:lpstr>
      <vt:lpstr>V/TRAITEMENT</vt:lpstr>
      <vt:lpstr>V/TRAITEMENT</vt:lpstr>
      <vt:lpstr>V/TRAITEMENT</vt:lpstr>
      <vt:lpstr>                     V/TRAITEMENT</vt:lpstr>
      <vt:lpstr>    V/ TRAITEMENT</vt:lpstr>
      <vt:lpstr> V/TRAITEMENT</vt:lpstr>
      <vt:lpstr>V/TRAITEMENT</vt:lpstr>
      <vt:lpstr>             CONCLUSION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HEMMORAGIE</dc:title>
  <dc:creator>User</dc:creator>
  <cp:lastModifiedBy>lenovo</cp:lastModifiedBy>
  <cp:revision>65</cp:revision>
  <dcterms:created xsi:type="dcterms:W3CDTF">2017-03-06T04:35:33Z</dcterms:created>
  <dcterms:modified xsi:type="dcterms:W3CDTF">2025-01-07T21:29:12Z</dcterms:modified>
</cp:coreProperties>
</file>