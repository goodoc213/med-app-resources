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8"/>
  </p:notesMasterIdLst>
  <p:sldIdLst>
    <p:sldId id="341" r:id="rId2"/>
    <p:sldId id="257" r:id="rId3"/>
    <p:sldId id="342" r:id="rId4"/>
    <p:sldId id="343" r:id="rId5"/>
    <p:sldId id="344" r:id="rId6"/>
    <p:sldId id="345" r:id="rId7"/>
    <p:sldId id="346" r:id="rId8"/>
    <p:sldId id="347" r:id="rId9"/>
    <p:sldId id="335" r:id="rId10"/>
    <p:sldId id="350" r:id="rId11"/>
    <p:sldId id="327" r:id="rId12"/>
    <p:sldId id="311" r:id="rId13"/>
    <p:sldId id="333" r:id="rId14"/>
    <p:sldId id="339" r:id="rId15"/>
    <p:sldId id="340" r:id="rId16"/>
    <p:sldId id="331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8966" autoAdjust="0"/>
  </p:normalViewPr>
  <p:slideViewPr>
    <p:cSldViewPr>
      <p:cViewPr varScale="1">
        <p:scale>
          <a:sx n="62" d="100"/>
          <a:sy n="62" d="100"/>
        </p:scale>
        <p:origin x="138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13EE8-3493-4459-8C57-0D5B9AC032AF}" type="datetimeFigureOut">
              <a:rPr lang="fr-FR" smtClean="0"/>
              <a:pPr/>
              <a:t>06/01/2025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49180-C75C-4ACF-B5AB-3B6E00B7D70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8454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dirty="0">
                <a:solidFill>
                  <a:srgbClr val="212529"/>
                </a:solidFill>
                <a:effectLst/>
                <a:latin typeface="Open Sans"/>
              </a:rPr>
              <a:t>Elles démarrent rarement après une heure. </a:t>
            </a:r>
            <a:r>
              <a:rPr lang="fr-FR" sz="1200" b="1" i="0" dirty="0">
                <a:solidFill>
                  <a:srgbClr val="212529"/>
                </a:solidFill>
                <a:effectLst/>
                <a:latin typeface="Open Sans"/>
              </a:rPr>
              <a:t>La respiration peut devenir difficile et un sifflement peut se produire en raison d’un rétrécissement ou d’un gonflement de la gorge et/ou des voies respiratoires.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49180-C75C-4ACF-B5AB-3B6E00B7D702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9431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212529"/>
                </a:solidFill>
                <a:effectLst/>
                <a:latin typeface="Open Sans"/>
              </a:rPr>
              <a:t>Les réactions anaphylactoïdes ressemblent aux réactions anaphylactiques. Toutefois, contrairement aux réactions anaphylactiques, les réactions anaphylactoïdes peuvent se produire dès la première exposition à une substance.</a:t>
            </a:r>
          </a:p>
          <a:p>
            <a:r>
              <a:rPr lang="fr-FR" b="0" i="0" dirty="0">
                <a:solidFill>
                  <a:srgbClr val="212529"/>
                </a:solidFill>
                <a:effectLst/>
                <a:latin typeface="Open Sans"/>
              </a:rPr>
              <a:t>Les réactions anaphylactoïdes ne sont pas non plus des réactions allergiques parce qu’elles ne sont pas induites immunoglobulines E (IgE).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49180-C75C-4ACF-B5AB-3B6E00B7D702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7712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C500-5660-4AD4-A805-5C5E25AE8E10}" type="datetimeFigureOut">
              <a:rPr lang="fr-FR" smtClean="0"/>
              <a:pPr/>
              <a:t>06/01/2025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4A48E-2551-4D82-8DEF-E151406AC7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C500-5660-4AD4-A805-5C5E25AE8E10}" type="datetimeFigureOut">
              <a:rPr lang="fr-FR" smtClean="0"/>
              <a:pPr/>
              <a:t>06/01/2025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4A48E-2551-4D82-8DEF-E151406AC7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C500-5660-4AD4-A805-5C5E25AE8E10}" type="datetimeFigureOut">
              <a:rPr lang="fr-FR" smtClean="0"/>
              <a:pPr/>
              <a:t>06/01/2025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4A48E-2551-4D82-8DEF-E151406AC7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C500-5660-4AD4-A805-5C5E25AE8E10}" type="datetimeFigureOut">
              <a:rPr lang="fr-FR" smtClean="0"/>
              <a:pPr/>
              <a:t>06/01/2025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4A48E-2551-4D82-8DEF-E151406AC7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C500-5660-4AD4-A805-5C5E25AE8E10}" type="datetimeFigureOut">
              <a:rPr lang="fr-FR" smtClean="0"/>
              <a:pPr/>
              <a:t>06/01/2025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4A48E-2551-4D82-8DEF-E151406AC7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C500-5660-4AD4-A805-5C5E25AE8E10}" type="datetimeFigureOut">
              <a:rPr lang="fr-FR" smtClean="0"/>
              <a:pPr/>
              <a:t>06/01/2025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4A48E-2551-4D82-8DEF-E151406AC7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C500-5660-4AD4-A805-5C5E25AE8E10}" type="datetimeFigureOut">
              <a:rPr lang="fr-FR" smtClean="0"/>
              <a:pPr/>
              <a:t>06/01/2025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4A48E-2551-4D82-8DEF-E151406AC7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C500-5660-4AD4-A805-5C5E25AE8E10}" type="datetimeFigureOut">
              <a:rPr lang="fr-FR" smtClean="0"/>
              <a:pPr/>
              <a:t>06/01/2025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4A48E-2551-4D82-8DEF-E151406AC7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C500-5660-4AD4-A805-5C5E25AE8E10}" type="datetimeFigureOut">
              <a:rPr lang="fr-FR" smtClean="0"/>
              <a:pPr/>
              <a:t>06/01/2025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4A48E-2551-4D82-8DEF-E151406AC7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C500-5660-4AD4-A805-5C5E25AE8E10}" type="datetimeFigureOut">
              <a:rPr lang="fr-FR" smtClean="0"/>
              <a:pPr/>
              <a:t>06/01/2025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4A48E-2551-4D82-8DEF-E151406AC7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C500-5660-4AD4-A805-5C5E25AE8E10}" type="datetimeFigureOut">
              <a:rPr lang="fr-FR" smtClean="0"/>
              <a:pPr/>
              <a:t>06/01/2025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4A48E-2551-4D82-8DEF-E151406AC7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FC500-5660-4AD4-A805-5C5E25AE8E10}" type="datetimeFigureOut">
              <a:rPr lang="fr-FR" smtClean="0"/>
              <a:pPr/>
              <a:t>06/01/2025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4A48E-2551-4D82-8DEF-E151406AC7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>
    <p:dissolv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sdmanuals.com/fr/accueil/troubles-cardiaques-et-vasculaires/hypotension-art%C3%A9rielle-et-choc/cho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sdmanuals.com/fr/accueil/troubles-immunitaires/r%C3%A9actions-allergiques-et-autres-troubles-d-hypersensibilit%C3%A9/angi%C5%93d%C3%A8me" TargetMode="External"/><Relationship Id="rId4" Type="http://schemas.openxmlformats.org/officeDocument/2006/relationships/hyperlink" Target="https://www.msdmanuals.com/fr/accueil/troubles-cutan%C3%A9s/prurit-et-dermatite/urticaire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fr-FR" b="1" dirty="0">
                <a:solidFill>
                  <a:srgbClr val="EE0000"/>
                </a:solidFill>
              </a:rPr>
              <a:t>DR S.BELLAHDID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E997470-8E77-3C66-97F1-17613630F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512" y="260648"/>
            <a:ext cx="8792004" cy="6153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6322798F-56A9-2E86-DA4B-C7E164250B91}"/>
              </a:ext>
            </a:extLst>
          </p:cNvPr>
          <p:cNvSpPr txBox="1">
            <a:spLocks/>
          </p:cNvSpPr>
          <p:nvPr/>
        </p:nvSpPr>
        <p:spPr>
          <a:xfrm>
            <a:off x="179512" y="2971800"/>
            <a:ext cx="8792004" cy="108012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solidFill>
                  <a:srgbClr val="FF0000"/>
                </a:solidFill>
              </a:rPr>
              <a:t>CHOC ANAPHYLACTIQUE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CA2218EE-592C-B69C-2CD0-B98D8045F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4168" y="5373216"/>
            <a:ext cx="2734072" cy="86409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fr-FR" sz="2000" b="1" dirty="0">
                <a:solidFill>
                  <a:srgbClr val="EE0000"/>
                </a:solidFill>
              </a:rPr>
              <a:t>DR S.BELLAHDID</a:t>
            </a:r>
            <a:br>
              <a:rPr lang="fr-FR" sz="2000" b="1" dirty="0">
                <a:solidFill>
                  <a:srgbClr val="EE0000"/>
                </a:solidFill>
              </a:rPr>
            </a:br>
            <a:r>
              <a:rPr lang="fr-FR" sz="1300" b="1" dirty="0">
                <a:solidFill>
                  <a:srgbClr val="EE0000"/>
                </a:solidFill>
              </a:rPr>
              <a:t>REANIMATION MEDICALE </a:t>
            </a:r>
            <a:br>
              <a:rPr lang="fr-FR" sz="1300" b="1" dirty="0">
                <a:solidFill>
                  <a:srgbClr val="EE0000"/>
                </a:solidFill>
              </a:rPr>
            </a:br>
            <a:r>
              <a:rPr lang="fr-FR" sz="1300" b="1" dirty="0">
                <a:solidFill>
                  <a:srgbClr val="EE0000"/>
                </a:solidFill>
              </a:rPr>
              <a:t>CHU MUSTAPHA </a:t>
            </a:r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071570"/>
          </a:xfr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         </a:t>
            </a:r>
            <a:r>
              <a:rPr lang="fr-FR" b="1" dirty="0">
                <a:solidFill>
                  <a:srgbClr val="EE0000"/>
                </a:solidFill>
              </a:rPr>
              <a:t>PLAN DU COURS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429288"/>
          </a:xfrm>
          <a:noFill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EE0000"/>
                </a:solidFill>
              </a:rPr>
              <a:t>I-INTRODUCTION</a:t>
            </a:r>
          </a:p>
          <a:p>
            <a:pPr>
              <a:buNone/>
            </a:pPr>
            <a:r>
              <a:rPr lang="fr-FR" b="1" dirty="0">
                <a:solidFill>
                  <a:srgbClr val="EE0000"/>
                </a:solidFill>
              </a:rPr>
              <a:t>II-DEFINITION</a:t>
            </a:r>
          </a:p>
          <a:p>
            <a:pPr>
              <a:buNone/>
            </a:pPr>
            <a:r>
              <a:rPr lang="fr-FR" b="1" dirty="0">
                <a:solidFill>
                  <a:srgbClr val="EE0000"/>
                </a:solidFill>
              </a:rPr>
              <a:t>III-CLINIQUE</a:t>
            </a:r>
          </a:p>
          <a:p>
            <a:pPr>
              <a:buNone/>
            </a:pPr>
            <a:r>
              <a:rPr lang="fr-FR" b="1" dirty="0">
                <a:solidFill>
                  <a:srgbClr val="EE0000"/>
                </a:solidFill>
              </a:rPr>
              <a:t>III-PRISE EN CHARGE</a:t>
            </a:r>
          </a:p>
          <a:p>
            <a:pPr>
              <a:buNone/>
            </a:pPr>
            <a:r>
              <a:rPr lang="fr-FR" b="1" dirty="0">
                <a:solidFill>
                  <a:srgbClr val="EE0000"/>
                </a:solidFill>
              </a:rPr>
              <a:t>   a/Traitements généraux </a:t>
            </a:r>
          </a:p>
          <a:p>
            <a:pPr>
              <a:buNone/>
            </a:pPr>
            <a:r>
              <a:rPr lang="fr-FR" b="1" dirty="0">
                <a:solidFill>
                  <a:srgbClr val="EE0000"/>
                </a:solidFill>
              </a:rPr>
              <a:t>    b/Traitements en fonction du stade clinique.</a:t>
            </a:r>
          </a:p>
          <a:p>
            <a:pPr>
              <a:buNone/>
            </a:pPr>
            <a:r>
              <a:rPr lang="fr-FR" b="1" dirty="0">
                <a:solidFill>
                  <a:srgbClr val="EE0000"/>
                </a:solidFill>
              </a:rPr>
              <a:t> V-CONCLUSION</a:t>
            </a:r>
          </a:p>
        </p:txBody>
      </p:sp>
    </p:spTree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B9B702-AE54-4371-6FD6-585473AF8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EE0000"/>
                </a:solidFill>
              </a:rPr>
              <a:t>INTRODUCTION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A6925E-EF69-C059-6DD8-19D3EC55E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b="0" i="0" dirty="0">
                <a:solidFill>
                  <a:srgbClr val="000000"/>
                </a:solidFill>
                <a:effectLst/>
                <a:latin typeface="Helvetica Neue"/>
              </a:rPr>
              <a:t>Certaines réactions</a:t>
            </a:r>
            <a:r>
              <a:rPr lang="fr-FR" dirty="0">
                <a:solidFill>
                  <a:srgbClr val="000000"/>
                </a:solidFill>
                <a:latin typeface="Helvetica Neue"/>
              </a:rPr>
              <a:t> allergiques peuvent survenir au cabinet dentaire.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Elles peuvent être </a:t>
            </a:r>
            <a:r>
              <a:rPr lang="fr-FR" b="0" i="0" dirty="0">
                <a:solidFill>
                  <a:srgbClr val="000000"/>
                </a:solidFill>
                <a:effectLst/>
                <a:latin typeface="Helvetica Neue"/>
              </a:rPr>
              <a:t> mineures et bénignes ou être graves grevé de mauvais pronostic vital 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Le choc anaphylactique est une urgence diagnostique et thérapeutique . </a:t>
            </a:r>
            <a:endParaRPr lang="fr-FR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4077609"/>
      </p:ext>
    </p:extLst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3BF479-7161-22C8-D7F0-143C7B77D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EE0000"/>
                </a:solidFill>
              </a:rPr>
              <a:t>INTRODUCTION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2BA880-1240-877D-3584-963FF8C49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b="0" i="0" dirty="0">
                <a:solidFill>
                  <a:srgbClr val="000000"/>
                </a:solidFill>
                <a:effectLst/>
                <a:latin typeface="Helvetica Neue"/>
              </a:rPr>
              <a:t>Chaque praticien doit connaître les risques inhérents aux produits et aux matériels qu’il utilise </a:t>
            </a:r>
            <a:endParaRPr lang="fr-FR" dirty="0">
              <a:solidFill>
                <a:srgbClr val="000000"/>
              </a:solidFill>
              <a:latin typeface="Helvetica Neue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ET doit </a:t>
            </a:r>
            <a:r>
              <a:rPr lang="fr-FR" b="0" i="0" dirty="0">
                <a:solidFill>
                  <a:srgbClr val="000000"/>
                </a:solidFill>
                <a:effectLst/>
                <a:latin typeface="Helvetica Neue"/>
              </a:rPr>
              <a:t>être capable  de prendre en charge  un patient présentant une réaction allergique grave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Car le retard de prise en charge est responsable de surmortalité.</a:t>
            </a:r>
          </a:p>
          <a:p>
            <a:pPr marL="0" indent="0">
              <a:buNone/>
            </a:pPr>
            <a:endParaRPr lang="fr-FR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6955890"/>
      </p:ext>
    </p:extLst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9F20A6-1E0A-DB7D-2D8B-0556784BB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EE0000"/>
                </a:solidFill>
              </a:rPr>
              <a:t>DEFINITIONS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070DCE-703D-1E14-A147-C2FE60F7A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L’allergie est </a:t>
            </a:r>
            <a:r>
              <a:rPr lang="fr-FR" b="0" i="0" dirty="0">
                <a:solidFill>
                  <a:srgbClr val="000000"/>
                </a:solidFill>
                <a:effectLst/>
                <a:latin typeface="Helvetica Neue"/>
              </a:rPr>
              <a:t> </a:t>
            </a:r>
          </a:p>
          <a:p>
            <a:pPr marL="0" indent="0">
              <a:buNone/>
            </a:pPr>
            <a:r>
              <a:rPr lang="fr-FR" b="0" i="0" dirty="0">
                <a:solidFill>
                  <a:srgbClr val="000000"/>
                </a:solidFill>
                <a:effectLst/>
                <a:latin typeface="Helvetica Neue"/>
              </a:rPr>
              <a:t>« </a:t>
            </a:r>
            <a:r>
              <a:rPr lang="fr-FR" b="1" i="1" dirty="0">
                <a:solidFill>
                  <a:srgbClr val="00B050"/>
                </a:solidFill>
                <a:effectLst/>
                <a:latin typeface="Helvetica Neue"/>
              </a:rPr>
              <a:t>une réaction anormalement forte vis-à-vis d’une substance, généralement étrangère à l’organisme et normalement inoffensive qu’on appelle alors allergène</a:t>
            </a:r>
            <a:r>
              <a:rPr lang="fr-FR" b="1" i="0" dirty="0">
                <a:solidFill>
                  <a:srgbClr val="00B050"/>
                </a:solidFill>
                <a:effectLst/>
                <a:latin typeface="Helvetica Neue"/>
              </a:rPr>
              <a:t> </a:t>
            </a:r>
            <a:r>
              <a:rPr lang="fr-FR" b="0" i="0" dirty="0">
                <a:solidFill>
                  <a:srgbClr val="000000"/>
                </a:solidFill>
                <a:effectLst/>
                <a:latin typeface="Helvetica Neue"/>
              </a:rPr>
              <a:t>». </a:t>
            </a:r>
            <a:endParaRPr lang="fr-FR" dirty="0">
              <a:solidFill>
                <a:srgbClr val="000000"/>
              </a:solidFill>
              <a:latin typeface="Helvetica Neue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b="0" i="0" dirty="0">
                <a:solidFill>
                  <a:srgbClr val="000000"/>
                </a:solidFill>
                <a:effectLst/>
                <a:latin typeface="Helvetica Neue"/>
              </a:rPr>
              <a:t>Elle est également appelée réaction </a:t>
            </a:r>
            <a:r>
              <a:rPr lang="fr-FR" b="1" i="0" dirty="0">
                <a:solidFill>
                  <a:srgbClr val="00B050"/>
                </a:solidFill>
                <a:effectLst/>
                <a:latin typeface="Helvetica Neue"/>
              </a:rPr>
              <a:t>d’hypersensibilité.</a:t>
            </a:r>
            <a:endParaRPr lang="fr-FR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977811"/>
      </p:ext>
    </p:extLst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690388-2186-8678-13B9-F0D29A87B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8661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b="1" i="1" dirty="0">
                <a:solidFill>
                  <a:schemeClr val="tx1"/>
                </a:solidFill>
              </a:rPr>
              <a:t>C’est une faillite circulatoire, après pénétration d’un allergène, chez un sujet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     préalablement sensibilisé, entraînant une </a:t>
            </a:r>
            <a:r>
              <a:rPr lang="fr-FR" b="1" dirty="0">
                <a:solidFill>
                  <a:schemeClr val="tx1"/>
                </a:solidFill>
              </a:rPr>
              <a:t>vasoplégie.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EE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Etat de Choc anaphylactique</a:t>
            </a:r>
            <a: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 souffrance cellulaire par:</a:t>
            </a:r>
          </a:p>
          <a:p>
            <a:pPr marL="755650" lvl="1"/>
            <a:r>
              <a:rPr lang="fr-FR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éfaut de perfusion tissulaire à l’origine d’un manque d’apport d’oxygène (hypoxie cellulaire) et/ou</a:t>
            </a:r>
          </a:p>
          <a:p>
            <a:pPr marL="755650" lvl="1"/>
            <a:r>
              <a:rPr lang="fr-FR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éfaut de production d’ATP (carence énergétique)</a:t>
            </a:r>
          </a:p>
          <a:p>
            <a:pPr marL="41275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EE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Collapsus</a:t>
            </a:r>
            <a: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= chute importante et brutale de la TA </a:t>
            </a:r>
            <a:r>
              <a:rPr lang="fr-F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 </a:t>
            </a:r>
          </a:p>
          <a:p>
            <a:pPr marL="755650" lvl="1"/>
            <a:endParaRPr lang="fr-FR" sz="2400" b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755650" lvl="1"/>
            <a:endParaRPr lang="fr-FR" sz="2400" b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buNone/>
            </a:pPr>
            <a:endParaRPr lang="fr-FR" b="1" dirty="0">
              <a:solidFill>
                <a:schemeClr val="tx1"/>
              </a:solidFill>
            </a:endParaRPr>
          </a:p>
          <a:p>
            <a:pPr>
              <a:buNone/>
            </a:pPr>
            <a:endParaRPr lang="fr-FR" b="1" dirty="0">
              <a:solidFill>
                <a:schemeClr val="tx1"/>
              </a:solidFill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B22A9FF-7017-79FA-48D5-6F4A1C13E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fr-FR" b="1" dirty="0">
                <a:solidFill>
                  <a:srgbClr val="EE0000"/>
                </a:solidFill>
              </a:rPr>
              <a:t>DEFINITIONS </a:t>
            </a:r>
          </a:p>
        </p:txBody>
      </p:sp>
    </p:spTree>
    <p:extLst>
      <p:ext uri="{BB962C8B-B14F-4D97-AF65-F5344CB8AC3E}">
        <p14:creationId xmlns:p14="http://schemas.microsoft.com/office/powerpoint/2010/main" val="707937162"/>
      </p:ext>
    </p:extLst>
  </p:cSld>
  <p:clrMapOvr>
    <a:masterClrMapping/>
  </p:clrMapOvr>
  <p:transition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A6EF08-7632-4CA8-3CF5-452A58E1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fr-FR" sz="2400" b="1" dirty="0">
                <a:solidFill>
                  <a:srgbClr val="EE0000"/>
                </a:solidFill>
                <a:latin typeface="Open Sans"/>
              </a:rPr>
              <a:t>CAUSES DES REACTIONS ANAPHYLACTIQUES</a:t>
            </a:r>
            <a:endParaRPr lang="fr-FR" sz="2400" b="1" dirty="0">
              <a:solidFill>
                <a:srgbClr val="EE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3B38E9-3837-A199-C980-B02E7DC90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endParaRPr lang="fr-FR" b="1" i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b="1" i="1" dirty="0">
                <a:effectLst/>
              </a:rPr>
              <a:t>En générale</a:t>
            </a:r>
            <a:r>
              <a:rPr lang="fr-FR" b="1" i="1" dirty="0"/>
              <a:t> </a:t>
            </a:r>
            <a:r>
              <a:rPr lang="fr-FR" b="1" dirty="0">
                <a:solidFill>
                  <a:srgbClr val="000000"/>
                </a:solidFill>
              </a:rPr>
              <a:t>les </a:t>
            </a:r>
            <a:r>
              <a:rPr lang="fr-FR" b="1" i="0" dirty="0">
                <a:solidFill>
                  <a:srgbClr val="000000"/>
                </a:solidFill>
                <a:effectLst/>
              </a:rPr>
              <a:t> médicaments, le matériel ou </a:t>
            </a:r>
            <a:r>
              <a:rPr lang="fr-FR" b="1" dirty="0">
                <a:solidFill>
                  <a:srgbClr val="000000"/>
                </a:solidFill>
              </a:rPr>
              <a:t> </a:t>
            </a:r>
            <a:r>
              <a:rPr lang="fr-FR" b="1" i="0" dirty="0">
                <a:solidFill>
                  <a:srgbClr val="000000"/>
                </a:solidFill>
                <a:effectLst/>
              </a:rPr>
              <a:t>un produit particulier utilisés </a:t>
            </a:r>
            <a:r>
              <a:rPr lang="fr-FR" b="1" dirty="0">
                <a:solidFill>
                  <a:srgbClr val="000000"/>
                </a:solidFill>
              </a:rPr>
              <a:t>sont à l’origine des  </a:t>
            </a:r>
            <a:r>
              <a:rPr lang="fr-FR" b="1" i="0" dirty="0">
                <a:solidFill>
                  <a:srgbClr val="000000"/>
                </a:solidFill>
                <a:effectLst/>
              </a:rPr>
              <a:t>réactions d’hypersensibilité.</a:t>
            </a:r>
            <a:r>
              <a:rPr lang="fr-FR" b="0" i="0" dirty="0">
                <a:solidFill>
                  <a:srgbClr val="212529"/>
                </a:solidFill>
                <a:effectLst/>
                <a:latin typeface="Open Sans"/>
              </a:rPr>
              <a:t> </a:t>
            </a:r>
          </a:p>
          <a:p>
            <a:pPr marL="0" indent="0" algn="l">
              <a:spcAft>
                <a:spcPts val="375"/>
              </a:spcAft>
              <a:buNone/>
            </a:pPr>
            <a:r>
              <a:rPr lang="fr-FR" sz="3100" dirty="0">
                <a:solidFill>
                  <a:srgbClr val="212529"/>
                </a:solidFill>
                <a:latin typeface="+mj-lt"/>
              </a:rPr>
              <a:t>Les réactions anaphylactiques sont </a:t>
            </a:r>
            <a:r>
              <a:rPr lang="fr-FR" sz="3100" b="0" i="0" dirty="0">
                <a:solidFill>
                  <a:srgbClr val="212529"/>
                </a:solidFill>
                <a:effectLst/>
                <a:latin typeface="+mj-lt"/>
              </a:rPr>
              <a:t> souvent causées </a:t>
            </a:r>
            <a:r>
              <a:rPr lang="fr-FR" b="0" i="0" dirty="0">
                <a:solidFill>
                  <a:srgbClr val="212529"/>
                </a:solidFill>
                <a:effectLst/>
                <a:latin typeface="Open Sans"/>
              </a:rPr>
              <a:t>par :</a:t>
            </a:r>
          </a:p>
          <a:p>
            <a:pPr algn="l">
              <a:spcAft>
                <a:spcPts val="375"/>
              </a:spcAft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rgbClr val="00B050"/>
                </a:solidFill>
                <a:effectLst/>
                <a:latin typeface="Open Sans"/>
              </a:rPr>
              <a:t>Médicaments :</a:t>
            </a:r>
            <a:r>
              <a:rPr lang="fr-FR" b="1" dirty="0">
                <a:solidFill>
                  <a:srgbClr val="00B050"/>
                </a:solidFill>
                <a:latin typeface="Open Sans"/>
              </a:rPr>
              <a:t> </a:t>
            </a:r>
          </a:p>
          <a:p>
            <a:pPr marL="0" indent="0" algn="l">
              <a:spcAft>
                <a:spcPts val="375"/>
              </a:spcAft>
              <a:buNone/>
            </a:pPr>
            <a:r>
              <a:rPr lang="fr-FR" dirty="0">
                <a:solidFill>
                  <a:srgbClr val="212529"/>
                </a:solidFill>
                <a:latin typeface="Open Sans"/>
              </a:rPr>
              <a:t>          ex :</a:t>
            </a:r>
            <a:r>
              <a:rPr lang="fr-FR" b="0" i="0" dirty="0">
                <a:solidFill>
                  <a:srgbClr val="212529"/>
                </a:solidFill>
                <a:effectLst/>
                <a:latin typeface="Open Sans"/>
              </a:rPr>
              <a:t>la pénicilline</a:t>
            </a:r>
          </a:p>
          <a:p>
            <a:pPr marL="0" indent="0" algn="l">
              <a:spcAft>
                <a:spcPts val="375"/>
              </a:spcAft>
              <a:buNone/>
            </a:pPr>
            <a:r>
              <a:rPr lang="fr-FR" dirty="0">
                <a:solidFill>
                  <a:srgbClr val="212529"/>
                </a:solidFill>
                <a:latin typeface="Open Sans"/>
              </a:rPr>
              <a:t>            Les haptènes :</a:t>
            </a:r>
            <a:r>
              <a:rPr lang="fr-FR" dirty="0" err="1">
                <a:solidFill>
                  <a:srgbClr val="212529"/>
                </a:solidFill>
                <a:latin typeface="Open Sans"/>
              </a:rPr>
              <a:t>anésthesiques</a:t>
            </a:r>
            <a:r>
              <a:rPr lang="fr-FR" dirty="0">
                <a:solidFill>
                  <a:srgbClr val="212529"/>
                </a:solidFill>
                <a:latin typeface="Open Sans"/>
              </a:rPr>
              <a:t> locaux ++</a:t>
            </a:r>
            <a:endParaRPr lang="fr-FR" b="0" i="0" dirty="0">
              <a:solidFill>
                <a:srgbClr val="212529"/>
              </a:solidFill>
              <a:effectLst/>
              <a:latin typeface="Open Sans"/>
            </a:endParaRPr>
          </a:p>
          <a:p>
            <a:pPr algn="l">
              <a:spcAft>
                <a:spcPts val="375"/>
              </a:spcAft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rgbClr val="00B050"/>
                </a:solidFill>
                <a:effectLst/>
                <a:latin typeface="Open Sans"/>
              </a:rPr>
              <a:t>Piqûres d’insectes et venins</a:t>
            </a:r>
          </a:p>
          <a:p>
            <a:pPr algn="l">
              <a:spcAft>
                <a:spcPts val="375"/>
              </a:spcAft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rgbClr val="00B050"/>
                </a:solidFill>
                <a:effectLst/>
                <a:latin typeface="Open Sans"/>
              </a:rPr>
              <a:t>Certains aliments </a:t>
            </a:r>
            <a:r>
              <a:rPr lang="fr-FR" dirty="0">
                <a:solidFill>
                  <a:srgbClr val="212529"/>
                </a:solidFill>
                <a:latin typeface="Open Sans"/>
              </a:rPr>
              <a:t>:</a:t>
            </a:r>
          </a:p>
          <a:p>
            <a:pPr marL="0" indent="0" algn="l">
              <a:spcAft>
                <a:spcPts val="375"/>
              </a:spcAft>
              <a:buNone/>
            </a:pPr>
            <a:r>
              <a:rPr lang="fr-FR" b="0" i="0" dirty="0">
                <a:solidFill>
                  <a:srgbClr val="212529"/>
                </a:solidFill>
                <a:effectLst/>
                <a:latin typeface="Open Sans"/>
              </a:rPr>
              <a:t>     les œufs, les fruits de mer et les noix </a:t>
            </a:r>
          </a:p>
          <a:p>
            <a:pPr algn="l">
              <a:spcAft>
                <a:spcPts val="375"/>
              </a:spcAft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rgbClr val="00B050"/>
                </a:solidFill>
                <a:effectLst/>
                <a:latin typeface="Open Sans"/>
              </a:rPr>
              <a:t>Latex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b="1" i="1" dirty="0">
              <a:solidFill>
                <a:schemeClr val="tx1"/>
              </a:solidFill>
            </a:endParaRPr>
          </a:p>
          <a:p>
            <a:pPr>
              <a:buNone/>
            </a:pPr>
            <a:endParaRPr lang="fr-FR" b="1" i="1" dirty="0">
              <a:solidFill>
                <a:schemeClr val="tx1"/>
              </a:solidFill>
            </a:endParaRPr>
          </a:p>
          <a:p>
            <a:endParaRPr lang="fr-FR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endParaRPr lang="fr-FR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endParaRPr lang="fr-FR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0025362"/>
      </p:ext>
    </p:extLst>
  </p:cSld>
  <p:clrMapOvr>
    <a:masterClrMapping/>
  </p:clrMapOvr>
  <p:transition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B98C7A-D3AA-757F-E781-37CB1D098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EE0000"/>
                </a:solidFill>
              </a:rPr>
              <a:t>PHYSIOPATHOLOGIE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6F60EE-2BFE-D6CA-B0EB-5D10CF263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spcAft>
                <a:spcPts val="750"/>
              </a:spcAft>
              <a:buNone/>
            </a:pPr>
            <a:r>
              <a:rPr lang="fr-FR" b="1" i="0" dirty="0">
                <a:solidFill>
                  <a:srgbClr val="000000"/>
                </a:solidFill>
                <a:effectLst/>
                <a:latin typeface="+mj-lt"/>
              </a:rPr>
              <a:t>On distingue </a:t>
            </a:r>
            <a:r>
              <a:rPr lang="fr-FR" b="1" dirty="0">
                <a:solidFill>
                  <a:srgbClr val="000000"/>
                </a:solidFill>
                <a:latin typeface="+mj-lt"/>
              </a:rPr>
              <a:t>4 </a:t>
            </a:r>
            <a:r>
              <a:rPr lang="fr-FR" b="1" i="0" dirty="0">
                <a:solidFill>
                  <a:srgbClr val="000000"/>
                </a:solidFill>
                <a:effectLst/>
                <a:latin typeface="+mj-lt"/>
              </a:rPr>
              <a:t>types d’hypersensibilités </a:t>
            </a:r>
          </a:p>
          <a:p>
            <a:pPr marL="0" indent="0" algn="l">
              <a:spcAft>
                <a:spcPts val="750"/>
              </a:spcAft>
              <a:buNone/>
            </a:pPr>
            <a:r>
              <a:rPr lang="fr-FR" b="1" i="1" dirty="0">
                <a:solidFill>
                  <a:srgbClr val="000000"/>
                </a:solidFill>
                <a:effectLst/>
              </a:rPr>
              <a:t>(classification de </a:t>
            </a:r>
            <a:r>
              <a:rPr lang="fr-FR" b="1" i="1" dirty="0" err="1">
                <a:solidFill>
                  <a:srgbClr val="000000"/>
                </a:solidFill>
                <a:effectLst/>
              </a:rPr>
              <a:t>Gell</a:t>
            </a:r>
            <a:r>
              <a:rPr lang="fr-FR" b="1" i="1" dirty="0">
                <a:solidFill>
                  <a:srgbClr val="000000"/>
                </a:solidFill>
                <a:effectLst/>
              </a:rPr>
              <a:t> et Combs) :</a:t>
            </a:r>
          </a:p>
          <a:p>
            <a:pPr marL="0" indent="0" algn="l">
              <a:spcAft>
                <a:spcPts val="750"/>
              </a:spcAft>
              <a:buNone/>
            </a:pPr>
            <a:r>
              <a:rPr lang="fr-FR" sz="2800" b="1" i="1" dirty="0">
                <a:solidFill>
                  <a:srgbClr val="000000"/>
                </a:solidFill>
                <a:effectLst/>
              </a:rPr>
              <a:t> </a:t>
            </a:r>
            <a:r>
              <a:rPr lang="fr-FR" sz="2800" b="1" i="1" dirty="0">
                <a:solidFill>
                  <a:srgbClr val="EE0000"/>
                </a:solidFill>
              </a:rPr>
              <a:t>T</a:t>
            </a:r>
            <a:r>
              <a:rPr lang="fr-FR" sz="2800" b="1" i="1" dirty="0">
                <a:solidFill>
                  <a:srgbClr val="EE0000"/>
                </a:solidFill>
                <a:effectLst/>
              </a:rPr>
              <a:t>ype I : </a:t>
            </a:r>
            <a:r>
              <a:rPr lang="fr-FR" sz="2800" b="1" i="1" dirty="0">
                <a:solidFill>
                  <a:srgbClr val="000000"/>
                </a:solidFill>
                <a:effectLst/>
              </a:rPr>
              <a:t>hypersensibilité immédiate mettant en jeu les immunoglobulines E (IgE) ;</a:t>
            </a:r>
          </a:p>
          <a:p>
            <a:pPr marL="0" indent="0" algn="l">
              <a:spcAft>
                <a:spcPts val="750"/>
              </a:spcAft>
              <a:buNone/>
            </a:pPr>
            <a:r>
              <a:rPr lang="fr-FR" sz="2800" b="1" i="1" dirty="0">
                <a:solidFill>
                  <a:srgbClr val="EE0000"/>
                </a:solidFill>
              </a:rPr>
              <a:t>T</a:t>
            </a:r>
            <a:r>
              <a:rPr lang="fr-FR" sz="2800" b="1" i="1" dirty="0">
                <a:solidFill>
                  <a:srgbClr val="EE0000"/>
                </a:solidFill>
                <a:effectLst/>
              </a:rPr>
              <a:t>ype II </a:t>
            </a:r>
            <a:r>
              <a:rPr lang="fr-FR" sz="2800" b="1" i="1" dirty="0">
                <a:solidFill>
                  <a:srgbClr val="000000"/>
                </a:solidFill>
                <a:effectLst/>
              </a:rPr>
              <a:t>: hypersensibilité par cytotoxicité </a:t>
            </a:r>
          </a:p>
          <a:p>
            <a:pPr marL="0" indent="0" algn="l">
              <a:spcAft>
                <a:spcPts val="750"/>
              </a:spcAft>
              <a:buNone/>
            </a:pPr>
            <a:r>
              <a:rPr lang="fr-FR" sz="2800" b="1" i="1" dirty="0">
                <a:solidFill>
                  <a:srgbClr val="EE0000"/>
                </a:solidFill>
              </a:rPr>
              <a:t>T</a:t>
            </a:r>
            <a:r>
              <a:rPr lang="fr-FR" sz="2800" b="1" i="1" dirty="0">
                <a:solidFill>
                  <a:srgbClr val="EE0000"/>
                </a:solidFill>
                <a:effectLst/>
              </a:rPr>
              <a:t>ype III </a:t>
            </a:r>
            <a:r>
              <a:rPr lang="fr-FR" sz="2800" b="1" i="1" dirty="0">
                <a:solidFill>
                  <a:srgbClr val="000000"/>
                </a:solidFill>
                <a:effectLst/>
              </a:rPr>
              <a:t>: hypersensibilité par complexes immuns </a:t>
            </a:r>
          </a:p>
          <a:p>
            <a:pPr marL="0" indent="0" algn="l">
              <a:spcAft>
                <a:spcPts val="750"/>
              </a:spcAft>
              <a:buNone/>
            </a:pPr>
            <a:r>
              <a:rPr lang="fr-FR" sz="2800" b="1" i="1" dirty="0">
                <a:solidFill>
                  <a:srgbClr val="EE0000"/>
                </a:solidFill>
              </a:rPr>
              <a:t>T</a:t>
            </a:r>
            <a:r>
              <a:rPr lang="fr-FR" sz="2800" b="1" i="1" dirty="0">
                <a:solidFill>
                  <a:srgbClr val="EE0000"/>
                </a:solidFill>
                <a:effectLst/>
              </a:rPr>
              <a:t>ype IV </a:t>
            </a:r>
            <a:r>
              <a:rPr lang="fr-FR" sz="2800" b="1" i="1" dirty="0">
                <a:solidFill>
                  <a:srgbClr val="000000"/>
                </a:solidFill>
                <a:effectLst/>
              </a:rPr>
              <a:t>: hypersensibilité retardée</a:t>
            </a:r>
          </a:p>
          <a:p>
            <a:pPr marL="0" indent="0">
              <a:spcAft>
                <a:spcPts val="750"/>
              </a:spcAft>
              <a:buNone/>
            </a:pPr>
            <a:r>
              <a:rPr lang="fr-FR" sz="2800" b="1" i="1" dirty="0">
                <a:solidFill>
                  <a:schemeClr val="tx1"/>
                </a:solidFill>
              </a:rPr>
              <a:t> Le mécanisme physiopathologique de base est une Dégranulation des mastocytes et des PN basophiles → Histamine</a:t>
            </a:r>
          </a:p>
          <a:p>
            <a:pPr marL="0" indent="0" algn="l">
              <a:spcAft>
                <a:spcPts val="750"/>
              </a:spcAft>
              <a:buNone/>
            </a:pPr>
            <a:endParaRPr lang="fr-FR" sz="2800" b="0" i="0" dirty="0">
              <a:solidFill>
                <a:srgbClr val="000000"/>
              </a:solidFill>
              <a:effectLst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8765319"/>
      </p:ext>
    </p:extLst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CHOC ANAPHYLACTIQUE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428736"/>
            <a:ext cx="8143932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A0BBE0-D721-242C-AABB-56A02BEEF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fr-FR" b="1" dirty="0">
                <a:solidFill>
                  <a:srgbClr val="EE0000"/>
                </a:solidFill>
              </a:rPr>
              <a:t>CLINIQUE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403060-5025-6707-783B-FBCED02DB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2400" b="1" i="0" dirty="0">
                <a:solidFill>
                  <a:srgbClr val="212529"/>
                </a:solidFill>
                <a:effectLst/>
                <a:latin typeface=" calibri"/>
              </a:rPr>
              <a:t>Les réactions anaphylactiques et anaphylactoïdes surviennent le </a:t>
            </a:r>
            <a:r>
              <a:rPr lang="fr-FR" sz="2400" b="1" i="0" u="sng" dirty="0">
                <a:solidFill>
                  <a:srgbClr val="00B050"/>
                </a:solidFill>
                <a:effectLst/>
                <a:latin typeface=" calibri"/>
              </a:rPr>
              <a:t>plus souvent dans les 15 minutes </a:t>
            </a:r>
            <a:r>
              <a:rPr lang="fr-FR" sz="2400" b="1" i="0" dirty="0">
                <a:solidFill>
                  <a:srgbClr val="212529"/>
                </a:solidFill>
                <a:effectLst/>
                <a:latin typeface=" calibri"/>
              </a:rPr>
              <a:t>suivant l’exposition au déclencheur</a:t>
            </a:r>
            <a:r>
              <a:rPr lang="fr-FR" sz="2400" b="0" i="0" dirty="0">
                <a:solidFill>
                  <a:srgbClr val="212529"/>
                </a:solidFill>
                <a:effectLst/>
                <a:latin typeface="Open Sans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b="1" i="0" dirty="0">
                <a:solidFill>
                  <a:srgbClr val="212529"/>
                </a:solidFill>
                <a:effectLst/>
                <a:latin typeface="Open Sans"/>
              </a:rPr>
              <a:t>La personne peut ressentir un malaise et devenir agitée.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212529"/>
                </a:solidFill>
                <a:latin typeface="Open Sans"/>
              </a:rPr>
              <a:t>Chute de </a:t>
            </a:r>
            <a:r>
              <a:rPr lang="fr-FR" sz="2000" b="1" i="0" dirty="0">
                <a:solidFill>
                  <a:srgbClr val="212529"/>
                </a:solidFill>
                <a:effectLst/>
                <a:latin typeface="Open Sans"/>
              </a:rPr>
              <a:t> tension artérielle  provoquant un évanouissement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b="1" u="sng" dirty="0">
                <a:solidFill>
                  <a:srgbClr val="212529"/>
                </a:solidFill>
                <a:latin typeface="Open Sans"/>
                <a:hlinkClick r:id="rId3"/>
              </a:rPr>
              <a:t>E</a:t>
            </a:r>
            <a:r>
              <a:rPr lang="fr-FR" sz="2000" b="1" i="0" u="sng" dirty="0">
                <a:solidFill>
                  <a:srgbClr val="B12E32"/>
                </a:solidFill>
                <a:effectLst/>
                <a:latin typeface="Open Sans"/>
                <a:hlinkClick r:id="rId3"/>
              </a:rPr>
              <a:t>tat de choc</a:t>
            </a:r>
            <a:r>
              <a:rPr lang="fr-FR" sz="2000" b="1" i="0" dirty="0">
                <a:solidFill>
                  <a:srgbClr val="212529"/>
                </a:solidFill>
                <a:effectLst/>
                <a:latin typeface="Open Sans"/>
              </a:rPr>
              <a:t>. </a:t>
            </a:r>
            <a:endParaRPr lang="fr-FR" sz="2000" b="1" dirty="0">
              <a:solidFill>
                <a:srgbClr val="212529"/>
              </a:solidFill>
              <a:latin typeface="Open Sans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212529"/>
                </a:solidFill>
                <a:latin typeface="Open Sans"/>
              </a:rPr>
              <a:t>S</a:t>
            </a:r>
            <a:r>
              <a:rPr lang="fr-FR" sz="2000" b="1" i="0" dirty="0">
                <a:solidFill>
                  <a:srgbClr val="212529"/>
                </a:solidFill>
                <a:effectLst/>
                <a:latin typeface="Open Sans"/>
              </a:rPr>
              <a:t>ensation de vertige, une rougeur cutanée prurigineuse, une toux, un écoulement nasal, des éternuements.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b="1" i="0" dirty="0">
                <a:solidFill>
                  <a:srgbClr val="212529"/>
                </a:solidFill>
                <a:effectLst/>
                <a:latin typeface="Open Sans"/>
              </a:rPr>
              <a:t> 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Open Sans"/>
              </a:rPr>
              <a:t>U</a:t>
            </a:r>
            <a:r>
              <a:rPr lang="fr-FR" sz="2000" b="1" i="0" u="sng" dirty="0">
                <a:solidFill>
                  <a:srgbClr val="0070C0"/>
                </a:solidFill>
                <a:effectLst/>
                <a:latin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rticaire</a:t>
            </a:r>
            <a:r>
              <a:rPr lang="fr-FR" sz="2000" b="1" i="0" dirty="0">
                <a:solidFill>
                  <a:srgbClr val="212529"/>
                </a:solidFill>
                <a:effectLst/>
                <a:latin typeface="Open Sans"/>
              </a:rPr>
              <a:t> ou  </a:t>
            </a:r>
            <a:r>
              <a:rPr lang="fr-FR" sz="2000" b="1" i="0" u="sng" dirty="0" err="1">
                <a:solidFill>
                  <a:srgbClr val="B12E32"/>
                </a:solidFill>
                <a:effectLst/>
                <a:latin typeface="Open Sans"/>
                <a:hlinkClick r:id="rId5"/>
              </a:rPr>
              <a:t>angiœdème</a:t>
            </a:r>
            <a:r>
              <a:rPr lang="fr-FR" sz="2000" b="1" i="0" dirty="0">
                <a:solidFill>
                  <a:srgbClr val="212529"/>
                </a:solidFill>
                <a:effectLst/>
                <a:latin typeface="Open Sans"/>
              </a:rPr>
              <a:t> ou œdème de Quincke.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b="1" i="0" dirty="0">
                <a:solidFill>
                  <a:srgbClr val="212529"/>
                </a:solidFill>
                <a:effectLst/>
                <a:latin typeface="Open Sans"/>
              </a:rPr>
              <a:t>La personne peut souffrir de nausées, de vomissements, de crampes abdominales ou de diarrhées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428787784"/>
      </p:ext>
    </p:extLst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CLINIQUE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256584"/>
          </a:xfrm>
          <a:noFill/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fr-FR" b="1" i="1" dirty="0"/>
              <a:t>Les manifestations cliniques sont classées en 4 stades de gravité croissante :</a:t>
            </a:r>
          </a:p>
          <a:p>
            <a:r>
              <a:rPr lang="fr-FR" b="1" dirty="0">
                <a:solidFill>
                  <a:srgbClr val="EE0000"/>
                </a:solidFill>
              </a:rPr>
              <a:t>Stade I</a:t>
            </a:r>
            <a:r>
              <a:rPr lang="fr-FR" dirty="0"/>
              <a:t> </a:t>
            </a:r>
            <a:r>
              <a:rPr lang="fr-FR" b="1" dirty="0"/>
              <a:t>: Signes cutanéo-muqueux généralisés (Prurit </a:t>
            </a:r>
            <a:r>
              <a:rPr lang="fr-FR" b="1" dirty="0" err="1"/>
              <a:t>palmo-plantaire</a:t>
            </a:r>
            <a:r>
              <a:rPr lang="fr-FR" b="1" dirty="0"/>
              <a:t>, urticaire, exanthème, </a:t>
            </a:r>
            <a:r>
              <a:rPr lang="fr-FR" b="1" dirty="0" err="1"/>
              <a:t>oedème</a:t>
            </a:r>
            <a:r>
              <a:rPr lang="fr-FR" b="1" dirty="0"/>
              <a:t> de Quincke pharyngé ou laryngé</a:t>
            </a:r>
            <a:r>
              <a:rPr lang="fr-FR" dirty="0"/>
              <a:t>.</a:t>
            </a:r>
          </a:p>
          <a:p>
            <a:r>
              <a:rPr lang="fr-FR" b="1" dirty="0">
                <a:solidFill>
                  <a:srgbClr val="EE0000"/>
                </a:solidFill>
              </a:rPr>
              <a:t>Stade II </a:t>
            </a:r>
            <a:r>
              <a:rPr lang="fr-FR" dirty="0"/>
              <a:t>: </a:t>
            </a:r>
            <a:r>
              <a:rPr lang="fr-FR" b="1" dirty="0"/>
              <a:t>Atteinte multi-viscérale modérée avec signes cutanéo-muqueux, </a:t>
            </a:r>
            <a:r>
              <a:rPr lang="fr-FR" b="1" dirty="0" err="1"/>
              <a:t>hypotension,tachycardie</a:t>
            </a:r>
            <a:r>
              <a:rPr lang="fr-FR" b="1" dirty="0"/>
              <a:t> et hyperréactivité bronchique</a:t>
            </a:r>
            <a:r>
              <a:rPr lang="fr-FR" dirty="0"/>
              <a:t>.</a:t>
            </a:r>
          </a:p>
          <a:p>
            <a:r>
              <a:rPr lang="fr-FR" b="1" dirty="0">
                <a:solidFill>
                  <a:srgbClr val="EE0000"/>
                </a:solidFill>
              </a:rPr>
              <a:t>Stade III </a:t>
            </a:r>
            <a:r>
              <a:rPr lang="fr-FR" dirty="0"/>
              <a:t>: </a:t>
            </a:r>
            <a:r>
              <a:rPr lang="fr-FR" b="1" dirty="0"/>
              <a:t>Atteinte multi-viscérale menaçant la vie : </a:t>
            </a:r>
          </a:p>
          <a:p>
            <a:pPr>
              <a:buNone/>
            </a:pPr>
            <a:r>
              <a:rPr lang="fr-FR" b="1" dirty="0"/>
              <a:t>    exemple : infarctus du myocarde.</a:t>
            </a:r>
          </a:p>
          <a:p>
            <a:r>
              <a:rPr lang="fr-FR" b="1" dirty="0">
                <a:solidFill>
                  <a:srgbClr val="EE0000"/>
                </a:solidFill>
              </a:rPr>
              <a:t>Stade IV </a:t>
            </a:r>
            <a:r>
              <a:rPr lang="fr-FR" dirty="0"/>
              <a:t>: </a:t>
            </a:r>
            <a:r>
              <a:rPr lang="fr-FR" b="1" dirty="0"/>
              <a:t>Arrêt circulatoire et/ou respiratoire .</a:t>
            </a:r>
          </a:p>
          <a:p>
            <a:endParaRPr lang="fr-FR" dirty="0"/>
          </a:p>
        </p:txBody>
      </p:sp>
    </p:spTree>
  </p:cSld>
  <p:clrMapOvr>
    <a:masterClrMapping/>
  </p:clrMapOvr>
  <p:transition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TRAITEMENT DU CHOC ANAPHYLACTIQUE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46958"/>
          </a:xfrm>
          <a:noFill/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fr-FR" sz="4200" b="1" u="sng" dirty="0">
                <a:solidFill>
                  <a:srgbClr val="EE0000"/>
                </a:solidFill>
              </a:rPr>
              <a:t>1/Mesures générales :</a:t>
            </a:r>
          </a:p>
          <a:p>
            <a:pPr>
              <a:buFont typeface="Wingdings" pitchFamily="2" charset="2"/>
              <a:buChar char="Ø"/>
            </a:pPr>
            <a:r>
              <a:rPr lang="fr-FR" sz="4200" dirty="0"/>
              <a:t>Arrêt de l’administration de la substance antigénique (anesthésique locale, antibiotique)</a:t>
            </a:r>
          </a:p>
          <a:p>
            <a:pPr>
              <a:buFont typeface="Wingdings" pitchFamily="2" charset="2"/>
              <a:buChar char="Ø"/>
            </a:pPr>
            <a:r>
              <a:rPr lang="fr-FR" sz="4200" dirty="0"/>
              <a:t>O2 et libération des VAS : pouvant aller jusqu’à l’intubation orotrachéale en urgence si asphyxie.</a:t>
            </a:r>
          </a:p>
          <a:p>
            <a:pPr>
              <a:buNone/>
            </a:pPr>
            <a:endParaRPr lang="fr-FR" sz="4200" dirty="0"/>
          </a:p>
          <a:p>
            <a:pPr>
              <a:buFont typeface="Wingdings" pitchFamily="2" charset="2"/>
              <a:buChar char="Ø"/>
            </a:pPr>
            <a:r>
              <a:rPr lang="fr-FR" sz="4200" dirty="0"/>
              <a:t>Surélévation des membres inférieurs ou mettre le malade en positon de Trendelenburg.</a:t>
            </a:r>
          </a:p>
          <a:p>
            <a:pPr>
              <a:buFontTx/>
              <a:buChar char="-"/>
            </a:pPr>
            <a:endParaRPr lang="fr-FR" sz="4200" dirty="0"/>
          </a:p>
          <a:p>
            <a:pPr>
              <a:buFont typeface="Wingdings" pitchFamily="2" charset="2"/>
              <a:buChar char="Ø"/>
            </a:pPr>
            <a:r>
              <a:rPr lang="fr-FR" sz="4200" dirty="0"/>
              <a:t>Abord veineux  de gros calibre + Remplissage vasculaire libre par les cristalloïdes (10-20 ml/kg).</a:t>
            </a:r>
          </a:p>
          <a:p>
            <a:pPr>
              <a:buFontTx/>
              <a:buChar char="-"/>
            </a:pPr>
            <a:endParaRPr lang="fr-FR" sz="4200" dirty="0"/>
          </a:p>
          <a:p>
            <a:pPr>
              <a:buFont typeface="Wingdings" pitchFamily="2" charset="2"/>
              <a:buChar char="Ø"/>
            </a:pPr>
            <a:r>
              <a:rPr lang="fr-FR" sz="4200" dirty="0"/>
              <a:t> Monitorage hémodynamique et respiratoire : scope, PA, SpO2</a:t>
            </a:r>
          </a:p>
        </p:txBody>
      </p:sp>
    </p:spTree>
  </p:cSld>
  <p:clrMapOvr>
    <a:masterClrMapping/>
  </p:clrMapOvr>
  <p:transition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fr-FR" b="1" dirty="0">
                <a:solidFill>
                  <a:srgbClr val="FF0000"/>
                </a:solidFill>
              </a:rPr>
              <a:t>               TRAITEMENT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  <a:noFill/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sz="3500" b="1" u="sng" dirty="0">
                <a:solidFill>
                  <a:srgbClr val="FF0000"/>
                </a:solidFill>
              </a:rPr>
              <a:t>2/En fonction du stade clinique :</a:t>
            </a:r>
            <a:r>
              <a:rPr lang="fr-FR" b="1" dirty="0">
                <a:solidFill>
                  <a:schemeClr val="bg1"/>
                </a:solidFill>
              </a:rPr>
              <a:t>:</a:t>
            </a:r>
          </a:p>
          <a:p>
            <a:pPr>
              <a:buNone/>
            </a:pPr>
            <a:r>
              <a:rPr lang="fr-FR" b="1" i="1" u="sng" dirty="0">
                <a:solidFill>
                  <a:srgbClr val="00B050"/>
                </a:solidFill>
              </a:rPr>
              <a:t>Stade I</a:t>
            </a:r>
            <a:r>
              <a:rPr lang="fr-FR" b="1" i="1" dirty="0"/>
              <a:t> : seule les mesures générales suffisent.</a:t>
            </a:r>
          </a:p>
          <a:p>
            <a:pPr>
              <a:buNone/>
            </a:pPr>
            <a:r>
              <a:rPr lang="fr-FR" b="1" i="1" u="sng" dirty="0">
                <a:solidFill>
                  <a:srgbClr val="00B050"/>
                </a:solidFill>
              </a:rPr>
              <a:t>Stade II/III </a:t>
            </a:r>
            <a:r>
              <a:rPr lang="fr-FR" b="1" i="1" dirty="0"/>
              <a:t>: les mesures générales plus :</a:t>
            </a:r>
          </a:p>
          <a:p>
            <a:pPr>
              <a:buNone/>
            </a:pPr>
            <a:r>
              <a:rPr lang="fr-FR" dirty="0"/>
              <a:t>- Adrénaline : 1 </a:t>
            </a:r>
            <a:r>
              <a:rPr lang="fr-FR" dirty="0" err="1"/>
              <a:t>amp</a:t>
            </a:r>
            <a:r>
              <a:rPr lang="fr-FR" dirty="0"/>
              <a:t> =1 mg diluée dans 9 ml de SSI, puis injection de </a:t>
            </a:r>
            <a:r>
              <a:rPr lang="fr-FR" dirty="0" err="1"/>
              <a:t>bolus</a:t>
            </a:r>
            <a:r>
              <a:rPr lang="fr-FR" dirty="0"/>
              <a:t> de 0,1 mg IVD jusqu’au retour d’une P A mesurable.</a:t>
            </a:r>
          </a:p>
          <a:p>
            <a:pPr>
              <a:buNone/>
            </a:pPr>
            <a:r>
              <a:rPr lang="fr-FR" dirty="0"/>
              <a:t>- Corticoïdes : mécanisme d’action retardé (HSHC 100 mg x 6/j).</a:t>
            </a:r>
          </a:p>
          <a:p>
            <a:pPr>
              <a:buNone/>
            </a:pPr>
            <a:r>
              <a:rPr lang="fr-FR" dirty="0"/>
              <a:t> -</a:t>
            </a:r>
            <a:r>
              <a:rPr lang="fr-FR" dirty="0" err="1"/>
              <a:t>Anti-histaminiques</a:t>
            </a:r>
            <a:r>
              <a:rPr lang="fr-FR" dirty="0"/>
              <a:t> : inutiles++++</a:t>
            </a:r>
          </a:p>
          <a:p>
            <a:pPr>
              <a:buNone/>
            </a:pPr>
            <a:r>
              <a:rPr lang="fr-FR" b="1" i="1" dirty="0">
                <a:solidFill>
                  <a:srgbClr val="00B050"/>
                </a:solidFill>
              </a:rPr>
              <a:t>Stade IV </a:t>
            </a:r>
            <a:r>
              <a:rPr lang="fr-FR" b="1" i="1" dirty="0"/>
              <a:t>: </a:t>
            </a:r>
            <a:r>
              <a:rPr lang="fr-FR" b="1" i="1" dirty="0">
                <a:solidFill>
                  <a:srgbClr val="EE0000"/>
                </a:solidFill>
              </a:rPr>
              <a:t>massage cardiaque externe + bolus de 1 mg d’adrénaline répétés.</a:t>
            </a:r>
            <a:r>
              <a:rPr lang="fr-FR" b="1" dirty="0">
                <a:solidFill>
                  <a:srgbClr val="EE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>
              <a:buNone/>
            </a:pPr>
            <a:endParaRPr lang="fr-FR" dirty="0">
              <a:solidFill>
                <a:schemeClr val="bg1"/>
              </a:solidFill>
            </a:endParaRPr>
          </a:p>
          <a:p>
            <a:endParaRPr lang="fr-FR" dirty="0"/>
          </a:p>
        </p:txBody>
      </p:sp>
    </p:spTree>
  </p:cSld>
  <p:clrMapOvr>
    <a:masterClrMapping/>
  </p:clrMapOvr>
  <p:transition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sz="3200" dirty="0">
                <a:solidFill>
                  <a:srgbClr val="FF0000"/>
                </a:solidFill>
              </a:rPr>
              <a:t>Massage cardiaque externe au cabinet dentaire 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124745"/>
            <a:ext cx="8319868" cy="5304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CHOC ANAPHYLACTIQUE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Surveillance +++</a:t>
            </a:r>
          </a:p>
          <a:p>
            <a:pPr>
              <a:lnSpc>
                <a:spcPct val="90000"/>
              </a:lnSpc>
              <a:buNone/>
            </a:pPr>
            <a:r>
              <a:rPr lang="fr-FR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fr-FR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(récidive dans les 8 heures possible)</a:t>
            </a:r>
          </a:p>
          <a:p>
            <a:pPr>
              <a:lnSpc>
                <a:spcPct val="90000"/>
              </a:lnSpc>
              <a:buNone/>
            </a:pPr>
            <a:r>
              <a:rPr lang="fr-FR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 </a:t>
            </a:r>
            <a:r>
              <a:rPr lang="fr-FR" b="1" dirty="0"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 hospitalisation en  réanimation !!!!!!!!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Prévention +++ </a:t>
            </a:r>
          </a:p>
          <a:p>
            <a:pPr>
              <a:lnSpc>
                <a:spcPct val="90000"/>
              </a:lnSpc>
              <a:buNone/>
            </a:pPr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-</a:t>
            </a:r>
            <a:r>
              <a:rPr lang="fr-FR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Eviction de l’allergène   </a:t>
            </a:r>
          </a:p>
          <a:p>
            <a:pPr>
              <a:lnSpc>
                <a:spcPct val="90000"/>
              </a:lnSpc>
              <a:buNone/>
            </a:pPr>
            <a:r>
              <a:rPr lang="fr-FR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 -Désensibilisation     </a:t>
            </a:r>
          </a:p>
          <a:p>
            <a:pPr>
              <a:lnSpc>
                <a:spcPct val="90000"/>
              </a:lnSpc>
              <a:buNone/>
            </a:pPr>
            <a:r>
              <a:rPr lang="fr-FR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 -Adrénaline à disposition</a:t>
            </a:r>
            <a:r>
              <a:rPr lang="fr-FR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  <a:p>
            <a:endParaRPr lang="fr-FR" dirty="0"/>
          </a:p>
        </p:txBody>
      </p:sp>
    </p:spTree>
  </p:cSld>
  <p:clrMapOvr>
    <a:masterClrMapping/>
  </p:clrMapOvr>
  <p:transition>
    <p:dissolv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663552"/>
          </a:xfrm>
          <a:noFill/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fr-FR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bg1"/>
                </a:solidFill>
              </a:rPr>
              <a:t>-</a:t>
            </a:r>
            <a:r>
              <a:rPr lang="fr-FR" dirty="0"/>
              <a:t>Diagnostic de l’ état de choc anaphylactique  est clinique !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Gravité : fonction du nombre de défaillance d’organes et intensité de la réponse inflammatoire.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Traitement : adrénaline +++ injection </a:t>
            </a:r>
          </a:p>
          <a:p>
            <a:pPr>
              <a:buNone/>
            </a:pPr>
            <a:r>
              <a:rPr lang="fr-FR" dirty="0"/>
              <a:t>    intra-veineuse ou sous cutané.</a:t>
            </a:r>
          </a:p>
          <a:p>
            <a:pPr>
              <a:buNone/>
            </a:pPr>
            <a:endParaRPr lang="fr-FR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1033</TotalTime>
  <Words>851</Words>
  <Application>Microsoft Office PowerPoint</Application>
  <PresentationFormat>Affichage à l'écran (4:3)</PresentationFormat>
  <Paragraphs>110</Paragraphs>
  <Slides>16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4" baseType="lpstr">
      <vt:lpstr> calibri</vt:lpstr>
      <vt:lpstr>Arial</vt:lpstr>
      <vt:lpstr>Calibri</vt:lpstr>
      <vt:lpstr>Helvetica Neue</vt:lpstr>
      <vt:lpstr>Open Sans</vt:lpstr>
      <vt:lpstr>Symbol</vt:lpstr>
      <vt:lpstr>Wingdings</vt:lpstr>
      <vt:lpstr>Thème Office</vt:lpstr>
      <vt:lpstr>DR S.BELLAHDID REANIMATION MEDICALE  CHU MUSTAPHA </vt:lpstr>
      <vt:lpstr>         PLAN DU COURS</vt:lpstr>
      <vt:lpstr>INTRODUCTION </vt:lpstr>
      <vt:lpstr>INTRODUCTION </vt:lpstr>
      <vt:lpstr>DEFINITIONS </vt:lpstr>
      <vt:lpstr>DEFINITIONS </vt:lpstr>
      <vt:lpstr>CAUSES DES REACTIONS ANAPHYLACTIQUES</vt:lpstr>
      <vt:lpstr>PHYSIOPATHOLOGIE </vt:lpstr>
      <vt:lpstr>CHOC ANAPHYLACTIQUE</vt:lpstr>
      <vt:lpstr>CLINIQUE</vt:lpstr>
      <vt:lpstr>CLINIQUE</vt:lpstr>
      <vt:lpstr>TRAITEMENT DU CHOC ANAPHYLACTIQUE</vt:lpstr>
      <vt:lpstr>               TRAITEMENT </vt:lpstr>
      <vt:lpstr>Massage cardiaque externe au cabinet dentaire </vt:lpstr>
      <vt:lpstr>CHOC ANAPHYLACTIQUE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Etas de choc</dc:title>
  <dc:creator>User</dc:creator>
  <cp:lastModifiedBy>lenovo</cp:lastModifiedBy>
  <cp:revision>60</cp:revision>
  <dcterms:created xsi:type="dcterms:W3CDTF">2017-02-02T21:11:29Z</dcterms:created>
  <dcterms:modified xsi:type="dcterms:W3CDTF">2025-01-06T06:34:37Z</dcterms:modified>
</cp:coreProperties>
</file>