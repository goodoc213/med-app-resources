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7"/>
  </p:notesMasterIdLst>
  <p:sldIdLst>
    <p:sldId id="290" r:id="rId2"/>
    <p:sldId id="297" r:id="rId3"/>
    <p:sldId id="282" r:id="rId4"/>
    <p:sldId id="298" r:id="rId5"/>
    <p:sldId id="286" r:id="rId6"/>
    <p:sldId id="283" r:id="rId7"/>
    <p:sldId id="299" r:id="rId8"/>
    <p:sldId id="285" r:id="rId9"/>
    <p:sldId id="258" r:id="rId10"/>
    <p:sldId id="260" r:id="rId11"/>
    <p:sldId id="261" r:id="rId12"/>
    <p:sldId id="262" r:id="rId13"/>
    <p:sldId id="263" r:id="rId14"/>
    <p:sldId id="264" r:id="rId15"/>
    <p:sldId id="265" r:id="rId16"/>
  </p:sldIdLst>
  <p:sldSz cx="9144000" cy="6858000" type="screen4x3"/>
  <p:notesSz cx="6888163" cy="100203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62" d="100"/>
          <a:sy n="62" d="100"/>
        </p:scale>
        <p:origin x="1400" y="40"/>
      </p:cViewPr>
      <p:guideLst>
        <p:guide orient="horz" pos="2160"/>
        <p:guide pos="2880"/>
      </p:guideLst>
    </p:cSldViewPr>
  </p:slideViewPr>
  <p:outlineViewPr>
    <p:cViewPr>
      <p:scale>
        <a:sx n="33" d="100"/>
        <a:sy n="33" d="100"/>
      </p:scale>
      <p:origin x="24"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7B03C4-26FF-4C7D-A26E-F905BF8C8F01}" type="doc">
      <dgm:prSet loTypeId="urn:microsoft.com/office/officeart/2016/7/layout/RepeatingBendingProcessNew" loCatId="process" qsTypeId="urn:microsoft.com/office/officeart/2005/8/quickstyle/simple4" qsCatId="simple" csTypeId="urn:microsoft.com/office/officeart/2005/8/colors/colorful1" csCatId="colorful" phldr="1"/>
      <dgm:spPr/>
      <dgm:t>
        <a:bodyPr/>
        <a:lstStyle/>
        <a:p>
          <a:endParaRPr lang="en-US"/>
        </a:p>
      </dgm:t>
    </dgm:pt>
    <dgm:pt modelId="{79777D01-953A-49D3-9DE2-561FE771C63A}">
      <dgm:prSet/>
      <dgm:spPr/>
      <dgm:t>
        <a:bodyPr/>
        <a:lstStyle/>
        <a:p>
          <a:r>
            <a:rPr lang="fr-FR" b="1" dirty="0">
              <a:solidFill>
                <a:schemeClr val="tx1"/>
              </a:solidFill>
            </a:rPr>
            <a:t>B)EVALUATION DE LA FONCTION RESPIRATOIRE(suite)</a:t>
          </a:r>
          <a:endParaRPr lang="en-US" dirty="0">
            <a:solidFill>
              <a:schemeClr val="tx1"/>
            </a:solidFill>
          </a:endParaRPr>
        </a:p>
      </dgm:t>
    </dgm:pt>
    <dgm:pt modelId="{068D1AD9-14B1-429D-90FC-C0A1220EE137}" type="parTrans" cxnId="{1D62A4AE-C658-4CBA-B3B3-4A68F07223A0}">
      <dgm:prSet/>
      <dgm:spPr/>
      <dgm:t>
        <a:bodyPr/>
        <a:lstStyle/>
        <a:p>
          <a:endParaRPr lang="en-US"/>
        </a:p>
      </dgm:t>
    </dgm:pt>
    <dgm:pt modelId="{FF4DD3BF-11CF-45B5-8612-DFC28E931E20}" type="sibTrans" cxnId="{1D62A4AE-C658-4CBA-B3B3-4A68F07223A0}">
      <dgm:prSet/>
      <dgm:spPr>
        <a:ln w="57150"/>
      </dgm:spPr>
      <dgm:t>
        <a:bodyPr/>
        <a:lstStyle/>
        <a:p>
          <a:endParaRPr lang="en-US"/>
        </a:p>
      </dgm:t>
    </dgm:pt>
    <dgm:pt modelId="{4C9A50A9-23BB-4386-8917-B6CC1AE9A211}">
      <dgm:prSet/>
      <dgm:spPr/>
      <dgm:t>
        <a:bodyPr/>
        <a:lstStyle/>
        <a:p>
          <a:r>
            <a:rPr lang="fr-FR" b="1" dirty="0">
              <a:solidFill>
                <a:schemeClr val="tx1"/>
              </a:solidFill>
            </a:rPr>
            <a:t>RESPIRATOIRE ALTEREE </a:t>
          </a:r>
          <a:r>
            <a:rPr lang="fr-FR" dirty="0">
              <a:solidFill>
                <a:schemeClr val="tx1"/>
              </a:solidFill>
            </a:rPr>
            <a:t>=2 Cas de figure sont possibles</a:t>
          </a:r>
          <a:endParaRPr lang="en-US" dirty="0">
            <a:solidFill>
              <a:schemeClr val="tx1"/>
            </a:solidFill>
          </a:endParaRPr>
        </a:p>
      </dgm:t>
    </dgm:pt>
    <dgm:pt modelId="{9DB1410B-3851-47CF-BBEB-1F1A94D9B601}" type="parTrans" cxnId="{05D23818-9EF0-4BF1-BD91-1C9658B5CB87}">
      <dgm:prSet/>
      <dgm:spPr/>
      <dgm:t>
        <a:bodyPr/>
        <a:lstStyle/>
        <a:p>
          <a:endParaRPr lang="en-US"/>
        </a:p>
      </dgm:t>
    </dgm:pt>
    <dgm:pt modelId="{A9C656B0-99BF-4660-87CB-F27EA6C3B97A}" type="sibTrans" cxnId="{05D23818-9EF0-4BF1-BD91-1C9658B5CB87}">
      <dgm:prSet/>
      <dgm:spPr>
        <a:ln w="38100"/>
      </dgm:spPr>
      <dgm:t>
        <a:bodyPr/>
        <a:lstStyle/>
        <a:p>
          <a:endParaRPr lang="en-US"/>
        </a:p>
      </dgm:t>
    </dgm:pt>
    <dgm:pt modelId="{8C3CE87B-4EE3-4917-B42D-DE0D5D6387A6}">
      <dgm:prSet custT="1"/>
      <dgm:spPr/>
      <dgm:t>
        <a:bodyPr/>
        <a:lstStyle/>
        <a:p>
          <a:r>
            <a:rPr lang="fr-FR" sz="1800" b="1" dirty="0">
              <a:solidFill>
                <a:schemeClr val="tx1"/>
              </a:solidFill>
            </a:rPr>
            <a:t>Pas de  bruit  à l’oreille prés de la bouche=Obstruction des V.A.S</a:t>
          </a:r>
          <a:endParaRPr lang="en-US" sz="1800" b="1" dirty="0">
            <a:solidFill>
              <a:schemeClr val="tx1"/>
            </a:solidFill>
          </a:endParaRPr>
        </a:p>
      </dgm:t>
    </dgm:pt>
    <dgm:pt modelId="{2FC04DD5-EC9E-4922-B5AA-520AE6312D67}" type="parTrans" cxnId="{C02E7808-E3A7-4F01-91FD-D58C5D4CFAF9}">
      <dgm:prSet/>
      <dgm:spPr/>
      <dgm:t>
        <a:bodyPr/>
        <a:lstStyle/>
        <a:p>
          <a:endParaRPr lang="en-US"/>
        </a:p>
      </dgm:t>
    </dgm:pt>
    <dgm:pt modelId="{0258D960-F363-4696-BADF-DA061A89232F}" type="sibTrans" cxnId="{C02E7808-E3A7-4F01-91FD-D58C5D4CFAF9}">
      <dgm:prSet/>
      <dgm:spPr>
        <a:ln w="57150"/>
      </dgm:spPr>
      <dgm:t>
        <a:bodyPr/>
        <a:lstStyle/>
        <a:p>
          <a:endParaRPr lang="en-US"/>
        </a:p>
      </dgm:t>
    </dgm:pt>
    <dgm:pt modelId="{B4393E31-A868-4224-B4C7-31072F657629}">
      <dgm:prSet custT="1"/>
      <dgm:spPr/>
      <dgm:t>
        <a:bodyPr/>
        <a:lstStyle/>
        <a:p>
          <a:r>
            <a:rPr lang="fr-FR" sz="1800" b="1" dirty="0">
              <a:solidFill>
                <a:schemeClr val="tx1"/>
              </a:solidFill>
            </a:rPr>
            <a:t>CAT: manœuvre de </a:t>
          </a:r>
          <a:r>
            <a:rPr lang="fr-FR" sz="1800" b="1" dirty="0" err="1">
              <a:solidFill>
                <a:schemeClr val="tx1"/>
              </a:solidFill>
            </a:rPr>
            <a:t>HEiMLiCH</a:t>
          </a:r>
          <a:r>
            <a:rPr lang="fr-FR" sz="1800" b="1" dirty="0">
              <a:solidFill>
                <a:schemeClr val="tx1"/>
              </a:solidFill>
            </a:rPr>
            <a:t> </a:t>
          </a:r>
          <a:endParaRPr lang="en-US" sz="1800" b="1" dirty="0">
            <a:solidFill>
              <a:schemeClr val="tx1"/>
            </a:solidFill>
          </a:endParaRPr>
        </a:p>
      </dgm:t>
    </dgm:pt>
    <dgm:pt modelId="{D0434D0C-8214-4CF6-8616-1C3A35F148DD}" type="parTrans" cxnId="{C402FB6D-DC65-4DA2-A290-4C8FA3B522A8}">
      <dgm:prSet/>
      <dgm:spPr/>
      <dgm:t>
        <a:bodyPr/>
        <a:lstStyle/>
        <a:p>
          <a:endParaRPr lang="en-US"/>
        </a:p>
      </dgm:t>
    </dgm:pt>
    <dgm:pt modelId="{F61A4738-F448-4510-BB5B-75394CC0B7AF}" type="sibTrans" cxnId="{C402FB6D-DC65-4DA2-A290-4C8FA3B522A8}">
      <dgm:prSet/>
      <dgm:spPr>
        <a:ln w="38100"/>
      </dgm:spPr>
      <dgm:t>
        <a:bodyPr/>
        <a:lstStyle/>
        <a:p>
          <a:endParaRPr lang="en-US"/>
        </a:p>
      </dgm:t>
    </dgm:pt>
    <dgm:pt modelId="{B0B7CC87-C1B7-47CB-A3F1-87BAC377EDB4}">
      <dgm:prSet custT="1"/>
      <dgm:spPr/>
      <dgm:t>
        <a:bodyPr/>
        <a:lstStyle/>
        <a:p>
          <a:r>
            <a:rPr lang="fr-FR" sz="1600" b="1" dirty="0">
              <a:solidFill>
                <a:schemeClr val="tx1"/>
              </a:solidFill>
            </a:rPr>
            <a:t>Existence d’une gène respiratoire et du bruit respiratoire= Détresse respiratoire</a:t>
          </a:r>
          <a:endParaRPr lang="en-US" sz="1600" b="1" dirty="0">
            <a:solidFill>
              <a:schemeClr val="tx1"/>
            </a:solidFill>
          </a:endParaRPr>
        </a:p>
      </dgm:t>
    </dgm:pt>
    <dgm:pt modelId="{C9163C26-6C1C-4258-8116-CBAB60FBBA8B}" type="parTrans" cxnId="{9F3F60D9-1C4B-439D-BA59-1508E38C0DDC}">
      <dgm:prSet/>
      <dgm:spPr/>
      <dgm:t>
        <a:bodyPr/>
        <a:lstStyle/>
        <a:p>
          <a:endParaRPr lang="en-US"/>
        </a:p>
      </dgm:t>
    </dgm:pt>
    <dgm:pt modelId="{BC6CD676-D629-4C43-A691-1C8E80B0853F}" type="sibTrans" cxnId="{9F3F60D9-1C4B-439D-BA59-1508E38C0DDC}">
      <dgm:prSet/>
      <dgm:spPr>
        <a:ln w="57150"/>
      </dgm:spPr>
      <dgm:t>
        <a:bodyPr/>
        <a:lstStyle/>
        <a:p>
          <a:endParaRPr lang="en-US"/>
        </a:p>
      </dgm:t>
    </dgm:pt>
    <dgm:pt modelId="{8B561E3D-1FDD-4CD4-94A2-3CF090595055}">
      <dgm:prSet/>
      <dgm:spPr/>
      <dgm:t>
        <a:bodyPr/>
        <a:lstStyle/>
        <a:p>
          <a:r>
            <a:rPr lang="fr-FR" b="1" dirty="0">
              <a:solidFill>
                <a:schemeClr val="tx1"/>
              </a:solidFill>
            </a:rPr>
            <a:t>CAT: Oxygénothérapie + Position de confort</a:t>
          </a:r>
          <a:endParaRPr lang="en-US" b="1" dirty="0">
            <a:solidFill>
              <a:schemeClr val="tx1"/>
            </a:solidFill>
          </a:endParaRPr>
        </a:p>
      </dgm:t>
    </dgm:pt>
    <dgm:pt modelId="{75DBA436-AEEC-42ED-8668-D1BE91F84E53}" type="parTrans" cxnId="{3D50119C-4CFE-4FA8-8F74-E1DED87C5D45}">
      <dgm:prSet/>
      <dgm:spPr/>
      <dgm:t>
        <a:bodyPr/>
        <a:lstStyle/>
        <a:p>
          <a:endParaRPr lang="en-US"/>
        </a:p>
      </dgm:t>
    </dgm:pt>
    <dgm:pt modelId="{B467B722-E555-4A36-8D56-D31465A02E7B}" type="sibTrans" cxnId="{3D50119C-4CFE-4FA8-8F74-E1DED87C5D45}">
      <dgm:prSet/>
      <dgm:spPr/>
      <dgm:t>
        <a:bodyPr/>
        <a:lstStyle/>
        <a:p>
          <a:endParaRPr lang="en-US"/>
        </a:p>
      </dgm:t>
    </dgm:pt>
    <dgm:pt modelId="{676DA5D9-9AD7-4F62-B647-D046FC3D0C60}" type="pres">
      <dgm:prSet presAssocID="{B87B03C4-26FF-4C7D-A26E-F905BF8C8F01}" presName="Name0" presStyleCnt="0">
        <dgm:presLayoutVars>
          <dgm:dir/>
          <dgm:resizeHandles val="exact"/>
        </dgm:presLayoutVars>
      </dgm:prSet>
      <dgm:spPr/>
    </dgm:pt>
    <dgm:pt modelId="{B745FBB5-9DC0-43E8-BF53-A075C653ACAF}" type="pres">
      <dgm:prSet presAssocID="{79777D01-953A-49D3-9DE2-561FE771C63A}" presName="node" presStyleLbl="node1" presStyleIdx="0" presStyleCnt="6">
        <dgm:presLayoutVars>
          <dgm:bulletEnabled val="1"/>
        </dgm:presLayoutVars>
      </dgm:prSet>
      <dgm:spPr/>
    </dgm:pt>
    <dgm:pt modelId="{E8C1925C-3FA7-4E6A-A237-BC1F9D0FA8E0}" type="pres">
      <dgm:prSet presAssocID="{FF4DD3BF-11CF-45B5-8612-DFC28E931E20}" presName="sibTrans" presStyleLbl="sibTrans1D1" presStyleIdx="0" presStyleCnt="5"/>
      <dgm:spPr/>
    </dgm:pt>
    <dgm:pt modelId="{5447DCC0-278A-400E-9907-E8A3F5D1F8DF}" type="pres">
      <dgm:prSet presAssocID="{FF4DD3BF-11CF-45B5-8612-DFC28E931E20}" presName="connectorText" presStyleLbl="sibTrans1D1" presStyleIdx="0" presStyleCnt="5"/>
      <dgm:spPr/>
    </dgm:pt>
    <dgm:pt modelId="{0FFF7C36-4F85-4C48-88D0-53996FB436E2}" type="pres">
      <dgm:prSet presAssocID="{4C9A50A9-23BB-4386-8917-B6CC1AE9A211}" presName="node" presStyleLbl="node1" presStyleIdx="1" presStyleCnt="6">
        <dgm:presLayoutVars>
          <dgm:bulletEnabled val="1"/>
        </dgm:presLayoutVars>
      </dgm:prSet>
      <dgm:spPr/>
    </dgm:pt>
    <dgm:pt modelId="{742A4C49-8E16-46D5-AEF1-6BDB2BC1C919}" type="pres">
      <dgm:prSet presAssocID="{A9C656B0-99BF-4660-87CB-F27EA6C3B97A}" presName="sibTrans" presStyleLbl="sibTrans1D1" presStyleIdx="1" presStyleCnt="5"/>
      <dgm:spPr/>
    </dgm:pt>
    <dgm:pt modelId="{D56C7CBA-3D5B-463F-85A6-4E7B2031D20B}" type="pres">
      <dgm:prSet presAssocID="{A9C656B0-99BF-4660-87CB-F27EA6C3B97A}" presName="connectorText" presStyleLbl="sibTrans1D1" presStyleIdx="1" presStyleCnt="5"/>
      <dgm:spPr/>
    </dgm:pt>
    <dgm:pt modelId="{CD5C2AB3-90E2-48D3-A47E-C33091BCE8A9}" type="pres">
      <dgm:prSet presAssocID="{8C3CE87B-4EE3-4917-B42D-DE0D5D6387A6}" presName="node" presStyleLbl="node1" presStyleIdx="2" presStyleCnt="6" custLinFactNeighborX="-47" custLinFactNeighborY="9645">
        <dgm:presLayoutVars>
          <dgm:bulletEnabled val="1"/>
        </dgm:presLayoutVars>
      </dgm:prSet>
      <dgm:spPr/>
    </dgm:pt>
    <dgm:pt modelId="{BF7F0004-B8EE-45E9-AA2C-6C17DB6B7FCA}" type="pres">
      <dgm:prSet presAssocID="{0258D960-F363-4696-BADF-DA061A89232F}" presName="sibTrans" presStyleLbl="sibTrans1D1" presStyleIdx="2" presStyleCnt="5"/>
      <dgm:spPr/>
    </dgm:pt>
    <dgm:pt modelId="{07B2BF40-EC6F-4933-985F-0D2EF5817991}" type="pres">
      <dgm:prSet presAssocID="{0258D960-F363-4696-BADF-DA061A89232F}" presName="connectorText" presStyleLbl="sibTrans1D1" presStyleIdx="2" presStyleCnt="5"/>
      <dgm:spPr/>
    </dgm:pt>
    <dgm:pt modelId="{9DF50574-9489-45BB-A527-6376D7D1F8C4}" type="pres">
      <dgm:prSet presAssocID="{B4393E31-A868-4224-B4C7-31072F657629}" presName="node" presStyleLbl="node1" presStyleIdx="3" presStyleCnt="6">
        <dgm:presLayoutVars>
          <dgm:bulletEnabled val="1"/>
        </dgm:presLayoutVars>
      </dgm:prSet>
      <dgm:spPr/>
    </dgm:pt>
    <dgm:pt modelId="{0842074B-21F7-43E0-B0F4-5CC049740D8E}" type="pres">
      <dgm:prSet presAssocID="{F61A4738-F448-4510-BB5B-75394CC0B7AF}" presName="sibTrans" presStyleLbl="sibTrans1D1" presStyleIdx="3" presStyleCnt="5"/>
      <dgm:spPr/>
    </dgm:pt>
    <dgm:pt modelId="{306C4329-9720-4DAE-AF6C-756FAFB41767}" type="pres">
      <dgm:prSet presAssocID="{F61A4738-F448-4510-BB5B-75394CC0B7AF}" presName="connectorText" presStyleLbl="sibTrans1D1" presStyleIdx="3" presStyleCnt="5"/>
      <dgm:spPr/>
    </dgm:pt>
    <dgm:pt modelId="{5DB53C97-CFC2-423A-96B2-E0BCB572A06A}" type="pres">
      <dgm:prSet presAssocID="{B0B7CC87-C1B7-47CB-A3F1-87BAC377EDB4}" presName="node" presStyleLbl="node1" presStyleIdx="4" presStyleCnt="6">
        <dgm:presLayoutVars>
          <dgm:bulletEnabled val="1"/>
        </dgm:presLayoutVars>
      </dgm:prSet>
      <dgm:spPr/>
    </dgm:pt>
    <dgm:pt modelId="{D05A4257-4484-4219-B546-AD65C51FCD15}" type="pres">
      <dgm:prSet presAssocID="{BC6CD676-D629-4C43-A691-1C8E80B0853F}" presName="sibTrans" presStyleLbl="sibTrans1D1" presStyleIdx="4" presStyleCnt="5"/>
      <dgm:spPr/>
    </dgm:pt>
    <dgm:pt modelId="{6B5CBE07-2C28-45DF-A2FA-5E7235022AC3}" type="pres">
      <dgm:prSet presAssocID="{BC6CD676-D629-4C43-A691-1C8E80B0853F}" presName="connectorText" presStyleLbl="sibTrans1D1" presStyleIdx="4" presStyleCnt="5"/>
      <dgm:spPr/>
    </dgm:pt>
    <dgm:pt modelId="{C5B04699-B6A9-443E-9B5D-470E091F06D4}" type="pres">
      <dgm:prSet presAssocID="{8B561E3D-1FDD-4CD4-94A2-3CF090595055}" presName="node" presStyleLbl="node1" presStyleIdx="5" presStyleCnt="6" custLinFactNeighborX="376" custLinFactNeighborY="3266">
        <dgm:presLayoutVars>
          <dgm:bulletEnabled val="1"/>
        </dgm:presLayoutVars>
      </dgm:prSet>
      <dgm:spPr/>
    </dgm:pt>
  </dgm:ptLst>
  <dgm:cxnLst>
    <dgm:cxn modelId="{C02E7808-E3A7-4F01-91FD-D58C5D4CFAF9}" srcId="{B87B03C4-26FF-4C7D-A26E-F905BF8C8F01}" destId="{8C3CE87B-4EE3-4917-B42D-DE0D5D6387A6}" srcOrd="2" destOrd="0" parTransId="{2FC04DD5-EC9E-4922-B5AA-520AE6312D67}" sibTransId="{0258D960-F363-4696-BADF-DA061A89232F}"/>
    <dgm:cxn modelId="{F241A709-1F20-4183-8677-23BA408325FA}" type="presOf" srcId="{FF4DD3BF-11CF-45B5-8612-DFC28E931E20}" destId="{E8C1925C-3FA7-4E6A-A237-BC1F9D0FA8E0}" srcOrd="0" destOrd="0" presId="urn:microsoft.com/office/officeart/2016/7/layout/RepeatingBendingProcessNew"/>
    <dgm:cxn modelId="{2403DC0B-C105-4295-B02C-929C948A5113}" type="presOf" srcId="{0258D960-F363-4696-BADF-DA061A89232F}" destId="{BF7F0004-B8EE-45E9-AA2C-6C17DB6B7FCA}" srcOrd="0" destOrd="0" presId="urn:microsoft.com/office/officeart/2016/7/layout/RepeatingBendingProcessNew"/>
    <dgm:cxn modelId="{864F9E10-1B99-421B-8E92-9CDB7F567642}" type="presOf" srcId="{F61A4738-F448-4510-BB5B-75394CC0B7AF}" destId="{306C4329-9720-4DAE-AF6C-756FAFB41767}" srcOrd="1" destOrd="0" presId="urn:microsoft.com/office/officeart/2016/7/layout/RepeatingBendingProcessNew"/>
    <dgm:cxn modelId="{60E87813-B165-4A15-8DB8-A6606741E6F1}" type="presOf" srcId="{B0B7CC87-C1B7-47CB-A3F1-87BAC377EDB4}" destId="{5DB53C97-CFC2-423A-96B2-E0BCB572A06A}" srcOrd="0" destOrd="0" presId="urn:microsoft.com/office/officeart/2016/7/layout/RepeatingBendingProcessNew"/>
    <dgm:cxn modelId="{05D23818-9EF0-4BF1-BD91-1C9658B5CB87}" srcId="{B87B03C4-26FF-4C7D-A26E-F905BF8C8F01}" destId="{4C9A50A9-23BB-4386-8917-B6CC1AE9A211}" srcOrd="1" destOrd="0" parTransId="{9DB1410B-3851-47CF-BBEB-1F1A94D9B601}" sibTransId="{A9C656B0-99BF-4660-87CB-F27EA6C3B97A}"/>
    <dgm:cxn modelId="{D6651424-FE7F-4DE0-A219-94AB33085243}" type="presOf" srcId="{FF4DD3BF-11CF-45B5-8612-DFC28E931E20}" destId="{5447DCC0-278A-400E-9907-E8A3F5D1F8DF}" srcOrd="1" destOrd="0" presId="urn:microsoft.com/office/officeart/2016/7/layout/RepeatingBendingProcessNew"/>
    <dgm:cxn modelId="{90E7A230-DCAD-4218-9DC8-8738B18B9F14}" type="presOf" srcId="{0258D960-F363-4696-BADF-DA061A89232F}" destId="{07B2BF40-EC6F-4933-985F-0D2EF5817991}" srcOrd="1" destOrd="0" presId="urn:microsoft.com/office/officeart/2016/7/layout/RepeatingBendingProcessNew"/>
    <dgm:cxn modelId="{54042434-965A-46A5-8E1A-50FDA23691DD}" type="presOf" srcId="{8C3CE87B-4EE3-4917-B42D-DE0D5D6387A6}" destId="{CD5C2AB3-90E2-48D3-A47E-C33091BCE8A9}" srcOrd="0" destOrd="0" presId="urn:microsoft.com/office/officeart/2016/7/layout/RepeatingBendingProcessNew"/>
    <dgm:cxn modelId="{7444835F-5E01-41EB-A13D-8B6DD9E0871B}" type="presOf" srcId="{8B561E3D-1FDD-4CD4-94A2-3CF090595055}" destId="{C5B04699-B6A9-443E-9B5D-470E091F06D4}" srcOrd="0" destOrd="0" presId="urn:microsoft.com/office/officeart/2016/7/layout/RepeatingBendingProcessNew"/>
    <dgm:cxn modelId="{C402FB6D-DC65-4DA2-A290-4C8FA3B522A8}" srcId="{B87B03C4-26FF-4C7D-A26E-F905BF8C8F01}" destId="{B4393E31-A868-4224-B4C7-31072F657629}" srcOrd="3" destOrd="0" parTransId="{D0434D0C-8214-4CF6-8616-1C3A35F148DD}" sibTransId="{F61A4738-F448-4510-BB5B-75394CC0B7AF}"/>
    <dgm:cxn modelId="{CC42B38F-95C0-4B96-AC76-EE788224DF3A}" type="presOf" srcId="{A9C656B0-99BF-4660-87CB-F27EA6C3B97A}" destId="{D56C7CBA-3D5B-463F-85A6-4E7B2031D20B}" srcOrd="1" destOrd="0" presId="urn:microsoft.com/office/officeart/2016/7/layout/RepeatingBendingProcessNew"/>
    <dgm:cxn modelId="{28B4DC99-7567-4D25-8A18-DC4217413944}" type="presOf" srcId="{B87B03C4-26FF-4C7D-A26E-F905BF8C8F01}" destId="{676DA5D9-9AD7-4F62-B647-D046FC3D0C60}" srcOrd="0" destOrd="0" presId="urn:microsoft.com/office/officeart/2016/7/layout/RepeatingBendingProcessNew"/>
    <dgm:cxn modelId="{3D50119C-4CFE-4FA8-8F74-E1DED87C5D45}" srcId="{B87B03C4-26FF-4C7D-A26E-F905BF8C8F01}" destId="{8B561E3D-1FDD-4CD4-94A2-3CF090595055}" srcOrd="5" destOrd="0" parTransId="{75DBA436-AEEC-42ED-8668-D1BE91F84E53}" sibTransId="{B467B722-E555-4A36-8D56-D31465A02E7B}"/>
    <dgm:cxn modelId="{BAF861A6-AD6D-4E1B-B3DE-43A3EB765BF9}" type="presOf" srcId="{BC6CD676-D629-4C43-A691-1C8E80B0853F}" destId="{D05A4257-4484-4219-B546-AD65C51FCD15}" srcOrd="0" destOrd="0" presId="urn:microsoft.com/office/officeart/2016/7/layout/RepeatingBendingProcessNew"/>
    <dgm:cxn modelId="{DDADF4A9-05C4-4251-8EB1-93C1D1D63C69}" type="presOf" srcId="{A9C656B0-99BF-4660-87CB-F27EA6C3B97A}" destId="{742A4C49-8E16-46D5-AEF1-6BDB2BC1C919}" srcOrd="0" destOrd="0" presId="urn:microsoft.com/office/officeart/2016/7/layout/RepeatingBendingProcessNew"/>
    <dgm:cxn modelId="{1D62A4AE-C658-4CBA-B3B3-4A68F07223A0}" srcId="{B87B03C4-26FF-4C7D-A26E-F905BF8C8F01}" destId="{79777D01-953A-49D3-9DE2-561FE771C63A}" srcOrd="0" destOrd="0" parTransId="{068D1AD9-14B1-429D-90FC-C0A1220EE137}" sibTransId="{FF4DD3BF-11CF-45B5-8612-DFC28E931E20}"/>
    <dgm:cxn modelId="{CA77FCC8-98EA-4CDB-8E37-964048DC8662}" type="presOf" srcId="{4C9A50A9-23BB-4386-8917-B6CC1AE9A211}" destId="{0FFF7C36-4F85-4C48-88D0-53996FB436E2}" srcOrd="0" destOrd="0" presId="urn:microsoft.com/office/officeart/2016/7/layout/RepeatingBendingProcessNew"/>
    <dgm:cxn modelId="{4432FED4-2D55-4AE1-A837-7FE204483A47}" type="presOf" srcId="{B4393E31-A868-4224-B4C7-31072F657629}" destId="{9DF50574-9489-45BB-A527-6376D7D1F8C4}" srcOrd="0" destOrd="0" presId="urn:microsoft.com/office/officeart/2016/7/layout/RepeatingBendingProcessNew"/>
    <dgm:cxn modelId="{7945A6D6-4A4F-4ECD-BFB2-51DF6ECEEE48}" type="presOf" srcId="{79777D01-953A-49D3-9DE2-561FE771C63A}" destId="{B745FBB5-9DC0-43E8-BF53-A075C653ACAF}" srcOrd="0" destOrd="0" presId="urn:microsoft.com/office/officeart/2016/7/layout/RepeatingBendingProcessNew"/>
    <dgm:cxn modelId="{9F3F60D9-1C4B-439D-BA59-1508E38C0DDC}" srcId="{B87B03C4-26FF-4C7D-A26E-F905BF8C8F01}" destId="{B0B7CC87-C1B7-47CB-A3F1-87BAC377EDB4}" srcOrd="4" destOrd="0" parTransId="{C9163C26-6C1C-4258-8116-CBAB60FBBA8B}" sibTransId="{BC6CD676-D629-4C43-A691-1C8E80B0853F}"/>
    <dgm:cxn modelId="{9263EDE5-6C85-43AA-8084-08BEA067BFA5}" type="presOf" srcId="{F61A4738-F448-4510-BB5B-75394CC0B7AF}" destId="{0842074B-21F7-43E0-B0F4-5CC049740D8E}" srcOrd="0" destOrd="0" presId="urn:microsoft.com/office/officeart/2016/7/layout/RepeatingBendingProcessNew"/>
    <dgm:cxn modelId="{8E3CAEFF-4099-4AAF-9CCB-5BF47D779B27}" type="presOf" srcId="{BC6CD676-D629-4C43-A691-1C8E80B0853F}" destId="{6B5CBE07-2C28-45DF-A2FA-5E7235022AC3}" srcOrd="1" destOrd="0" presId="urn:microsoft.com/office/officeart/2016/7/layout/RepeatingBendingProcessNew"/>
    <dgm:cxn modelId="{AB75448A-C99C-43B3-B4AB-79A7BD6B8C97}" type="presParOf" srcId="{676DA5D9-9AD7-4F62-B647-D046FC3D0C60}" destId="{B745FBB5-9DC0-43E8-BF53-A075C653ACAF}" srcOrd="0" destOrd="0" presId="urn:microsoft.com/office/officeart/2016/7/layout/RepeatingBendingProcessNew"/>
    <dgm:cxn modelId="{045B9689-F97C-42E4-89BA-4EB79BA2BCFB}" type="presParOf" srcId="{676DA5D9-9AD7-4F62-B647-D046FC3D0C60}" destId="{E8C1925C-3FA7-4E6A-A237-BC1F9D0FA8E0}" srcOrd="1" destOrd="0" presId="urn:microsoft.com/office/officeart/2016/7/layout/RepeatingBendingProcessNew"/>
    <dgm:cxn modelId="{A8B14FD6-D3BD-4722-AC62-3EB4C9B9296C}" type="presParOf" srcId="{E8C1925C-3FA7-4E6A-A237-BC1F9D0FA8E0}" destId="{5447DCC0-278A-400E-9907-E8A3F5D1F8DF}" srcOrd="0" destOrd="0" presId="urn:microsoft.com/office/officeart/2016/7/layout/RepeatingBendingProcessNew"/>
    <dgm:cxn modelId="{95144F5A-FA2A-4083-9845-08F9FBFD9643}" type="presParOf" srcId="{676DA5D9-9AD7-4F62-B647-D046FC3D0C60}" destId="{0FFF7C36-4F85-4C48-88D0-53996FB436E2}" srcOrd="2" destOrd="0" presId="urn:microsoft.com/office/officeart/2016/7/layout/RepeatingBendingProcessNew"/>
    <dgm:cxn modelId="{3DC9FB84-5540-4509-8A55-C8EF9ADEF868}" type="presParOf" srcId="{676DA5D9-9AD7-4F62-B647-D046FC3D0C60}" destId="{742A4C49-8E16-46D5-AEF1-6BDB2BC1C919}" srcOrd="3" destOrd="0" presId="urn:microsoft.com/office/officeart/2016/7/layout/RepeatingBendingProcessNew"/>
    <dgm:cxn modelId="{08AF6700-A846-4C41-A9DF-6BACC5C24E73}" type="presParOf" srcId="{742A4C49-8E16-46D5-AEF1-6BDB2BC1C919}" destId="{D56C7CBA-3D5B-463F-85A6-4E7B2031D20B}" srcOrd="0" destOrd="0" presId="urn:microsoft.com/office/officeart/2016/7/layout/RepeatingBendingProcessNew"/>
    <dgm:cxn modelId="{E1008041-AE8D-459F-A2FC-AB7F988A4582}" type="presParOf" srcId="{676DA5D9-9AD7-4F62-B647-D046FC3D0C60}" destId="{CD5C2AB3-90E2-48D3-A47E-C33091BCE8A9}" srcOrd="4" destOrd="0" presId="urn:microsoft.com/office/officeart/2016/7/layout/RepeatingBendingProcessNew"/>
    <dgm:cxn modelId="{0B6677FC-9261-4309-9666-32F3F24783F7}" type="presParOf" srcId="{676DA5D9-9AD7-4F62-B647-D046FC3D0C60}" destId="{BF7F0004-B8EE-45E9-AA2C-6C17DB6B7FCA}" srcOrd="5" destOrd="0" presId="urn:microsoft.com/office/officeart/2016/7/layout/RepeatingBendingProcessNew"/>
    <dgm:cxn modelId="{E31B317A-8DF7-4D79-9FCE-44708FB10519}" type="presParOf" srcId="{BF7F0004-B8EE-45E9-AA2C-6C17DB6B7FCA}" destId="{07B2BF40-EC6F-4933-985F-0D2EF5817991}" srcOrd="0" destOrd="0" presId="urn:microsoft.com/office/officeart/2016/7/layout/RepeatingBendingProcessNew"/>
    <dgm:cxn modelId="{672D17F2-6BC1-4A9F-A248-F3BE6A27730C}" type="presParOf" srcId="{676DA5D9-9AD7-4F62-B647-D046FC3D0C60}" destId="{9DF50574-9489-45BB-A527-6376D7D1F8C4}" srcOrd="6" destOrd="0" presId="urn:microsoft.com/office/officeart/2016/7/layout/RepeatingBendingProcessNew"/>
    <dgm:cxn modelId="{E71D17B3-D036-402E-A48A-A4ABC9610887}" type="presParOf" srcId="{676DA5D9-9AD7-4F62-B647-D046FC3D0C60}" destId="{0842074B-21F7-43E0-B0F4-5CC049740D8E}" srcOrd="7" destOrd="0" presId="urn:microsoft.com/office/officeart/2016/7/layout/RepeatingBendingProcessNew"/>
    <dgm:cxn modelId="{52E7387B-1FE2-4B46-A539-473F366F24F1}" type="presParOf" srcId="{0842074B-21F7-43E0-B0F4-5CC049740D8E}" destId="{306C4329-9720-4DAE-AF6C-756FAFB41767}" srcOrd="0" destOrd="0" presId="urn:microsoft.com/office/officeart/2016/7/layout/RepeatingBendingProcessNew"/>
    <dgm:cxn modelId="{189C2427-5D76-4F8E-8A15-E0D1B2BCCDB9}" type="presParOf" srcId="{676DA5D9-9AD7-4F62-B647-D046FC3D0C60}" destId="{5DB53C97-CFC2-423A-96B2-E0BCB572A06A}" srcOrd="8" destOrd="0" presId="urn:microsoft.com/office/officeart/2016/7/layout/RepeatingBendingProcessNew"/>
    <dgm:cxn modelId="{4CAD78A8-7A27-468C-B5FA-91610FB0662F}" type="presParOf" srcId="{676DA5D9-9AD7-4F62-B647-D046FC3D0C60}" destId="{D05A4257-4484-4219-B546-AD65C51FCD15}" srcOrd="9" destOrd="0" presId="urn:microsoft.com/office/officeart/2016/7/layout/RepeatingBendingProcessNew"/>
    <dgm:cxn modelId="{2B07A4B4-B30F-4236-8FE0-9D7D030327C9}" type="presParOf" srcId="{D05A4257-4484-4219-B546-AD65C51FCD15}" destId="{6B5CBE07-2C28-45DF-A2FA-5E7235022AC3}" srcOrd="0" destOrd="0" presId="urn:microsoft.com/office/officeart/2016/7/layout/RepeatingBendingProcessNew"/>
    <dgm:cxn modelId="{4E026C4E-641D-4946-B9D5-B2A6CD48F5F4}" type="presParOf" srcId="{676DA5D9-9AD7-4F62-B647-D046FC3D0C60}" destId="{C5B04699-B6A9-443E-9B5D-470E091F06D4}"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C1925C-3FA7-4E6A-A237-BC1F9D0FA8E0}">
      <dsp:nvSpPr>
        <dsp:cNvPr id="0" name=""/>
        <dsp:cNvSpPr/>
      </dsp:nvSpPr>
      <dsp:spPr>
        <a:xfrm>
          <a:off x="2081152" y="591257"/>
          <a:ext cx="447733" cy="91440"/>
        </a:xfrm>
        <a:custGeom>
          <a:avLst/>
          <a:gdLst/>
          <a:ahLst/>
          <a:cxnLst/>
          <a:rect l="0" t="0" r="0" b="0"/>
          <a:pathLst>
            <a:path>
              <a:moveTo>
                <a:pt x="0" y="45720"/>
              </a:moveTo>
              <a:lnTo>
                <a:pt x="447733" y="45720"/>
              </a:lnTo>
            </a:path>
          </a:pathLst>
        </a:custGeom>
        <a:noFill/>
        <a:ln w="5715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93061" y="634583"/>
        <a:ext cx="23916" cy="4788"/>
      </dsp:txXfrm>
    </dsp:sp>
    <dsp:sp modelId="{B745FBB5-9DC0-43E8-BF53-A075C653ACAF}">
      <dsp:nvSpPr>
        <dsp:cNvPr id="0" name=""/>
        <dsp:cNvSpPr/>
      </dsp:nvSpPr>
      <dsp:spPr>
        <a:xfrm>
          <a:off x="3241" y="13064"/>
          <a:ext cx="2079710" cy="124782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908" tIns="106970" rIns="101908" bIns="106970" numCol="1" spcCol="1270" anchor="ctr" anchorCtr="0">
          <a:noAutofit/>
        </a:bodyPr>
        <a:lstStyle/>
        <a:p>
          <a:pPr marL="0" lvl="0" indent="0" algn="ctr" defTabSz="755650">
            <a:lnSpc>
              <a:spcPct val="90000"/>
            </a:lnSpc>
            <a:spcBef>
              <a:spcPct val="0"/>
            </a:spcBef>
            <a:spcAft>
              <a:spcPct val="35000"/>
            </a:spcAft>
            <a:buNone/>
          </a:pPr>
          <a:r>
            <a:rPr lang="fr-FR" sz="1700" b="1" kern="1200" dirty="0">
              <a:solidFill>
                <a:schemeClr val="tx1"/>
              </a:solidFill>
            </a:rPr>
            <a:t>B)EVALUATION DE LA FONCTION RESPIRATOIRE(suite)</a:t>
          </a:r>
          <a:endParaRPr lang="en-US" sz="1700" kern="1200" dirty="0">
            <a:solidFill>
              <a:schemeClr val="tx1"/>
            </a:solidFill>
          </a:endParaRPr>
        </a:p>
      </dsp:txBody>
      <dsp:txXfrm>
        <a:off x="3241" y="13064"/>
        <a:ext cx="2079710" cy="1247826"/>
      </dsp:txXfrm>
    </dsp:sp>
    <dsp:sp modelId="{742A4C49-8E16-46D5-AEF1-6BDB2BC1C919}">
      <dsp:nvSpPr>
        <dsp:cNvPr id="0" name=""/>
        <dsp:cNvSpPr/>
      </dsp:nvSpPr>
      <dsp:spPr>
        <a:xfrm>
          <a:off x="1042119" y="1259091"/>
          <a:ext cx="2559021" cy="568086"/>
        </a:xfrm>
        <a:custGeom>
          <a:avLst/>
          <a:gdLst/>
          <a:ahLst/>
          <a:cxnLst/>
          <a:rect l="0" t="0" r="0" b="0"/>
          <a:pathLst>
            <a:path>
              <a:moveTo>
                <a:pt x="2559021" y="0"/>
              </a:moveTo>
              <a:lnTo>
                <a:pt x="2559021" y="301143"/>
              </a:lnTo>
              <a:lnTo>
                <a:pt x="0" y="301143"/>
              </a:lnTo>
              <a:lnTo>
                <a:pt x="0" y="568086"/>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5927" y="1540740"/>
        <a:ext cx="131406" cy="4788"/>
      </dsp:txXfrm>
    </dsp:sp>
    <dsp:sp modelId="{0FFF7C36-4F85-4C48-88D0-53996FB436E2}">
      <dsp:nvSpPr>
        <dsp:cNvPr id="0" name=""/>
        <dsp:cNvSpPr/>
      </dsp:nvSpPr>
      <dsp:spPr>
        <a:xfrm>
          <a:off x="2561286" y="13064"/>
          <a:ext cx="2079710" cy="124782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908" tIns="106970" rIns="101908" bIns="106970" numCol="1" spcCol="1270" anchor="ctr" anchorCtr="0">
          <a:noAutofit/>
        </a:bodyPr>
        <a:lstStyle/>
        <a:p>
          <a:pPr marL="0" lvl="0" indent="0" algn="ctr" defTabSz="755650">
            <a:lnSpc>
              <a:spcPct val="90000"/>
            </a:lnSpc>
            <a:spcBef>
              <a:spcPct val="0"/>
            </a:spcBef>
            <a:spcAft>
              <a:spcPct val="35000"/>
            </a:spcAft>
            <a:buNone/>
          </a:pPr>
          <a:r>
            <a:rPr lang="fr-FR" sz="1700" b="1" kern="1200" dirty="0">
              <a:solidFill>
                <a:schemeClr val="tx1"/>
              </a:solidFill>
            </a:rPr>
            <a:t>RESPIRATOIRE ALTEREE </a:t>
          </a:r>
          <a:r>
            <a:rPr lang="fr-FR" sz="1700" kern="1200" dirty="0">
              <a:solidFill>
                <a:schemeClr val="tx1"/>
              </a:solidFill>
            </a:rPr>
            <a:t>=2 Cas de figure sont possibles</a:t>
          </a:r>
          <a:endParaRPr lang="en-US" sz="1700" kern="1200" dirty="0">
            <a:solidFill>
              <a:schemeClr val="tx1"/>
            </a:solidFill>
          </a:endParaRPr>
        </a:p>
      </dsp:txBody>
      <dsp:txXfrm>
        <a:off x="2561286" y="13064"/>
        <a:ext cx="2079710" cy="1247826"/>
      </dsp:txXfrm>
    </dsp:sp>
    <dsp:sp modelId="{BF7F0004-B8EE-45E9-AA2C-6C17DB6B7FCA}">
      <dsp:nvSpPr>
        <dsp:cNvPr id="0" name=""/>
        <dsp:cNvSpPr/>
      </dsp:nvSpPr>
      <dsp:spPr>
        <a:xfrm>
          <a:off x="2080175" y="2363137"/>
          <a:ext cx="448710" cy="120352"/>
        </a:xfrm>
        <a:custGeom>
          <a:avLst/>
          <a:gdLst/>
          <a:ahLst/>
          <a:cxnLst/>
          <a:rect l="0" t="0" r="0" b="0"/>
          <a:pathLst>
            <a:path>
              <a:moveTo>
                <a:pt x="0" y="120352"/>
              </a:moveTo>
              <a:lnTo>
                <a:pt x="241455" y="120352"/>
              </a:lnTo>
              <a:lnTo>
                <a:pt x="241455" y="0"/>
              </a:lnTo>
              <a:lnTo>
                <a:pt x="448710" y="0"/>
              </a:lnTo>
            </a:path>
          </a:pathLst>
        </a:custGeom>
        <a:noFill/>
        <a:ln w="5715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92176" y="2420920"/>
        <a:ext cx="24709" cy="4788"/>
      </dsp:txXfrm>
    </dsp:sp>
    <dsp:sp modelId="{CD5C2AB3-90E2-48D3-A47E-C33091BCE8A9}">
      <dsp:nvSpPr>
        <dsp:cNvPr id="0" name=""/>
        <dsp:cNvSpPr/>
      </dsp:nvSpPr>
      <dsp:spPr>
        <a:xfrm>
          <a:off x="2264" y="1859577"/>
          <a:ext cx="2079710" cy="1247826"/>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908" tIns="106970" rIns="101908" bIns="106970"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solidFill>
            </a:rPr>
            <a:t>Pas de  bruit  à l’oreille prés de la bouche=Obstruction des V.A.S</a:t>
          </a:r>
          <a:endParaRPr lang="en-US" sz="1800" b="1" kern="1200" dirty="0">
            <a:solidFill>
              <a:schemeClr val="tx1"/>
            </a:solidFill>
          </a:endParaRPr>
        </a:p>
      </dsp:txBody>
      <dsp:txXfrm>
        <a:off x="2264" y="1859577"/>
        <a:ext cx="2079710" cy="1247826"/>
      </dsp:txXfrm>
    </dsp:sp>
    <dsp:sp modelId="{0842074B-21F7-43E0-B0F4-5CC049740D8E}">
      <dsp:nvSpPr>
        <dsp:cNvPr id="0" name=""/>
        <dsp:cNvSpPr/>
      </dsp:nvSpPr>
      <dsp:spPr>
        <a:xfrm>
          <a:off x="1043097" y="2985251"/>
          <a:ext cx="2558044" cy="447733"/>
        </a:xfrm>
        <a:custGeom>
          <a:avLst/>
          <a:gdLst/>
          <a:ahLst/>
          <a:cxnLst/>
          <a:rect l="0" t="0" r="0" b="0"/>
          <a:pathLst>
            <a:path>
              <a:moveTo>
                <a:pt x="2558044" y="0"/>
              </a:moveTo>
              <a:lnTo>
                <a:pt x="2558044" y="240966"/>
              </a:lnTo>
              <a:lnTo>
                <a:pt x="0" y="240966"/>
              </a:lnTo>
              <a:lnTo>
                <a:pt x="0" y="447733"/>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7059" y="3206724"/>
        <a:ext cx="130119" cy="4788"/>
      </dsp:txXfrm>
    </dsp:sp>
    <dsp:sp modelId="{9DF50574-9489-45BB-A527-6376D7D1F8C4}">
      <dsp:nvSpPr>
        <dsp:cNvPr id="0" name=""/>
        <dsp:cNvSpPr/>
      </dsp:nvSpPr>
      <dsp:spPr>
        <a:xfrm>
          <a:off x="2561286" y="1739224"/>
          <a:ext cx="2079710" cy="124782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908" tIns="106970" rIns="101908" bIns="106970" numCol="1" spcCol="1270" anchor="ctr" anchorCtr="0">
          <a:noAutofit/>
        </a:bodyPr>
        <a:lstStyle/>
        <a:p>
          <a:pPr marL="0" lvl="0" indent="0" algn="ctr" defTabSz="800100">
            <a:lnSpc>
              <a:spcPct val="90000"/>
            </a:lnSpc>
            <a:spcBef>
              <a:spcPct val="0"/>
            </a:spcBef>
            <a:spcAft>
              <a:spcPct val="35000"/>
            </a:spcAft>
            <a:buNone/>
          </a:pPr>
          <a:r>
            <a:rPr lang="fr-FR" sz="1800" b="1" kern="1200" dirty="0">
              <a:solidFill>
                <a:schemeClr val="tx1"/>
              </a:solidFill>
            </a:rPr>
            <a:t>CAT: manœuvre de </a:t>
          </a:r>
          <a:r>
            <a:rPr lang="fr-FR" sz="1800" b="1" kern="1200" dirty="0" err="1">
              <a:solidFill>
                <a:schemeClr val="tx1"/>
              </a:solidFill>
            </a:rPr>
            <a:t>HEiMLiCH</a:t>
          </a:r>
          <a:r>
            <a:rPr lang="fr-FR" sz="1800" b="1" kern="1200" dirty="0">
              <a:solidFill>
                <a:schemeClr val="tx1"/>
              </a:solidFill>
            </a:rPr>
            <a:t> </a:t>
          </a:r>
          <a:endParaRPr lang="en-US" sz="1800" b="1" kern="1200" dirty="0">
            <a:solidFill>
              <a:schemeClr val="tx1"/>
            </a:solidFill>
          </a:endParaRPr>
        </a:p>
      </dsp:txBody>
      <dsp:txXfrm>
        <a:off x="2561286" y="1739224"/>
        <a:ext cx="2079710" cy="1247826"/>
      </dsp:txXfrm>
    </dsp:sp>
    <dsp:sp modelId="{D05A4257-4484-4219-B546-AD65C51FCD15}">
      <dsp:nvSpPr>
        <dsp:cNvPr id="0" name=""/>
        <dsp:cNvSpPr/>
      </dsp:nvSpPr>
      <dsp:spPr>
        <a:xfrm>
          <a:off x="2081152" y="4043578"/>
          <a:ext cx="450975" cy="91440"/>
        </a:xfrm>
        <a:custGeom>
          <a:avLst/>
          <a:gdLst/>
          <a:ahLst/>
          <a:cxnLst/>
          <a:rect l="0" t="0" r="0" b="0"/>
          <a:pathLst>
            <a:path>
              <a:moveTo>
                <a:pt x="0" y="45720"/>
              </a:moveTo>
              <a:lnTo>
                <a:pt x="242587" y="45720"/>
              </a:lnTo>
              <a:lnTo>
                <a:pt x="242587" y="58784"/>
              </a:lnTo>
              <a:lnTo>
                <a:pt x="450975" y="58784"/>
              </a:lnTo>
            </a:path>
          </a:pathLst>
        </a:custGeom>
        <a:noFill/>
        <a:ln w="5715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94596" y="4086904"/>
        <a:ext cx="24087" cy="4788"/>
      </dsp:txXfrm>
    </dsp:sp>
    <dsp:sp modelId="{5DB53C97-CFC2-423A-96B2-E0BCB572A06A}">
      <dsp:nvSpPr>
        <dsp:cNvPr id="0" name=""/>
        <dsp:cNvSpPr/>
      </dsp:nvSpPr>
      <dsp:spPr>
        <a:xfrm>
          <a:off x="3241" y="3465384"/>
          <a:ext cx="2079710" cy="1247826"/>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908" tIns="106970" rIns="101908" bIns="106970" numCol="1" spcCol="1270" anchor="ctr" anchorCtr="0">
          <a:noAutofit/>
        </a:bodyPr>
        <a:lstStyle/>
        <a:p>
          <a:pPr marL="0" lvl="0" indent="0" algn="ctr" defTabSz="711200">
            <a:lnSpc>
              <a:spcPct val="90000"/>
            </a:lnSpc>
            <a:spcBef>
              <a:spcPct val="0"/>
            </a:spcBef>
            <a:spcAft>
              <a:spcPct val="35000"/>
            </a:spcAft>
            <a:buNone/>
          </a:pPr>
          <a:r>
            <a:rPr lang="fr-FR" sz="1600" b="1" kern="1200" dirty="0">
              <a:solidFill>
                <a:schemeClr val="tx1"/>
              </a:solidFill>
            </a:rPr>
            <a:t>Existence d’une gène respiratoire et du bruit respiratoire= Détresse respiratoire</a:t>
          </a:r>
          <a:endParaRPr lang="en-US" sz="1600" b="1" kern="1200" dirty="0">
            <a:solidFill>
              <a:schemeClr val="tx1"/>
            </a:solidFill>
          </a:endParaRPr>
        </a:p>
      </dsp:txBody>
      <dsp:txXfrm>
        <a:off x="3241" y="3465384"/>
        <a:ext cx="2079710" cy="1247826"/>
      </dsp:txXfrm>
    </dsp:sp>
    <dsp:sp modelId="{C5B04699-B6A9-443E-9B5D-470E091F06D4}">
      <dsp:nvSpPr>
        <dsp:cNvPr id="0" name=""/>
        <dsp:cNvSpPr/>
      </dsp:nvSpPr>
      <dsp:spPr>
        <a:xfrm>
          <a:off x="2564528" y="3478449"/>
          <a:ext cx="2079710" cy="124782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908" tIns="106970" rIns="101908" bIns="106970" numCol="1" spcCol="1270" anchor="ctr" anchorCtr="0">
          <a:noAutofit/>
        </a:bodyPr>
        <a:lstStyle/>
        <a:p>
          <a:pPr marL="0" lvl="0" indent="0" algn="ctr" defTabSz="755650">
            <a:lnSpc>
              <a:spcPct val="90000"/>
            </a:lnSpc>
            <a:spcBef>
              <a:spcPct val="0"/>
            </a:spcBef>
            <a:spcAft>
              <a:spcPct val="35000"/>
            </a:spcAft>
            <a:buNone/>
          </a:pPr>
          <a:r>
            <a:rPr lang="fr-FR" sz="1700" b="1" kern="1200" dirty="0">
              <a:solidFill>
                <a:schemeClr val="tx1"/>
              </a:solidFill>
            </a:rPr>
            <a:t>CAT: Oxygénothérapie + Position de confort</a:t>
          </a:r>
          <a:endParaRPr lang="en-US" sz="1700" b="1" kern="1200" dirty="0">
            <a:solidFill>
              <a:schemeClr val="tx1"/>
            </a:solidFill>
          </a:endParaRPr>
        </a:p>
      </dsp:txBody>
      <dsp:txXfrm>
        <a:off x="2564528" y="3478449"/>
        <a:ext cx="2079710" cy="124782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D18DA874-A1BC-46B4-A858-1AEAFA06E76C}" type="datetimeFigureOut">
              <a:rPr lang="fr-FR" smtClean="0"/>
              <a:t>27/12/2024</a:t>
            </a:fld>
            <a:endParaRPr lang="fr-FR"/>
          </a:p>
        </p:txBody>
      </p:sp>
      <p:sp>
        <p:nvSpPr>
          <p:cNvPr id="4" name="Espace réservé de l'image des diapositives 3"/>
          <p:cNvSpPr>
            <a:spLocks noGrp="1" noRot="1" noChangeAspect="1"/>
          </p:cNvSpPr>
          <p:nvPr>
            <p:ph type="sldImg" idx="2"/>
          </p:nvPr>
        </p:nvSpPr>
        <p:spPr>
          <a:xfrm>
            <a:off x="1189038" y="1252538"/>
            <a:ext cx="4510087" cy="33813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8975" y="4822825"/>
            <a:ext cx="5510213" cy="3944938"/>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518650"/>
            <a:ext cx="2984500" cy="5016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02075" y="9518650"/>
            <a:ext cx="2984500" cy="501650"/>
          </a:xfrm>
          <a:prstGeom prst="rect">
            <a:avLst/>
          </a:prstGeom>
        </p:spPr>
        <p:txBody>
          <a:bodyPr vert="horz" lIns="91440" tIns="45720" rIns="91440" bIns="45720" rtlCol="0" anchor="b"/>
          <a:lstStyle>
            <a:lvl1pPr algn="r">
              <a:defRPr sz="1200"/>
            </a:lvl1pPr>
          </a:lstStyle>
          <a:p>
            <a:fld id="{1EA27078-5BC1-472C-941B-9919682B9908}" type="slidenum">
              <a:rPr lang="fr-FR" smtClean="0"/>
              <a:t>‹N°›</a:t>
            </a:fld>
            <a:endParaRPr lang="fr-FR"/>
          </a:p>
        </p:txBody>
      </p:sp>
    </p:spTree>
    <p:extLst>
      <p:ext uri="{BB962C8B-B14F-4D97-AF65-F5344CB8AC3E}">
        <p14:creationId xmlns:p14="http://schemas.microsoft.com/office/powerpoint/2010/main" val="3110359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buNone/>
            </a:pPr>
            <a:endParaRPr lang="fr-FR" sz="1400" b="1" dirty="0"/>
          </a:p>
          <a:p>
            <a:pPr>
              <a:buNone/>
            </a:pPr>
            <a:endParaRPr lang="fr-FR" sz="1400" b="1" i="1" u="sng" dirty="0"/>
          </a:p>
          <a:p>
            <a:endParaRPr lang="fr-FR" dirty="0"/>
          </a:p>
        </p:txBody>
      </p:sp>
      <p:sp>
        <p:nvSpPr>
          <p:cNvPr id="4" name="Espace réservé du numéro de diapositive 3"/>
          <p:cNvSpPr>
            <a:spLocks noGrp="1"/>
          </p:cNvSpPr>
          <p:nvPr>
            <p:ph type="sldNum" sz="quarter" idx="5"/>
          </p:nvPr>
        </p:nvSpPr>
        <p:spPr/>
        <p:txBody>
          <a:bodyPr/>
          <a:lstStyle/>
          <a:p>
            <a:fld id="{1EA27078-5BC1-472C-941B-9919682B9908}" type="slidenum">
              <a:rPr lang="fr-FR" smtClean="0"/>
              <a:t>3</a:t>
            </a:fld>
            <a:endParaRPr lang="fr-FR"/>
          </a:p>
        </p:txBody>
      </p:sp>
    </p:spTree>
    <p:extLst>
      <p:ext uri="{BB962C8B-B14F-4D97-AF65-F5344CB8AC3E}">
        <p14:creationId xmlns:p14="http://schemas.microsoft.com/office/powerpoint/2010/main" val="3704217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EA27078-5BC1-472C-941B-9919682B9908}" type="slidenum">
              <a:rPr lang="fr-FR" smtClean="0"/>
              <a:t>4</a:t>
            </a:fld>
            <a:endParaRPr lang="fr-FR"/>
          </a:p>
        </p:txBody>
      </p:sp>
    </p:spTree>
    <p:extLst>
      <p:ext uri="{BB962C8B-B14F-4D97-AF65-F5344CB8AC3E}">
        <p14:creationId xmlns:p14="http://schemas.microsoft.com/office/powerpoint/2010/main" val="4220181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91571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203826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59448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1563957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314084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64345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4262251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2869721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182492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2920253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6641CC-145A-4386-9E01-E3300882484E}" type="datetimeFigureOut">
              <a:rPr lang="fr-FR" smtClean="0"/>
              <a:pPr/>
              <a:t>27/12/2024</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1508060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6641CC-145A-4386-9E01-E3300882484E}" type="datetimeFigureOut">
              <a:rPr lang="fr-FR" smtClean="0"/>
              <a:pPr/>
              <a:t>27/12/2024</a:t>
            </a:fld>
            <a:endParaRPr lang="fr-FR"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4F6C8-4A89-419B-9C89-ECEC6055D38B}" type="slidenum">
              <a:rPr lang="fr-FR" smtClean="0"/>
              <a:pPr/>
              <a:t>‹N°›</a:t>
            </a:fld>
            <a:endParaRPr lang="fr-FR" dirty="0"/>
          </a:p>
        </p:txBody>
      </p:sp>
    </p:spTree>
    <p:extLst>
      <p:ext uri="{BB962C8B-B14F-4D97-AF65-F5344CB8AC3E}">
        <p14:creationId xmlns:p14="http://schemas.microsoft.com/office/powerpoint/2010/main" val="334571220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0"/>
            <a:ext cx="9170066"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19877" y="-988420"/>
            <a:ext cx="6859919" cy="8832924"/>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864"/>
            <a:ext cx="2706134"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252763" y="1649137"/>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9166299"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5630" y="-1353130"/>
            <a:ext cx="6407535" cy="9113803"/>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46F3832-A6FC-48F6-ACF5-2FB83BF04414}"/>
              </a:ext>
            </a:extLst>
          </p:cNvPr>
          <p:cNvSpPr>
            <a:spLocks noGrp="1"/>
          </p:cNvSpPr>
          <p:nvPr>
            <p:ph type="title"/>
          </p:nvPr>
        </p:nvSpPr>
        <p:spPr>
          <a:xfrm>
            <a:off x="107504" y="116632"/>
            <a:ext cx="8984001" cy="6290908"/>
          </a:xfrm>
          <a:blipFill dpi="0" rotWithShape="1">
            <a:blip r:embed="rId2">
              <a:extLst>
                <a:ext uri="{28A0092B-C50C-407E-A947-70E740481C1C}">
                  <a14:useLocalDpi xmlns:a14="http://schemas.microsoft.com/office/drawing/2010/main" val="0"/>
                </a:ext>
              </a:extLst>
            </a:blip>
            <a:srcRect/>
            <a:stretch>
              <a:fillRect/>
            </a:stretch>
          </a:blipFill>
        </p:spPr>
        <p:txBody>
          <a:bodyPr vert="horz" lIns="91440" tIns="45720" rIns="91440" bIns="45720" rtlCol="0" anchor="t">
            <a:normAutofit/>
          </a:bodyPr>
          <a:lstStyle/>
          <a:p>
            <a:endParaRPr lang="en-US" sz="4200" kern="1200" dirty="0">
              <a:solidFill>
                <a:srgbClr val="FFFFFF"/>
              </a:solidFill>
              <a:latin typeface="+mj-lt"/>
              <a:ea typeface="+mj-ea"/>
              <a:cs typeface="+mj-cs"/>
            </a:endParaRPr>
          </a:p>
        </p:txBody>
      </p:sp>
      <p:sp>
        <p:nvSpPr>
          <p:cNvPr id="4" name="Rectangle : coins arrondis 3">
            <a:extLst>
              <a:ext uri="{FF2B5EF4-FFF2-40B4-BE49-F238E27FC236}">
                <a16:creationId xmlns:a16="http://schemas.microsoft.com/office/drawing/2014/main" id="{9EBFE17B-060B-4374-8396-A6CC744ADBB7}"/>
              </a:ext>
            </a:extLst>
          </p:cNvPr>
          <p:cNvSpPr/>
          <p:nvPr/>
        </p:nvSpPr>
        <p:spPr>
          <a:xfrm>
            <a:off x="107504" y="140284"/>
            <a:ext cx="8928992" cy="265347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rgbClr val="FF0000"/>
                </a:solidFill>
              </a:rPr>
              <a:t>INTRODUCTION A L’OXYOLOGIE </a:t>
            </a:r>
          </a:p>
          <a:p>
            <a:pPr algn="ctr"/>
            <a:r>
              <a:rPr lang="fr-FR" sz="4000" b="1" dirty="0">
                <a:solidFill>
                  <a:srgbClr val="FF0000"/>
                </a:solidFill>
              </a:rPr>
              <a:t>Dr S.BELLAHDID </a:t>
            </a:r>
          </a:p>
          <a:p>
            <a:pPr algn="ctr"/>
            <a:r>
              <a:rPr lang="fr-FR" sz="2400" b="1" dirty="0">
                <a:solidFill>
                  <a:srgbClr val="FF0000"/>
                </a:solidFill>
              </a:rPr>
              <a:t>REANIMATION MEDICALE CHU MUSTAPHA </a:t>
            </a:r>
          </a:p>
        </p:txBody>
      </p:sp>
    </p:spTree>
    <p:extLst>
      <p:ext uri="{BB962C8B-B14F-4D97-AF65-F5344CB8AC3E}">
        <p14:creationId xmlns:p14="http://schemas.microsoft.com/office/powerpoint/2010/main" val="1057508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870E59-74CC-4B1A-9AF1-6549B2D3FD40}"/>
              </a:ext>
            </a:extLst>
          </p:cNvPr>
          <p:cNvSpPr>
            <a:spLocks noGrp="1"/>
          </p:cNvSpPr>
          <p:nvPr>
            <p:ph type="title"/>
          </p:nvPr>
        </p:nvSpPr>
        <p:spPr>
          <a:xfrm>
            <a:off x="107504" y="188641"/>
            <a:ext cx="8856984" cy="792087"/>
          </a:xfrm>
          <a:ln w="57150">
            <a:solidFill>
              <a:schemeClr val="tx1"/>
            </a:solidFill>
          </a:ln>
        </p:spPr>
        <p:txBody>
          <a:bodyPr>
            <a:normAutofit/>
          </a:bodyPr>
          <a:lstStyle/>
          <a:p>
            <a:r>
              <a:rPr lang="fr-FR" b="1" dirty="0">
                <a:solidFill>
                  <a:srgbClr val="FF0000"/>
                </a:solidFill>
              </a:rPr>
              <a:t>                        </a:t>
            </a:r>
            <a:r>
              <a:rPr lang="fr-FR" b="1" dirty="0">
                <a:solidFill>
                  <a:srgbClr val="FF0000"/>
                </a:solidFill>
                <a:latin typeface="+mn-lt"/>
              </a:rPr>
              <a:t>PLAN </a:t>
            </a:r>
          </a:p>
        </p:txBody>
      </p:sp>
      <p:sp>
        <p:nvSpPr>
          <p:cNvPr id="3" name="Espace réservé du contenu 2">
            <a:extLst>
              <a:ext uri="{FF2B5EF4-FFF2-40B4-BE49-F238E27FC236}">
                <a16:creationId xmlns:a16="http://schemas.microsoft.com/office/drawing/2014/main" id="{17028B0D-49EF-45CC-89B3-D9BCE111B518}"/>
              </a:ext>
            </a:extLst>
          </p:cNvPr>
          <p:cNvSpPr>
            <a:spLocks noGrp="1"/>
          </p:cNvSpPr>
          <p:nvPr>
            <p:ph idx="1"/>
          </p:nvPr>
        </p:nvSpPr>
        <p:spPr>
          <a:xfrm>
            <a:off x="107504" y="1052737"/>
            <a:ext cx="8856984" cy="5616622"/>
          </a:xfrm>
          <a:solidFill>
            <a:schemeClr val="bg1"/>
          </a:solidFill>
          <a:ln w="57150">
            <a:solidFill>
              <a:schemeClr val="tx1"/>
            </a:solidFill>
          </a:ln>
        </p:spPr>
        <p:txBody>
          <a:bodyPr>
            <a:normAutofit fontScale="77500" lnSpcReduction="20000"/>
          </a:bodyPr>
          <a:lstStyle/>
          <a:p>
            <a:pPr marL="0" indent="0">
              <a:buNone/>
            </a:pPr>
            <a:endParaRPr lang="fr-FR" b="1" dirty="0"/>
          </a:p>
          <a:p>
            <a:pPr marL="0" indent="0">
              <a:buNone/>
            </a:pPr>
            <a:r>
              <a:rPr lang="fr-FR" b="1" dirty="0"/>
              <a:t>I/INTRODUCTION</a:t>
            </a:r>
          </a:p>
          <a:p>
            <a:pPr marL="0" indent="0">
              <a:buNone/>
            </a:pPr>
            <a:endParaRPr lang="fr-FR" b="1" dirty="0"/>
          </a:p>
          <a:p>
            <a:pPr marL="0" indent="0">
              <a:buNone/>
            </a:pPr>
            <a:r>
              <a:rPr lang="fr-FR" b="1" dirty="0"/>
              <a:t>II/HISTORIQUE </a:t>
            </a:r>
          </a:p>
          <a:p>
            <a:pPr marL="0" indent="0">
              <a:buNone/>
            </a:pPr>
            <a:endParaRPr lang="fr-FR" b="1" dirty="0"/>
          </a:p>
          <a:p>
            <a:pPr marL="0" indent="0">
              <a:buNone/>
            </a:pPr>
            <a:r>
              <a:rPr lang="fr-FR" b="1" dirty="0"/>
              <a:t>III/ BILAN DES GRANDES FONCTIONS</a:t>
            </a:r>
          </a:p>
          <a:p>
            <a:pPr marL="0" indent="0">
              <a:buNone/>
            </a:pPr>
            <a:endParaRPr lang="fr-FR" b="1" dirty="0"/>
          </a:p>
          <a:p>
            <a:pPr marL="0" indent="0">
              <a:buNone/>
            </a:pPr>
            <a:r>
              <a:rPr lang="fr-FR" b="1" dirty="0"/>
              <a:t>IV/EVALUATION DE LA FONCTION NEUROLOGIQUE</a:t>
            </a:r>
          </a:p>
          <a:p>
            <a:pPr marL="0" indent="0">
              <a:buNone/>
            </a:pPr>
            <a:endParaRPr lang="fr-FR" b="1" dirty="0"/>
          </a:p>
          <a:p>
            <a:pPr marL="0" indent="0">
              <a:buNone/>
            </a:pPr>
            <a:r>
              <a:rPr lang="fr-FR" b="1" dirty="0"/>
              <a:t>V/EVALUATION DE LA FONCTION RESPIRATOIRE  </a:t>
            </a:r>
          </a:p>
          <a:p>
            <a:pPr marL="0" indent="0">
              <a:buNone/>
            </a:pPr>
            <a:endParaRPr lang="fr-FR" b="1" dirty="0"/>
          </a:p>
          <a:p>
            <a:pPr marL="0" indent="0">
              <a:buNone/>
            </a:pPr>
            <a:r>
              <a:rPr lang="fr-FR" b="1" dirty="0"/>
              <a:t>V/EVALUATION DE LA FONCTION CARDIAQUE</a:t>
            </a:r>
          </a:p>
          <a:p>
            <a:pPr marL="0" indent="0">
              <a:buNone/>
            </a:pPr>
            <a:endParaRPr lang="fr-FR" b="1" dirty="0"/>
          </a:p>
          <a:p>
            <a:pPr marL="0" indent="0">
              <a:buNone/>
            </a:pPr>
            <a:r>
              <a:rPr lang="fr-FR" b="1" dirty="0"/>
              <a:t>VI/ CONCLUSION </a:t>
            </a:r>
          </a:p>
          <a:p>
            <a:pPr marL="0" indent="0">
              <a:buNone/>
            </a:pPr>
            <a:r>
              <a:rPr lang="fr-FR" dirty="0"/>
              <a:t> </a:t>
            </a:r>
          </a:p>
        </p:txBody>
      </p:sp>
    </p:spTree>
    <p:extLst>
      <p:ext uri="{BB962C8B-B14F-4D97-AF65-F5344CB8AC3E}">
        <p14:creationId xmlns:p14="http://schemas.microsoft.com/office/powerpoint/2010/main" val="2127802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365126"/>
            <a:ext cx="8496944" cy="1325563"/>
          </a:xfrm>
          <a:ln w="57150">
            <a:solidFill>
              <a:schemeClr val="tx1"/>
            </a:solidFill>
          </a:ln>
        </p:spPr>
        <p:txBody>
          <a:bodyPr/>
          <a:lstStyle/>
          <a:p>
            <a:r>
              <a:rPr lang="fr-FR" b="1" dirty="0">
                <a:solidFill>
                  <a:srgbClr val="FF0000"/>
                </a:solidFill>
              </a:rPr>
              <a:t>INTRODUCTION A L’OXYOLOGIE </a:t>
            </a:r>
          </a:p>
        </p:txBody>
      </p:sp>
      <p:sp>
        <p:nvSpPr>
          <p:cNvPr id="3" name="Espace réservé du contenu 2"/>
          <p:cNvSpPr>
            <a:spLocks noGrp="1"/>
          </p:cNvSpPr>
          <p:nvPr>
            <p:ph idx="1"/>
          </p:nvPr>
        </p:nvSpPr>
        <p:spPr>
          <a:xfrm>
            <a:off x="323528" y="1690688"/>
            <a:ext cx="8568952" cy="4802185"/>
          </a:xfrm>
          <a:solidFill>
            <a:schemeClr val="bg1"/>
          </a:solidFill>
          <a:ln w="57150">
            <a:solidFill>
              <a:schemeClr val="tx1"/>
            </a:solidFill>
          </a:ln>
        </p:spPr>
        <p:txBody>
          <a:bodyPr>
            <a:normAutofit/>
          </a:bodyPr>
          <a:lstStyle/>
          <a:p>
            <a:pPr marL="0" indent="0">
              <a:buNone/>
            </a:pPr>
            <a:r>
              <a:rPr lang="fr-FR" b="1" u="sng" dirty="0">
                <a:solidFill>
                  <a:srgbClr val="FF0000"/>
                </a:solidFill>
              </a:rPr>
              <a:t>I/DEFINITION :</a:t>
            </a:r>
          </a:p>
          <a:p>
            <a:pPr>
              <a:buFont typeface="Wingdings" panose="05000000000000000000" pitchFamily="2" charset="2"/>
              <a:buChar char="Ø"/>
            </a:pPr>
            <a:r>
              <a:rPr lang="fr-FR" sz="2400" b="1" dirty="0"/>
              <a:t>Le terme «</a:t>
            </a:r>
            <a:r>
              <a:rPr lang="fr-FR" sz="2400" b="1" dirty="0" err="1">
                <a:solidFill>
                  <a:srgbClr val="7030A0"/>
                </a:solidFill>
              </a:rPr>
              <a:t>oxyologie</a:t>
            </a:r>
            <a:r>
              <a:rPr lang="fr-FR" sz="2400" b="1" dirty="0"/>
              <a:t> » désigne la médecine d’</a:t>
            </a:r>
            <a:r>
              <a:rPr lang="fr-FR" sz="2400" b="1" dirty="0">
                <a:solidFill>
                  <a:srgbClr val="7030A0"/>
                </a:solidFill>
              </a:rPr>
              <a:t>urgence</a:t>
            </a:r>
            <a:r>
              <a:rPr lang="fr-FR" sz="2400" b="1" dirty="0"/>
              <a:t> qui rassemble les ressources médicales et chirurgicales pour faire face aux urgences.</a:t>
            </a:r>
          </a:p>
          <a:p>
            <a:pPr>
              <a:buFont typeface="Wingdings" panose="05000000000000000000" pitchFamily="2" charset="2"/>
              <a:buChar char="Ø"/>
            </a:pPr>
            <a:r>
              <a:rPr lang="fr-FR" sz="2400" b="1" dirty="0"/>
              <a:t>Dérivé du latin « </a:t>
            </a:r>
            <a:r>
              <a:rPr lang="fr-FR" sz="2400" b="1" dirty="0" err="1">
                <a:solidFill>
                  <a:srgbClr val="7030A0"/>
                </a:solidFill>
              </a:rPr>
              <a:t>urgere</a:t>
            </a:r>
            <a:r>
              <a:rPr lang="fr-FR" sz="2400" b="1" dirty="0">
                <a:solidFill>
                  <a:srgbClr val="7030A0"/>
                </a:solidFill>
              </a:rPr>
              <a:t> </a:t>
            </a:r>
            <a:r>
              <a:rPr lang="fr-FR" sz="2400" b="1" dirty="0"/>
              <a:t>» signifiant :</a:t>
            </a:r>
          </a:p>
          <a:p>
            <a:pPr marL="0" indent="0">
              <a:buNone/>
            </a:pPr>
            <a:r>
              <a:rPr lang="fr-FR" sz="2400" b="1" dirty="0"/>
              <a:t>               </a:t>
            </a:r>
            <a:r>
              <a:rPr lang="fr-FR" b="1" u="sng" dirty="0"/>
              <a:t>« </a:t>
            </a:r>
            <a:r>
              <a:rPr lang="fr-FR" b="1" u="sng" dirty="0">
                <a:solidFill>
                  <a:srgbClr val="FF0000"/>
                </a:solidFill>
              </a:rPr>
              <a:t>Ce qui n’attend pas</a:t>
            </a:r>
            <a:r>
              <a:rPr lang="fr-FR" b="1" u="sng" dirty="0"/>
              <a:t> »</a:t>
            </a:r>
          </a:p>
          <a:p>
            <a:pPr>
              <a:buFont typeface="Wingdings" panose="05000000000000000000" pitchFamily="2" charset="2"/>
              <a:buChar char="Ø"/>
            </a:pPr>
            <a:r>
              <a:rPr lang="fr-FR" sz="2400" b="1" dirty="0"/>
              <a:t> Ainsi on définit l’urgence comme la perception de situations ou la personne sans soins est  exposée aux risques  à bref délai  de séquelles ou de décès .</a:t>
            </a:r>
          </a:p>
          <a:p>
            <a:pPr marL="0" indent="0">
              <a:buNone/>
            </a:pPr>
            <a:endParaRPr lang="fr-FR" sz="2400" b="1" dirty="0"/>
          </a:p>
          <a:p>
            <a:pPr marL="0" indent="0">
              <a:buNone/>
            </a:pPr>
            <a:endParaRPr lang="fr-FR" sz="2400" b="1" dirty="0"/>
          </a:p>
          <a:p>
            <a:pPr marL="0" indent="0">
              <a:buNone/>
            </a:pPr>
            <a:endParaRPr lang="fr-FR" dirty="0"/>
          </a:p>
        </p:txBody>
      </p:sp>
    </p:spTree>
    <p:extLst>
      <p:ext uri="{BB962C8B-B14F-4D97-AF65-F5344CB8AC3E}">
        <p14:creationId xmlns:p14="http://schemas.microsoft.com/office/powerpoint/2010/main" val="3890160881"/>
      </p:ext>
    </p:extLst>
  </p:cSld>
  <p:clrMapOvr>
    <a:masterClrMapping/>
  </p:clrMapOvr>
  <mc:AlternateContent xmlns:mc="http://schemas.openxmlformats.org/markup-compatibility/2006" xmlns:p14="http://schemas.microsoft.com/office/powerpoint/2010/main">
    <mc:Choice Requires="p14">
      <p:transition spd="slow" p14:dur="2000" advTm="11415"/>
    </mc:Choice>
    <mc:Fallback xmlns="">
      <p:transition spd="slow" advTm="1141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DD8BEC-EAD2-433D-841D-2BB73A3BACC8}"/>
              </a:ext>
            </a:extLst>
          </p:cNvPr>
          <p:cNvSpPr>
            <a:spLocks noGrp="1"/>
          </p:cNvSpPr>
          <p:nvPr>
            <p:ph type="title"/>
          </p:nvPr>
        </p:nvSpPr>
        <p:spPr>
          <a:xfrm>
            <a:off x="107504" y="365127"/>
            <a:ext cx="8712968" cy="759618"/>
          </a:xfrm>
          <a:ln w="76200">
            <a:solidFill>
              <a:schemeClr val="tx1"/>
            </a:solidFill>
          </a:ln>
        </p:spPr>
        <p:txBody>
          <a:bodyPr/>
          <a:lstStyle/>
          <a:p>
            <a:r>
              <a:rPr lang="fr-FR" b="1" dirty="0">
                <a:solidFill>
                  <a:srgbClr val="FF0000"/>
                </a:solidFill>
                <a:latin typeface="+mn-lt"/>
              </a:rPr>
              <a:t>INTRODUCTION A L’OXYOLOGIE </a:t>
            </a:r>
            <a:endParaRPr lang="fr-FR" b="1" dirty="0">
              <a:latin typeface="+mn-lt"/>
            </a:endParaRPr>
          </a:p>
        </p:txBody>
      </p:sp>
      <p:sp>
        <p:nvSpPr>
          <p:cNvPr id="3" name="Espace réservé du contenu 2">
            <a:extLst>
              <a:ext uri="{FF2B5EF4-FFF2-40B4-BE49-F238E27FC236}">
                <a16:creationId xmlns:a16="http://schemas.microsoft.com/office/drawing/2014/main" id="{17C9099F-DFF1-4023-9755-2FC4DE369E9F}"/>
              </a:ext>
            </a:extLst>
          </p:cNvPr>
          <p:cNvSpPr>
            <a:spLocks noGrp="1"/>
          </p:cNvSpPr>
          <p:nvPr>
            <p:ph idx="1"/>
          </p:nvPr>
        </p:nvSpPr>
        <p:spPr>
          <a:xfrm>
            <a:off x="179512" y="1124745"/>
            <a:ext cx="8640960" cy="5368128"/>
          </a:xfrm>
          <a:solidFill>
            <a:schemeClr val="bg1"/>
          </a:solidFill>
          <a:ln w="57150">
            <a:solidFill>
              <a:schemeClr val="tx1"/>
            </a:solidFill>
          </a:ln>
        </p:spPr>
        <p:txBody>
          <a:bodyPr>
            <a:normAutofit/>
          </a:bodyPr>
          <a:lstStyle/>
          <a:p>
            <a:pPr marL="0" indent="0">
              <a:buNone/>
            </a:pPr>
            <a:endParaRPr lang="fr-FR" b="1" dirty="0"/>
          </a:p>
          <a:p>
            <a:pPr>
              <a:buFont typeface="Wingdings" panose="05000000000000000000" pitchFamily="2" charset="2"/>
              <a:buChar char="Ø"/>
            </a:pPr>
            <a:r>
              <a:rPr lang="fr-FR" b="1" dirty="0"/>
              <a:t>Au cabinet  dentaire ,les urgences médicales  sont peu fréquentes mais ne doivent pas être méconnues.</a:t>
            </a:r>
          </a:p>
          <a:p>
            <a:pPr>
              <a:buFont typeface="Wingdings" panose="05000000000000000000" pitchFamily="2" charset="2"/>
              <a:buChar char="Ø"/>
            </a:pPr>
            <a:r>
              <a:rPr lang="fr-FR" b="1" dirty="0"/>
              <a:t>les accidents graves  sont beaucoup plus rares , Cependant ils mettent en jeu le pronostic vital.</a:t>
            </a:r>
          </a:p>
          <a:p>
            <a:pPr>
              <a:buFont typeface="Wingdings" panose="05000000000000000000" pitchFamily="2" charset="2"/>
              <a:buChar char="Ø"/>
            </a:pPr>
            <a:r>
              <a:rPr lang="fr-FR" b="1" dirty="0"/>
              <a:t>L’urgence exige une démarche méthodique et rigoureuse .</a:t>
            </a:r>
          </a:p>
          <a:p>
            <a:pPr>
              <a:buFont typeface="Wingdings" panose="05000000000000000000" pitchFamily="2" charset="2"/>
              <a:buChar char="Ø"/>
            </a:pPr>
            <a:r>
              <a:rPr lang="fr-FR" dirty="0"/>
              <a:t> </a:t>
            </a:r>
            <a:r>
              <a:rPr lang="fr-FR" b="1" dirty="0"/>
              <a:t>L’urgence médicale au cabinet dentaire représente  des situations cliniques pathologiques  imprévues  dans laquelle, un diagnostic  et un traitement  doivent être réalisés rapidement et sans lesquels  le pronostic vital du patient   est mis en jeu .</a:t>
            </a:r>
            <a:endParaRPr lang="fr-FR" dirty="0"/>
          </a:p>
          <a:p>
            <a:pPr>
              <a:buFont typeface="Wingdings" panose="05000000000000000000" pitchFamily="2" charset="2"/>
              <a:buChar char="Ø"/>
            </a:pPr>
            <a:endParaRPr lang="fr-FR" b="1" dirty="0"/>
          </a:p>
          <a:p>
            <a:pPr>
              <a:buFont typeface="Wingdings" panose="05000000000000000000" pitchFamily="2" charset="2"/>
              <a:buChar char="Ø"/>
            </a:pPr>
            <a:endParaRPr lang="fr-FR" b="1" dirty="0"/>
          </a:p>
          <a:p>
            <a:endParaRPr lang="fr-FR" dirty="0"/>
          </a:p>
        </p:txBody>
      </p:sp>
    </p:spTree>
    <p:extLst>
      <p:ext uri="{BB962C8B-B14F-4D97-AF65-F5344CB8AC3E}">
        <p14:creationId xmlns:p14="http://schemas.microsoft.com/office/powerpoint/2010/main" val="3837885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133292-9B5C-424D-8AAA-9D5DD69EFA3E}"/>
              </a:ext>
            </a:extLst>
          </p:cNvPr>
          <p:cNvSpPr>
            <a:spLocks noGrp="1"/>
          </p:cNvSpPr>
          <p:nvPr>
            <p:ph type="title"/>
          </p:nvPr>
        </p:nvSpPr>
        <p:spPr>
          <a:xfrm>
            <a:off x="323528" y="404664"/>
            <a:ext cx="8678788" cy="864096"/>
          </a:xfrm>
          <a:ln w="57150">
            <a:solidFill>
              <a:schemeClr val="tx1"/>
            </a:solidFill>
          </a:ln>
        </p:spPr>
        <p:txBody>
          <a:bodyPr/>
          <a:lstStyle/>
          <a:p>
            <a:r>
              <a:rPr lang="fr-FR" b="1" dirty="0">
                <a:solidFill>
                  <a:srgbClr val="FF0000"/>
                </a:solidFill>
                <a:latin typeface="+mn-lt"/>
              </a:rPr>
              <a:t>INTRODUCTION A L’OXYOLOGIE </a:t>
            </a:r>
          </a:p>
        </p:txBody>
      </p:sp>
      <p:sp>
        <p:nvSpPr>
          <p:cNvPr id="3" name="Espace réservé du contenu 2">
            <a:extLst>
              <a:ext uri="{FF2B5EF4-FFF2-40B4-BE49-F238E27FC236}">
                <a16:creationId xmlns:a16="http://schemas.microsoft.com/office/drawing/2014/main" id="{E3CB91D8-2BB7-4527-9FFF-8CE8308AC166}"/>
              </a:ext>
            </a:extLst>
          </p:cNvPr>
          <p:cNvSpPr>
            <a:spLocks noGrp="1"/>
          </p:cNvSpPr>
          <p:nvPr>
            <p:ph idx="1"/>
          </p:nvPr>
        </p:nvSpPr>
        <p:spPr>
          <a:xfrm>
            <a:off x="323528" y="1268760"/>
            <a:ext cx="8678788" cy="4908202"/>
          </a:xfrm>
          <a:solidFill>
            <a:schemeClr val="bg1"/>
          </a:solidFill>
          <a:ln w="57150">
            <a:solidFill>
              <a:schemeClr val="tx1"/>
            </a:solidFill>
          </a:ln>
        </p:spPr>
        <p:txBody>
          <a:bodyPr>
            <a:normAutofit/>
          </a:bodyPr>
          <a:lstStyle/>
          <a:p>
            <a:pPr marL="0" indent="0">
              <a:buNone/>
            </a:pPr>
            <a:endParaRPr lang="fr-FR" dirty="0"/>
          </a:p>
          <a:p>
            <a:pPr marL="0" indent="0">
              <a:buNone/>
            </a:pPr>
            <a:r>
              <a:rPr lang="fr-FR" sz="2400" b="1" dirty="0"/>
              <a:t>On classe les urgences en 4 catégories :</a:t>
            </a:r>
          </a:p>
          <a:p>
            <a:pPr marL="0" indent="0">
              <a:buNone/>
            </a:pPr>
            <a:r>
              <a:rPr lang="fr-FR" sz="2400" b="1" dirty="0"/>
              <a:t>    </a:t>
            </a:r>
            <a:r>
              <a:rPr lang="fr-FR" sz="2400" b="1" u="sng" dirty="0"/>
              <a:t>1-Urgence vitale </a:t>
            </a:r>
            <a:r>
              <a:rPr lang="fr-FR" sz="2400" b="1" dirty="0"/>
              <a:t> </a:t>
            </a:r>
          </a:p>
          <a:p>
            <a:pPr marL="714375" indent="-627063">
              <a:buNone/>
            </a:pPr>
            <a:r>
              <a:rPr lang="fr-FR" sz="2400" b="1" dirty="0"/>
              <a:t>    </a:t>
            </a:r>
          </a:p>
          <a:p>
            <a:pPr marL="0" indent="0">
              <a:buNone/>
            </a:pPr>
            <a:r>
              <a:rPr lang="fr-FR" sz="2400" b="1" dirty="0"/>
              <a:t>   </a:t>
            </a:r>
            <a:r>
              <a:rPr lang="fr-FR" sz="2400" b="1" u="sng" dirty="0"/>
              <a:t>2-Urgence vraie</a:t>
            </a:r>
          </a:p>
          <a:p>
            <a:pPr marL="0" indent="0">
              <a:buNone/>
            </a:pPr>
            <a:endParaRPr lang="fr-FR" sz="2400" b="1" u="sng" dirty="0"/>
          </a:p>
          <a:p>
            <a:pPr marL="0" indent="0">
              <a:buNone/>
            </a:pPr>
            <a:r>
              <a:rPr lang="fr-FR" sz="2400" b="1" dirty="0"/>
              <a:t>   </a:t>
            </a:r>
            <a:r>
              <a:rPr lang="fr-FR" sz="2400" b="1" u="sng" dirty="0"/>
              <a:t>3-Urgence relative</a:t>
            </a:r>
          </a:p>
          <a:p>
            <a:pPr marL="0" indent="0">
              <a:buNone/>
            </a:pPr>
            <a:endParaRPr lang="fr-FR" sz="2400" b="1" u="sng" dirty="0"/>
          </a:p>
          <a:p>
            <a:pPr marL="0" indent="0">
              <a:buNone/>
            </a:pPr>
            <a:r>
              <a:rPr lang="fr-FR" sz="2400" b="1" u="sng" dirty="0"/>
              <a:t>   4-Urgence différée </a:t>
            </a:r>
          </a:p>
        </p:txBody>
      </p:sp>
    </p:spTree>
    <p:extLst>
      <p:ext uri="{BB962C8B-B14F-4D97-AF65-F5344CB8AC3E}">
        <p14:creationId xmlns:p14="http://schemas.microsoft.com/office/powerpoint/2010/main" val="3786206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365127"/>
            <a:ext cx="8856984" cy="903634"/>
          </a:xfrm>
          <a:ln w="57150">
            <a:solidFill>
              <a:schemeClr val="tx1"/>
            </a:solidFill>
          </a:ln>
        </p:spPr>
        <p:txBody>
          <a:bodyPr/>
          <a:lstStyle/>
          <a:p>
            <a:r>
              <a:rPr lang="fr-FR" b="1" dirty="0">
                <a:solidFill>
                  <a:srgbClr val="FF0000"/>
                </a:solidFill>
              </a:rPr>
              <a:t>INTRODUCTION A L’OXYOLOGIE </a:t>
            </a:r>
          </a:p>
        </p:txBody>
      </p:sp>
      <p:sp>
        <p:nvSpPr>
          <p:cNvPr id="3" name="Espace réservé du contenu 2"/>
          <p:cNvSpPr>
            <a:spLocks noGrp="1"/>
          </p:cNvSpPr>
          <p:nvPr>
            <p:ph idx="1"/>
          </p:nvPr>
        </p:nvSpPr>
        <p:spPr>
          <a:xfrm>
            <a:off x="179512" y="1268761"/>
            <a:ext cx="8784976" cy="5472607"/>
          </a:xfrm>
          <a:solidFill>
            <a:schemeClr val="bg1"/>
          </a:solidFill>
          <a:ln w="57150">
            <a:solidFill>
              <a:schemeClr val="tx1"/>
            </a:solidFill>
          </a:ln>
        </p:spPr>
        <p:txBody>
          <a:bodyPr>
            <a:normAutofit/>
          </a:bodyPr>
          <a:lstStyle/>
          <a:p>
            <a:pPr marL="0" indent="0">
              <a:buNone/>
            </a:pPr>
            <a:r>
              <a:rPr lang="fr-FR" b="1" u="sng" dirty="0">
                <a:solidFill>
                  <a:srgbClr val="FF0000"/>
                </a:solidFill>
              </a:rPr>
              <a:t>II/HISTORIQUE :</a:t>
            </a:r>
          </a:p>
          <a:p>
            <a:pPr>
              <a:buFont typeface="Wingdings" panose="05000000000000000000" pitchFamily="2" charset="2"/>
              <a:buChar char="Ø"/>
            </a:pPr>
            <a:r>
              <a:rPr lang="fr-FR" sz="2400" dirty="0"/>
              <a:t>Terme utilisé par GABOR la première fois en 1970 et désignant la spécialité médicale traitant des secours d’urgence</a:t>
            </a:r>
          </a:p>
          <a:p>
            <a:pPr marL="0" indent="0">
              <a:buNone/>
            </a:pPr>
            <a:r>
              <a:rPr lang="fr-FR" sz="2400" dirty="0"/>
              <a:t>       (</a:t>
            </a:r>
            <a:r>
              <a:rPr lang="fr-FR" sz="2400" dirty="0" err="1"/>
              <a:t>SAMUet</a:t>
            </a:r>
            <a:r>
              <a:rPr lang="fr-FR" sz="2400" dirty="0"/>
              <a:t> réanimation)</a:t>
            </a:r>
          </a:p>
          <a:p>
            <a:pPr>
              <a:buFont typeface="Wingdings" panose="05000000000000000000" pitchFamily="2" charset="2"/>
              <a:buChar char="Ø"/>
            </a:pPr>
            <a:r>
              <a:rPr lang="fr-FR" sz="2400" dirty="0"/>
              <a:t>La première trachéotomie fut pratiquée au 1</a:t>
            </a:r>
            <a:r>
              <a:rPr lang="fr-FR" sz="2400" baseline="30000" dirty="0"/>
              <a:t>er</a:t>
            </a:r>
            <a:r>
              <a:rPr lang="fr-FR" sz="2400" dirty="0"/>
              <a:t> siècle avant JC </a:t>
            </a:r>
          </a:p>
          <a:p>
            <a:pPr>
              <a:buFont typeface="Wingdings" panose="05000000000000000000" pitchFamily="2" charset="2"/>
              <a:buChar char="Ø"/>
            </a:pPr>
            <a:r>
              <a:rPr lang="fr-FR" sz="2400" dirty="0"/>
              <a:t>Les prêtres de l’Egypte ancienne qui insufflent le « souffle de vie » aux gisants         1ere  insufflation  bouche à bouche</a:t>
            </a:r>
          </a:p>
          <a:p>
            <a:pPr>
              <a:buFont typeface="Wingdings" panose="05000000000000000000" pitchFamily="2" charset="2"/>
              <a:buChar char="Ø"/>
            </a:pPr>
            <a:r>
              <a:rPr lang="fr-FR" sz="2400" dirty="0"/>
              <a:t>Fin du XVIIème siècle, les premières stimulations électriques.</a:t>
            </a:r>
          </a:p>
          <a:p>
            <a:pPr>
              <a:buFont typeface="Wingdings" panose="05000000000000000000" pitchFamily="2" charset="2"/>
              <a:buChar char="Ø"/>
            </a:pPr>
            <a:r>
              <a:rPr lang="fr-FR" sz="2400" dirty="0"/>
              <a:t>En 1899, la défibrillation( un choc électrique) découverte par Frédéric </a:t>
            </a:r>
            <a:r>
              <a:rPr lang="fr-FR" sz="2400" dirty="0" err="1"/>
              <a:t>Batelli</a:t>
            </a:r>
            <a:r>
              <a:rPr lang="fr-FR" sz="2400" dirty="0"/>
              <a:t> </a:t>
            </a:r>
          </a:p>
          <a:p>
            <a:pPr>
              <a:buFont typeface="Wingdings" panose="05000000000000000000" pitchFamily="2" charset="2"/>
              <a:buChar char="Ø"/>
            </a:pPr>
            <a:endParaRPr lang="fr-FR" sz="2400" b="1" dirty="0"/>
          </a:p>
          <a:p>
            <a:pPr>
              <a:buFont typeface="Wingdings" panose="05000000000000000000" pitchFamily="2" charset="2"/>
              <a:buChar char="Ø"/>
            </a:pPr>
            <a:endParaRPr lang="fr-FR" sz="2400" b="1" dirty="0"/>
          </a:p>
          <a:p>
            <a:pPr>
              <a:buFont typeface="Wingdings" panose="05000000000000000000" pitchFamily="2" charset="2"/>
              <a:buChar char="Ø"/>
            </a:pPr>
            <a:endParaRPr lang="fr-FR" sz="2400" b="1" dirty="0"/>
          </a:p>
          <a:p>
            <a:pPr>
              <a:buFont typeface="Wingdings" panose="05000000000000000000" pitchFamily="2" charset="2"/>
              <a:buChar char="Ø"/>
            </a:pPr>
            <a:endParaRPr lang="fr-FR" sz="2400" b="1" dirty="0"/>
          </a:p>
          <a:p>
            <a:pPr>
              <a:buFont typeface="Wingdings" panose="05000000000000000000" pitchFamily="2" charset="2"/>
              <a:buChar char="Ø"/>
            </a:pPr>
            <a:endParaRPr lang="fr-FR" b="1" dirty="0"/>
          </a:p>
          <a:p>
            <a:pPr marL="0" indent="0">
              <a:buNone/>
            </a:pPr>
            <a:endParaRPr lang="fr-FR" b="1" dirty="0"/>
          </a:p>
          <a:p>
            <a:pPr marL="0" indent="0">
              <a:buNone/>
            </a:pPr>
            <a:endParaRPr lang="fr-FR" b="1" dirty="0"/>
          </a:p>
          <a:p>
            <a:pPr marL="0" indent="0">
              <a:buNone/>
            </a:pPr>
            <a:endParaRPr lang="fr-FR" b="1" u="sng" dirty="0">
              <a:solidFill>
                <a:srgbClr val="FF0000"/>
              </a:solidFill>
            </a:endParaRPr>
          </a:p>
          <a:p>
            <a:pPr marL="0" indent="0">
              <a:buNone/>
            </a:pPr>
            <a:endParaRPr lang="fr-FR" b="1" dirty="0">
              <a:solidFill>
                <a:srgbClr val="FF0000"/>
              </a:solidFill>
            </a:endParaRPr>
          </a:p>
        </p:txBody>
      </p:sp>
      <p:cxnSp>
        <p:nvCxnSpPr>
          <p:cNvPr id="6" name="Connecteur droit avec flèche 5">
            <a:extLst>
              <a:ext uri="{FF2B5EF4-FFF2-40B4-BE49-F238E27FC236}">
                <a16:creationId xmlns:a16="http://schemas.microsoft.com/office/drawing/2014/main" id="{E17098BF-C1EE-4442-972F-AB12130B190B}"/>
              </a:ext>
            </a:extLst>
          </p:cNvPr>
          <p:cNvCxnSpPr/>
          <p:nvPr/>
        </p:nvCxnSpPr>
        <p:spPr>
          <a:xfrm>
            <a:off x="1979712" y="4077072"/>
            <a:ext cx="50405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873357"/>
      </p:ext>
    </p:extLst>
  </p:cSld>
  <p:clrMapOvr>
    <a:masterClrMapping/>
  </p:clrMapOvr>
  <mc:AlternateContent xmlns:mc="http://schemas.openxmlformats.org/markup-compatibility/2006" xmlns:p14="http://schemas.microsoft.com/office/powerpoint/2010/main">
    <mc:Choice Requires="p14">
      <p:transition spd="slow" p14:dur="2000" advTm="2075"/>
    </mc:Choice>
    <mc:Fallback xmlns="">
      <p:transition spd="slow" advTm="207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F8CCFE-4544-4019-B5AA-471B939D1177}"/>
              </a:ext>
            </a:extLst>
          </p:cNvPr>
          <p:cNvSpPr>
            <a:spLocks noGrp="1"/>
          </p:cNvSpPr>
          <p:nvPr>
            <p:ph type="title"/>
          </p:nvPr>
        </p:nvSpPr>
        <p:spPr>
          <a:xfrm>
            <a:off x="628650" y="365127"/>
            <a:ext cx="7886700" cy="831626"/>
          </a:xfrm>
          <a:ln w="57150">
            <a:solidFill>
              <a:schemeClr val="tx1"/>
            </a:solidFill>
          </a:ln>
        </p:spPr>
        <p:txBody>
          <a:bodyPr/>
          <a:lstStyle/>
          <a:p>
            <a:r>
              <a:rPr lang="fr-FR" b="1" dirty="0">
                <a:solidFill>
                  <a:srgbClr val="FF0000"/>
                </a:solidFill>
              </a:rPr>
              <a:t>INTRODUCTION A L’OXYOLOGIE </a:t>
            </a:r>
            <a:endParaRPr lang="fr-FR" dirty="0"/>
          </a:p>
        </p:txBody>
      </p:sp>
      <p:sp>
        <p:nvSpPr>
          <p:cNvPr id="3" name="Espace réservé du contenu 2">
            <a:extLst>
              <a:ext uri="{FF2B5EF4-FFF2-40B4-BE49-F238E27FC236}">
                <a16:creationId xmlns:a16="http://schemas.microsoft.com/office/drawing/2014/main" id="{4334DBD6-2D39-4329-83DF-AB5AF49582CE}"/>
              </a:ext>
            </a:extLst>
          </p:cNvPr>
          <p:cNvSpPr>
            <a:spLocks noGrp="1"/>
          </p:cNvSpPr>
          <p:nvPr>
            <p:ph idx="1"/>
          </p:nvPr>
        </p:nvSpPr>
        <p:spPr>
          <a:xfrm>
            <a:off x="628650" y="1196754"/>
            <a:ext cx="7886700" cy="4980210"/>
          </a:xfrm>
          <a:solidFill>
            <a:schemeClr val="bg1"/>
          </a:solidFill>
          <a:ln w="57150">
            <a:solidFill>
              <a:schemeClr val="tx1"/>
            </a:solidFill>
          </a:ln>
        </p:spPr>
        <p:txBody>
          <a:bodyPr>
            <a:normAutofit fontScale="92500" lnSpcReduction="10000"/>
          </a:bodyPr>
          <a:lstStyle/>
          <a:p>
            <a:pPr marL="0" indent="0">
              <a:buNone/>
            </a:pPr>
            <a:r>
              <a:rPr lang="fr-FR" b="1" u="sng" dirty="0">
                <a:solidFill>
                  <a:srgbClr val="7030A0"/>
                </a:solidFill>
              </a:rPr>
              <a:t>Urgences médicales les plus </a:t>
            </a:r>
            <a:r>
              <a:rPr lang="fr-FR" b="1" u="sng" dirty="0" err="1">
                <a:solidFill>
                  <a:srgbClr val="7030A0"/>
                </a:solidFill>
              </a:rPr>
              <a:t>frequentes</a:t>
            </a:r>
            <a:r>
              <a:rPr lang="fr-FR" b="1" u="sng" dirty="0">
                <a:solidFill>
                  <a:srgbClr val="7030A0"/>
                </a:solidFill>
              </a:rPr>
              <a:t>  au cabinet dentaire :</a:t>
            </a:r>
          </a:p>
          <a:p>
            <a:pPr>
              <a:buFont typeface="Wingdings" panose="05000000000000000000" pitchFamily="2" charset="2"/>
              <a:buChar char="Ø"/>
            </a:pPr>
            <a:r>
              <a:rPr lang="fr-FR" dirty="0"/>
              <a:t>Malaise vagal .</a:t>
            </a:r>
          </a:p>
          <a:p>
            <a:pPr>
              <a:buFont typeface="Wingdings" panose="05000000000000000000" pitchFamily="2" charset="2"/>
              <a:buChar char="Ø"/>
            </a:pPr>
            <a:r>
              <a:rPr lang="fr-FR" dirty="0"/>
              <a:t>Hyperventilation psychogène ,crise d’ asthme. </a:t>
            </a:r>
          </a:p>
          <a:p>
            <a:pPr>
              <a:buFont typeface="Wingdings" panose="05000000000000000000" pitchFamily="2" charset="2"/>
              <a:buChar char="Ø"/>
            </a:pPr>
            <a:r>
              <a:rPr lang="fr-FR" dirty="0"/>
              <a:t>Réactions allergiques aux anesthésiques locaux .</a:t>
            </a:r>
          </a:p>
          <a:p>
            <a:pPr>
              <a:buFont typeface="Wingdings" panose="05000000000000000000" pitchFamily="2" charset="2"/>
              <a:buChar char="Ø"/>
            </a:pPr>
            <a:r>
              <a:rPr lang="fr-FR" dirty="0"/>
              <a:t>Hypoglycémie ou malaise hypoglycémique.</a:t>
            </a:r>
          </a:p>
          <a:p>
            <a:pPr>
              <a:buFont typeface="Wingdings" panose="05000000000000000000" pitchFamily="2" charset="2"/>
              <a:buChar char="Ø"/>
            </a:pPr>
            <a:r>
              <a:rPr lang="fr-FR" dirty="0"/>
              <a:t>L’angor (syndrome coronarien aigue).</a:t>
            </a:r>
          </a:p>
          <a:p>
            <a:pPr>
              <a:buFont typeface="Wingdings" panose="05000000000000000000" pitchFamily="2" charset="2"/>
              <a:buChar char="Ø"/>
            </a:pPr>
            <a:r>
              <a:rPr lang="fr-FR" dirty="0"/>
              <a:t>Crise convulsive .</a:t>
            </a:r>
          </a:p>
          <a:p>
            <a:pPr>
              <a:buFont typeface="Wingdings" panose="05000000000000000000" pitchFamily="2" charset="2"/>
              <a:buChar char="Ø"/>
            </a:pPr>
            <a:r>
              <a:rPr lang="fr-FR" dirty="0"/>
              <a:t>Inhalation bronchique ou ingestion d’un corps étranger </a:t>
            </a:r>
          </a:p>
          <a:p>
            <a:pPr>
              <a:buFont typeface="Wingdings" panose="05000000000000000000" pitchFamily="2" charset="2"/>
              <a:buChar char="Ø"/>
            </a:pPr>
            <a:r>
              <a:rPr lang="fr-FR" dirty="0"/>
              <a:t>Crise hypertensive .</a:t>
            </a:r>
          </a:p>
          <a:p>
            <a:pPr>
              <a:buFont typeface="Wingdings" panose="05000000000000000000" pitchFamily="2" charset="2"/>
              <a:buChar char="Ø"/>
            </a:pPr>
            <a:r>
              <a:rPr lang="fr-FR" dirty="0"/>
              <a:t>Arrêt cardiaque  (rare).</a:t>
            </a:r>
          </a:p>
          <a:p>
            <a:pPr>
              <a:buFont typeface="Wingdings" panose="05000000000000000000" pitchFamily="2" charset="2"/>
              <a:buChar char="Ø"/>
            </a:pPr>
            <a:endParaRPr lang="fr-FR" dirty="0"/>
          </a:p>
          <a:p>
            <a:pPr>
              <a:buFont typeface="Wingdings" panose="05000000000000000000" pitchFamily="2" charset="2"/>
              <a:buChar char="Ø"/>
            </a:pPr>
            <a:endParaRPr lang="fr-FR" dirty="0"/>
          </a:p>
        </p:txBody>
      </p:sp>
    </p:spTree>
    <p:extLst>
      <p:ext uri="{BB962C8B-B14F-4D97-AF65-F5344CB8AC3E}">
        <p14:creationId xmlns:p14="http://schemas.microsoft.com/office/powerpoint/2010/main" val="966353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116632"/>
            <a:ext cx="8712968" cy="720081"/>
          </a:xfrm>
          <a:ln w="57150">
            <a:solidFill>
              <a:schemeClr val="tx1"/>
            </a:solidFill>
          </a:ln>
        </p:spPr>
        <p:txBody>
          <a:bodyPr>
            <a:normAutofit/>
          </a:bodyPr>
          <a:lstStyle/>
          <a:p>
            <a:r>
              <a:rPr lang="fr-FR" b="1" dirty="0">
                <a:solidFill>
                  <a:srgbClr val="FF0000"/>
                </a:solidFill>
              </a:rPr>
              <a:t> </a:t>
            </a:r>
            <a:r>
              <a:rPr lang="fr-FR" b="1" dirty="0">
                <a:solidFill>
                  <a:srgbClr val="FF0000"/>
                </a:solidFill>
                <a:latin typeface="+mn-lt"/>
              </a:rPr>
              <a:t>BILAN DES GRANDES FONCTIONS </a:t>
            </a:r>
          </a:p>
        </p:txBody>
      </p:sp>
      <p:sp>
        <p:nvSpPr>
          <p:cNvPr id="3" name="Espace réservé du contenu 2"/>
          <p:cNvSpPr>
            <a:spLocks noGrp="1"/>
          </p:cNvSpPr>
          <p:nvPr>
            <p:ph idx="1"/>
          </p:nvPr>
        </p:nvSpPr>
        <p:spPr>
          <a:xfrm>
            <a:off x="179512" y="908720"/>
            <a:ext cx="8640960" cy="5268243"/>
          </a:xfrm>
          <a:solidFill>
            <a:schemeClr val="bg1"/>
          </a:solidFill>
          <a:ln w="57150">
            <a:solidFill>
              <a:schemeClr val="tx1"/>
            </a:solidFill>
          </a:ln>
        </p:spPr>
        <p:txBody>
          <a:bodyPr>
            <a:normAutofit fontScale="25000" lnSpcReduction="20000"/>
          </a:bodyPr>
          <a:lstStyle/>
          <a:p>
            <a:pPr marL="0" indent="0">
              <a:buNone/>
            </a:pPr>
            <a:r>
              <a:rPr lang="fr-FR" sz="9600" b="1" u="sng" dirty="0"/>
              <a:t>Face à l’ urgence médicale il est indispensable  de  :</a:t>
            </a:r>
          </a:p>
          <a:p>
            <a:pPr>
              <a:lnSpc>
                <a:spcPct val="170000"/>
              </a:lnSpc>
              <a:buFont typeface="Wingdings" panose="05000000000000000000" pitchFamily="2" charset="2"/>
              <a:buChar char="Ø"/>
            </a:pPr>
            <a:r>
              <a:rPr lang="fr-FR" sz="9600" b="1" dirty="0"/>
              <a:t>Connaitre les étiologies .</a:t>
            </a:r>
          </a:p>
          <a:p>
            <a:pPr>
              <a:lnSpc>
                <a:spcPct val="170000"/>
              </a:lnSpc>
              <a:buFont typeface="Wingdings" panose="05000000000000000000" pitchFamily="2" charset="2"/>
              <a:buChar char="Ø"/>
            </a:pPr>
            <a:r>
              <a:rPr lang="fr-FR" sz="9600" b="1" dirty="0"/>
              <a:t>Savoir reconnaitre les signes cliniques .</a:t>
            </a:r>
          </a:p>
          <a:p>
            <a:pPr>
              <a:lnSpc>
                <a:spcPct val="170000"/>
              </a:lnSpc>
              <a:buFont typeface="Wingdings" panose="05000000000000000000" pitchFamily="2" charset="2"/>
              <a:buChar char="Ø"/>
            </a:pPr>
            <a:r>
              <a:rPr lang="fr-FR" sz="9600" b="1" dirty="0"/>
              <a:t>Réaliser le bon diagnostic .</a:t>
            </a:r>
          </a:p>
          <a:p>
            <a:pPr>
              <a:lnSpc>
                <a:spcPct val="170000"/>
              </a:lnSpc>
              <a:buFont typeface="Wingdings" panose="05000000000000000000" pitchFamily="2" charset="2"/>
              <a:buChar char="Ø"/>
            </a:pPr>
            <a:r>
              <a:rPr lang="fr-FR" sz="9600" b="1" dirty="0"/>
              <a:t>Avoir une trousse d’ urgence et bien connaitre son contenu.</a:t>
            </a:r>
          </a:p>
          <a:p>
            <a:pPr>
              <a:lnSpc>
                <a:spcPct val="220000"/>
              </a:lnSpc>
              <a:buFont typeface="Wingdings" panose="05000000000000000000" pitchFamily="2" charset="2"/>
              <a:buChar char="Ø"/>
            </a:pPr>
            <a:r>
              <a:rPr lang="fr-FR" sz="9600" b="1" dirty="0"/>
              <a:t>Réaliser les premiers gestes de soins et avoir les bons reflexes .</a:t>
            </a:r>
          </a:p>
          <a:p>
            <a:pPr>
              <a:buFont typeface="Wingdings" panose="05000000000000000000" pitchFamily="2" charset="2"/>
              <a:buChar char="Ø"/>
            </a:pPr>
            <a:r>
              <a:rPr lang="fr-FR" sz="9600" b="1" dirty="0"/>
              <a:t>Apprécier les  résulta</a:t>
            </a:r>
            <a:r>
              <a:rPr lang="fr-FR" sz="9600" b="1" i="1" dirty="0"/>
              <a:t>ts.</a:t>
            </a:r>
          </a:p>
          <a:p>
            <a:pPr>
              <a:buFont typeface="Wingdings" panose="05000000000000000000" pitchFamily="2" charset="2"/>
              <a:buChar char="Ø"/>
            </a:pPr>
            <a:endParaRPr lang="fr-FR" sz="9600" b="1" dirty="0"/>
          </a:p>
          <a:p>
            <a:pPr>
              <a:buFont typeface="Wingdings" panose="05000000000000000000" pitchFamily="2" charset="2"/>
              <a:buChar char="Ø"/>
            </a:pPr>
            <a:endParaRPr lang="fr-FR" sz="7000" b="1" dirty="0"/>
          </a:p>
          <a:p>
            <a:pPr marL="0" indent="0">
              <a:buNone/>
            </a:pPr>
            <a:r>
              <a:rPr lang="fr-FR" sz="4500" b="1" dirty="0"/>
              <a:t>  </a:t>
            </a:r>
          </a:p>
          <a:p>
            <a:pPr marL="0" indent="0">
              <a:buNone/>
            </a:pPr>
            <a:endParaRPr lang="fr-FR" dirty="0"/>
          </a:p>
          <a:p>
            <a:pPr marL="0" indent="0">
              <a:buNone/>
            </a:pPr>
            <a:endParaRPr lang="fr-FR" dirty="0"/>
          </a:p>
          <a:p>
            <a:pPr marL="0" indent="0">
              <a:buNone/>
            </a:pPr>
            <a:r>
              <a:rPr lang="fr-FR" dirty="0"/>
              <a:t> </a:t>
            </a:r>
          </a:p>
        </p:txBody>
      </p:sp>
    </p:spTree>
    <p:extLst>
      <p:ext uri="{BB962C8B-B14F-4D97-AF65-F5344CB8AC3E}">
        <p14:creationId xmlns:p14="http://schemas.microsoft.com/office/powerpoint/2010/main" val="3174129554"/>
      </p:ext>
    </p:extLst>
  </p:cSld>
  <p:clrMapOvr>
    <a:masterClrMapping/>
  </p:clrMapOvr>
  <mc:AlternateContent xmlns:mc="http://schemas.openxmlformats.org/markup-compatibility/2006" xmlns:p14="http://schemas.microsoft.com/office/powerpoint/2010/main">
    <mc:Choice Requires="p14">
      <p:transition spd="slow" p14:dur="2000" advTm="1544"/>
    </mc:Choice>
    <mc:Fallback xmlns="">
      <p:transition spd="slow" advTm="154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274638"/>
            <a:ext cx="8435280" cy="654032"/>
          </a:xfrm>
          <a:solidFill>
            <a:schemeClr val="bg2">
              <a:lumMod val="20000"/>
              <a:lumOff val="80000"/>
            </a:schemeClr>
          </a:solidFill>
          <a:ln w="57150">
            <a:solidFill>
              <a:schemeClr val="tx1"/>
            </a:solidFill>
          </a:ln>
        </p:spPr>
        <p:txBody>
          <a:bodyPr>
            <a:normAutofit/>
          </a:bodyPr>
          <a:lstStyle/>
          <a:p>
            <a:r>
              <a:rPr lang="fr-FR" sz="3600" b="1" dirty="0">
                <a:solidFill>
                  <a:srgbClr val="FF0000"/>
                </a:solidFill>
                <a:latin typeface="+mn-lt"/>
              </a:rPr>
              <a:t>          BILAN DES GRANDES FONCTIONS</a:t>
            </a:r>
          </a:p>
        </p:txBody>
      </p:sp>
      <p:sp>
        <p:nvSpPr>
          <p:cNvPr id="3" name="Espace réservé du contenu 2"/>
          <p:cNvSpPr>
            <a:spLocks noGrp="1"/>
          </p:cNvSpPr>
          <p:nvPr>
            <p:ph idx="1"/>
          </p:nvPr>
        </p:nvSpPr>
        <p:spPr>
          <a:xfrm>
            <a:off x="251520" y="980728"/>
            <a:ext cx="8478114" cy="5602634"/>
          </a:xfrm>
          <a:solidFill>
            <a:schemeClr val="bg1"/>
          </a:solidFill>
          <a:ln w="57150">
            <a:solidFill>
              <a:schemeClr val="tx1"/>
            </a:solidFill>
          </a:ln>
        </p:spPr>
        <p:txBody>
          <a:bodyPr>
            <a:normAutofit/>
          </a:bodyPr>
          <a:lstStyle/>
          <a:p>
            <a:pPr>
              <a:buNone/>
            </a:pPr>
            <a:endParaRPr lang="fr-FR" sz="2400" b="1" dirty="0"/>
          </a:p>
          <a:p>
            <a:pPr>
              <a:buNone/>
            </a:pPr>
            <a:r>
              <a:rPr lang="fr-FR" sz="3200" b="1" dirty="0"/>
              <a:t>Le bilan consiste à évaluer les trois grandes fonctions: </a:t>
            </a:r>
          </a:p>
          <a:p>
            <a:pPr marL="1443037" indent="-457200">
              <a:buFont typeface="Wingdings" panose="05000000000000000000" pitchFamily="2" charset="2"/>
              <a:buChar char="Ø"/>
            </a:pPr>
            <a:r>
              <a:rPr lang="fr-FR" sz="3200" b="1" dirty="0"/>
              <a:t>La fonction neurologique</a:t>
            </a:r>
          </a:p>
          <a:p>
            <a:pPr marL="1443037" indent="-457200">
              <a:buFont typeface="Wingdings" panose="05000000000000000000" pitchFamily="2" charset="2"/>
              <a:buChar char="Ø"/>
            </a:pPr>
            <a:endParaRPr lang="fr-FR" sz="3200" b="1" dirty="0"/>
          </a:p>
          <a:p>
            <a:pPr marL="1443037" indent="-457200">
              <a:buFont typeface="Wingdings" panose="05000000000000000000" pitchFamily="2" charset="2"/>
              <a:buChar char="Ø"/>
            </a:pPr>
            <a:r>
              <a:rPr lang="fr-FR" sz="3200" b="1" dirty="0"/>
              <a:t>La fonction  respiratoire</a:t>
            </a:r>
          </a:p>
          <a:p>
            <a:pPr marL="1443037" indent="-457200">
              <a:buFont typeface="Wingdings" panose="05000000000000000000" pitchFamily="2" charset="2"/>
              <a:buChar char="Ø"/>
            </a:pPr>
            <a:endParaRPr lang="fr-FR" sz="3200" b="1" dirty="0"/>
          </a:p>
          <a:p>
            <a:pPr marL="1443037" indent="-457200">
              <a:buFont typeface="Wingdings" panose="05000000000000000000" pitchFamily="2" charset="2"/>
              <a:buChar char="Ø"/>
            </a:pPr>
            <a:r>
              <a:rPr lang="fr-FR" sz="3200" b="1" dirty="0"/>
              <a:t> La fonction cardio-vasculaire</a:t>
            </a:r>
          </a:p>
        </p:txBody>
      </p:sp>
    </p:spTree>
  </p:cSld>
  <p:clrMapOvr>
    <a:masterClrMapping/>
  </p:clrMapOvr>
  <p:transition advTm="8598">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274638"/>
            <a:ext cx="8712968" cy="665122"/>
          </a:xfrm>
          <a:solidFill>
            <a:schemeClr val="bg2">
              <a:lumMod val="20000"/>
              <a:lumOff val="80000"/>
            </a:schemeClr>
          </a:solidFill>
          <a:ln w="57150">
            <a:solidFill>
              <a:schemeClr val="tx1"/>
            </a:solidFill>
          </a:ln>
        </p:spPr>
        <p:txBody>
          <a:bodyPr>
            <a:normAutofit/>
          </a:bodyPr>
          <a:lstStyle/>
          <a:p>
            <a:r>
              <a:rPr lang="fr-FR" sz="3600" b="1" dirty="0">
                <a:solidFill>
                  <a:srgbClr val="FF0000"/>
                </a:solidFill>
                <a:latin typeface="+mn-lt"/>
              </a:rPr>
              <a:t>        BILAN DES GRANDES FONCTIONS</a:t>
            </a:r>
          </a:p>
        </p:txBody>
      </p:sp>
      <p:sp>
        <p:nvSpPr>
          <p:cNvPr id="3" name="Espace réservé du contenu 2"/>
          <p:cNvSpPr>
            <a:spLocks noGrp="1"/>
          </p:cNvSpPr>
          <p:nvPr>
            <p:ph idx="1"/>
          </p:nvPr>
        </p:nvSpPr>
        <p:spPr>
          <a:xfrm>
            <a:off x="107504" y="939760"/>
            <a:ext cx="8712968" cy="5643602"/>
          </a:xfrm>
          <a:solidFill>
            <a:schemeClr val="bg1"/>
          </a:solidFill>
          <a:ln w="57150">
            <a:solidFill>
              <a:schemeClr val="tx1"/>
            </a:solidFill>
          </a:ln>
        </p:spPr>
        <p:txBody>
          <a:bodyPr>
            <a:normAutofit lnSpcReduction="10000"/>
          </a:bodyPr>
          <a:lstStyle/>
          <a:p>
            <a:pPr>
              <a:buNone/>
            </a:pPr>
            <a:r>
              <a:rPr lang="fr-FR" sz="2600" b="1" u="sng" dirty="0">
                <a:solidFill>
                  <a:srgbClr val="FF0000"/>
                </a:solidFill>
              </a:rPr>
              <a:t>A) EVALUATION DE LA FONCTION NEUROLOGIQUE</a:t>
            </a:r>
          </a:p>
          <a:p>
            <a:pPr>
              <a:buNone/>
            </a:pPr>
            <a:r>
              <a:rPr lang="fr-FR" sz="2400" b="1" dirty="0"/>
              <a:t>           Deux questions  sont posées:  </a:t>
            </a:r>
          </a:p>
          <a:p>
            <a:pPr>
              <a:buFont typeface="Wingdings" pitchFamily="2" charset="2"/>
              <a:buChar char="v"/>
            </a:pPr>
            <a:r>
              <a:rPr lang="fr-FR" sz="2400" b="1" dirty="0"/>
              <a:t> </a:t>
            </a:r>
            <a:r>
              <a:rPr lang="fr-FR" sz="2200" b="1" dirty="0"/>
              <a:t>Est-ce que le patient parle ?</a:t>
            </a:r>
          </a:p>
          <a:p>
            <a:pPr>
              <a:buFont typeface="Wingdings" pitchFamily="2" charset="2"/>
              <a:buChar char="v"/>
            </a:pPr>
            <a:r>
              <a:rPr lang="fr-FR" sz="2200" b="1" dirty="0"/>
              <a:t>Est-ce qu’il réagit?</a:t>
            </a:r>
          </a:p>
          <a:p>
            <a:pPr>
              <a:buNone/>
            </a:pPr>
            <a:r>
              <a:rPr lang="fr-FR" sz="2200" b="1" dirty="0"/>
              <a:t>              Réponses:</a:t>
            </a:r>
          </a:p>
          <a:p>
            <a:pPr>
              <a:buNone/>
            </a:pPr>
            <a:r>
              <a:rPr lang="fr-FR" sz="2200" b="1" dirty="0"/>
              <a:t>  </a:t>
            </a:r>
            <a:r>
              <a:rPr lang="fr-FR" sz="2200" b="1" dirty="0">
                <a:solidFill>
                  <a:srgbClr val="FF0000"/>
                </a:solidFill>
              </a:rPr>
              <a:t>1)Demandez au patient simplement</a:t>
            </a:r>
          </a:p>
          <a:p>
            <a:pPr lvl="2">
              <a:buFont typeface="Wingdings" panose="05000000000000000000" pitchFamily="2" charset="2"/>
              <a:buChar char="§"/>
            </a:pPr>
            <a:r>
              <a:rPr lang="fr-FR" sz="2400" b="1" dirty="0"/>
              <a:t>Quel est votre nom?</a:t>
            </a:r>
          </a:p>
          <a:p>
            <a:pPr lvl="2">
              <a:buFont typeface="Wingdings" panose="05000000000000000000" pitchFamily="2" charset="2"/>
              <a:buChar char="§"/>
            </a:pPr>
            <a:r>
              <a:rPr lang="fr-FR" sz="2400" b="1" dirty="0"/>
              <a:t> Avez-vous mal?</a:t>
            </a:r>
          </a:p>
          <a:p>
            <a:pPr>
              <a:buNone/>
            </a:pPr>
            <a:r>
              <a:rPr lang="fr-FR" sz="2200" b="1" dirty="0"/>
              <a:t> </a:t>
            </a:r>
            <a:r>
              <a:rPr lang="fr-FR" sz="2200" b="1" dirty="0">
                <a:solidFill>
                  <a:srgbClr val="FF0000"/>
                </a:solidFill>
              </a:rPr>
              <a:t>2)Donnez un ordre (ouvrez les yeux)</a:t>
            </a:r>
          </a:p>
          <a:p>
            <a:pPr>
              <a:buNone/>
            </a:pPr>
            <a:r>
              <a:rPr lang="fr-FR" sz="2200" b="1" dirty="0"/>
              <a:t> </a:t>
            </a:r>
            <a:r>
              <a:rPr lang="fr-FR" sz="2200" b="1" dirty="0">
                <a:solidFill>
                  <a:srgbClr val="FF0000"/>
                </a:solidFill>
              </a:rPr>
              <a:t>3)Pincez la peau</a:t>
            </a:r>
          </a:p>
          <a:p>
            <a:pPr>
              <a:buNone/>
            </a:pPr>
            <a:r>
              <a:rPr lang="fr-FR" sz="2200" b="1" dirty="0"/>
              <a:t> Ces questions et ces gestes permettent d’évaluer:</a:t>
            </a:r>
          </a:p>
          <a:p>
            <a:pPr>
              <a:buNone/>
            </a:pPr>
            <a:r>
              <a:rPr lang="fr-FR" sz="2200" b="1" dirty="0"/>
              <a:t>          -La réponse verbale</a:t>
            </a:r>
          </a:p>
          <a:p>
            <a:pPr>
              <a:buNone/>
            </a:pPr>
            <a:r>
              <a:rPr lang="fr-FR" sz="2200" b="1" dirty="0"/>
              <a:t>          -La réaction motrice</a:t>
            </a:r>
          </a:p>
          <a:p>
            <a:pPr>
              <a:buNone/>
            </a:pPr>
            <a:r>
              <a:rPr lang="fr-FR" sz="2200" b="1" dirty="0"/>
              <a:t>           -La sensibilité .</a:t>
            </a:r>
          </a:p>
          <a:p>
            <a:pPr>
              <a:buNone/>
            </a:pPr>
            <a:endParaRPr lang="fr-FR" sz="2400" dirty="0"/>
          </a:p>
        </p:txBody>
      </p:sp>
    </p:spTree>
  </p:cSld>
  <p:clrMapOvr>
    <a:masterClrMapping/>
  </p:clrMapOvr>
  <p:transition advTm="614">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74638"/>
            <a:ext cx="8640960" cy="582594"/>
          </a:xfrm>
          <a:solidFill>
            <a:schemeClr val="bg2">
              <a:lumMod val="20000"/>
              <a:lumOff val="80000"/>
            </a:schemeClr>
          </a:solidFill>
          <a:ln w="57150">
            <a:solidFill>
              <a:schemeClr val="tx1"/>
            </a:solidFill>
          </a:ln>
        </p:spPr>
        <p:txBody>
          <a:bodyPr>
            <a:normAutofit/>
          </a:bodyPr>
          <a:lstStyle/>
          <a:p>
            <a:r>
              <a:rPr lang="fr-FR" sz="3200" b="1" dirty="0">
                <a:solidFill>
                  <a:srgbClr val="FF0000"/>
                </a:solidFill>
                <a:latin typeface="+mn-lt"/>
              </a:rPr>
              <a:t>        BILAN DES GRANDES FONCTIONS </a:t>
            </a:r>
          </a:p>
        </p:txBody>
      </p:sp>
      <p:sp>
        <p:nvSpPr>
          <p:cNvPr id="3" name="Espace réservé du contenu 2"/>
          <p:cNvSpPr>
            <a:spLocks noGrp="1"/>
          </p:cNvSpPr>
          <p:nvPr>
            <p:ph idx="1"/>
          </p:nvPr>
        </p:nvSpPr>
        <p:spPr>
          <a:xfrm>
            <a:off x="179512" y="857232"/>
            <a:ext cx="8640960" cy="5715040"/>
          </a:xfrm>
          <a:solidFill>
            <a:schemeClr val="bg1"/>
          </a:solidFill>
          <a:ln w="57150">
            <a:solidFill>
              <a:schemeClr val="tx1"/>
            </a:solidFill>
          </a:ln>
        </p:spPr>
        <p:txBody>
          <a:bodyPr>
            <a:normAutofit/>
          </a:bodyPr>
          <a:lstStyle/>
          <a:p>
            <a:pPr marL="0" indent="0">
              <a:buNone/>
            </a:pPr>
            <a:r>
              <a:rPr lang="fr-FR" sz="2400" b="1" u="sng" dirty="0">
                <a:solidFill>
                  <a:srgbClr val="FF0000"/>
                </a:solidFill>
              </a:rPr>
              <a:t>A)EVALUATION DE LA FONCTION NEUROLOGIQUE(suite)</a:t>
            </a:r>
          </a:p>
          <a:p>
            <a:pPr marL="0" indent="0">
              <a:buNone/>
            </a:pPr>
            <a:r>
              <a:rPr lang="fr-FR" sz="2800" dirty="0"/>
              <a:t>   -L</a:t>
            </a:r>
            <a:r>
              <a:rPr lang="fr-FR" sz="2400" dirty="0"/>
              <a:t>es réponses du patient peuvent être : </a:t>
            </a:r>
            <a:r>
              <a:rPr lang="fr-FR" sz="2400" dirty="0" err="1"/>
              <a:t>normales,confuses</a:t>
            </a:r>
            <a:r>
              <a:rPr lang="fr-FR" sz="2400" dirty="0"/>
              <a:t> ou absentes.</a:t>
            </a:r>
          </a:p>
          <a:p>
            <a:pPr marL="0" indent="0">
              <a:buNone/>
            </a:pPr>
            <a:r>
              <a:rPr lang="fr-FR" dirty="0">
                <a:solidFill>
                  <a:srgbClr val="7030A0"/>
                </a:solidFill>
              </a:rPr>
              <a:t>a)</a:t>
            </a:r>
            <a:r>
              <a:rPr lang="fr-FR" sz="2800" dirty="0">
                <a:solidFill>
                  <a:srgbClr val="7030A0"/>
                </a:solidFill>
              </a:rPr>
              <a:t>Si la fonction neurologique est normale:</a:t>
            </a:r>
          </a:p>
          <a:p>
            <a:pPr marL="457200" indent="-457200">
              <a:buNone/>
            </a:pPr>
            <a:r>
              <a:rPr lang="fr-FR" sz="2800" dirty="0"/>
              <a:t>                -Soit c’est une détresse respiratoire</a:t>
            </a:r>
          </a:p>
          <a:p>
            <a:pPr marL="457200" indent="-457200">
              <a:buNone/>
            </a:pPr>
            <a:r>
              <a:rPr lang="fr-FR" sz="2800" dirty="0"/>
              <a:t>                - Soit c’est une détresse circulatoire</a:t>
            </a:r>
          </a:p>
          <a:p>
            <a:pPr marL="457200" indent="-457200">
              <a:buNone/>
            </a:pPr>
            <a:r>
              <a:rPr lang="fr-FR" dirty="0">
                <a:solidFill>
                  <a:srgbClr val="7030A0"/>
                </a:solidFill>
              </a:rPr>
              <a:t>b)</a:t>
            </a:r>
            <a:r>
              <a:rPr lang="fr-FR" sz="2800" dirty="0">
                <a:solidFill>
                  <a:srgbClr val="7030A0"/>
                </a:solidFill>
              </a:rPr>
              <a:t>Si la fonction neurologique est atteinte:</a:t>
            </a:r>
          </a:p>
          <a:p>
            <a:pPr marL="457200" indent="-457200">
              <a:buNone/>
            </a:pPr>
            <a:r>
              <a:rPr lang="fr-FR" sz="2800" dirty="0"/>
              <a:t>                 -IL ne répond pas aux ordres</a:t>
            </a:r>
          </a:p>
          <a:p>
            <a:pPr marL="457200" indent="-457200">
              <a:buNone/>
            </a:pPr>
            <a:r>
              <a:rPr lang="fr-FR" sz="2800" dirty="0"/>
              <a:t>                 - IL ne répond pas aux stimulations</a:t>
            </a:r>
          </a:p>
          <a:p>
            <a:pPr marL="457200" indent="-457200">
              <a:buNone/>
            </a:pPr>
            <a:r>
              <a:rPr lang="fr-FR" sz="2800" dirty="0"/>
              <a:t>                                  </a:t>
            </a:r>
            <a:r>
              <a:rPr lang="fr-FR" sz="2800" b="1" i="1" dirty="0"/>
              <a:t>Donc il est dans le coma</a:t>
            </a:r>
          </a:p>
          <a:p>
            <a:pPr marL="457200" indent="-457200">
              <a:buNone/>
            </a:pPr>
            <a:endParaRPr lang="fr-FR" sz="2000" dirty="0"/>
          </a:p>
          <a:p>
            <a:pPr marL="457200" indent="-457200">
              <a:buNone/>
            </a:pPr>
            <a:endParaRPr lang="fr-FR" sz="2000" dirty="0"/>
          </a:p>
        </p:txBody>
      </p:sp>
    </p:spTree>
  </p:cSld>
  <p:clrMapOvr>
    <a:masterClrMapping/>
  </p:clrMapOvr>
  <p:transition advTm="483">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188640"/>
            <a:ext cx="8856984" cy="668592"/>
          </a:xfrm>
          <a:solidFill>
            <a:schemeClr val="bg2">
              <a:lumMod val="20000"/>
              <a:lumOff val="80000"/>
            </a:schemeClr>
          </a:solidFill>
          <a:ln w="57150">
            <a:solidFill>
              <a:schemeClr val="tx1"/>
            </a:solidFill>
          </a:ln>
        </p:spPr>
        <p:txBody>
          <a:bodyPr>
            <a:normAutofit/>
          </a:bodyPr>
          <a:lstStyle/>
          <a:p>
            <a:r>
              <a:rPr lang="fr-FR" sz="2800" b="1" dirty="0">
                <a:solidFill>
                  <a:srgbClr val="FF0000"/>
                </a:solidFill>
              </a:rPr>
              <a:t>               </a:t>
            </a:r>
            <a:r>
              <a:rPr lang="fr-FR" sz="2800" b="1" dirty="0">
                <a:solidFill>
                  <a:srgbClr val="FF0000"/>
                </a:solidFill>
                <a:latin typeface="+mn-lt"/>
              </a:rPr>
              <a:t>BILAN DES GRANDES FONCTIONS</a:t>
            </a:r>
          </a:p>
        </p:txBody>
      </p:sp>
      <p:sp>
        <p:nvSpPr>
          <p:cNvPr id="3" name="Espace réservé du contenu 2"/>
          <p:cNvSpPr>
            <a:spLocks noGrp="1"/>
          </p:cNvSpPr>
          <p:nvPr>
            <p:ph idx="1"/>
          </p:nvPr>
        </p:nvSpPr>
        <p:spPr>
          <a:xfrm>
            <a:off x="107504" y="980728"/>
            <a:ext cx="8856984" cy="5591544"/>
          </a:xfrm>
          <a:solidFill>
            <a:schemeClr val="bg1"/>
          </a:solidFill>
          <a:ln w="57150">
            <a:solidFill>
              <a:schemeClr val="tx1"/>
            </a:solidFill>
          </a:ln>
        </p:spPr>
        <p:txBody>
          <a:bodyPr>
            <a:normAutofit/>
          </a:bodyPr>
          <a:lstStyle/>
          <a:p>
            <a:pPr marL="0" indent="0">
              <a:buNone/>
            </a:pPr>
            <a:r>
              <a:rPr lang="fr-FR" sz="2400" b="1" u="sng" dirty="0">
                <a:solidFill>
                  <a:srgbClr val="FF0000"/>
                </a:solidFill>
              </a:rPr>
              <a:t>B)EVALUATION DE LA FONCTION RESPIRATOIRE</a:t>
            </a:r>
          </a:p>
          <a:p>
            <a:pPr>
              <a:buFont typeface="Wingdings" pitchFamily="2" charset="2"/>
              <a:buChar char="Ø"/>
            </a:pPr>
            <a:r>
              <a:rPr lang="fr-FR" sz="2400" b="1" dirty="0"/>
              <a:t>Mesurer le degré de gravité de l’atteinte respiratoire:</a:t>
            </a:r>
          </a:p>
          <a:p>
            <a:pPr>
              <a:buNone/>
            </a:pPr>
            <a:r>
              <a:rPr lang="fr-FR" sz="2400" dirty="0"/>
              <a:t>            -Gêne</a:t>
            </a:r>
          </a:p>
          <a:p>
            <a:pPr>
              <a:buNone/>
            </a:pPr>
            <a:r>
              <a:rPr lang="fr-FR" sz="2400" dirty="0"/>
              <a:t>             -Détresse</a:t>
            </a:r>
          </a:p>
          <a:p>
            <a:pPr>
              <a:buNone/>
            </a:pPr>
            <a:r>
              <a:rPr lang="fr-FR" sz="2400" dirty="0"/>
              <a:t>            - Arrêt respiratoire</a:t>
            </a:r>
          </a:p>
          <a:p>
            <a:pPr>
              <a:buFont typeface="Wingdings" pitchFamily="2" charset="2"/>
              <a:buChar char="Ø"/>
            </a:pPr>
            <a:r>
              <a:rPr lang="fr-FR" sz="2400" b="1" dirty="0"/>
              <a:t>Vérifier :</a:t>
            </a:r>
          </a:p>
          <a:p>
            <a:pPr>
              <a:buNone/>
            </a:pPr>
            <a:r>
              <a:rPr lang="fr-FR" sz="2400" dirty="0"/>
              <a:t>   -Les mouvements respiratoires par : l’observation de l’abdomen et le thorax ou en plaçant la main au dessus du thorax et du nez.</a:t>
            </a:r>
          </a:p>
          <a:p>
            <a:pPr>
              <a:buNone/>
            </a:pPr>
            <a:r>
              <a:rPr lang="fr-FR" sz="2400" dirty="0"/>
              <a:t>   -Fréquence respiratoire: nombre d’expirations par minute</a:t>
            </a:r>
          </a:p>
          <a:p>
            <a:pPr>
              <a:buNone/>
            </a:pPr>
            <a:r>
              <a:rPr lang="fr-FR" sz="2400" dirty="0"/>
              <a:t>   -Existence ou non de bruit en plaçant l’oreille prés de la bouche</a:t>
            </a:r>
          </a:p>
          <a:p>
            <a:pPr>
              <a:buNone/>
            </a:pPr>
            <a:r>
              <a:rPr lang="fr-FR" sz="2400" dirty="0"/>
              <a:t>   -Aspect de la peau: couleur des lèvres et du visage</a:t>
            </a:r>
          </a:p>
          <a:p>
            <a:pPr>
              <a:buNone/>
            </a:pPr>
            <a:r>
              <a:rPr lang="fr-FR" sz="2400" dirty="0"/>
              <a:t>   -Signes de lutte(tirage, contracture des muscles accessoires)</a:t>
            </a:r>
          </a:p>
        </p:txBody>
      </p:sp>
    </p:spTree>
  </p:cSld>
  <p:clrMapOvr>
    <a:masterClrMapping/>
  </p:clrMapOvr>
  <mc:AlternateContent xmlns:mc="http://schemas.openxmlformats.org/markup-compatibility/2006" xmlns:p14="http://schemas.microsoft.com/office/powerpoint/2010/main">
    <mc:Choice Requires="p14">
      <p:transition spd="slow" p14:dur="2000" advTm="453"/>
    </mc:Choice>
    <mc:Fallback xmlns="">
      <p:transition spd="slow" advTm="45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46">
            <a:extLst>
              <a:ext uri="{FF2B5EF4-FFF2-40B4-BE49-F238E27FC236}">
                <a16:creationId xmlns:a16="http://schemas.microsoft.com/office/drawing/2014/main" id="{FCEC2294-5A7B-45E5-9251-C1AA89F4A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bg2">
              <a:alpha val="6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p:cNvSpPr>
            <a:spLocks noGrp="1"/>
          </p:cNvSpPr>
          <p:nvPr>
            <p:ph type="title"/>
          </p:nvPr>
        </p:nvSpPr>
        <p:spPr>
          <a:xfrm>
            <a:off x="628650" y="1065862"/>
            <a:ext cx="2484873" cy="4726276"/>
          </a:xfrm>
        </p:spPr>
        <p:txBody>
          <a:bodyPr>
            <a:normAutofit/>
          </a:bodyPr>
          <a:lstStyle/>
          <a:p>
            <a:pPr algn="r"/>
            <a:r>
              <a:rPr lang="fr-FR" sz="3500" b="1">
                <a:latin typeface="+mn-lt"/>
              </a:rPr>
              <a:t>BILAN DES GRANDES FONCTIONS</a:t>
            </a:r>
          </a:p>
        </p:txBody>
      </p:sp>
      <p:cxnSp>
        <p:nvCxnSpPr>
          <p:cNvPr id="52" name="Straight Connector 48">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6" name="Espace réservé du contenu 2">
            <a:extLst>
              <a:ext uri="{FF2B5EF4-FFF2-40B4-BE49-F238E27FC236}">
                <a16:creationId xmlns:a16="http://schemas.microsoft.com/office/drawing/2014/main" id="{429BAACE-E0E5-458D-8C5E-6F2138CE69C7}"/>
              </a:ext>
            </a:extLst>
          </p:cNvPr>
          <p:cNvGraphicFramePr>
            <a:graphicFrameLocks noGrp="1"/>
          </p:cNvGraphicFramePr>
          <p:nvPr>
            <p:ph idx="1"/>
            <p:extLst>
              <p:ext uri="{D42A27DB-BD31-4B8C-83A1-F6EECF244321}">
                <p14:modId xmlns:p14="http://schemas.microsoft.com/office/powerpoint/2010/main" val="3891346870"/>
              </p:ext>
            </p:extLst>
          </p:nvPr>
        </p:nvGraphicFramePr>
        <p:xfrm>
          <a:off x="3866534" y="1065862"/>
          <a:ext cx="4644239" cy="4726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58080953-DEBF-421A-A259-E486B504F172}"/>
              </a:ext>
            </a:extLst>
          </p:cNvPr>
          <p:cNvSpPr/>
          <p:nvPr/>
        </p:nvSpPr>
        <p:spPr>
          <a:xfrm>
            <a:off x="395536" y="188640"/>
            <a:ext cx="8352919" cy="6480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FF0000"/>
                </a:solidFill>
              </a:rPr>
              <a:t>EVALUATION RESPIRATOIRE </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421"/>
    </mc:Choice>
    <mc:Fallback xmlns="">
      <p:transition spd="slow" advTm="42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57166"/>
            <a:ext cx="8229600" cy="642942"/>
          </a:xfrm>
          <a:solidFill>
            <a:schemeClr val="bg2">
              <a:lumMod val="20000"/>
              <a:lumOff val="80000"/>
            </a:schemeClr>
          </a:solidFill>
          <a:ln w="57150">
            <a:solidFill>
              <a:schemeClr val="tx1"/>
            </a:solidFill>
          </a:ln>
        </p:spPr>
        <p:txBody>
          <a:bodyPr>
            <a:normAutofit/>
          </a:bodyPr>
          <a:lstStyle/>
          <a:p>
            <a:r>
              <a:rPr lang="fr-FR" sz="2800" b="1" dirty="0">
                <a:solidFill>
                  <a:srgbClr val="FF0000"/>
                </a:solidFill>
              </a:rPr>
              <a:t>           </a:t>
            </a:r>
            <a:r>
              <a:rPr lang="fr-FR" sz="3200" b="1" dirty="0">
                <a:solidFill>
                  <a:srgbClr val="FF0000"/>
                </a:solidFill>
                <a:latin typeface="+mn-lt"/>
              </a:rPr>
              <a:t>BILAN DES GRANDES FONCTIONS</a:t>
            </a:r>
          </a:p>
        </p:txBody>
      </p:sp>
      <p:sp>
        <p:nvSpPr>
          <p:cNvPr id="3" name="Espace réservé du contenu 2"/>
          <p:cNvSpPr>
            <a:spLocks noGrp="1"/>
          </p:cNvSpPr>
          <p:nvPr>
            <p:ph idx="1"/>
          </p:nvPr>
        </p:nvSpPr>
        <p:spPr>
          <a:xfrm>
            <a:off x="457200" y="1000108"/>
            <a:ext cx="8229600" cy="5500726"/>
          </a:xfrm>
          <a:solidFill>
            <a:schemeClr val="bg1"/>
          </a:solidFill>
          <a:ln w="57150">
            <a:solidFill>
              <a:schemeClr val="tx1"/>
            </a:solidFill>
          </a:ln>
        </p:spPr>
        <p:txBody>
          <a:bodyPr>
            <a:normAutofit/>
          </a:bodyPr>
          <a:lstStyle/>
          <a:p>
            <a:pPr marL="0" indent="0">
              <a:buNone/>
            </a:pPr>
            <a:r>
              <a:rPr lang="fr-FR" sz="2400" b="1" dirty="0">
                <a:solidFill>
                  <a:srgbClr val="FF0000"/>
                </a:solidFill>
              </a:rPr>
              <a:t>C)EVALUATION DE LA FONCTION CARDIOVASCULAIRE</a:t>
            </a:r>
          </a:p>
          <a:p>
            <a:pPr>
              <a:buNone/>
            </a:pPr>
            <a:r>
              <a:rPr lang="fr-FR" sz="2400" dirty="0">
                <a:solidFill>
                  <a:srgbClr val="FF0000"/>
                </a:solidFill>
              </a:rPr>
              <a:t> </a:t>
            </a:r>
          </a:p>
          <a:p>
            <a:pPr>
              <a:buFont typeface="Wingdings" pitchFamily="2" charset="2"/>
              <a:buChar char="v"/>
            </a:pPr>
            <a:r>
              <a:rPr lang="fr-FR" sz="2000" dirty="0">
                <a:solidFill>
                  <a:srgbClr val="FFFF00"/>
                </a:solidFill>
              </a:rPr>
              <a:t> </a:t>
            </a:r>
            <a:r>
              <a:rPr lang="fr-FR" sz="2000" b="1" dirty="0"/>
              <a:t>PRISE DE POULS </a:t>
            </a:r>
            <a:r>
              <a:rPr lang="fr-FR" sz="2000" dirty="0"/>
              <a:t>: Utiliser le pouls carotidien(plus facile à percevoir</a:t>
            </a:r>
          </a:p>
          <a:p>
            <a:pPr>
              <a:buFont typeface="Wingdings" pitchFamily="2" charset="2"/>
              <a:buChar char="v"/>
            </a:pPr>
            <a:endParaRPr lang="fr-FR" sz="2000" dirty="0"/>
          </a:p>
          <a:p>
            <a:pPr>
              <a:buFont typeface="Wingdings" pitchFamily="2" charset="2"/>
              <a:buChar char="ü"/>
            </a:pPr>
            <a:r>
              <a:rPr lang="fr-FR" sz="2000" dirty="0"/>
              <a:t> Permet d’apprécier la pression artérielle et la fréquence des pulsations :</a:t>
            </a:r>
          </a:p>
          <a:p>
            <a:pPr>
              <a:buNone/>
            </a:pPr>
            <a:r>
              <a:rPr lang="fr-FR" sz="2000" dirty="0"/>
              <a:t>             Fréquence cardiaque =</a:t>
            </a:r>
            <a:r>
              <a:rPr lang="fr-FR" sz="2000" b="1" i="1" dirty="0"/>
              <a:t>60 - 80  </a:t>
            </a:r>
            <a:r>
              <a:rPr lang="fr-FR" sz="2000" b="1" i="1" dirty="0" err="1"/>
              <a:t>bt</a:t>
            </a:r>
            <a:r>
              <a:rPr lang="fr-FR" sz="2000" b="1" i="1" dirty="0"/>
              <a:t>/</a:t>
            </a:r>
            <a:r>
              <a:rPr lang="fr-FR" sz="2000" b="1" i="1" dirty="0" err="1"/>
              <a:t>mn</a:t>
            </a:r>
            <a:r>
              <a:rPr lang="fr-FR" sz="2000" b="1" dirty="0" err="1"/>
              <a:t>chez</a:t>
            </a:r>
            <a:r>
              <a:rPr lang="fr-FR" sz="2000" b="1" dirty="0"/>
              <a:t> l’adulte</a:t>
            </a:r>
          </a:p>
          <a:p>
            <a:pPr>
              <a:buNone/>
            </a:pPr>
            <a:r>
              <a:rPr lang="fr-FR" sz="2000" dirty="0"/>
              <a:t>                       </a:t>
            </a:r>
            <a:r>
              <a:rPr lang="fr-FR" sz="2000" b="1" dirty="0"/>
              <a:t>Deux situations sont à envisager</a:t>
            </a:r>
            <a:r>
              <a:rPr lang="fr-FR" sz="2000" dirty="0"/>
              <a:t>:</a:t>
            </a:r>
          </a:p>
          <a:p>
            <a:pPr>
              <a:buNone/>
            </a:pPr>
            <a:r>
              <a:rPr lang="fr-FR" sz="2000" dirty="0"/>
              <a:t>     - Si le pouls carotidien existe :</a:t>
            </a:r>
            <a:r>
              <a:rPr lang="fr-FR" sz="2000" i="1" u="sng" dirty="0"/>
              <a:t>le patient est en  arrêt </a:t>
            </a:r>
            <a:r>
              <a:rPr lang="fr-FR" sz="2000" i="1" u="sng" dirty="0" err="1"/>
              <a:t>ventilatoire</a:t>
            </a:r>
            <a:endParaRPr lang="fr-FR" sz="2000" i="1" u="sng" dirty="0"/>
          </a:p>
          <a:p>
            <a:pPr>
              <a:buNone/>
            </a:pPr>
            <a:r>
              <a:rPr lang="fr-FR" sz="2000" dirty="0"/>
              <a:t>                         CAT: Assurer une ventilation</a:t>
            </a:r>
          </a:p>
          <a:p>
            <a:pPr>
              <a:buNone/>
            </a:pPr>
            <a:r>
              <a:rPr lang="fr-FR" sz="2000" dirty="0"/>
              <a:t>     - Si le pouls carotidien n’existe pas: </a:t>
            </a:r>
            <a:r>
              <a:rPr lang="fr-FR" sz="2000" i="1" u="sng" dirty="0"/>
              <a:t>le patient est en arrêt cardiocirculatoire</a:t>
            </a:r>
          </a:p>
          <a:p>
            <a:pPr>
              <a:buNone/>
            </a:pPr>
            <a:r>
              <a:rPr lang="fr-FR" sz="2000" i="1" dirty="0"/>
              <a:t>                   </a:t>
            </a:r>
            <a:r>
              <a:rPr lang="fr-FR" sz="2000" i="1" u="sng" dirty="0"/>
              <a:t> </a:t>
            </a:r>
            <a:r>
              <a:rPr lang="fr-FR" sz="2000" dirty="0"/>
              <a:t>CAT: Assurer une ventilation et un massage cardiaque externe (MCE)</a:t>
            </a:r>
            <a:endParaRPr lang="fr-FR" sz="2400" dirty="0"/>
          </a:p>
        </p:txBody>
      </p:sp>
    </p:spTree>
  </p:cSld>
  <p:clrMapOvr>
    <a:masterClrMapping/>
  </p:clrMapOvr>
  <mc:AlternateContent xmlns:mc="http://schemas.openxmlformats.org/markup-compatibility/2006" xmlns:p14="http://schemas.microsoft.com/office/powerpoint/2010/main">
    <mc:Choice Requires="p14">
      <p:transition spd="slow" p14:dur="2000" advTm="581"/>
    </mc:Choice>
    <mc:Fallback xmlns="">
      <p:transition spd="slow" advTm="58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8650" y="365127"/>
            <a:ext cx="7886700" cy="831626"/>
          </a:xfrm>
          <a:solidFill>
            <a:schemeClr val="tx2">
              <a:lumMod val="20000"/>
              <a:lumOff val="80000"/>
            </a:schemeClr>
          </a:solidFill>
          <a:ln w="57150">
            <a:solidFill>
              <a:schemeClr val="tx1"/>
            </a:solidFill>
          </a:ln>
        </p:spPr>
        <p:txBody>
          <a:bodyPr>
            <a:normAutofit/>
          </a:bodyPr>
          <a:lstStyle/>
          <a:p>
            <a:r>
              <a:rPr lang="fr-FR" sz="2800" b="1">
                <a:solidFill>
                  <a:srgbClr val="FF0000"/>
                </a:solidFill>
                <a:latin typeface="+mn-lt"/>
              </a:rPr>
              <a:t>                             CONCLUSION</a:t>
            </a:r>
            <a:endParaRPr lang="fr-FR" sz="2800" b="1" dirty="0">
              <a:solidFill>
                <a:srgbClr val="FF0000"/>
              </a:solidFill>
              <a:latin typeface="+mn-lt"/>
            </a:endParaRPr>
          </a:p>
        </p:txBody>
      </p:sp>
      <p:sp>
        <p:nvSpPr>
          <p:cNvPr id="3" name="Espace réservé du contenu 2"/>
          <p:cNvSpPr>
            <a:spLocks noGrp="1"/>
          </p:cNvSpPr>
          <p:nvPr>
            <p:ph idx="1"/>
          </p:nvPr>
        </p:nvSpPr>
        <p:spPr>
          <a:xfrm>
            <a:off x="628650" y="1196753"/>
            <a:ext cx="7886700" cy="4980210"/>
          </a:xfrm>
          <a:solidFill>
            <a:schemeClr val="bg1"/>
          </a:solidFill>
          <a:ln w="57150">
            <a:solidFill>
              <a:schemeClr val="tx1"/>
            </a:solidFill>
          </a:ln>
        </p:spPr>
        <p:txBody>
          <a:bodyPr>
            <a:normAutofit/>
          </a:bodyPr>
          <a:lstStyle/>
          <a:p>
            <a:pPr>
              <a:buFont typeface="Wingdings" pitchFamily="2" charset="2"/>
              <a:buChar char="v"/>
            </a:pPr>
            <a:r>
              <a:rPr lang="fr-FR" sz="2400" b="1" dirty="0"/>
              <a:t> Reconnaitre l’urgence</a:t>
            </a:r>
          </a:p>
          <a:p>
            <a:pPr>
              <a:buFont typeface="Wingdings" pitchFamily="2" charset="2"/>
              <a:buChar char="v"/>
            </a:pPr>
            <a:r>
              <a:rPr lang="fr-FR" sz="2400" b="1" dirty="0"/>
              <a:t>Agir vite</a:t>
            </a:r>
          </a:p>
          <a:p>
            <a:pPr>
              <a:buFont typeface="Wingdings" pitchFamily="2" charset="2"/>
              <a:buChar char="v"/>
            </a:pPr>
            <a:r>
              <a:rPr lang="fr-FR" sz="2400" b="1" dirty="0"/>
              <a:t>Bilan de gravité :Appréciation de l’état du patient</a:t>
            </a:r>
          </a:p>
          <a:p>
            <a:pPr>
              <a:buFont typeface="Wingdings" pitchFamily="2" charset="2"/>
              <a:buChar char="v"/>
            </a:pPr>
            <a:r>
              <a:rPr lang="fr-FR" sz="2400" b="1" dirty="0"/>
              <a:t>Savoir prodiguer les gestes de premier secours</a:t>
            </a:r>
          </a:p>
          <a:p>
            <a:pPr>
              <a:buFont typeface="Wingdings" pitchFamily="2" charset="2"/>
              <a:buChar char="v"/>
            </a:pPr>
            <a:r>
              <a:rPr lang="fr-FR" sz="2400" b="1" dirty="0"/>
              <a:t> Appeler de l’aide</a:t>
            </a:r>
          </a:p>
          <a:p>
            <a:pPr>
              <a:buNone/>
            </a:pPr>
            <a:endParaRPr lang="fr-FR" sz="2400" dirty="0">
              <a:solidFill>
                <a:srgbClr val="FFC000"/>
              </a:solidFill>
            </a:endParaRPr>
          </a:p>
          <a:p>
            <a:pPr>
              <a:buNone/>
            </a:pPr>
            <a:r>
              <a:rPr lang="fr-FR" sz="2400" b="1" dirty="0">
                <a:solidFill>
                  <a:srgbClr val="FF0000"/>
                </a:solidFill>
              </a:rPr>
              <a:t>L’odontologiste est le premier maillon de la chaine avant l’arrivée des services d’urgence.</a:t>
            </a:r>
          </a:p>
          <a:p>
            <a:pPr>
              <a:buNone/>
            </a:pPr>
            <a:r>
              <a:rPr lang="fr-FR" sz="2400" dirty="0"/>
              <a:t>             </a:t>
            </a:r>
          </a:p>
        </p:txBody>
      </p:sp>
    </p:spTree>
  </p:cSld>
  <p:clrMapOvr>
    <a:masterClrMapping/>
  </p:clrMapOvr>
  <mc:AlternateContent xmlns:mc="http://schemas.openxmlformats.org/markup-compatibility/2006" xmlns:p14="http://schemas.microsoft.com/office/powerpoint/2010/main">
    <mc:Choice Requires="p14">
      <p:transition spd="slow" p14:dur="2000" advTm="6858"/>
    </mc:Choice>
    <mc:Fallback xmlns="">
      <p:transition spd="slow" advTm="6858"/>
    </mc:Fallback>
  </mc:AlternateContent>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TotalTime>
  <Words>953</Words>
  <Application>Microsoft Office PowerPoint</Application>
  <PresentationFormat>Affichage à l'écran (4:3)</PresentationFormat>
  <Paragraphs>160</Paragraphs>
  <Slides>15</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Wingdings</vt:lpstr>
      <vt:lpstr>Office Theme</vt:lpstr>
      <vt:lpstr>Présentation PowerPoint</vt:lpstr>
      <vt:lpstr>                        PLAN </vt:lpstr>
      <vt:lpstr>INTRODUCTION A L’OXYOLOGIE </vt:lpstr>
      <vt:lpstr>INTRODUCTION A L’OXYOLOGIE </vt:lpstr>
      <vt:lpstr>INTRODUCTION A L’OXYOLOGIE </vt:lpstr>
      <vt:lpstr>INTRODUCTION A L’OXYOLOGIE </vt:lpstr>
      <vt:lpstr>INTRODUCTION A L’OXYOLOGIE </vt:lpstr>
      <vt:lpstr> BILAN DES GRANDES FONCTIONS </vt:lpstr>
      <vt:lpstr>          BILAN DES GRANDES FONCTIONS</vt:lpstr>
      <vt:lpstr>        BILAN DES GRANDES FONCTIONS</vt:lpstr>
      <vt:lpstr>        BILAN DES GRANDES FONCTIONS </vt:lpstr>
      <vt:lpstr>               BILAN DES GRANDES FONCTIONS</vt:lpstr>
      <vt:lpstr>BILAN DES GRANDES FONCTIONS</vt:lpstr>
      <vt:lpstr>           BILAN DES GRANDES FONCTIONS</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92969</dc:creator>
  <cp:lastModifiedBy>lenovo</cp:lastModifiedBy>
  <cp:revision>20</cp:revision>
  <dcterms:created xsi:type="dcterms:W3CDTF">2021-01-23T07:50:11Z</dcterms:created>
  <dcterms:modified xsi:type="dcterms:W3CDTF">2024-12-27T14:06:16Z</dcterms:modified>
</cp:coreProperties>
</file>