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69" r:id="rId2"/>
    <p:sldId id="257" r:id="rId3"/>
    <p:sldId id="259" r:id="rId4"/>
    <p:sldId id="261" r:id="rId5"/>
    <p:sldId id="262" r:id="rId6"/>
    <p:sldId id="263" r:id="rId7"/>
    <p:sldId id="260" r:id="rId8"/>
    <p:sldId id="265" r:id="rId9"/>
    <p:sldId id="266" r:id="rId10"/>
    <p:sldId id="270" r:id="rId11"/>
    <p:sldId id="271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13" autoAdjust="0"/>
  </p:normalViewPr>
  <p:slideViewPr>
    <p:cSldViewPr>
      <p:cViewPr varScale="1">
        <p:scale>
          <a:sx n="78" d="100"/>
          <a:sy n="78" d="100"/>
        </p:scale>
        <p:origin x="9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16890-16AA-4B88-BC79-0C60E949410C}" type="datetimeFigureOut">
              <a:rPr lang="fr-FR" smtClean="0"/>
              <a:t>09/01/2025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822C0-0086-4D35-B5FD-9B568AD61A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2068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>
                <a:solidFill>
                  <a:srgbClr val="414A52"/>
                </a:solidFill>
                <a:effectLst/>
                <a:latin typeface="Montserrat"/>
              </a:rPr>
              <a:t>-</a:t>
            </a:r>
            <a:r>
              <a:rPr lang="fr-FR" b="1" i="0" dirty="0">
                <a:solidFill>
                  <a:srgbClr val="00B050"/>
                </a:solidFill>
                <a:effectLst/>
                <a:latin typeface="Montserrat"/>
              </a:rPr>
              <a:t>L'anxiété </a:t>
            </a:r>
            <a:r>
              <a:rPr lang="fr-FR" dirty="0">
                <a:solidFill>
                  <a:srgbClr val="414A52"/>
                </a:solidFill>
                <a:latin typeface="Montserrat"/>
              </a:rPr>
              <a:t>:le dentiste </a:t>
            </a:r>
            <a:r>
              <a:rPr lang="fr-FR" b="0" i="0" dirty="0">
                <a:solidFill>
                  <a:srgbClr val="414A52"/>
                </a:solidFill>
                <a:effectLst/>
                <a:latin typeface="Montserrat"/>
              </a:rPr>
              <a:t> doit discuter avec le patient de son état dentaire, de la manière dont il sera traité et de toute crainte que le patient pourrait avoir concernant le traitement.</a:t>
            </a:r>
            <a:endParaRPr lang="fr-FR" b="0" i="0" dirty="0">
              <a:solidFill>
                <a:srgbClr val="666666"/>
              </a:solidFill>
              <a:effectLst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1" i="0" u="none" strike="noStrike" dirty="0">
              <a:solidFill>
                <a:srgbClr val="003A78"/>
              </a:solidFill>
              <a:effectLst/>
              <a:latin typeface="Montserrat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822C0-0086-4D35-B5FD-9B568AD61AA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868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A59160D-EE69-46B1-9812-2156ECADB07A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A564D80-DD07-461C-BF06-975FC0AF20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1E799F4-7B29-DC27-02D1-852AD6A63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16632"/>
            <a:ext cx="4680519" cy="6336704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740593BD-6E90-4634-B9F8-BBB936BFBD01}"/>
              </a:ext>
            </a:extLst>
          </p:cNvPr>
          <p:cNvSpPr txBox="1">
            <a:spLocks/>
          </p:cNvSpPr>
          <p:nvPr/>
        </p:nvSpPr>
        <p:spPr>
          <a:xfrm>
            <a:off x="323529" y="1052736"/>
            <a:ext cx="3867471" cy="3816424"/>
          </a:xfrm>
          <a:prstGeom prst="rect">
            <a:avLst/>
          </a:prstGeom>
          <a:noFill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ctr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fr-FR" b="1" dirty="0">
                <a:solidFill>
                  <a:srgbClr val="FF0000"/>
                </a:solidFill>
              </a:rPr>
            </a:br>
            <a:r>
              <a:rPr lang="fr-FR" b="1" dirty="0">
                <a:solidFill>
                  <a:srgbClr val="FF0000"/>
                </a:solidFill>
              </a:rPr>
              <a:t>  </a:t>
            </a:r>
            <a:r>
              <a:rPr lang="fr-FR" sz="3300" b="1" dirty="0">
                <a:solidFill>
                  <a:srgbClr val="FF0000"/>
                </a:solidFill>
              </a:rPr>
              <a:t>DETRESSE    VENTILATOIRE</a:t>
            </a:r>
          </a:p>
          <a:p>
            <a:endParaRPr lang="fr-FR" sz="33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E5598B-53EB-212E-9FC6-CB5B1A4AFA1B}"/>
              </a:ext>
            </a:extLst>
          </p:cNvPr>
          <p:cNvSpPr/>
          <p:nvPr/>
        </p:nvSpPr>
        <p:spPr>
          <a:xfrm>
            <a:off x="395536" y="5013176"/>
            <a:ext cx="3672408" cy="1008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EE0000"/>
                </a:solidFill>
              </a:rPr>
              <a:t>Dr S.BELLAHDID </a:t>
            </a:r>
          </a:p>
          <a:p>
            <a:pPr algn="ctr"/>
            <a:r>
              <a:rPr lang="fr-FR" b="1" dirty="0">
                <a:solidFill>
                  <a:srgbClr val="EE0000"/>
                </a:solidFill>
              </a:rPr>
              <a:t>Réanimation médicale polyvalente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    GENERALITES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fr-FR" dirty="0"/>
              <a:t>Au cabinet dentaire différentes situations de détresse respiratoire peuvent survenir et mettent en jeu le pronostic vital.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/>
              <a:t>Parmi les urgences rencontrés on distingue: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/>
              <a:t>La dyspnée type polypnée ou bradypnée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/>
              <a:t> L’hyperventilation: augmentation de la fréquence    respiratoire ,due soit :à l’ angoisse ,la  douleur, hypercapnie ou  l’acidose métabolique.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/>
              <a:t>L’</a:t>
            </a:r>
            <a:r>
              <a:rPr lang="fr-FR" dirty="0" err="1"/>
              <a:t>oedeme</a:t>
            </a:r>
            <a:r>
              <a:rPr lang="fr-FR" dirty="0"/>
              <a:t> de </a:t>
            </a:r>
            <a:r>
              <a:rPr lang="fr-FR" dirty="0" err="1"/>
              <a:t>quincke</a:t>
            </a:r>
            <a:r>
              <a:rPr lang="fr-FR" dirty="0"/>
              <a:t>: </a:t>
            </a:r>
            <a:r>
              <a:rPr lang="fr-FR" dirty="0" err="1"/>
              <a:t>oedeme</a:t>
            </a:r>
            <a:r>
              <a:rPr lang="fr-FR" dirty="0"/>
              <a:t> important du larynx.</a:t>
            </a:r>
          </a:p>
          <a:p>
            <a:pPr>
              <a:buFont typeface="Wingdings" pitchFamily="2" charset="2"/>
              <a:buChar char="v"/>
            </a:pPr>
            <a:endParaRPr lang="fr-FR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 err="1"/>
              <a:t>Oedeme</a:t>
            </a:r>
            <a:r>
              <a:rPr lang="fr-FR" dirty="0"/>
              <a:t> aigue  du poumon:  survenant au </a:t>
            </a:r>
            <a:r>
              <a:rPr lang="fr-FR" dirty="0" err="1"/>
              <a:t>decours</a:t>
            </a:r>
            <a:r>
              <a:rPr lang="fr-FR" dirty="0"/>
              <a:t> d’ une décompensation    cardiaque.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/>
              <a:t>Crise d’ asthme.</a:t>
            </a:r>
          </a:p>
          <a:p>
            <a:pPr marL="365760" lvl="1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URGENCES RESPIRATOIRES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1/DYSPNEE:</a:t>
            </a:r>
          </a:p>
          <a:p>
            <a:pPr>
              <a:buNone/>
            </a:pPr>
            <a:r>
              <a:rPr lang="fr-FR" dirty="0"/>
              <a:t>C’est la perception consciente d’une gène ou difficulté respiratoire caractérisée de manière  variable comme une sensation de  manque d’ air d’oppression liés à la respiration </a:t>
            </a:r>
          </a:p>
          <a:p>
            <a:r>
              <a:rPr lang="fr-FR" dirty="0"/>
              <a:t>La dyspnée est un syndrome subjectif ressenti et relaté par le patient.</a:t>
            </a:r>
          </a:p>
          <a:p>
            <a:r>
              <a:rPr lang="fr-FR" dirty="0"/>
              <a:t>Le diagnostic repose sur l’ anamnèse et l’étude des antécédents médicaux ,les tests permettent de cibler l’ étiologie et clinique 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           CONDUITE  à  TENIR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fr-FR" dirty="0"/>
          </a:p>
          <a:p>
            <a:r>
              <a:rPr lang="fr-FR" dirty="0"/>
              <a:t>la principale action sera d’ assurer la vacuité des voies aériennes supérieures.</a:t>
            </a:r>
          </a:p>
          <a:p>
            <a:r>
              <a:rPr lang="fr-FR" dirty="0"/>
              <a:t>Ecarter au plus vite une obstruction par inhalation de corps étranger.</a:t>
            </a:r>
          </a:p>
          <a:p>
            <a:r>
              <a:rPr lang="fr-FR" dirty="0"/>
              <a:t>Si perte de connaissance mettez le patient en position latérale de sécurité.</a:t>
            </a:r>
          </a:p>
          <a:p>
            <a:r>
              <a:rPr lang="fr-FR" dirty="0"/>
              <a:t>Alerte médicale </a:t>
            </a:r>
          </a:p>
          <a:p>
            <a:r>
              <a:rPr lang="fr-FR" dirty="0"/>
              <a:t>oxygénothérapie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CRISE D’ASTHME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142984"/>
            <a:ext cx="8229600" cy="5286412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I/DEFINITION: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Ensemble de manifestations respiratoires aigue caractérisés par des accès de dyspnée intense, survenant par des crises de durée variable et pouvant évoluer vers une détresse respiratoire.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Apparait au cours ou à l’ issue d’une anesthésie locale ou régionale.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Chez un asthmatique connue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Chez un malade ayant déjà présenté des manifestations allergiques cutanées(urticaire, eczéma) ou respiratoires(rhume).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142984"/>
            <a:ext cx="8229600" cy="5330968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II/DIAGNOSTIC CLINIQUE:</a:t>
            </a:r>
            <a:endParaRPr lang="fr-FR" dirty="0"/>
          </a:p>
          <a:p>
            <a:r>
              <a:rPr lang="fr-FR" dirty="0"/>
              <a:t>Une gène respiratoire</a:t>
            </a:r>
          </a:p>
          <a:p>
            <a:r>
              <a:rPr lang="fr-FR" dirty="0"/>
              <a:t>Une sensation de soif de l’air, de suffocation</a:t>
            </a:r>
          </a:p>
          <a:p>
            <a:r>
              <a:rPr lang="fr-FR" dirty="0"/>
              <a:t>Une douleur thoracique rétro sternale</a:t>
            </a:r>
          </a:p>
          <a:p>
            <a:r>
              <a:rPr lang="fr-FR" dirty="0"/>
              <a:t>Une toux sèche et pénible</a:t>
            </a:r>
          </a:p>
          <a:p>
            <a:pPr>
              <a:buNone/>
            </a:pPr>
            <a:r>
              <a:rPr lang="fr-FR" dirty="0"/>
              <a:t>Une angoisse</a:t>
            </a:r>
          </a:p>
          <a:p>
            <a:pPr>
              <a:buNone/>
            </a:pPr>
            <a:r>
              <a:rPr lang="fr-FR" dirty="0"/>
              <a:t>Le praticien observera:</a:t>
            </a:r>
          </a:p>
          <a:p>
            <a:pPr marL="630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fr-FR" dirty="0"/>
              <a:t>Une dyspnée marquée surtout à l’expiration</a:t>
            </a:r>
          </a:p>
          <a:p>
            <a:pPr marL="630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fr-FR" dirty="0"/>
              <a:t>Une respiration sifflante</a:t>
            </a:r>
          </a:p>
          <a:p>
            <a:pPr marL="630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fr-FR" dirty="0"/>
              <a:t>Des efforts respiratoires</a:t>
            </a:r>
          </a:p>
          <a:p>
            <a:pPr marL="630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fr-FR" dirty="0"/>
              <a:t>Une cyanose, des sueurs et une agitation</a:t>
            </a: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3FE6EF1-3C2C-0E25-611A-9FD56BD39302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86834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FF0000"/>
                </a:solidFill>
              </a:rPr>
              <a:t>        CRISE D’ASTHME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DETRESSE RESPIRATOIRE 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7467600" cy="5637240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les conditions de survenue sont variables: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Au repos ou à l’ effort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Le cycle respiratoire variant de la polypnée à la bradypnée   voir apnée.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Dyspnée  peut être inspiratoire ,expiratoire ou aux 2 temps.</a:t>
            </a:r>
          </a:p>
          <a:p>
            <a:pPr marL="0" indent="0">
              <a:buNone/>
            </a:pPr>
            <a:r>
              <a:rPr lang="fr-FR" dirty="0"/>
              <a:t>Cliniquement on note :</a:t>
            </a:r>
          </a:p>
          <a:p>
            <a:pPr>
              <a:buNone/>
            </a:pPr>
            <a:r>
              <a:rPr lang="fr-FR" dirty="0"/>
              <a:t>     -Tirage sur les muscles respiratoires accessoires       </a:t>
            </a:r>
          </a:p>
          <a:p>
            <a:pPr>
              <a:buNone/>
            </a:pPr>
            <a:r>
              <a:rPr lang="fr-FR" dirty="0"/>
              <a:t>     -Contracture des muscles abdominaux  cyanose, sueurs.</a:t>
            </a:r>
          </a:p>
          <a:p>
            <a:pPr>
              <a:buNone/>
            </a:pPr>
            <a:r>
              <a:rPr lang="fr-FR" dirty="0"/>
              <a:t>     -Retentissement  hémodynamique et psychique.</a:t>
            </a:r>
          </a:p>
          <a:p>
            <a:pPr>
              <a:buNone/>
            </a:pPr>
            <a:r>
              <a:rPr lang="fr-FR" dirty="0"/>
              <a:t>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CIRCONSTANCES DE SURVENUE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928670"/>
            <a:ext cx="7467600" cy="5812698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III/CIRCONSTANCES DE SURVENUE :</a:t>
            </a:r>
            <a:endParaRPr lang="fr-FR" b="1" u="sng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1/Déclenché par des facteurs divers: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 err="1"/>
              <a:t>Saisoniers</a:t>
            </a:r>
            <a:r>
              <a:rPr lang="fr-FR" dirty="0"/>
              <a:t>: température ambiante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Allergiques: substances allergisantes inhalées ou ingérées, médicaments.</a:t>
            </a:r>
          </a:p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2/Elle peut survenir</a:t>
            </a:r>
            <a:r>
              <a:rPr lang="fr-FR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Au cours d’ un accident allergique connue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Apres injection médicamenteuse(anesthésie locale)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Comme première manifestation de l’ inhalation d’ un corps étranger.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>
                <a:solidFill>
                  <a:srgbClr val="FF0000"/>
                </a:solidFill>
              </a:rPr>
              <a:t>      CRISE </a:t>
            </a:r>
            <a:r>
              <a:rPr lang="fr-FR" b="1" dirty="0">
                <a:solidFill>
                  <a:srgbClr val="FF0000"/>
                </a:solidFill>
              </a:rPr>
              <a:t>D’ASTHME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071546"/>
            <a:ext cx="8229600" cy="5453798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pPr>
              <a:buNone/>
            </a:pPr>
            <a:endParaRPr lang="fr-FR" sz="7000" u="sng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>
              <a:buNone/>
            </a:pPr>
            <a:r>
              <a:rPr lang="fr-FR" sz="7000" u="sng" dirty="0">
                <a:solidFill>
                  <a:srgbClr val="EE0000"/>
                </a:solidFill>
                <a:latin typeface="Arial Black" panose="020B0A04020102020204" pitchFamily="34" charset="0"/>
              </a:rPr>
              <a:t>CONDUITE A TENIR</a:t>
            </a:r>
          </a:p>
          <a:p>
            <a:pPr>
              <a:buNone/>
            </a:pPr>
            <a:r>
              <a:rPr lang="fr-FR" sz="7000" dirty="0">
                <a:solidFill>
                  <a:srgbClr val="002060"/>
                </a:solidFill>
                <a:latin typeface="Arial Black" panose="020B0A04020102020204" pitchFamily="34" charset="0"/>
              </a:rPr>
              <a:t>Dés l’apparition de la crise d’asthme:</a:t>
            </a:r>
          </a:p>
          <a:p>
            <a:pPr marL="0" indent="0"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1/Laisser le malade en position assise ou dans la position ou il se trouve le mieux pour respirer.</a:t>
            </a:r>
          </a:p>
          <a:p>
            <a:pPr marL="0" indent="0">
              <a:buNone/>
            </a:pPr>
            <a:endParaRPr lang="fr-FR" sz="9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2/Oxygénation au masque 10 à 15 l/mn</a:t>
            </a:r>
          </a:p>
          <a:p>
            <a:pPr>
              <a:buNone/>
            </a:pPr>
            <a:endParaRPr lang="fr-FR" sz="9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3/Corticoïdes :</a:t>
            </a:r>
            <a:r>
              <a:rPr lang="fr-FR" sz="9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Hémsuccinate</a:t>
            </a: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d’hydrocortisone:</a:t>
            </a:r>
          </a:p>
          <a:p>
            <a:pPr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100 à 200 mg en intraveineux</a:t>
            </a:r>
          </a:p>
          <a:p>
            <a:pPr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4/ Bronchodilatateurs:</a:t>
            </a:r>
          </a:p>
          <a:p>
            <a:pPr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-Salbutamol en aérosol 2,5 mg par nébulisation </a:t>
            </a:r>
          </a:p>
          <a:p>
            <a:pPr>
              <a:buNone/>
            </a:pPr>
            <a:endParaRPr lang="fr-FR" sz="9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-Ventoline 5 mg par </a:t>
            </a:r>
            <a:r>
              <a:rPr lang="fr-FR" sz="9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nebulisation</a:t>
            </a: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 cas de crise sévère</a:t>
            </a:r>
          </a:p>
          <a:p>
            <a:pPr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</a:t>
            </a:r>
          </a:p>
          <a:p>
            <a:pPr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>
              <a:buNone/>
            </a:pPr>
            <a:r>
              <a:rPr lang="fr-FR" sz="9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E29FC-EF4F-614B-8C33-2722AF7A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EE0000"/>
                </a:solidFill>
                <a:latin typeface="Arial Black" panose="020B0A04020102020204" pitchFamily="34" charset="0"/>
              </a:rPr>
              <a:t>TRAITEMENT DENTAIRE CHEZ L’ASTHMATIQUE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7640AC-75FF-C833-000C-0EA2F51F47E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556792"/>
            <a:ext cx="7931224" cy="4917160"/>
          </a:xfrm>
        </p:spPr>
        <p:txBody>
          <a:bodyPr>
            <a:normAutofit/>
          </a:bodyPr>
          <a:lstStyle/>
          <a:p>
            <a:pPr marL="0" indent="0" algn="l" fontAlgn="base">
              <a:spcBef>
                <a:spcPts val="2250"/>
              </a:spcBef>
              <a:spcAft>
                <a:spcPts val="750"/>
              </a:spcAft>
              <a:buNone/>
            </a:pPr>
            <a:endParaRPr lang="fr-FR" b="1" i="0" u="none" strike="noStrike" dirty="0">
              <a:solidFill>
                <a:srgbClr val="003A78"/>
              </a:solidFill>
              <a:effectLst/>
              <a:latin typeface="Montserrat"/>
            </a:endParaRPr>
          </a:p>
          <a:p>
            <a:pPr algn="l" fontAlgn="base"/>
            <a:r>
              <a:rPr lang="fr-FR" dirty="0">
                <a:solidFill>
                  <a:srgbClr val="666666"/>
                </a:solidFill>
                <a:latin typeface="Montserrat"/>
              </a:rPr>
              <a:t>Lors des soins dentaires l’important </a:t>
            </a:r>
            <a:r>
              <a:rPr lang="fr-FR" b="0" i="0" dirty="0">
                <a:solidFill>
                  <a:srgbClr val="666666"/>
                </a:solidFill>
                <a:effectLst/>
                <a:latin typeface="Montserrat"/>
              </a:rPr>
              <a:t>  est </a:t>
            </a:r>
            <a:r>
              <a:rPr lang="fr-FR" b="1" i="0" dirty="0">
                <a:solidFill>
                  <a:srgbClr val="666666"/>
                </a:solidFill>
                <a:effectLst/>
                <a:latin typeface="Montserrat"/>
              </a:rPr>
              <a:t>d'éviter de déclencher une crise d'asthme. </a:t>
            </a:r>
          </a:p>
          <a:p>
            <a:pPr algn="l" fontAlgn="base"/>
            <a:r>
              <a:rPr lang="fr-FR" b="1" i="0" dirty="0">
                <a:solidFill>
                  <a:srgbClr val="666666"/>
                </a:solidFill>
                <a:effectLst/>
                <a:latin typeface="Montserrat"/>
              </a:rPr>
              <a:t>À cette fin</a:t>
            </a:r>
            <a:r>
              <a:rPr lang="fr-FR" b="1" dirty="0">
                <a:solidFill>
                  <a:srgbClr val="666666"/>
                </a:solidFill>
                <a:latin typeface="Montserrat"/>
              </a:rPr>
              <a:t> certaines </a:t>
            </a:r>
            <a:r>
              <a:rPr lang="fr-FR" b="1" i="0" dirty="0">
                <a:solidFill>
                  <a:srgbClr val="666666"/>
                </a:solidFill>
                <a:effectLst/>
                <a:latin typeface="Montserrat"/>
              </a:rPr>
              <a:t> mesures préventives doivent être prises :</a:t>
            </a:r>
          </a:p>
          <a:p>
            <a:pPr lvl="2" fontAlgn="base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2000" b="1" i="0" dirty="0">
                <a:solidFill>
                  <a:srgbClr val="EE0000"/>
                </a:solidFill>
                <a:effectLst/>
                <a:latin typeface="Montserrat"/>
              </a:rPr>
              <a:t>Connaître les antécédents médicaux du patient</a:t>
            </a:r>
            <a:r>
              <a:rPr lang="fr-FR" sz="2000" b="0" i="0" dirty="0">
                <a:solidFill>
                  <a:srgbClr val="EE0000"/>
                </a:solidFill>
                <a:effectLst/>
                <a:latin typeface="Montserrat"/>
              </a:rPr>
              <a:t> : </a:t>
            </a:r>
          </a:p>
          <a:p>
            <a:pPr marL="0" indent="0" algn="l" fontAlgn="base">
              <a:lnSpc>
                <a:spcPts val="1950"/>
              </a:lnSpc>
              <a:buNone/>
            </a:pPr>
            <a:r>
              <a:rPr lang="fr-FR" b="0" i="0" dirty="0">
                <a:solidFill>
                  <a:srgbClr val="414A52"/>
                </a:solidFill>
                <a:effectLst/>
                <a:latin typeface="Montserrat"/>
              </a:rPr>
              <a:t>        -</a:t>
            </a:r>
            <a:r>
              <a:rPr lang="fr-FR" dirty="0">
                <a:solidFill>
                  <a:srgbClr val="414A52"/>
                </a:solidFill>
                <a:latin typeface="Montserrat"/>
              </a:rPr>
              <a:t>T</a:t>
            </a:r>
            <a:r>
              <a:rPr lang="fr-FR" b="0" i="0" dirty="0">
                <a:solidFill>
                  <a:srgbClr val="414A52"/>
                </a:solidFill>
                <a:effectLst/>
                <a:latin typeface="Montserrat"/>
              </a:rPr>
              <a:t>ype d'asthme, Facteurs déclenchants, Traitement </a:t>
            </a:r>
          </a:p>
          <a:p>
            <a:pPr marL="0" indent="0" algn="l" fontAlgn="base">
              <a:lnSpc>
                <a:spcPts val="1950"/>
              </a:lnSpc>
              <a:buNone/>
            </a:pPr>
            <a:r>
              <a:rPr lang="fr-FR" b="0" i="0" dirty="0">
                <a:solidFill>
                  <a:srgbClr val="414A52"/>
                </a:solidFill>
                <a:effectLst/>
                <a:latin typeface="Montserrat"/>
              </a:rPr>
              <a:t>           et gravité . </a:t>
            </a:r>
          </a:p>
          <a:p>
            <a:pPr marL="0" indent="0" algn="l" fontAlgn="base">
              <a:lnSpc>
                <a:spcPts val="1950"/>
              </a:lnSpc>
              <a:buNone/>
            </a:pPr>
            <a:r>
              <a:rPr lang="fr-FR" dirty="0">
                <a:solidFill>
                  <a:srgbClr val="414A52"/>
                </a:solidFill>
                <a:latin typeface="Montserrat"/>
              </a:rPr>
              <a:t>       - S</a:t>
            </a:r>
            <a:r>
              <a:rPr lang="fr-FR" b="0" i="0" dirty="0">
                <a:solidFill>
                  <a:srgbClr val="414A52"/>
                </a:solidFill>
                <a:effectLst/>
                <a:latin typeface="Montserrat"/>
              </a:rPr>
              <a:t>'assurer que le patient a pris  son traitement avant les soins  </a:t>
            </a:r>
            <a:r>
              <a:rPr lang="fr-FR" dirty="0">
                <a:solidFill>
                  <a:srgbClr val="414A52"/>
                </a:solidFill>
                <a:latin typeface="Montserrat"/>
              </a:rPr>
              <a:t>.</a:t>
            </a:r>
            <a:endParaRPr lang="fr-FR" b="0" i="0" dirty="0">
              <a:solidFill>
                <a:srgbClr val="414A52"/>
              </a:solidFill>
              <a:effectLst/>
              <a:latin typeface="Montserrat"/>
            </a:endParaRPr>
          </a:p>
          <a:p>
            <a:pPr lvl="2" fontAlgn="base">
              <a:lnSpc>
                <a:spcPts val="195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414A52"/>
                </a:solidFill>
                <a:latin typeface="Montserrat"/>
              </a:rPr>
              <a:t> </a:t>
            </a:r>
            <a:r>
              <a:rPr lang="fr-FR" sz="2400" b="1" dirty="0">
                <a:solidFill>
                  <a:srgbClr val="EE0000"/>
                </a:solidFill>
                <a:latin typeface="Montserrat"/>
              </a:rPr>
              <a:t>E</a:t>
            </a:r>
            <a:r>
              <a:rPr lang="fr-FR" sz="2400" b="1" i="0" dirty="0">
                <a:solidFill>
                  <a:srgbClr val="EE0000"/>
                </a:solidFill>
                <a:effectLst/>
                <a:latin typeface="Montserrat"/>
              </a:rPr>
              <a:t>viter les facteurs de précipitation</a:t>
            </a:r>
            <a:r>
              <a:rPr lang="fr-FR" sz="2400" b="0" i="0" dirty="0">
                <a:solidFill>
                  <a:srgbClr val="EE0000"/>
                </a:solidFill>
                <a:effectLst/>
                <a:latin typeface="Montserrat"/>
              </a:rPr>
              <a:t>.</a:t>
            </a:r>
          </a:p>
          <a:p>
            <a:pPr marL="0" indent="0" algn="l" fontAlgn="base">
              <a:lnSpc>
                <a:spcPts val="1950"/>
              </a:lnSpc>
              <a:buNone/>
            </a:pPr>
            <a:r>
              <a:rPr lang="fr-FR" dirty="0">
                <a:solidFill>
                  <a:srgbClr val="414A52"/>
                </a:solidFill>
                <a:latin typeface="Montserrat"/>
              </a:rPr>
              <a:t>  </a:t>
            </a:r>
            <a:r>
              <a:rPr lang="fr-FR" b="0" i="0" dirty="0">
                <a:solidFill>
                  <a:srgbClr val="414A52"/>
                </a:solidFill>
                <a:effectLst/>
                <a:latin typeface="Montserrat"/>
              </a:rPr>
              <a:t>       -</a:t>
            </a:r>
            <a:r>
              <a:rPr lang="fr-FR" b="1" i="0" dirty="0">
                <a:solidFill>
                  <a:srgbClr val="00B050"/>
                </a:solidFill>
                <a:effectLst/>
                <a:latin typeface="Montserrat"/>
              </a:rPr>
              <a:t>L'anxiété </a:t>
            </a:r>
            <a:r>
              <a:rPr lang="fr-FR" dirty="0">
                <a:solidFill>
                  <a:srgbClr val="414A52"/>
                </a:solidFill>
                <a:latin typeface="Montserrat"/>
              </a:rPr>
              <a:t>:l</a:t>
            </a:r>
            <a:r>
              <a:rPr lang="fr-FR" b="0" i="0" dirty="0">
                <a:solidFill>
                  <a:srgbClr val="414A52"/>
                </a:solidFill>
                <a:effectLst/>
                <a:latin typeface="Montserrat"/>
              </a:rPr>
              <a:t> une petite dose d'anxiolytique peut être prescrite  la veille et une heure avant le rendez-vous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3667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1EB952-FB8D-A972-C919-51180CB320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algn="l" fontAlgn="base"/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 des symptômes d’une crise d’ asthme est suspectée </a:t>
            </a:r>
          </a:p>
          <a:p>
            <a:pPr marL="0" indent="0" algn="l" fontAlgn="base">
              <a:buNone/>
            </a:pPr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 soins doivent être interrompus immédiatement </a:t>
            </a:r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et le nébuliseur habituel doit être administré.</a:t>
            </a:r>
          </a:p>
          <a:p>
            <a:pPr algn="l"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Faire attention aux </a:t>
            </a:r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interactions 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médicamenteuses </a:t>
            </a:r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et la pratique dentaire. </a:t>
            </a:r>
          </a:p>
          <a:p>
            <a:pPr algn="l" fontAlgn="base"/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 médicaments tels que l'aspirine ou d'autres anti-inflammatoires non stéroïdiens (AINES) peuvent déclencher l'attaque.</a:t>
            </a:r>
          </a:p>
          <a:p>
            <a:pPr algn="l" fontAlgn="base"/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 </a:t>
            </a:r>
            <a:r>
              <a:rPr lang="fr-FR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antibiotiques macrolides</a:t>
            </a:r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tels que l'érythromycine </a:t>
            </a:r>
            <a:r>
              <a:rPr lang="fr-FR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 doivent pas être prescrits</a:t>
            </a:r>
            <a:r>
              <a:rPr lang="fr-FR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aux patients traités par la théophylline car ils peuvent augmenter sa toxicité.</a:t>
            </a:r>
          </a:p>
          <a:p>
            <a:pPr algn="l" fontAlgn="base"/>
            <a:endParaRPr lang="fr-FR" b="0" i="0" dirty="0">
              <a:solidFill>
                <a:srgbClr val="666666"/>
              </a:solidFill>
              <a:effectLst/>
              <a:latin typeface="Montserrat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7647610-7FE3-A851-98C4-38B46B17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fr-FR" dirty="0">
                <a:solidFill>
                  <a:srgbClr val="EE0000"/>
                </a:solidFill>
                <a:latin typeface="Arial Black" panose="020B0A04020102020204" pitchFamily="34" charset="0"/>
              </a:rPr>
              <a:t>TRAITEMENT DENTAIRE CHEZ L’ASTHMATIQUE </a:t>
            </a:r>
          </a:p>
        </p:txBody>
      </p:sp>
    </p:spTree>
    <p:extLst>
      <p:ext uri="{BB962C8B-B14F-4D97-AF65-F5344CB8AC3E}">
        <p14:creationId xmlns:p14="http://schemas.microsoft.com/office/powerpoint/2010/main" val="11927401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1858</TotalTime>
  <Words>771</Words>
  <Application>Microsoft Office PowerPoint</Application>
  <PresentationFormat>Affichage à l'écran (4:3)</PresentationFormat>
  <Paragraphs>97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Arial Black</vt:lpstr>
      <vt:lpstr>Calibri</vt:lpstr>
      <vt:lpstr>Century Schoolbook</vt:lpstr>
      <vt:lpstr>Courier New</vt:lpstr>
      <vt:lpstr>Montserrat</vt:lpstr>
      <vt:lpstr>Tahoma</vt:lpstr>
      <vt:lpstr>Wingdings</vt:lpstr>
      <vt:lpstr>Wingdings 2</vt:lpstr>
      <vt:lpstr>Oriel</vt:lpstr>
      <vt:lpstr>Présentation PowerPoint</vt:lpstr>
      <vt:lpstr>             GENERALITES</vt:lpstr>
      <vt:lpstr>URGENCES RESPIRATOIRES</vt:lpstr>
      <vt:lpstr>           CONDUITE  à  TENIR</vt:lpstr>
      <vt:lpstr>        CRISE D’ASTHME</vt:lpstr>
      <vt:lpstr>Présentation PowerPoint</vt:lpstr>
      <vt:lpstr>       DETRESSE RESPIRATOIRE  </vt:lpstr>
      <vt:lpstr>   CIRCONSTANCES DE SURVENUE</vt:lpstr>
      <vt:lpstr>      CRISE D’ASTHME </vt:lpstr>
      <vt:lpstr>TRAITEMENT DENTAIRE CHEZ L’ASTHMATIQUE </vt:lpstr>
      <vt:lpstr>TRAITEMENT DENTAIRE CHEZ L’ASTHMATIQUE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DETRESSE VENTILATOIRE</dc:title>
  <dc:creator>User</dc:creator>
  <cp:lastModifiedBy>lenovo</cp:lastModifiedBy>
  <cp:revision>11</cp:revision>
  <dcterms:created xsi:type="dcterms:W3CDTF">2017-01-09T18:14:56Z</dcterms:created>
  <dcterms:modified xsi:type="dcterms:W3CDTF">2025-01-09T03:54:09Z</dcterms:modified>
</cp:coreProperties>
</file>