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5" r:id="rId1"/>
  </p:sldMasterIdLst>
  <p:sldIdLst>
    <p:sldId id="257" r:id="rId2"/>
    <p:sldId id="258" r:id="rId3"/>
    <p:sldId id="259" r:id="rId4"/>
    <p:sldId id="260" r:id="rId5"/>
    <p:sldId id="269" r:id="rId6"/>
    <p:sldId id="270" r:id="rId7"/>
    <p:sldId id="261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216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D4B52-245F-4C15-A0BF-481947B035BB}" type="datetimeFigureOut">
              <a:rPr lang="fr-FR" smtClean="0"/>
              <a:pPr/>
              <a:t>05/01/2025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FE00C7A5-6F83-4085-9AB8-9111DFD6EE6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2534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D4B52-245F-4C15-A0BF-481947B035BB}" type="datetimeFigureOut">
              <a:rPr lang="fr-FR" smtClean="0"/>
              <a:pPr/>
              <a:t>05/01/2025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0C7A5-6F83-4085-9AB8-9111DFD6EE6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6249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D4B52-245F-4C15-A0BF-481947B035BB}" type="datetimeFigureOut">
              <a:rPr lang="fr-FR" smtClean="0"/>
              <a:pPr/>
              <a:t>05/01/2025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E00C7A5-6F83-4085-9AB8-9111DFD6EE6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9170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D4B52-245F-4C15-A0BF-481947B035BB}" type="datetimeFigureOut">
              <a:rPr lang="fr-FR" smtClean="0"/>
              <a:pPr/>
              <a:t>05/01/2025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E00C7A5-6F83-4085-9AB8-9111DFD6EE6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0197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D4B52-245F-4C15-A0BF-481947B035BB}" type="datetimeFigureOut">
              <a:rPr lang="fr-FR" smtClean="0"/>
              <a:pPr/>
              <a:t>05/01/2025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E00C7A5-6F83-4085-9AB8-9111DFD6EE6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693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D4B52-245F-4C15-A0BF-481947B035BB}" type="datetimeFigureOut">
              <a:rPr lang="fr-FR" smtClean="0"/>
              <a:pPr/>
              <a:t>05/01/2025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0C7A5-6F83-4085-9AB8-9111DFD6EE6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8811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D4B52-245F-4C15-A0BF-481947B035BB}" type="datetimeFigureOut">
              <a:rPr lang="fr-FR" smtClean="0"/>
              <a:pPr/>
              <a:t>05/01/2025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0C7A5-6F83-4085-9AB8-9111DFD6EE6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8689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D4B52-245F-4C15-A0BF-481947B035BB}" type="datetimeFigureOut">
              <a:rPr lang="fr-FR" smtClean="0"/>
              <a:pPr/>
              <a:t>05/01/2025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0C7A5-6F83-4085-9AB8-9111DFD6EE6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7314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D4B52-245F-4C15-A0BF-481947B035BB}" type="datetimeFigureOut">
              <a:rPr lang="fr-FR" smtClean="0"/>
              <a:pPr/>
              <a:t>05/01/2025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E00C7A5-6F83-4085-9AB8-9111DFD6EE6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7012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D4B52-245F-4C15-A0BF-481947B035BB}" type="datetimeFigureOut">
              <a:rPr lang="fr-FR" smtClean="0"/>
              <a:pPr/>
              <a:t>05/01/2025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E00C7A5-6F83-4085-9AB8-9111DFD6EE6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5887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D4B52-245F-4C15-A0BF-481947B035BB}" type="datetimeFigureOut">
              <a:rPr lang="fr-FR" smtClean="0"/>
              <a:pPr/>
              <a:t>05/01/2025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E00C7A5-6F83-4085-9AB8-9111DFD6EE6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647461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D4B52-245F-4C15-A0BF-481947B035BB}" type="datetimeFigureOut">
              <a:rPr lang="fr-FR" smtClean="0"/>
              <a:pPr/>
              <a:t>05/01/2025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E00C7A5-6F83-4085-9AB8-9111DFD6EE6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88305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D4B52-245F-4C15-A0BF-481947B035BB}" type="datetimeFigureOut">
              <a:rPr lang="fr-FR" smtClean="0"/>
              <a:pPr/>
              <a:t>05/01/2025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E00C7A5-6F83-4085-9AB8-9111DFD6EE6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91515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D4B52-245F-4C15-A0BF-481947B035BB}" type="datetimeFigureOut">
              <a:rPr lang="fr-FR" smtClean="0"/>
              <a:pPr/>
              <a:t>05/01/2025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E00C7A5-6F83-4085-9AB8-9111DFD6EE6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37627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D4B52-245F-4C15-A0BF-481947B035BB}" type="datetimeFigureOut">
              <a:rPr lang="fr-FR" smtClean="0"/>
              <a:pPr/>
              <a:t>05/01/2025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0C7A5-6F83-4085-9AB8-9111DFD6EE6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50485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D4B52-245F-4C15-A0BF-481947B035BB}" type="datetimeFigureOut">
              <a:rPr lang="fr-FR" smtClean="0"/>
              <a:pPr/>
              <a:t>05/01/2025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0C7A5-6F83-4085-9AB8-9111DFD6EE6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7808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D4B52-245F-4C15-A0BF-481947B035BB}" type="datetimeFigureOut">
              <a:rPr lang="fr-FR" smtClean="0"/>
              <a:pPr/>
              <a:t>05/01/2025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FE00C7A5-6F83-4085-9AB8-9111DFD6EE6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417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  <p:sldLayoutId id="2147483797" r:id="rId12"/>
    <p:sldLayoutId id="2147483798" r:id="rId13"/>
    <p:sldLayoutId id="2147483799" r:id="rId14"/>
    <p:sldLayoutId id="2147483800" r:id="rId15"/>
    <p:sldLayoutId id="214748380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73679" y="624110"/>
            <a:ext cx="9830933" cy="128089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EPILEPSIES ET CRISES CONVULSIVES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800" b="1" dirty="0"/>
              <a:t>PLAN</a:t>
            </a:r>
          </a:p>
          <a:p>
            <a:pPr marL="0" indent="0">
              <a:buNone/>
            </a:pPr>
            <a:r>
              <a:rPr lang="fr-FR" b="1" dirty="0"/>
              <a:t>I-INTRODUCTION</a:t>
            </a:r>
          </a:p>
          <a:p>
            <a:pPr marL="0" indent="0">
              <a:buNone/>
            </a:pPr>
            <a:r>
              <a:rPr lang="fr-FR" b="1" dirty="0"/>
              <a:t>II-ETIOLOGIES</a:t>
            </a:r>
          </a:p>
          <a:p>
            <a:pPr marL="0" indent="0">
              <a:buNone/>
            </a:pPr>
            <a:r>
              <a:rPr lang="fr-FR" b="1" dirty="0"/>
              <a:t>III-FORMES CLINIQUES</a:t>
            </a:r>
          </a:p>
          <a:p>
            <a:pPr marL="0" indent="0">
              <a:buNone/>
            </a:pPr>
            <a:r>
              <a:rPr lang="fr-FR" b="1" dirty="0"/>
              <a:t>IV-CONSEQUENCE BUCCO-DENTAIRES DE L’EPILEPSIE</a:t>
            </a:r>
          </a:p>
          <a:p>
            <a:pPr marL="0" indent="0">
              <a:buNone/>
            </a:pPr>
            <a:r>
              <a:rPr lang="fr-FR" b="1" dirty="0"/>
              <a:t>V-CONDUITE d’ URGENCE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66218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028352"/>
          </a:xfrm>
        </p:spPr>
        <p:txBody>
          <a:bodyPr/>
          <a:lstStyle/>
          <a:p>
            <a:r>
              <a:rPr lang="fr-FR" b="1" dirty="0">
                <a:solidFill>
                  <a:srgbClr val="FF0000"/>
                </a:solidFill>
              </a:rPr>
              <a:t>                I-DEFINITION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03312" y="1352282"/>
            <a:ext cx="8946541" cy="5125791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L</a:t>
            </a:r>
            <a:r>
              <a:rPr lang="fr-FR" sz="2800" b="1" dirty="0"/>
              <a:t> ’épilepsie est une affection neurologique définie  comme la survenue brutale et inopinée de spasmes musculaires involontaires pouvant concerner Un muscle insolemment ou l’ ensemble du corps 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b="1" dirty="0"/>
              <a:t>c’est une prédisposition cérébrale à </a:t>
            </a:r>
            <a:r>
              <a:rPr lang="fr-FR" sz="2800" b="1" dirty="0" err="1"/>
              <a:t>génerer</a:t>
            </a:r>
            <a:r>
              <a:rPr lang="fr-FR" sz="2800" b="1" dirty="0"/>
              <a:t> des  crises convulsives ;évoluant sous forme de crises paroxystiques et se  traduisant par des contractions involontaires et toniques associées à une perte de connaissance</a:t>
            </a:r>
          </a:p>
        </p:txBody>
      </p:sp>
    </p:spTree>
    <p:extLst>
      <p:ext uri="{BB962C8B-B14F-4D97-AF65-F5344CB8AC3E}">
        <p14:creationId xmlns:p14="http://schemas.microsoft.com/office/powerpoint/2010/main" val="1050719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38200"/>
          </a:xfrm>
        </p:spPr>
        <p:txBody>
          <a:bodyPr/>
          <a:lstStyle/>
          <a:p>
            <a:r>
              <a:rPr lang="fr-FR" b="1" dirty="0">
                <a:solidFill>
                  <a:srgbClr val="FF0000"/>
                </a:solidFill>
              </a:rPr>
              <a:t>           II-ETIOLOGIES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390918"/>
            <a:ext cx="10515600" cy="504851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fr-FR" b="1" dirty="0">
              <a:solidFill>
                <a:srgbClr val="FF0000"/>
              </a:solidFill>
            </a:endParaRPr>
          </a:p>
          <a:p>
            <a:r>
              <a:rPr lang="fr-FR" sz="2800" b="1" dirty="0"/>
              <a:t>Essentiellement neurologique par une </a:t>
            </a:r>
            <a:r>
              <a:rPr lang="fr-FR" sz="2800" b="1" dirty="0" err="1"/>
              <a:t>actvité</a:t>
            </a:r>
            <a:r>
              <a:rPr lang="fr-FR" sz="2800" b="1" dirty="0"/>
              <a:t> </a:t>
            </a:r>
            <a:r>
              <a:rPr lang="fr-FR" sz="2800" b="1" dirty="0" err="1"/>
              <a:t>éxagérée</a:t>
            </a:r>
            <a:r>
              <a:rPr lang="fr-FR" sz="2800" b="1" dirty="0"/>
              <a:t> de plusieurs neurones du cerveau déchargeant en même temps des influx nerveux et l’ on  parle d’ épilepsie lorsque la crise est répétée</a:t>
            </a:r>
          </a:p>
          <a:p>
            <a:r>
              <a:rPr lang="fr-FR" sz="2800" b="1" dirty="0"/>
              <a:t>Chez le non épileptique ; ces crises convulsives surviennent au cours  de :</a:t>
            </a:r>
          </a:p>
          <a:p>
            <a:pPr marL="0" indent="0">
              <a:buNone/>
            </a:pPr>
            <a:r>
              <a:rPr lang="fr-FR" sz="2800" b="1" dirty="0"/>
              <a:t>          -L’ hypoglycémie</a:t>
            </a:r>
          </a:p>
          <a:p>
            <a:pPr marL="0" indent="0">
              <a:buNone/>
            </a:pPr>
            <a:r>
              <a:rPr lang="fr-FR" sz="2800" b="1" dirty="0"/>
              <a:t>          -Tumeur cérébrale,</a:t>
            </a:r>
          </a:p>
          <a:p>
            <a:pPr marL="0" indent="0">
              <a:buNone/>
            </a:pPr>
            <a:r>
              <a:rPr lang="fr-FR" sz="2800" b="1" dirty="0"/>
              <a:t>          -La prise d’ alcool,</a:t>
            </a:r>
          </a:p>
          <a:p>
            <a:pPr marL="0" indent="0">
              <a:buNone/>
            </a:pPr>
            <a:r>
              <a:rPr lang="fr-FR" sz="2800" b="1" dirty="0"/>
              <a:t>          -Accidents vasculaires cérébraux,</a:t>
            </a:r>
          </a:p>
          <a:p>
            <a:pPr marL="0" indent="0">
              <a:buNone/>
            </a:pPr>
            <a:r>
              <a:rPr lang="fr-FR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50199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5337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III-FORMES CLINIQUES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210614"/>
            <a:ext cx="10515600" cy="5241701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fr-FR" sz="9600" b="1" u="sng" dirty="0"/>
              <a:t>Crise typique d’ épilepsie:</a:t>
            </a:r>
          </a:p>
          <a:p>
            <a:pPr marL="0" indent="0">
              <a:buNone/>
            </a:pPr>
            <a:r>
              <a:rPr lang="fr-FR" sz="9600" b="1" dirty="0">
                <a:solidFill>
                  <a:srgbClr val="EE0000"/>
                </a:solidFill>
              </a:rPr>
              <a:t>1-Une perte de connaissance </a:t>
            </a:r>
            <a:r>
              <a:rPr lang="fr-FR" sz="9600" b="1" dirty="0"/>
              <a:t>:totale ,absolue et brutale avec parfois une crise initiale</a:t>
            </a:r>
          </a:p>
          <a:p>
            <a:pPr marL="0" indent="0">
              <a:buNone/>
            </a:pPr>
            <a:r>
              <a:rPr lang="fr-FR" sz="9600" b="1" dirty="0">
                <a:solidFill>
                  <a:srgbClr val="EE0000"/>
                </a:solidFill>
              </a:rPr>
              <a:t>2-une phase tonique </a:t>
            </a:r>
            <a:r>
              <a:rPr lang="fr-FR" sz="9600" b="1" dirty="0"/>
              <a:t>(de durée=10 à 20 secondes)</a:t>
            </a:r>
          </a:p>
          <a:p>
            <a:pPr marL="0" indent="0">
              <a:buNone/>
            </a:pPr>
            <a:r>
              <a:rPr lang="fr-FR" sz="9600" b="1" dirty="0"/>
              <a:t>Caractérisé par une contraction intense des muscles des membres et du tronc et une morsure de la langue</a:t>
            </a:r>
          </a:p>
          <a:p>
            <a:pPr marL="0" indent="0">
              <a:buNone/>
            </a:pPr>
            <a:r>
              <a:rPr lang="fr-FR" sz="9600" b="1" dirty="0">
                <a:solidFill>
                  <a:srgbClr val="EE0000"/>
                </a:solidFill>
              </a:rPr>
              <a:t>3-Une phase clonique </a:t>
            </a:r>
            <a:r>
              <a:rPr lang="fr-FR" sz="9600" b="1" dirty="0"/>
              <a:t>(durée 30 secondes à une minute),caractérisée  par des secousses musculaires bilatérales et généralisées</a:t>
            </a:r>
          </a:p>
          <a:p>
            <a:pPr marL="0" indent="0">
              <a:buNone/>
            </a:pPr>
            <a:r>
              <a:rPr lang="fr-FR" sz="9600" b="1" dirty="0">
                <a:solidFill>
                  <a:srgbClr val="EE0000"/>
                </a:solidFill>
              </a:rPr>
              <a:t>4-Une phase stertoreuse</a:t>
            </a:r>
            <a:r>
              <a:rPr lang="fr-FR" sz="9600" b="1" dirty="0"/>
              <a:t>, caractérisée par  une reprise des mouvements respiratoires sur un patient toujours inconscient,</a:t>
            </a:r>
          </a:p>
          <a:p>
            <a:pPr marL="0" indent="0">
              <a:buNone/>
            </a:pPr>
            <a:r>
              <a:rPr lang="fr-FR" sz="9600" b="1" dirty="0">
                <a:solidFill>
                  <a:srgbClr val="EE0000"/>
                </a:solidFill>
              </a:rPr>
              <a:t>5-Phase de résolution ou phase post critique</a:t>
            </a:r>
            <a:r>
              <a:rPr lang="fr-FR" sz="9600" b="1" dirty="0"/>
              <a:t>, caractérisé par une reprise de la conscience mais un patient confus , désorienté présentant une amnésie,</a:t>
            </a:r>
          </a:p>
          <a:p>
            <a:pPr marL="0" indent="0">
              <a:buNone/>
            </a:pPr>
            <a:endParaRPr lang="fr-FR" sz="2400" b="1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 ca</a:t>
            </a:r>
          </a:p>
        </p:txBody>
      </p:sp>
    </p:spTree>
    <p:extLst>
      <p:ext uri="{BB962C8B-B14F-4D97-AF65-F5344CB8AC3E}">
        <p14:creationId xmlns:p14="http://schemas.microsoft.com/office/powerpoint/2010/main" val="3739263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6112" y="116541"/>
            <a:ext cx="9404723" cy="488576"/>
          </a:xfrm>
        </p:spPr>
        <p:txBody>
          <a:bodyPr>
            <a:normAutofit fontScale="90000"/>
          </a:bodyPr>
          <a:lstStyle/>
          <a:p>
            <a:r>
              <a:rPr lang="fr-FR" sz="2800" b="1" dirty="0">
                <a:solidFill>
                  <a:srgbClr val="FF0000"/>
                </a:solidFill>
              </a:rPr>
              <a:t>IV/CONSEQUENCES BUCCO-DENTAIRES DE L’EPILEPSIE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6112" y="605117"/>
            <a:ext cx="10236536" cy="588583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fr-FR" sz="2600" b="1" dirty="0">
                <a:solidFill>
                  <a:srgbClr val="FFFF00"/>
                </a:solidFill>
              </a:rPr>
              <a:t>1/IMPACT DE L’EPILEPSIE SUR LA CAVITE BUCCALE</a:t>
            </a:r>
            <a:r>
              <a:rPr lang="fr-FR" sz="2600" b="1" dirty="0"/>
              <a:t>:</a:t>
            </a:r>
          </a:p>
          <a:p>
            <a:pPr marL="0" indent="0">
              <a:buNone/>
            </a:pPr>
            <a:r>
              <a:rPr lang="fr-FR" sz="2600" b="1" dirty="0"/>
              <a:t>A-Traumatisme dentaire: lésions coronaire ,luxation latérale ou axiales</a:t>
            </a:r>
          </a:p>
          <a:p>
            <a:pPr marL="0" indent="0">
              <a:buNone/>
            </a:pPr>
            <a:r>
              <a:rPr lang="fr-FR" sz="2600" b="1" dirty="0"/>
              <a:t>B-fractures osseuses: anesthésie ou </a:t>
            </a:r>
            <a:r>
              <a:rPr lang="fr-FR" sz="2600" b="1" dirty="0" err="1"/>
              <a:t>hyposthésie</a:t>
            </a:r>
            <a:r>
              <a:rPr lang="fr-FR" sz="2600" b="1" dirty="0"/>
              <a:t> d’ une zone</a:t>
            </a:r>
          </a:p>
          <a:p>
            <a:pPr marL="0" indent="0">
              <a:buNone/>
            </a:pPr>
            <a:r>
              <a:rPr lang="fr-FR" sz="2600" b="1" dirty="0"/>
              <a:t>C-</a:t>
            </a:r>
            <a:r>
              <a:rPr lang="fr-FR" sz="2600" b="1" dirty="0" err="1"/>
              <a:t>lesions</a:t>
            </a:r>
            <a:r>
              <a:rPr lang="fr-FR" sz="2600" b="1" dirty="0"/>
              <a:t> des tissus mous:</a:t>
            </a:r>
          </a:p>
          <a:p>
            <a:pPr marL="0" indent="0">
              <a:buNone/>
            </a:pPr>
            <a:r>
              <a:rPr lang="fr-FR" sz="2600" b="1" dirty="0"/>
              <a:t>            **blessure </a:t>
            </a:r>
            <a:r>
              <a:rPr lang="fr-FR" sz="2600" b="1" dirty="0" err="1"/>
              <a:t>gingivale;associee</a:t>
            </a:r>
            <a:r>
              <a:rPr lang="fr-FR" sz="2600" b="1" dirty="0"/>
              <a:t> à des fracture alvéolaire</a:t>
            </a:r>
          </a:p>
          <a:p>
            <a:pPr marL="0" indent="0">
              <a:buNone/>
            </a:pPr>
            <a:r>
              <a:rPr lang="fr-FR" sz="2600" b="1" dirty="0"/>
              <a:t>             **blessure </a:t>
            </a:r>
            <a:r>
              <a:rPr lang="fr-FR" sz="2600" b="1" dirty="0" err="1"/>
              <a:t>lunguale:morsure</a:t>
            </a:r>
            <a:r>
              <a:rPr lang="fr-FR" sz="2600" b="1" dirty="0"/>
              <a:t> de la langue</a:t>
            </a:r>
          </a:p>
          <a:p>
            <a:pPr marL="0" indent="0">
              <a:buNone/>
            </a:pPr>
            <a:r>
              <a:rPr lang="fr-FR" sz="2600" b="1" dirty="0"/>
              <a:t>             **blessure </a:t>
            </a:r>
            <a:r>
              <a:rPr lang="fr-FR" sz="2600" b="1" dirty="0" err="1"/>
              <a:t>juguale</a:t>
            </a:r>
            <a:endParaRPr lang="fr-FR" sz="2600" b="1" dirty="0"/>
          </a:p>
          <a:p>
            <a:pPr marL="0" indent="0">
              <a:buNone/>
            </a:pPr>
            <a:r>
              <a:rPr lang="fr-FR" sz="2600" b="1" dirty="0"/>
              <a:t>              **blessure labiale</a:t>
            </a:r>
          </a:p>
          <a:p>
            <a:pPr marL="0" indent="0">
              <a:buNone/>
            </a:pPr>
            <a:r>
              <a:rPr lang="fr-FR" sz="2600" b="1" dirty="0"/>
              <a:t> </a:t>
            </a:r>
            <a:r>
              <a:rPr lang="fr-FR" sz="2600" b="1" dirty="0">
                <a:solidFill>
                  <a:srgbClr val="FFFF00"/>
                </a:solidFill>
              </a:rPr>
              <a:t>2/IMPACT DES TRAITEMENTS ANTI-EPILEPTIQUES à MANIFESTATIONS BUC</a:t>
            </a:r>
            <a:r>
              <a:rPr lang="fr-FR" sz="2600" b="1" dirty="0"/>
              <a:t>CALES</a:t>
            </a:r>
          </a:p>
          <a:p>
            <a:pPr marL="0" indent="0">
              <a:buNone/>
            </a:pPr>
            <a:r>
              <a:rPr lang="fr-FR" sz="2600" b="1" dirty="0"/>
              <a:t>           **hyperplasie gingivale d’ origine médicamenteuse</a:t>
            </a:r>
          </a:p>
          <a:p>
            <a:pPr marL="0" indent="0">
              <a:buNone/>
            </a:pPr>
            <a:r>
              <a:rPr lang="fr-FR" sz="2600" b="1" dirty="0"/>
              <a:t>           **</a:t>
            </a:r>
            <a:r>
              <a:rPr lang="fr-FR" sz="2600" b="1" dirty="0" err="1"/>
              <a:t>hyposialie</a:t>
            </a:r>
            <a:endParaRPr lang="fr-FR" sz="2600" b="1" dirty="0"/>
          </a:p>
          <a:p>
            <a:pPr marL="0" indent="0">
              <a:buNone/>
            </a:pPr>
            <a:r>
              <a:rPr lang="fr-FR" sz="2600" b="1" dirty="0"/>
              <a:t>           **ostéomalacie</a:t>
            </a:r>
          </a:p>
          <a:p>
            <a:pPr marL="0" indent="0">
              <a:buNone/>
            </a:pPr>
            <a:r>
              <a:rPr lang="fr-FR" sz="2600" b="1" dirty="0"/>
              <a:t>           **risque hémorragique</a:t>
            </a:r>
          </a:p>
          <a:p>
            <a:pPr marL="0" indent="0">
              <a:buNone/>
            </a:pPr>
            <a:r>
              <a:rPr lang="fr-FR" sz="2600" b="1" dirty="0"/>
              <a:t>            **</a:t>
            </a:r>
            <a:r>
              <a:rPr lang="fr-FR" sz="2600" b="1" dirty="0" err="1"/>
              <a:t>cariosensibilité</a:t>
            </a:r>
            <a:endParaRPr lang="fr-FR" sz="2600" b="1" dirty="0"/>
          </a:p>
          <a:p>
            <a:pPr marL="0" indent="0">
              <a:buNone/>
            </a:pPr>
            <a:r>
              <a:rPr lang="fr-FR" dirty="0"/>
              <a:t>           </a:t>
            </a:r>
          </a:p>
        </p:txBody>
      </p:sp>
    </p:spTree>
    <p:extLst>
      <p:ext uri="{BB962C8B-B14F-4D97-AF65-F5344CB8AC3E}">
        <p14:creationId xmlns:p14="http://schemas.microsoft.com/office/powerpoint/2010/main" val="1435469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6111" y="452717"/>
            <a:ext cx="9541077" cy="545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589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0943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        IV-CONDUITE D’ URGENCE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159099"/>
            <a:ext cx="10515600" cy="533377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fr-FR" dirty="0"/>
          </a:p>
          <a:p>
            <a:pPr>
              <a:buFont typeface="Wingdings" panose="05000000000000000000" pitchFamily="2" charset="2"/>
              <a:buChar char="q"/>
            </a:pPr>
            <a:r>
              <a:rPr lang="fr-FR" sz="2400" b="1" dirty="0"/>
              <a:t>arrêter les soins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2400" b="1" dirty="0"/>
              <a:t>Retirer tous les corps étrangers de la bouche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2400" b="1" dirty="0"/>
              <a:t>Pendant les convulsions ,il ne faut rien mettre sur le patient(objets)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2400" b="1" dirty="0"/>
              <a:t>Prévenir les risques de chute ou de traumatisme en vérifiant qu’aucun objet n’est à porter du patient.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2400" b="1" dirty="0"/>
              <a:t>Si après ces convulsions le patient reste toujours inconscient:</a:t>
            </a:r>
          </a:p>
          <a:p>
            <a:pPr marL="0" indent="0">
              <a:buNone/>
            </a:pPr>
            <a:r>
              <a:rPr lang="fr-FR" sz="2400" b="1" dirty="0"/>
              <a:t>     vérifier la respiration</a:t>
            </a:r>
          </a:p>
          <a:p>
            <a:pPr marL="0" indent="0">
              <a:buNone/>
            </a:pPr>
            <a:r>
              <a:rPr lang="fr-FR" sz="2400" b="1" dirty="0"/>
              <a:t>      prendre le pouls carotidien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2400" b="1" dirty="0"/>
              <a:t>Si le patient respire :</a:t>
            </a:r>
          </a:p>
          <a:p>
            <a:pPr marL="0" indent="0">
              <a:buNone/>
            </a:pPr>
            <a:r>
              <a:rPr lang="fr-FR" sz="2400" b="1" dirty="0"/>
              <a:t>     - mettre le patient en position de sécurité</a:t>
            </a:r>
          </a:p>
          <a:p>
            <a:pPr marL="0" indent="0">
              <a:buNone/>
            </a:pPr>
            <a:r>
              <a:rPr lang="fr-FR" sz="2400" b="1" dirty="0"/>
              <a:t>     -oxygénothérapie</a:t>
            </a:r>
          </a:p>
          <a:p>
            <a:pPr marL="0" indent="0">
              <a:buNone/>
            </a:pPr>
            <a:r>
              <a:rPr lang="fr-FR" sz="2400" b="1" dirty="0"/>
              <a:t>     -appeler les secours</a:t>
            </a:r>
          </a:p>
          <a:p>
            <a:pPr>
              <a:buFont typeface="Wingdings" panose="05000000000000000000" pitchFamily="2" charset="2"/>
              <a:buChar char="q"/>
            </a:pPr>
            <a:endParaRPr lang="fr-FR" sz="2400" b="1" dirty="0"/>
          </a:p>
        </p:txBody>
      </p:sp>
    </p:spTree>
    <p:extLst>
      <p:ext uri="{BB962C8B-B14F-4D97-AF65-F5344CB8AC3E}">
        <p14:creationId xmlns:p14="http://schemas.microsoft.com/office/powerpoint/2010/main" val="1819001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83654"/>
          </a:xfrm>
        </p:spPr>
        <p:txBody>
          <a:bodyPr/>
          <a:lstStyle/>
          <a:p>
            <a:r>
              <a:rPr lang="fr-FR" b="1" dirty="0">
                <a:solidFill>
                  <a:srgbClr val="FF0000"/>
                </a:solidFill>
              </a:rPr>
              <a:t>            IV/CONDUITE D’ URGENCE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24264" y="1501589"/>
            <a:ext cx="8946541" cy="4195481"/>
          </a:xfrm>
        </p:spPr>
        <p:txBody>
          <a:bodyPr/>
          <a:lstStyle/>
          <a:p>
            <a:pPr marL="0" indent="0">
              <a:buNone/>
            </a:pPr>
            <a:r>
              <a:rPr lang="fr-FR" sz="2800" b="1" dirty="0">
                <a:solidFill>
                  <a:srgbClr val="EE0000"/>
                </a:solidFill>
              </a:rPr>
              <a:t>Ce qu’il ne faut pas faire</a:t>
            </a:r>
          </a:p>
          <a:p>
            <a:r>
              <a:rPr lang="fr-FR" sz="2800" b="1" dirty="0"/>
              <a:t>N’</a:t>
            </a:r>
            <a:r>
              <a:rPr lang="fr-FR" sz="2800" b="1" dirty="0" err="1"/>
              <a:t>ésseyer</a:t>
            </a:r>
            <a:r>
              <a:rPr lang="fr-FR" sz="2800" b="1" dirty="0"/>
              <a:t> pas d’ empêche</a:t>
            </a:r>
            <a:r>
              <a:rPr lang="fr-FR" sz="2400" b="1" dirty="0"/>
              <a:t>r les mouvements du patient</a:t>
            </a:r>
          </a:p>
          <a:p>
            <a:r>
              <a:rPr lang="fr-FR" sz="2400" b="1" dirty="0"/>
              <a:t>NE rien mettre dans la bouche de ce patient</a:t>
            </a:r>
          </a:p>
          <a:p>
            <a:pPr marL="0" indent="0">
              <a:buNone/>
            </a:pPr>
            <a:endParaRPr lang="fr-FR" sz="2400" b="1" dirty="0"/>
          </a:p>
          <a:p>
            <a:r>
              <a:rPr lang="fr-FR" sz="2400" b="1" dirty="0"/>
              <a:t>NE le laisser pas seul dés la fin de la crise</a:t>
            </a:r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365741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238800"/>
            <a:ext cx="10515600" cy="69093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                      IV/CONDUITE D’URGENCE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033979"/>
            <a:ext cx="10515600" cy="5560005"/>
          </a:xfrm>
        </p:spPr>
        <p:txBody>
          <a:bodyPr>
            <a:normAutofit lnSpcReduction="10000"/>
          </a:bodyPr>
          <a:lstStyle/>
          <a:p>
            <a:pPr marL="457200" lvl="1" indent="0">
              <a:buNone/>
            </a:pPr>
            <a:r>
              <a:rPr lang="fr-FR" b="1" dirty="0">
                <a:solidFill>
                  <a:srgbClr val="FF0000"/>
                </a:solidFill>
              </a:rPr>
              <a:t>                                         </a:t>
            </a:r>
            <a:r>
              <a:rPr lang="fr-FR" sz="2800" b="1" dirty="0">
                <a:solidFill>
                  <a:srgbClr val="EE0000"/>
                </a:solidFill>
              </a:rPr>
              <a:t>Apres les convulsions                                                                             </a:t>
            </a:r>
          </a:p>
          <a:p>
            <a:pPr marL="457200" lvl="1" indent="0">
              <a:buNone/>
            </a:pPr>
            <a:r>
              <a:rPr lang="fr-FR" dirty="0"/>
              <a:t>                                   </a:t>
            </a:r>
            <a:r>
              <a:rPr lang="fr-FR" sz="2400" dirty="0"/>
              <a:t>Le patient est inconscient</a:t>
            </a:r>
          </a:p>
          <a:p>
            <a:pPr marL="457200" lvl="1" indent="0">
              <a:buNone/>
            </a:pPr>
            <a:r>
              <a:rPr lang="fr-FR" dirty="0"/>
              <a:t>                                        </a:t>
            </a:r>
          </a:p>
          <a:p>
            <a:pPr marL="457200" lvl="1" indent="0">
              <a:buNone/>
            </a:pPr>
            <a:endParaRPr lang="fr-FR" dirty="0"/>
          </a:p>
          <a:p>
            <a:pPr marL="457200" lvl="1" indent="0">
              <a:buNone/>
            </a:pPr>
            <a:r>
              <a:rPr lang="fr-FR" dirty="0"/>
              <a:t>                                  </a:t>
            </a:r>
            <a:r>
              <a:rPr lang="fr-FR" sz="2400" dirty="0"/>
              <a:t>Vérifier la respiration + pouls carotidien</a:t>
            </a:r>
          </a:p>
          <a:p>
            <a:pPr marL="457200" lvl="1" indent="0">
              <a:buNone/>
            </a:pPr>
            <a:endParaRPr lang="fr-FR" dirty="0"/>
          </a:p>
          <a:p>
            <a:pPr marL="457200" lvl="1" indent="0">
              <a:buNone/>
            </a:pPr>
            <a:endParaRPr lang="fr-FR" b="1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fr-FR" sz="2400" b="1" dirty="0">
                <a:solidFill>
                  <a:srgbClr val="FFFF00"/>
                </a:solidFill>
              </a:rPr>
              <a:t>                              </a:t>
            </a:r>
            <a:r>
              <a:rPr lang="fr-FR" sz="2400" b="1" dirty="0">
                <a:solidFill>
                  <a:srgbClr val="EE0000"/>
                </a:solidFill>
              </a:rPr>
              <a:t>SI LE PATIENT RESPIRE </a:t>
            </a:r>
          </a:p>
          <a:p>
            <a:pPr marL="457200" lvl="1" indent="0">
              <a:buNone/>
            </a:pPr>
            <a:r>
              <a:rPr lang="fr-FR" dirty="0"/>
              <a:t>                            </a:t>
            </a:r>
            <a:r>
              <a:rPr lang="fr-FR" sz="2400" dirty="0"/>
              <a:t>Le mettre en position latérale de sécurité</a:t>
            </a:r>
          </a:p>
          <a:p>
            <a:pPr marL="457200" lvl="1" indent="0">
              <a:buNone/>
            </a:pPr>
            <a:r>
              <a:rPr lang="fr-FR" sz="2400" dirty="0"/>
              <a:t>                    Et oxygénothérapie j’</a:t>
            </a:r>
            <a:r>
              <a:rPr lang="fr-FR" sz="2400" dirty="0" err="1"/>
              <a:t>usqu’à</a:t>
            </a:r>
            <a:r>
              <a:rPr lang="fr-FR" sz="2400" dirty="0"/>
              <a:t> reprise de la conscience</a:t>
            </a:r>
          </a:p>
          <a:p>
            <a:pPr marL="457200" lvl="1" indent="0">
              <a:buNone/>
            </a:pPr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pPr marL="457200" lvl="1" indent="0">
              <a:buNone/>
            </a:pPr>
            <a:r>
              <a:rPr lang="fr-FR" sz="2600" b="1" dirty="0">
                <a:solidFill>
                  <a:srgbClr val="FF0000"/>
                </a:solidFill>
              </a:rPr>
              <a:t>                          </a:t>
            </a:r>
            <a:r>
              <a:rPr lang="fr-FR" sz="2600" b="1" dirty="0">
                <a:solidFill>
                  <a:srgbClr val="EE0000"/>
                </a:solidFill>
              </a:rPr>
              <a:t>APPELER LES URGENCES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199" y="664647"/>
            <a:ext cx="70179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fr-FR" dirty="0">
                <a:solidFill>
                  <a:srgbClr val="FF0000"/>
                </a:solidFill>
              </a:rPr>
              <a:t>                         </a:t>
            </a:r>
          </a:p>
        </p:txBody>
      </p:sp>
      <p:sp>
        <p:nvSpPr>
          <p:cNvPr id="5" name="Flèche vers le bas 4"/>
          <p:cNvSpPr/>
          <p:nvPr/>
        </p:nvSpPr>
        <p:spPr>
          <a:xfrm>
            <a:off x="4945489" y="2021368"/>
            <a:ext cx="360608" cy="597215"/>
          </a:xfrm>
          <a:prstGeom prst="downArrow">
            <a:avLst>
              <a:gd name="adj1" fmla="val 50000"/>
              <a:gd name="adj2" fmla="val 46429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lèche vers le bas 5"/>
          <p:cNvSpPr/>
          <p:nvPr/>
        </p:nvSpPr>
        <p:spPr>
          <a:xfrm>
            <a:off x="4971249" y="3082757"/>
            <a:ext cx="360608" cy="788072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Flèche vers le bas 6"/>
          <p:cNvSpPr/>
          <p:nvPr/>
        </p:nvSpPr>
        <p:spPr>
          <a:xfrm>
            <a:off x="4945684" y="5327179"/>
            <a:ext cx="360608" cy="592428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4758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708338"/>
            <a:ext cx="10515600" cy="618186"/>
          </a:xfrm>
        </p:spPr>
        <p:txBody>
          <a:bodyPr>
            <a:normAutofit fontScale="90000"/>
          </a:bodyPr>
          <a:lstStyle/>
          <a:p>
            <a:r>
              <a:rPr lang="fr-FR" b="1">
                <a:solidFill>
                  <a:srgbClr val="FF0000"/>
                </a:solidFill>
              </a:rPr>
              <a:t>         </a:t>
            </a:r>
            <a:r>
              <a:rPr lang="fr-FR" b="1" dirty="0">
                <a:solidFill>
                  <a:srgbClr val="FF0000"/>
                </a:solidFill>
              </a:rPr>
              <a:t>IV/CONDUITE D’ URGENCE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1" y="1468192"/>
            <a:ext cx="9477778" cy="4790940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 </a:t>
            </a:r>
            <a:r>
              <a:rPr lang="fr-FR" sz="2400" dirty="0"/>
              <a:t>S’il s’ agit des 3 cas suivants:</a:t>
            </a:r>
          </a:p>
          <a:p>
            <a:pPr marL="0" indent="0">
              <a:buNone/>
            </a:pPr>
            <a:r>
              <a:rPr lang="fr-FR" sz="2400" dirty="0"/>
              <a:t>             1ere crise convulsive (crise inaugurale)</a:t>
            </a:r>
          </a:p>
          <a:p>
            <a:pPr marL="0" indent="0">
              <a:buNone/>
            </a:pPr>
            <a:r>
              <a:rPr lang="fr-FR" sz="2400" dirty="0"/>
              <a:t>                                  ou</a:t>
            </a:r>
          </a:p>
          <a:p>
            <a:pPr marL="0" indent="0">
              <a:buNone/>
            </a:pPr>
            <a:r>
              <a:rPr lang="fr-FR" sz="2400" dirty="0"/>
              <a:t>               plusieurs crises qui  se succèdent</a:t>
            </a:r>
          </a:p>
          <a:p>
            <a:pPr marL="0" indent="0">
              <a:buNone/>
            </a:pPr>
            <a:r>
              <a:rPr lang="fr-FR" sz="2400" dirty="0"/>
              <a:t>                                  ou</a:t>
            </a:r>
          </a:p>
          <a:p>
            <a:pPr marL="0" indent="0">
              <a:buNone/>
            </a:pPr>
            <a:r>
              <a:rPr lang="fr-FR" sz="2400" dirty="0"/>
              <a:t>            une seule crise qui dure plusieurs minutes</a:t>
            </a:r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r>
              <a:rPr lang="fr-FR" dirty="0"/>
              <a:t>                    </a:t>
            </a:r>
          </a:p>
          <a:p>
            <a:pPr marL="0" indent="0">
              <a:buNone/>
            </a:pPr>
            <a:r>
              <a:rPr lang="fr-FR" sz="2400" dirty="0"/>
              <a:t>                 </a:t>
            </a:r>
            <a:r>
              <a:rPr lang="fr-FR" sz="2400" b="1" dirty="0">
                <a:solidFill>
                  <a:srgbClr val="FF0000"/>
                </a:solidFill>
              </a:rPr>
              <a:t>APPELER LES URGENCES+++++</a:t>
            </a:r>
          </a:p>
        </p:txBody>
      </p:sp>
      <p:sp>
        <p:nvSpPr>
          <p:cNvPr id="6" name="Flèche vers le bas 5"/>
          <p:cNvSpPr/>
          <p:nvPr/>
        </p:nvSpPr>
        <p:spPr>
          <a:xfrm>
            <a:off x="3606085" y="4365938"/>
            <a:ext cx="528034" cy="97879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5291939"/>
      </p:ext>
    </p:extLst>
  </p:cSld>
  <p:clrMapOvr>
    <a:masterClrMapping/>
  </p:clrMapOvr>
</p:sld>
</file>

<file path=ppt/theme/theme1.xml><?xml version="1.0" encoding="utf-8"?>
<a:theme xmlns:a="http://schemas.openxmlformats.org/drawingml/2006/main" name="Brin">
  <a:themeElements>
    <a:clrScheme name="Brin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Brin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rin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263</TotalTime>
  <Words>595</Words>
  <Application>Microsoft Office PowerPoint</Application>
  <PresentationFormat>Grand écran</PresentationFormat>
  <Paragraphs>90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Arial</vt:lpstr>
      <vt:lpstr>Century Gothic</vt:lpstr>
      <vt:lpstr>Wingdings</vt:lpstr>
      <vt:lpstr>Wingdings 3</vt:lpstr>
      <vt:lpstr>Brin</vt:lpstr>
      <vt:lpstr>EPILEPSIES ET CRISES CONVULSIVES</vt:lpstr>
      <vt:lpstr>                I-DEFINITION</vt:lpstr>
      <vt:lpstr>           II-ETIOLOGIES</vt:lpstr>
      <vt:lpstr>III-FORMES CLINIQUES </vt:lpstr>
      <vt:lpstr>IV/CONSEQUENCES BUCCO-DENTAIRES DE L’EPILEPSIE</vt:lpstr>
      <vt:lpstr>Présentation PowerPoint</vt:lpstr>
      <vt:lpstr>        IV-CONDUITE D’ URGENCE</vt:lpstr>
      <vt:lpstr>            IV/CONDUITE D’ URGENCE</vt:lpstr>
      <vt:lpstr>                      IV/CONDUITE D’URGENCE</vt:lpstr>
      <vt:lpstr>         IV/CONDUITE D’ URGENCE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CRISES CONVULSIVES ET EPILEPSIE</dc:title>
  <dc:creator>acer</dc:creator>
  <cp:lastModifiedBy>lenovo</cp:lastModifiedBy>
  <cp:revision>24</cp:revision>
  <dcterms:created xsi:type="dcterms:W3CDTF">2016-11-15T02:08:13Z</dcterms:created>
  <dcterms:modified xsi:type="dcterms:W3CDTF">2025-01-05T12:13:41Z</dcterms:modified>
</cp:coreProperties>
</file>