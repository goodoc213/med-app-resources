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02" r:id="rId2"/>
    <p:sldId id="301" r:id="rId3"/>
    <p:sldId id="258" r:id="rId4"/>
    <p:sldId id="273" r:id="rId5"/>
    <p:sldId id="293" r:id="rId6"/>
    <p:sldId id="299" r:id="rId7"/>
    <p:sldId id="300" r:id="rId8"/>
    <p:sldId id="272" r:id="rId9"/>
    <p:sldId id="295" r:id="rId10"/>
    <p:sldId id="281" r:id="rId11"/>
    <p:sldId id="276" r:id="rId12"/>
    <p:sldId id="303" r:id="rId13"/>
    <p:sldId id="271" r:id="rId14"/>
    <p:sldId id="277" r:id="rId15"/>
    <p:sldId id="270" r:id="rId16"/>
    <p:sldId id="298"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E8A"/>
    <a:srgbClr val="FFCD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FD4443E-F989-4FC4-A0C8-D5A2AF1F390B}" styleName="Style foncé 1 - Accentuation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3" autoAdjust="0"/>
    <p:restoredTop sz="77551" autoAdjust="0"/>
  </p:normalViewPr>
  <p:slideViewPr>
    <p:cSldViewPr snapToGrid="0">
      <p:cViewPr varScale="1">
        <p:scale>
          <a:sx n="51" d="100"/>
          <a:sy n="51" d="100"/>
        </p:scale>
        <p:origin x="122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5F78C1-804B-4CEE-B3CA-9C6FF53E4298}" type="datetimeFigureOut">
              <a:rPr lang="fr-FR" smtClean="0"/>
              <a:t>29/12/2024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5FDA20-7471-4F95-B09C-43D2A1EABAC3}" type="slidenum">
              <a:rPr lang="fr-FR" smtClean="0"/>
              <a:t>‹N°›</a:t>
            </a:fld>
            <a:endParaRPr lang="fr-FR"/>
          </a:p>
        </p:txBody>
      </p:sp>
    </p:spTree>
    <p:extLst>
      <p:ext uri="{BB962C8B-B14F-4D97-AF65-F5344CB8AC3E}">
        <p14:creationId xmlns:p14="http://schemas.microsoft.com/office/powerpoint/2010/main" val="3731357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1</a:t>
            </a:fld>
            <a:endParaRPr lang="fr-FR"/>
          </a:p>
        </p:txBody>
      </p:sp>
    </p:spTree>
    <p:extLst>
      <p:ext uri="{BB962C8B-B14F-4D97-AF65-F5344CB8AC3E}">
        <p14:creationId xmlns:p14="http://schemas.microsoft.com/office/powerpoint/2010/main" val="1260258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3</a:t>
            </a:fld>
            <a:endParaRPr lang="fr-FR"/>
          </a:p>
        </p:txBody>
      </p:sp>
    </p:spTree>
    <p:extLst>
      <p:ext uri="{BB962C8B-B14F-4D97-AF65-F5344CB8AC3E}">
        <p14:creationId xmlns:p14="http://schemas.microsoft.com/office/powerpoint/2010/main" val="3241384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4</a:t>
            </a:fld>
            <a:endParaRPr lang="fr-FR"/>
          </a:p>
        </p:txBody>
      </p:sp>
    </p:spTree>
    <p:extLst>
      <p:ext uri="{BB962C8B-B14F-4D97-AF65-F5344CB8AC3E}">
        <p14:creationId xmlns:p14="http://schemas.microsoft.com/office/powerpoint/2010/main" val="1695163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7</a:t>
            </a:fld>
            <a:endParaRPr lang="fr-FR"/>
          </a:p>
        </p:txBody>
      </p:sp>
    </p:spTree>
    <p:extLst>
      <p:ext uri="{BB962C8B-B14F-4D97-AF65-F5344CB8AC3E}">
        <p14:creationId xmlns:p14="http://schemas.microsoft.com/office/powerpoint/2010/main" val="3222671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9</a:t>
            </a:fld>
            <a:endParaRPr lang="fr-FR"/>
          </a:p>
        </p:txBody>
      </p:sp>
    </p:spTree>
    <p:extLst>
      <p:ext uri="{BB962C8B-B14F-4D97-AF65-F5344CB8AC3E}">
        <p14:creationId xmlns:p14="http://schemas.microsoft.com/office/powerpoint/2010/main" val="187367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11</a:t>
            </a:fld>
            <a:endParaRPr lang="fr-FR"/>
          </a:p>
        </p:txBody>
      </p:sp>
    </p:spTree>
    <p:extLst>
      <p:ext uri="{BB962C8B-B14F-4D97-AF65-F5344CB8AC3E}">
        <p14:creationId xmlns:p14="http://schemas.microsoft.com/office/powerpoint/2010/main" val="726192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 ouvre bouche est conique et s'insère dans une interstice de la dentition à la manière d'une vis, en tournant dans le sens des aiguilles d'une montre afin d'ouvrir assez grand la bouche du patient afin d'y placer ensuite le masque d'insufflation </a:t>
            </a:r>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12</a:t>
            </a:fld>
            <a:endParaRPr lang="fr-FR"/>
          </a:p>
        </p:txBody>
      </p:sp>
    </p:spTree>
    <p:extLst>
      <p:ext uri="{BB962C8B-B14F-4D97-AF65-F5344CB8AC3E}">
        <p14:creationId xmlns:p14="http://schemas.microsoft.com/office/powerpoint/2010/main" val="2603917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5FDA20-7471-4F95-B09C-43D2A1EABAC3}" type="slidenum">
              <a:rPr lang="fr-FR" smtClean="0"/>
              <a:t>14</a:t>
            </a:fld>
            <a:endParaRPr lang="fr-FR"/>
          </a:p>
        </p:txBody>
      </p:sp>
    </p:spTree>
    <p:extLst>
      <p:ext uri="{BB962C8B-B14F-4D97-AF65-F5344CB8AC3E}">
        <p14:creationId xmlns:p14="http://schemas.microsoft.com/office/powerpoint/2010/main" val="1106191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5EB040-7AF8-4E81-A799-453B910504F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A3FBB89-0BF6-4BDC-9230-8071F467A4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75FC818-DFFF-4FB1-8489-253C394E648E}"/>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D37C3283-B0FB-4430-A07E-7ABAE2A8BFB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4A92655-91ED-41EA-8ACE-CF8EAA8589C1}"/>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613573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251E8A-05CB-4CF2-9032-9B82A2C6F7B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B8F6539-EB45-421A-A3D8-F0AC307AC8D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9BE6528-AD68-48A4-A99E-9D853CB6E215}"/>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C5E1A462-9691-493C-81CE-ECF8909ECF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C87790-7765-47E0-8665-723C474E14CA}"/>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1832860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A47F22-9C5C-405A-A58A-396BA6EA70D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1366128-7B28-45C0-8B7F-08C6D13C37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5DC9FCD-7750-4016-8996-403DEF8BCD70}"/>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C2DB435A-7662-4F80-94FC-DC16B4C0A70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46AA0FE-3DF5-48C1-B567-48ED270F8B4E}"/>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2807720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3564EF-77EF-4CF1-A3F1-139F85C6311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D8DE7A-4323-4332-800D-C97B668EC76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7C3E5FB-F4E3-472F-AD99-7CFD0C37DAD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9E95266-4976-4A0C-80D7-5EE041C66708}"/>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6" name="Espace réservé du pied de page 5">
            <a:extLst>
              <a:ext uri="{FF2B5EF4-FFF2-40B4-BE49-F238E27FC236}">
                <a16:creationId xmlns:a16="http://schemas.microsoft.com/office/drawing/2014/main" id="{DBC53505-20EE-49E6-A3F8-7F8038787ED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77E0179-D911-4E8E-B934-4B4E6FF7E076}"/>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1779745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AB1CD6-5D84-40D1-BF84-970AA7BFB7C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0DCD8CE-4D5A-4666-8113-EB98BB25B8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D1ACA86-82A2-4EFA-A4F3-7D40CFAD1E9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4C0FD67-00A9-473E-80D5-1AFCC87AE6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5ED1DBF-EF45-463B-B969-7B6C81F6590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D9DABC9-FFF1-4B56-8C79-E86B6E9B1932}"/>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8" name="Espace réservé du pied de page 7">
            <a:extLst>
              <a:ext uri="{FF2B5EF4-FFF2-40B4-BE49-F238E27FC236}">
                <a16:creationId xmlns:a16="http://schemas.microsoft.com/office/drawing/2014/main" id="{59759230-DC54-4592-A48E-412DDBB34AD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23AD269-1A26-4749-A0F4-7AAEA22BAF18}"/>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537011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E65DFF-1845-4F13-A8E2-B477AA47BCB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0DB3A15-D3F6-478F-A9BD-90DCC55AD18F}"/>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4" name="Espace réservé du pied de page 3">
            <a:extLst>
              <a:ext uri="{FF2B5EF4-FFF2-40B4-BE49-F238E27FC236}">
                <a16:creationId xmlns:a16="http://schemas.microsoft.com/office/drawing/2014/main" id="{213A7B96-E290-4BAD-B0CC-7073890765E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8FEBB3C-7394-4422-9CDB-DF204EA2BEF2}"/>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2763902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41496B-3D22-45D3-8DA2-DBA7F90DC9C3}"/>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3" name="Espace réservé du pied de page 2">
            <a:extLst>
              <a:ext uri="{FF2B5EF4-FFF2-40B4-BE49-F238E27FC236}">
                <a16:creationId xmlns:a16="http://schemas.microsoft.com/office/drawing/2014/main" id="{8C9232A0-A717-4389-B111-6E5938749411}"/>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D608025-CD3B-415F-A082-66533C21C22A}"/>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309154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C154D3-1AFB-449C-8665-EA6895C3156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35A019D-BC32-4F88-9AEC-9AEF2B9028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8A00445-8053-4CFB-AB16-6E7268A6E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60191B3-FC96-480D-A16A-0EE88DDD4091}"/>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6" name="Espace réservé du pied de page 5">
            <a:extLst>
              <a:ext uri="{FF2B5EF4-FFF2-40B4-BE49-F238E27FC236}">
                <a16:creationId xmlns:a16="http://schemas.microsoft.com/office/drawing/2014/main" id="{2B354A9A-D895-4C68-BC57-1F89DCF5CCB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FB31F6A-00F9-4755-8C22-6C0415B92A9C}"/>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764028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8FD83C-E409-4062-AA69-758CE293C87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034E546-BD18-4D16-8802-819145542A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3684AEF-9182-47DE-886D-3BF2CC3CA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C929C88-BC86-47C1-B1E4-9502FF30115B}"/>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6" name="Espace réservé du pied de page 5">
            <a:extLst>
              <a:ext uri="{FF2B5EF4-FFF2-40B4-BE49-F238E27FC236}">
                <a16:creationId xmlns:a16="http://schemas.microsoft.com/office/drawing/2014/main" id="{C1B9CC81-407F-463F-8D66-5B21758665D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6F27F6E-12B5-41FB-A88A-7AFA184DDA15}"/>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991348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45F7C7-A537-4D08-A4C1-35EA5766794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7E5AA34-C173-4E23-BB42-CA38A10ADF6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4046B4B-2B10-41FF-B961-BC1D4EF655F9}"/>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16F0709A-8EC9-49F2-B2F9-8459FA2B39E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349F69B-C3BE-4196-9E1D-3A46B2863F9B}"/>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2097653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98BF992-A079-4111-B644-74754D63F68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0B6069B-A6A4-4F0D-BE22-DC7316D4D09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B2FD55-1837-4B4C-BDC9-1CED529A789D}"/>
              </a:ext>
            </a:extLst>
          </p:cNvPr>
          <p:cNvSpPr>
            <a:spLocks noGrp="1"/>
          </p:cNvSpPr>
          <p:nvPr>
            <p:ph type="dt" sz="half" idx="10"/>
          </p:nvPr>
        </p:nvSpPr>
        <p:spPr/>
        <p:txBody>
          <a:body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F9ABAB62-A7B1-49DA-B0B8-FCBAC232860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7D42A79-522B-4EFF-A1A2-7E80CD265152}"/>
              </a:ext>
            </a:extLst>
          </p:cNvPr>
          <p:cNvSpPr>
            <a:spLocks noGrp="1"/>
          </p:cNvSpPr>
          <p:nvPr>
            <p:ph type="sldNum" sz="quarter" idx="12"/>
          </p:nvPr>
        </p:nvSpPr>
        <p:spPr/>
        <p:txBody>
          <a:bodyPr/>
          <a:lstStyle/>
          <a:p>
            <a:fld id="{0296DD05-D4C2-493E-A9D4-C2B27B5DD7F8}" type="slidenum">
              <a:rPr lang="fr-FR" smtClean="0"/>
              <a:t>‹N°›</a:t>
            </a:fld>
            <a:endParaRPr lang="fr-FR"/>
          </a:p>
        </p:txBody>
      </p:sp>
    </p:spTree>
    <p:extLst>
      <p:ext uri="{BB962C8B-B14F-4D97-AF65-F5344CB8AC3E}">
        <p14:creationId xmlns:p14="http://schemas.microsoft.com/office/powerpoint/2010/main" val="3769393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22B4854-F69C-4ECF-9841-D724707EA6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532A069-EB66-49EC-8787-BCA3A25984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D0CF57-245A-4454-840F-A3532AF71B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79056F-C056-4C97-9F89-F8E289629500}" type="datetimeFigureOut">
              <a:rPr lang="fr-FR" smtClean="0"/>
              <a:t>29/12/2024</a:t>
            </a:fld>
            <a:endParaRPr lang="fr-FR"/>
          </a:p>
        </p:txBody>
      </p:sp>
      <p:sp>
        <p:nvSpPr>
          <p:cNvPr id="5" name="Espace réservé du pied de page 4">
            <a:extLst>
              <a:ext uri="{FF2B5EF4-FFF2-40B4-BE49-F238E27FC236}">
                <a16:creationId xmlns:a16="http://schemas.microsoft.com/office/drawing/2014/main" id="{18EF20B0-2213-465D-814C-9761138110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E4D8AB5-6C07-4A13-9DBA-3863C9B5D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96DD05-D4C2-493E-A9D4-C2B27B5DD7F8}" type="slidenum">
              <a:rPr lang="fr-FR" smtClean="0"/>
              <a:t>‹N°›</a:t>
            </a:fld>
            <a:endParaRPr lang="fr-FR"/>
          </a:p>
        </p:txBody>
      </p:sp>
    </p:spTree>
    <p:extLst>
      <p:ext uri="{BB962C8B-B14F-4D97-AF65-F5344CB8AC3E}">
        <p14:creationId xmlns:p14="http://schemas.microsoft.com/office/powerpoint/2010/main" val="2239687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CD797C-16E5-44AD-9172-A075A979125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EFAB1CA-622C-4BEE-8F4B-436E32BE6D49}"/>
              </a:ext>
            </a:extLst>
          </p:cNvPr>
          <p:cNvSpPr>
            <a:spLocks noGrp="1"/>
          </p:cNvSpPr>
          <p:nvPr>
            <p:ph idx="1"/>
          </p:nvPr>
        </p:nvSpPr>
        <p:spPr>
          <a:xfrm>
            <a:off x="0" y="0"/>
            <a:ext cx="12192000" cy="6857999"/>
          </a:xfrm>
          <a:blipFill dpi="0" rotWithShape="1">
            <a:blip r:embed="rId3">
              <a:extLst>
                <a:ext uri="{28A0092B-C50C-407E-A947-70E740481C1C}">
                  <a14:useLocalDpi xmlns:a14="http://schemas.microsoft.com/office/drawing/2010/main" val="0"/>
                </a:ext>
              </a:extLst>
            </a:blip>
            <a:srcRect/>
            <a:stretch>
              <a:fillRect/>
            </a:stretch>
          </a:blipFill>
        </p:spPr>
        <p:txBody>
          <a:bodyPr>
            <a:normAutofit/>
          </a:bodyPr>
          <a:lstStyle/>
          <a:p>
            <a:pPr marL="1698625" indent="0">
              <a:buNone/>
            </a:pPr>
            <a:endParaRPr lang="fr-FR" sz="4800" b="1" dirty="0">
              <a:solidFill>
                <a:srgbClr val="FFFF00"/>
              </a:solidFill>
            </a:endParaRPr>
          </a:p>
          <a:p>
            <a:pPr marL="1698625" indent="0">
              <a:buNone/>
            </a:pPr>
            <a:endParaRPr lang="fr-FR" sz="4800" b="1" dirty="0">
              <a:solidFill>
                <a:srgbClr val="FFFF00"/>
              </a:solidFill>
            </a:endParaRPr>
          </a:p>
          <a:p>
            <a:pPr marL="709613" indent="-355600">
              <a:buNone/>
            </a:pPr>
            <a:r>
              <a:rPr lang="fr-FR" sz="4000" b="1" dirty="0">
                <a:solidFill>
                  <a:srgbClr val="FF0000"/>
                </a:solidFill>
                <a:highlight>
                  <a:srgbClr val="FFFF00"/>
                </a:highlight>
              </a:rPr>
              <a:t>MATERIEL  D’URGENCE AU  CABINET DENTAIRE </a:t>
            </a:r>
          </a:p>
        </p:txBody>
      </p:sp>
      <p:sp>
        <p:nvSpPr>
          <p:cNvPr id="6" name="Titre 1">
            <a:extLst>
              <a:ext uri="{FF2B5EF4-FFF2-40B4-BE49-F238E27FC236}">
                <a16:creationId xmlns:a16="http://schemas.microsoft.com/office/drawing/2014/main" id="{0AA45184-8553-4EDD-9EFA-9FC7A55DBC81}"/>
              </a:ext>
            </a:extLst>
          </p:cNvPr>
          <p:cNvSpPr txBox="1">
            <a:spLocks/>
          </p:cNvSpPr>
          <p:nvPr/>
        </p:nvSpPr>
        <p:spPr>
          <a:xfrm>
            <a:off x="354563" y="4629860"/>
            <a:ext cx="2438401" cy="2049627"/>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 </a:t>
            </a:r>
            <a:endParaRPr lang="fr-FR" dirty="0"/>
          </a:p>
        </p:txBody>
      </p:sp>
      <p:sp>
        <p:nvSpPr>
          <p:cNvPr id="7" name="Rectangle : coins arrondis 6">
            <a:extLst>
              <a:ext uri="{FF2B5EF4-FFF2-40B4-BE49-F238E27FC236}">
                <a16:creationId xmlns:a16="http://schemas.microsoft.com/office/drawing/2014/main" id="{58661FCB-B558-4C33-B6B3-9F1E3ADA3545}"/>
              </a:ext>
            </a:extLst>
          </p:cNvPr>
          <p:cNvSpPr/>
          <p:nvPr/>
        </p:nvSpPr>
        <p:spPr>
          <a:xfrm>
            <a:off x="5728996" y="5542384"/>
            <a:ext cx="6463004" cy="131561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rgbClr val="FF0000"/>
                </a:solidFill>
              </a:rPr>
              <a:t>Dr S.BELLAHDID</a:t>
            </a:r>
          </a:p>
          <a:p>
            <a:pPr algn="ctr"/>
            <a:r>
              <a:rPr lang="fr-FR" sz="2800" b="1" dirty="0">
                <a:solidFill>
                  <a:srgbClr val="FF0000"/>
                </a:solidFill>
              </a:rPr>
              <a:t> REANIMATION MEDICALE POLYVALENTE </a:t>
            </a:r>
          </a:p>
        </p:txBody>
      </p:sp>
    </p:spTree>
    <p:extLst>
      <p:ext uri="{BB962C8B-B14F-4D97-AF65-F5344CB8AC3E}">
        <p14:creationId xmlns:p14="http://schemas.microsoft.com/office/powerpoint/2010/main" val="1355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68A4DC-E86D-426E-973D-B66474499724}"/>
              </a:ext>
            </a:extLst>
          </p:cNvPr>
          <p:cNvSpPr>
            <a:spLocks noGrp="1"/>
          </p:cNvSpPr>
          <p:nvPr>
            <p:ph type="title"/>
          </p:nvPr>
        </p:nvSpPr>
        <p:spPr>
          <a:xfrm>
            <a:off x="475989" y="365125"/>
            <a:ext cx="10877811" cy="847855"/>
          </a:xfrm>
        </p:spPr>
        <p:txBody>
          <a:bodyPr/>
          <a:lstStyle/>
          <a:p>
            <a:r>
              <a:rPr lang="fr-FR" dirty="0"/>
              <a:t>                    </a:t>
            </a:r>
            <a:r>
              <a:rPr lang="fr-FR" b="1" dirty="0">
                <a:solidFill>
                  <a:srgbClr val="FF0000"/>
                </a:solidFill>
                <a:latin typeface="+mn-lt"/>
              </a:rPr>
              <a:t>INTRODUCTION </a:t>
            </a:r>
          </a:p>
        </p:txBody>
      </p:sp>
      <p:sp>
        <p:nvSpPr>
          <p:cNvPr id="3" name="Espace réservé du contenu 2">
            <a:extLst>
              <a:ext uri="{FF2B5EF4-FFF2-40B4-BE49-F238E27FC236}">
                <a16:creationId xmlns:a16="http://schemas.microsoft.com/office/drawing/2014/main" id="{78062209-946A-41F9-9E82-35C29B47E52A}"/>
              </a:ext>
            </a:extLst>
          </p:cNvPr>
          <p:cNvSpPr>
            <a:spLocks noGrp="1"/>
          </p:cNvSpPr>
          <p:nvPr>
            <p:ph idx="1"/>
          </p:nvPr>
        </p:nvSpPr>
        <p:spPr>
          <a:xfrm>
            <a:off x="250521" y="1212980"/>
            <a:ext cx="11465490" cy="4963983"/>
          </a:xfrm>
        </p:spPr>
        <p:txBody>
          <a:bodyPr>
            <a:normAutofit/>
          </a:bodyPr>
          <a:lstStyle/>
          <a:p>
            <a:pPr>
              <a:lnSpc>
                <a:spcPct val="100000"/>
              </a:lnSpc>
              <a:buFont typeface="Wingdings" panose="05000000000000000000" pitchFamily="2" charset="2"/>
              <a:buChar char="Ø"/>
            </a:pPr>
            <a:r>
              <a:rPr lang="fr-FR" b="1" dirty="0"/>
              <a:t>Les urgences au cabinet dentaire sont plutôt rares en pratique ,mais constituent un vrai défi pour l’ ensemble de l’équipe soignante .</a:t>
            </a:r>
          </a:p>
          <a:p>
            <a:pPr>
              <a:lnSpc>
                <a:spcPct val="100000"/>
              </a:lnSpc>
              <a:buFont typeface="Wingdings" panose="05000000000000000000" pitchFamily="2" charset="2"/>
              <a:buChar char="Ø"/>
            </a:pPr>
            <a:r>
              <a:rPr lang="fr-FR" b="1" dirty="0"/>
              <a:t>Chaque cabinet  dentaire  doit obligatoirement  disposer de matériels et de médicaments d’urgence nécessaire à  la sécurité des patients</a:t>
            </a:r>
          </a:p>
          <a:p>
            <a:pPr>
              <a:lnSpc>
                <a:spcPct val="100000"/>
              </a:lnSpc>
              <a:buFont typeface="Wingdings" panose="05000000000000000000" pitchFamily="2" charset="2"/>
              <a:buChar char="Ø"/>
            </a:pPr>
            <a:r>
              <a:rPr lang="fr-FR" b="1" dirty="0"/>
              <a:t>Chaque praticien doit être capable de mettre en place une thérapeutique médicamenteuse dans l’ attente des secours.</a:t>
            </a:r>
          </a:p>
          <a:p>
            <a:pPr>
              <a:buFont typeface="Wingdings" panose="05000000000000000000" pitchFamily="2" charset="2"/>
              <a:buChar char="Ø"/>
            </a:pPr>
            <a:r>
              <a:rPr lang="fr-FR" b="1" dirty="0"/>
              <a:t> Devant l’urgence la priorité pour un chirurgien dentiste est de mettre en œuvre les premiers gestes de secours permettant d’éviter l’ aggravation de l’état  général  de son patient et non pas de poser le diagnostic précis .</a:t>
            </a:r>
          </a:p>
          <a:p>
            <a:pPr marL="0" indent="0">
              <a:buNone/>
            </a:pPr>
            <a:endParaRPr lang="fr-FR" dirty="0"/>
          </a:p>
        </p:txBody>
      </p:sp>
    </p:spTree>
    <p:extLst>
      <p:ext uri="{BB962C8B-B14F-4D97-AF65-F5344CB8AC3E}">
        <p14:creationId xmlns:p14="http://schemas.microsoft.com/office/powerpoint/2010/main" val="1097089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E2E6D948-7EC2-48C6-BD15-782E24274768}"/>
              </a:ext>
            </a:extLst>
          </p:cNvPr>
          <p:cNvSpPr>
            <a:spLocks noGrp="1"/>
          </p:cNvSpPr>
          <p:nvPr>
            <p:ph type="title"/>
          </p:nvPr>
        </p:nvSpPr>
        <p:spPr>
          <a:xfrm>
            <a:off x="838200" y="365126"/>
            <a:ext cx="10515600" cy="897618"/>
          </a:xfrm>
        </p:spPr>
        <p:txBody>
          <a:bodyPr/>
          <a:lstStyle/>
          <a:p>
            <a:r>
              <a:rPr lang="fr-FR" dirty="0"/>
              <a:t>          </a:t>
            </a:r>
            <a:r>
              <a:rPr lang="fr-FR" b="1" dirty="0">
                <a:solidFill>
                  <a:srgbClr val="FF0000"/>
                </a:solidFill>
                <a:latin typeface="+mn-lt"/>
              </a:rPr>
              <a:t>MATERIEL DE REANIMATION </a:t>
            </a:r>
          </a:p>
        </p:txBody>
      </p:sp>
      <p:sp>
        <p:nvSpPr>
          <p:cNvPr id="9" name="Espace réservé du contenu 8">
            <a:extLst>
              <a:ext uri="{FF2B5EF4-FFF2-40B4-BE49-F238E27FC236}">
                <a16:creationId xmlns:a16="http://schemas.microsoft.com/office/drawing/2014/main" id="{C08EF9BB-405C-404E-A39C-E3A2D7EED9C5}"/>
              </a:ext>
            </a:extLst>
          </p:cNvPr>
          <p:cNvSpPr>
            <a:spLocks noGrp="1"/>
          </p:cNvSpPr>
          <p:nvPr>
            <p:ph idx="1"/>
          </p:nvPr>
        </p:nvSpPr>
        <p:spPr>
          <a:xfrm>
            <a:off x="838200" y="1262744"/>
            <a:ext cx="10515600" cy="5595256"/>
          </a:xfrm>
        </p:spPr>
        <p:txBody>
          <a:bodyPr>
            <a:normAutofit fontScale="92500" lnSpcReduction="10000"/>
          </a:bodyPr>
          <a:lstStyle/>
          <a:p>
            <a:pPr marL="0" indent="0">
              <a:buNone/>
            </a:pPr>
            <a:r>
              <a:rPr lang="fr-FR" b="1" dirty="0"/>
              <a:t>Le matériel de réanimation  et son lieu de stockage doit être facilement accessible et  connu de tout le personnel du cabinet :</a:t>
            </a:r>
          </a:p>
          <a:p>
            <a:pPr marL="0" indent="0">
              <a:buNone/>
            </a:pPr>
            <a:r>
              <a:rPr lang="fr-FR" b="1" u="sng" dirty="0">
                <a:solidFill>
                  <a:srgbClr val="FF0000"/>
                </a:solidFill>
              </a:rPr>
              <a:t>1/Matériels d’ oxygénothérapie:</a:t>
            </a:r>
          </a:p>
          <a:p>
            <a:pPr marL="0" indent="0">
              <a:buNone/>
            </a:pPr>
            <a:r>
              <a:rPr lang="fr-FR" dirty="0"/>
              <a:t>-Bouteille d’oxygène avec </a:t>
            </a:r>
            <a:r>
              <a:rPr lang="fr-FR" dirty="0" err="1"/>
              <a:t>manutendeur</a:t>
            </a:r>
            <a:endParaRPr lang="fr-FR" dirty="0"/>
          </a:p>
          <a:p>
            <a:pPr marL="0" indent="0">
              <a:buNone/>
            </a:pPr>
            <a:r>
              <a:rPr lang="fr-FR" dirty="0"/>
              <a:t>-</a:t>
            </a:r>
            <a:r>
              <a:rPr lang="fr-FR" dirty="0" err="1"/>
              <a:t>Débilitre</a:t>
            </a:r>
            <a:r>
              <a:rPr lang="fr-FR" dirty="0"/>
              <a:t> avec Humidificateur </a:t>
            </a:r>
          </a:p>
          <a:p>
            <a:pPr marL="0" indent="0">
              <a:buNone/>
            </a:pPr>
            <a:r>
              <a:rPr lang="fr-FR" dirty="0"/>
              <a:t>-lunettes et masque à oxygène simple </a:t>
            </a:r>
          </a:p>
          <a:p>
            <a:pPr marL="0" indent="0">
              <a:buNone/>
            </a:pPr>
            <a:r>
              <a:rPr lang="fr-FR" dirty="0"/>
              <a:t>-Masque à haute concentration et un ballon auto remplisseur</a:t>
            </a:r>
          </a:p>
          <a:p>
            <a:pPr marL="0" indent="0">
              <a:buNone/>
            </a:pPr>
            <a:r>
              <a:rPr lang="fr-FR" dirty="0"/>
              <a:t>-Canules de </a:t>
            </a:r>
            <a:r>
              <a:rPr lang="fr-FR" dirty="0" err="1"/>
              <a:t>Guédel</a:t>
            </a:r>
            <a:endParaRPr lang="fr-FR" dirty="0"/>
          </a:p>
          <a:p>
            <a:pPr marL="0" indent="0">
              <a:buNone/>
            </a:pPr>
            <a:r>
              <a:rPr lang="fr-FR" b="1" u="sng" dirty="0">
                <a:solidFill>
                  <a:srgbClr val="FF0000"/>
                </a:solidFill>
              </a:rPr>
              <a:t>2/Matériel pour monitorage :</a:t>
            </a:r>
          </a:p>
          <a:p>
            <a:pPr marL="0" indent="0">
              <a:buNone/>
            </a:pPr>
            <a:r>
              <a:rPr lang="fr-FR" dirty="0"/>
              <a:t>-Oxymètre du pouls </a:t>
            </a:r>
          </a:p>
          <a:p>
            <a:pPr marL="0" indent="0">
              <a:buNone/>
            </a:pPr>
            <a:r>
              <a:rPr lang="fr-FR" dirty="0"/>
              <a:t>-Tensiomètre </a:t>
            </a:r>
          </a:p>
          <a:p>
            <a:pPr marL="0" indent="0">
              <a:buNone/>
            </a:pPr>
            <a:r>
              <a:rPr lang="fr-FR" b="1" u="sng" dirty="0">
                <a:solidFill>
                  <a:srgbClr val="FF0000"/>
                </a:solidFill>
              </a:rPr>
              <a:t>3/Matériel pour aspiration :aspiration des mucosités</a:t>
            </a:r>
          </a:p>
          <a:p>
            <a:pPr marL="0" indent="0">
              <a:buNone/>
            </a:pPr>
            <a:endParaRPr lang="fr-FR" b="1" u="sng" dirty="0">
              <a:solidFill>
                <a:srgbClr val="FF0000"/>
              </a:solidFill>
            </a:endParaRPr>
          </a:p>
          <a:p>
            <a:pPr marL="0" indent="0">
              <a:buNone/>
            </a:pPr>
            <a:endParaRPr lang="fr-FR" b="1" u="sng" dirty="0">
              <a:solidFill>
                <a:srgbClr val="FF0000"/>
              </a:solidFill>
            </a:endParaRPr>
          </a:p>
          <a:p>
            <a:pPr marL="0" indent="0">
              <a:buNone/>
            </a:pPr>
            <a:endParaRPr lang="fr-FR" dirty="0"/>
          </a:p>
          <a:p>
            <a:pPr marL="0" indent="0">
              <a:buNone/>
            </a:pPr>
            <a:endParaRPr lang="fr-FR" dirty="0"/>
          </a:p>
        </p:txBody>
      </p:sp>
    </p:spTree>
    <p:extLst>
      <p:ext uri="{BB962C8B-B14F-4D97-AF65-F5344CB8AC3E}">
        <p14:creationId xmlns:p14="http://schemas.microsoft.com/office/powerpoint/2010/main" val="2036728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0DB9C61-90E0-484F-8602-02F49EDC1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941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F7ED563-E5DB-4937-BF78-7893C4DC9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680" y="228036"/>
            <a:ext cx="11724640" cy="6377939"/>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re 1">
            <a:extLst>
              <a:ext uri="{FF2B5EF4-FFF2-40B4-BE49-F238E27FC236}">
                <a16:creationId xmlns:a16="http://schemas.microsoft.com/office/drawing/2014/main" id="{5E88EFA1-28D5-49A0-A79D-38B9D7673A34}"/>
              </a:ext>
            </a:extLst>
          </p:cNvPr>
          <p:cNvSpPr>
            <a:spLocks noGrp="1"/>
          </p:cNvSpPr>
          <p:nvPr>
            <p:ph type="title"/>
          </p:nvPr>
        </p:nvSpPr>
        <p:spPr>
          <a:xfrm>
            <a:off x="373224" y="536648"/>
            <a:ext cx="6823883" cy="620348"/>
          </a:xfrm>
        </p:spPr>
        <p:txBody>
          <a:bodyPr>
            <a:normAutofit fontScale="90000"/>
          </a:bodyPr>
          <a:lstStyle/>
          <a:p>
            <a:pPr marL="635000" indent="-635000"/>
            <a:r>
              <a:rPr lang="fr-FR" b="1" dirty="0">
                <a:solidFill>
                  <a:srgbClr val="FF0000"/>
                </a:solidFill>
                <a:latin typeface="+mn-lt"/>
              </a:rPr>
              <a:t>MATERIEL DEREANIMATION </a:t>
            </a:r>
          </a:p>
        </p:txBody>
      </p:sp>
      <p:sp>
        <p:nvSpPr>
          <p:cNvPr id="10" name="Content Placeholder 9">
            <a:extLst>
              <a:ext uri="{FF2B5EF4-FFF2-40B4-BE49-F238E27FC236}">
                <a16:creationId xmlns:a16="http://schemas.microsoft.com/office/drawing/2014/main" id="{C8BF0BEE-89C4-41B7-8D9D-003C7434515A}"/>
              </a:ext>
            </a:extLst>
          </p:cNvPr>
          <p:cNvSpPr>
            <a:spLocks noGrp="1"/>
          </p:cNvSpPr>
          <p:nvPr>
            <p:ph idx="1"/>
          </p:nvPr>
        </p:nvSpPr>
        <p:spPr>
          <a:xfrm>
            <a:off x="369900" y="1156996"/>
            <a:ext cx="5726100" cy="5019967"/>
          </a:xfrm>
        </p:spPr>
        <p:txBody>
          <a:bodyPr>
            <a:normAutofit lnSpcReduction="10000"/>
          </a:bodyPr>
          <a:lstStyle/>
          <a:p>
            <a:pPr marL="0" indent="0">
              <a:buNone/>
            </a:pPr>
            <a:r>
              <a:rPr lang="en-US" sz="3000" b="1" u="sng" dirty="0">
                <a:solidFill>
                  <a:srgbClr val="FF0000"/>
                </a:solidFill>
              </a:rPr>
              <a:t>1/Bouteille d’oxygène avec </a:t>
            </a:r>
            <a:r>
              <a:rPr lang="en-US" sz="3000" b="1" u="sng" dirty="0" err="1">
                <a:solidFill>
                  <a:srgbClr val="FF0000"/>
                </a:solidFill>
              </a:rPr>
              <a:t>manutendeur</a:t>
            </a:r>
            <a:r>
              <a:rPr lang="en-US" sz="3000" b="1" u="sng" dirty="0">
                <a:solidFill>
                  <a:srgbClr val="FF0000"/>
                </a:solidFill>
              </a:rPr>
              <a:t> </a:t>
            </a:r>
            <a:r>
              <a:rPr lang="en-US" b="1" u="sng" dirty="0">
                <a:solidFill>
                  <a:srgbClr val="FF0000"/>
                </a:solidFill>
              </a:rPr>
              <a:t>:</a:t>
            </a:r>
          </a:p>
          <a:p>
            <a:pPr>
              <a:buFontTx/>
              <a:buChar char="-"/>
            </a:pPr>
            <a:r>
              <a:rPr lang="en-US" sz="2400" b="1" dirty="0"/>
              <a:t>L’oxygène medical </a:t>
            </a:r>
            <a:r>
              <a:rPr lang="en-US" sz="2400" b="1" dirty="0" err="1"/>
              <a:t>est</a:t>
            </a:r>
            <a:r>
              <a:rPr lang="en-US" sz="2400" b="1" dirty="0"/>
              <a:t> un médicament avec AMM (</a:t>
            </a:r>
            <a:r>
              <a:rPr lang="en-US" sz="2400" b="1" dirty="0">
                <a:solidFill>
                  <a:srgbClr val="7030A0"/>
                </a:solidFill>
              </a:rPr>
              <a:t>A</a:t>
            </a:r>
            <a:r>
              <a:rPr lang="en-US" sz="2400" b="1" dirty="0"/>
              <a:t>utorisation de </a:t>
            </a:r>
            <a:r>
              <a:rPr lang="en-US" sz="2400" b="1" dirty="0">
                <a:solidFill>
                  <a:srgbClr val="7030A0"/>
                </a:solidFill>
              </a:rPr>
              <a:t>M</a:t>
            </a:r>
            <a:r>
              <a:rPr lang="en-US" sz="2400" b="1" dirty="0"/>
              <a:t>ise sur le </a:t>
            </a:r>
            <a:r>
              <a:rPr lang="en-US" sz="2400" b="1" dirty="0">
                <a:solidFill>
                  <a:srgbClr val="7030A0"/>
                </a:solidFill>
              </a:rPr>
              <a:t>M</a:t>
            </a:r>
            <a:r>
              <a:rPr lang="en-US" sz="2400" b="1" dirty="0"/>
              <a:t>arché) </a:t>
            </a:r>
          </a:p>
          <a:p>
            <a:pPr>
              <a:buFontTx/>
              <a:buChar char="-"/>
            </a:pPr>
            <a:r>
              <a:rPr lang="en-US" sz="2400" b="1" dirty="0"/>
              <a:t>-l’oxygène medical se présente :</a:t>
            </a:r>
          </a:p>
          <a:p>
            <a:pPr marL="1144588" indent="-155575"/>
            <a:r>
              <a:rPr lang="en-US" sz="2400" b="1" dirty="0"/>
              <a:t> sous forme </a:t>
            </a:r>
            <a:r>
              <a:rPr lang="en-US" sz="2400" b="1" dirty="0" err="1">
                <a:solidFill>
                  <a:srgbClr val="0070C0"/>
                </a:solidFill>
              </a:rPr>
              <a:t>gazeuse</a:t>
            </a:r>
            <a:r>
              <a:rPr lang="en-US" sz="2400" b="1" dirty="0"/>
              <a:t> presenté </a:t>
            </a:r>
            <a:r>
              <a:rPr lang="en-US" sz="2400" b="1" dirty="0" err="1"/>
              <a:t>en</a:t>
            </a:r>
            <a:r>
              <a:rPr lang="en-US" sz="2400" b="1" dirty="0"/>
              <a:t> bouteille </a:t>
            </a:r>
            <a:r>
              <a:rPr lang="en-US" sz="2400" b="1" dirty="0" err="1"/>
              <a:t>c’est</a:t>
            </a:r>
            <a:r>
              <a:rPr lang="en-US" sz="2400" b="1" dirty="0"/>
              <a:t> un </a:t>
            </a:r>
            <a:r>
              <a:rPr lang="en-US" sz="2400" b="1" dirty="0" err="1"/>
              <a:t>gaz</a:t>
            </a:r>
            <a:r>
              <a:rPr lang="en-US" sz="2400" b="1" dirty="0"/>
              <a:t> </a:t>
            </a:r>
            <a:r>
              <a:rPr lang="en-US" sz="2400" b="1" dirty="0" err="1"/>
              <a:t>comprimé</a:t>
            </a:r>
            <a:endParaRPr lang="en-US" sz="2400" b="1" dirty="0"/>
          </a:p>
          <a:p>
            <a:pPr marL="0" indent="0">
              <a:buNone/>
            </a:pPr>
            <a:r>
              <a:rPr lang="en-US" sz="2400" b="1" dirty="0"/>
              <a:t>      ou</a:t>
            </a:r>
          </a:p>
          <a:p>
            <a:pPr marL="1082675" indent="0"/>
            <a:r>
              <a:rPr lang="en-US" sz="2400" b="1" dirty="0"/>
              <a:t>  sous forme </a:t>
            </a:r>
            <a:r>
              <a:rPr lang="en-US" sz="2400" b="1" dirty="0" err="1">
                <a:solidFill>
                  <a:srgbClr val="0070C0"/>
                </a:solidFill>
              </a:rPr>
              <a:t>liquide</a:t>
            </a:r>
            <a:r>
              <a:rPr lang="en-US" sz="2400" b="1" dirty="0"/>
              <a:t> présenté </a:t>
            </a:r>
            <a:r>
              <a:rPr lang="en-US" sz="2400" b="1" dirty="0" err="1"/>
              <a:t>en</a:t>
            </a:r>
            <a:r>
              <a:rPr lang="en-US" sz="2400" b="1" dirty="0"/>
              <a:t> recipient </a:t>
            </a:r>
            <a:r>
              <a:rPr lang="en-US" sz="2400" b="1" dirty="0" err="1"/>
              <a:t>cryogénique</a:t>
            </a:r>
            <a:r>
              <a:rPr lang="en-US" sz="2400" b="1" dirty="0"/>
              <a:t> mobile ou </a:t>
            </a:r>
            <a:r>
              <a:rPr lang="en-US" sz="2400" b="1" dirty="0" err="1"/>
              <a:t>en</a:t>
            </a:r>
            <a:r>
              <a:rPr lang="en-US" sz="2400" b="1" dirty="0"/>
              <a:t> </a:t>
            </a:r>
            <a:r>
              <a:rPr lang="en-US" sz="2400" b="1" dirty="0" err="1"/>
              <a:t>évaporateur</a:t>
            </a:r>
            <a:r>
              <a:rPr lang="en-US" sz="2400" b="1" dirty="0"/>
              <a:t> fixe </a:t>
            </a:r>
          </a:p>
          <a:p>
            <a:pPr marL="0" indent="0">
              <a:buNone/>
            </a:pPr>
            <a:r>
              <a:rPr lang="fr-FR" sz="2400" dirty="0"/>
              <a:t> </a:t>
            </a:r>
            <a:endParaRPr lang="en-US" sz="2400" b="1" u="sng" dirty="0">
              <a:solidFill>
                <a:srgbClr val="FF0000"/>
              </a:solidFill>
            </a:endParaRPr>
          </a:p>
        </p:txBody>
      </p:sp>
      <p:sp>
        <p:nvSpPr>
          <p:cNvPr id="17" name="Rectangle 16">
            <a:extLst>
              <a:ext uri="{FF2B5EF4-FFF2-40B4-BE49-F238E27FC236}">
                <a16:creationId xmlns:a16="http://schemas.microsoft.com/office/drawing/2014/main" id="{2306B647-FE95-4550-8350-3D2180C62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60466" y="699706"/>
            <a:ext cx="4114800" cy="5477256"/>
          </a:xfrm>
          <a:prstGeom prst="rect">
            <a:avLst/>
          </a:prstGeom>
          <a:solidFill>
            <a:srgbClr val="FFFFFF"/>
          </a:solidFill>
          <a:ln w="15875">
            <a:solidFill>
              <a:srgbClr val="294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Espace réservé du contenu 5">
            <a:extLst>
              <a:ext uri="{FF2B5EF4-FFF2-40B4-BE49-F238E27FC236}">
                <a16:creationId xmlns:a16="http://schemas.microsoft.com/office/drawing/2014/main" id="{502702E0-E311-4C15-A3D0-952AFCBF2411}"/>
              </a:ext>
            </a:extLst>
          </p:cNvPr>
          <p:cNvPicPr>
            <a:picLocks noChangeAspect="1"/>
          </p:cNvPicPr>
          <p:nvPr/>
        </p:nvPicPr>
        <p:blipFill rotWithShape="1">
          <a:blip r:embed="rId3"/>
          <a:srcRect t="10719" b="1540"/>
          <a:stretch/>
        </p:blipFill>
        <p:spPr>
          <a:xfrm>
            <a:off x="6877412" y="536648"/>
            <a:ext cx="4434495" cy="5640313"/>
          </a:xfrm>
          <a:prstGeom prst="rect">
            <a:avLst/>
          </a:prstGeom>
        </p:spPr>
      </p:pic>
      <p:cxnSp>
        <p:nvCxnSpPr>
          <p:cNvPr id="8" name="Connecteur droit avec flèche 7">
            <a:extLst>
              <a:ext uri="{FF2B5EF4-FFF2-40B4-BE49-F238E27FC236}">
                <a16:creationId xmlns:a16="http://schemas.microsoft.com/office/drawing/2014/main" id="{C9BA3D74-39C0-4252-8722-F1C158E936E2}"/>
              </a:ext>
            </a:extLst>
          </p:cNvPr>
          <p:cNvCxnSpPr>
            <a:cxnSpLocks/>
          </p:cNvCxnSpPr>
          <p:nvPr/>
        </p:nvCxnSpPr>
        <p:spPr>
          <a:xfrm flipV="1">
            <a:off x="7670869" y="3159305"/>
            <a:ext cx="838757" cy="105358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76B9A54F-1861-4D5D-8C19-C3F96C1C6BB2}"/>
              </a:ext>
            </a:extLst>
          </p:cNvPr>
          <p:cNvCxnSpPr>
            <a:cxnSpLocks/>
          </p:cNvCxnSpPr>
          <p:nvPr/>
        </p:nvCxnSpPr>
        <p:spPr>
          <a:xfrm flipH="1" flipV="1">
            <a:off x="9479902" y="1418253"/>
            <a:ext cx="1194319" cy="17541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Ellipse 18">
            <a:extLst>
              <a:ext uri="{FF2B5EF4-FFF2-40B4-BE49-F238E27FC236}">
                <a16:creationId xmlns:a16="http://schemas.microsoft.com/office/drawing/2014/main" id="{815A8CF9-567D-4E93-8C04-950947182C9B}"/>
              </a:ext>
            </a:extLst>
          </p:cNvPr>
          <p:cNvSpPr/>
          <p:nvPr/>
        </p:nvSpPr>
        <p:spPr>
          <a:xfrm>
            <a:off x="6231000" y="4051738"/>
            <a:ext cx="1911514" cy="11824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Bouteille d’oxygène </a:t>
            </a:r>
          </a:p>
        </p:txBody>
      </p:sp>
      <p:sp>
        <p:nvSpPr>
          <p:cNvPr id="20" name="Ellipse 19">
            <a:extLst>
              <a:ext uri="{FF2B5EF4-FFF2-40B4-BE49-F238E27FC236}">
                <a16:creationId xmlns:a16="http://schemas.microsoft.com/office/drawing/2014/main" id="{0BC5AA9B-162E-4D1E-ADCF-14EB3939BAE1}"/>
              </a:ext>
            </a:extLst>
          </p:cNvPr>
          <p:cNvSpPr/>
          <p:nvPr/>
        </p:nvSpPr>
        <p:spPr>
          <a:xfrm>
            <a:off x="9332686" y="3094386"/>
            <a:ext cx="2145904" cy="11824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rPr>
              <a:t>Manutendeur</a:t>
            </a:r>
            <a:r>
              <a:rPr lang="fr-FR" b="1" dirty="0">
                <a:solidFill>
                  <a:schemeClr val="tx1"/>
                </a:solidFill>
              </a:rPr>
              <a:t> </a:t>
            </a:r>
          </a:p>
        </p:txBody>
      </p:sp>
    </p:spTree>
    <p:extLst>
      <p:ext uri="{BB962C8B-B14F-4D97-AF65-F5344CB8AC3E}">
        <p14:creationId xmlns:p14="http://schemas.microsoft.com/office/powerpoint/2010/main" val="2766341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3F5877B-98C7-49DD-83AB-0F6F57CB6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E9CA5609-B786-48AC-B218-66423B1185D9}"/>
              </a:ext>
            </a:extLst>
          </p:cNvPr>
          <p:cNvPicPr>
            <a:picLocks noChangeAspect="1"/>
          </p:cNvPicPr>
          <p:nvPr/>
        </p:nvPicPr>
        <p:blipFill rotWithShape="1">
          <a:blip r:embed="rId2"/>
          <a:srcRect l="5503" r="634" b="2"/>
          <a:stretch/>
        </p:blipFill>
        <p:spPr>
          <a:xfrm>
            <a:off x="7215706" y="-42837"/>
            <a:ext cx="4642431" cy="4464696"/>
          </a:xfrm>
          <a:custGeom>
            <a:avLst/>
            <a:gdLst/>
            <a:ahLst/>
            <a:cxnLst/>
            <a:rect l="l" t="t" r="r" b="b"/>
            <a:pathLst>
              <a:path w="4827922" h="6858000">
                <a:moveTo>
                  <a:pt x="4441" y="0"/>
                </a:moveTo>
                <a:lnTo>
                  <a:pt x="4827922" y="0"/>
                </a:lnTo>
                <a:lnTo>
                  <a:pt x="4827922"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5" name="Image 4">
            <a:extLst>
              <a:ext uri="{FF2B5EF4-FFF2-40B4-BE49-F238E27FC236}">
                <a16:creationId xmlns:a16="http://schemas.microsoft.com/office/drawing/2014/main" id="{0883347C-4618-4890-9035-B5D93FCF0C9A}"/>
              </a:ext>
            </a:extLst>
          </p:cNvPr>
          <p:cNvPicPr>
            <a:picLocks noChangeAspect="1"/>
          </p:cNvPicPr>
          <p:nvPr/>
        </p:nvPicPr>
        <p:blipFill rotWithShape="1">
          <a:blip r:embed="rId3"/>
          <a:srcRect l="5909" r="2425"/>
          <a:stretch/>
        </p:blipFill>
        <p:spPr>
          <a:xfrm>
            <a:off x="3119360" y="18"/>
            <a:ext cx="4966290" cy="5806763"/>
          </a:xfrm>
          <a:custGeom>
            <a:avLst/>
            <a:gdLst/>
            <a:ahLst/>
            <a:cxnLst/>
            <a:rect l="l" t="t" r="r" b="b"/>
            <a:pathLst>
              <a:path w="4966290" h="6857999">
                <a:moveTo>
                  <a:pt x="0" y="0"/>
                </a:moveTo>
                <a:lnTo>
                  <a:pt x="4188230" y="0"/>
                </a:lnTo>
                <a:lnTo>
                  <a:pt x="4295735" y="210478"/>
                </a:lnTo>
                <a:cubicBezTo>
                  <a:pt x="4719089" y="1127919"/>
                  <a:pt x="4966290" y="2233909"/>
                  <a:pt x="4966290" y="3424428"/>
                </a:cubicBezTo>
                <a:cubicBezTo>
                  <a:pt x="4966290" y="4614948"/>
                  <a:pt x="4719089" y="5720938"/>
                  <a:pt x="4295735" y="6638378"/>
                </a:cubicBezTo>
                <a:lnTo>
                  <a:pt x="4183560" y="6857999"/>
                </a:lnTo>
                <a:lnTo>
                  <a:pt x="53039" y="6857999"/>
                </a:lnTo>
                <a:lnTo>
                  <a:pt x="132047" y="6695338"/>
                </a:lnTo>
                <a:cubicBezTo>
                  <a:pt x="555401" y="5777898"/>
                  <a:pt x="802602" y="4671908"/>
                  <a:pt x="802602" y="3481388"/>
                </a:cubicBezTo>
                <a:cubicBezTo>
                  <a:pt x="802602" y="2191659"/>
                  <a:pt x="512484" y="1001134"/>
                  <a:pt x="22579" y="42066"/>
                </a:cubicBezTo>
                <a:close/>
              </a:path>
            </a:pathLst>
          </a:custGeom>
        </p:spPr>
      </p:pic>
      <p:sp useBgFill="1">
        <p:nvSpPr>
          <p:cNvPr id="23" name="Freeform: Shape 22">
            <a:extLst>
              <a:ext uri="{FF2B5EF4-FFF2-40B4-BE49-F238E27FC236}">
                <a16:creationId xmlns:a16="http://schemas.microsoft.com/office/drawing/2014/main" id="{4EA91930-66BC-4C41-B4F5-C31EB216F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6313CF8F-B436-401E-9575-DE0F8E8B5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5DB86F1D-4AF5-41E4-B037-70E006ABFE52}"/>
              </a:ext>
            </a:extLst>
          </p:cNvPr>
          <p:cNvSpPr>
            <a:spLocks noGrp="1"/>
          </p:cNvSpPr>
          <p:nvPr>
            <p:ph type="title"/>
          </p:nvPr>
        </p:nvSpPr>
        <p:spPr>
          <a:xfrm>
            <a:off x="128016" y="149290"/>
            <a:ext cx="3124544" cy="1370563"/>
          </a:xfrm>
        </p:spPr>
        <p:txBody>
          <a:bodyPr anchor="ctr">
            <a:normAutofit/>
          </a:bodyPr>
          <a:lstStyle/>
          <a:p>
            <a:r>
              <a:rPr lang="fr-FR" sz="3200" b="1" dirty="0">
                <a:solidFill>
                  <a:srgbClr val="FF0000"/>
                </a:solidFill>
                <a:latin typeface="+mn-lt"/>
              </a:rPr>
              <a:t>MATERIEL DE  REANIMATION </a:t>
            </a:r>
          </a:p>
        </p:txBody>
      </p:sp>
      <p:sp>
        <p:nvSpPr>
          <p:cNvPr id="27" name="Rectangle 26">
            <a:extLst>
              <a:ext uri="{FF2B5EF4-FFF2-40B4-BE49-F238E27FC236}">
                <a16:creationId xmlns:a16="http://schemas.microsoft.com/office/drawing/2014/main" id="{2A38CFE9-C30A-4551-ACCB-D5808FBC39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16867"/>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67EF550F-47CE-4FB2-9DAC-12AD835C8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5F29145C-17B9-460E-8EC7-48BCEC3FA24B}"/>
              </a:ext>
            </a:extLst>
          </p:cNvPr>
          <p:cNvSpPr>
            <a:spLocks noGrp="1"/>
          </p:cNvSpPr>
          <p:nvPr>
            <p:ph idx="1"/>
          </p:nvPr>
        </p:nvSpPr>
        <p:spPr>
          <a:xfrm>
            <a:off x="105049" y="1808958"/>
            <a:ext cx="3578753" cy="4759937"/>
          </a:xfrm>
        </p:spPr>
        <p:txBody>
          <a:bodyPr>
            <a:normAutofit/>
          </a:bodyPr>
          <a:lstStyle/>
          <a:p>
            <a:pPr marL="0" indent="0">
              <a:buNone/>
            </a:pPr>
            <a:r>
              <a:rPr lang="en-US" b="1" u="sng" dirty="0">
                <a:solidFill>
                  <a:srgbClr val="FF0000"/>
                </a:solidFill>
              </a:rPr>
              <a:t>2/</a:t>
            </a:r>
            <a:r>
              <a:rPr lang="en-US" b="1" u="sng" dirty="0" err="1">
                <a:solidFill>
                  <a:srgbClr val="FF0000"/>
                </a:solidFill>
              </a:rPr>
              <a:t>Débimetre</a:t>
            </a:r>
            <a:r>
              <a:rPr lang="en-US" b="1" u="sng" dirty="0">
                <a:solidFill>
                  <a:srgbClr val="FF0000"/>
                </a:solidFill>
              </a:rPr>
              <a:t>  à </a:t>
            </a:r>
            <a:r>
              <a:rPr lang="en-US" b="1" u="sng" dirty="0" err="1">
                <a:solidFill>
                  <a:srgbClr val="FF0000"/>
                </a:solidFill>
              </a:rPr>
              <a:t>bille</a:t>
            </a:r>
            <a:r>
              <a:rPr lang="en-US" b="1" u="sng" dirty="0">
                <a:solidFill>
                  <a:srgbClr val="FF0000"/>
                </a:solidFill>
              </a:rPr>
              <a:t> ou </a:t>
            </a:r>
            <a:r>
              <a:rPr lang="en-US" b="1" u="sng" dirty="0" err="1">
                <a:solidFill>
                  <a:srgbClr val="FF0000"/>
                </a:solidFill>
              </a:rPr>
              <a:t>rotamétre</a:t>
            </a:r>
            <a:r>
              <a:rPr lang="en-US" b="1" u="sng" dirty="0">
                <a:solidFill>
                  <a:srgbClr val="FF0000"/>
                </a:solidFill>
              </a:rPr>
              <a:t>:</a:t>
            </a:r>
          </a:p>
          <a:p>
            <a:pPr marL="0" indent="0">
              <a:buNone/>
            </a:pPr>
            <a:r>
              <a:rPr lang="fr-FR" dirty="0"/>
              <a:t>-</a:t>
            </a:r>
            <a:r>
              <a:rPr lang="fr-FR" b="1" dirty="0"/>
              <a:t>Matériels pour gaz à usage médical.</a:t>
            </a:r>
          </a:p>
          <a:p>
            <a:pPr marL="0" indent="0">
              <a:buNone/>
            </a:pPr>
            <a:r>
              <a:rPr lang="fr-FR" b="1" dirty="0"/>
              <a:t>- Le débitmètre permet  de régler le débit du gaz.</a:t>
            </a:r>
            <a:endParaRPr lang="en-US" b="1" u="sng" dirty="0"/>
          </a:p>
          <a:p>
            <a:endParaRPr lang="en-US" sz="1800" b="1" u="sng" dirty="0"/>
          </a:p>
        </p:txBody>
      </p:sp>
      <p:sp>
        <p:nvSpPr>
          <p:cNvPr id="6" name="Rectangle 5">
            <a:extLst>
              <a:ext uri="{FF2B5EF4-FFF2-40B4-BE49-F238E27FC236}">
                <a16:creationId xmlns:a16="http://schemas.microsoft.com/office/drawing/2014/main" id="{36DACC2D-4A3E-4C24-A1FE-C3EF3D02E4AC}"/>
              </a:ext>
            </a:extLst>
          </p:cNvPr>
          <p:cNvSpPr/>
          <p:nvPr/>
        </p:nvSpPr>
        <p:spPr>
          <a:xfrm>
            <a:off x="3140455" y="5785028"/>
            <a:ext cx="3936671" cy="78386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2800" b="1" dirty="0" err="1">
                <a:solidFill>
                  <a:schemeClr val="tx1"/>
                </a:solidFill>
              </a:rPr>
              <a:t>Débilitre</a:t>
            </a:r>
            <a:r>
              <a:rPr lang="fr-FR" sz="2800" b="1" dirty="0">
                <a:solidFill>
                  <a:schemeClr val="tx1"/>
                </a:solidFill>
              </a:rPr>
              <a:t> à Bille  </a:t>
            </a:r>
          </a:p>
        </p:txBody>
      </p:sp>
      <p:cxnSp>
        <p:nvCxnSpPr>
          <p:cNvPr id="9" name="Connecteur droit avec flèche 8">
            <a:extLst>
              <a:ext uri="{FF2B5EF4-FFF2-40B4-BE49-F238E27FC236}">
                <a16:creationId xmlns:a16="http://schemas.microsoft.com/office/drawing/2014/main" id="{AF10B9F1-9DBC-4716-AD66-3B5C37EED3B9}"/>
              </a:ext>
            </a:extLst>
          </p:cNvPr>
          <p:cNvCxnSpPr>
            <a:cxnSpLocks/>
          </p:cNvCxnSpPr>
          <p:nvPr/>
        </p:nvCxnSpPr>
        <p:spPr>
          <a:xfrm flipH="1">
            <a:off x="5108790" y="2189511"/>
            <a:ext cx="1131957" cy="170937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946D1AA-4548-4C6D-8725-16289BFE59CB}"/>
              </a:ext>
            </a:extLst>
          </p:cNvPr>
          <p:cNvSpPr/>
          <p:nvPr/>
        </p:nvSpPr>
        <p:spPr>
          <a:xfrm>
            <a:off x="5777378" y="1808959"/>
            <a:ext cx="1189083" cy="28098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2800" b="1" dirty="0">
                <a:solidFill>
                  <a:schemeClr val="tx1"/>
                </a:solidFill>
              </a:rPr>
              <a:t>Bille</a:t>
            </a:r>
            <a:r>
              <a:rPr lang="fr-FR" dirty="0"/>
              <a:t> </a:t>
            </a:r>
          </a:p>
        </p:txBody>
      </p:sp>
      <p:sp>
        <p:nvSpPr>
          <p:cNvPr id="18" name="Rectangle 17">
            <a:extLst>
              <a:ext uri="{FF2B5EF4-FFF2-40B4-BE49-F238E27FC236}">
                <a16:creationId xmlns:a16="http://schemas.microsoft.com/office/drawing/2014/main" id="{E435B35A-BF67-4194-ADE3-115D35A1B27F}"/>
              </a:ext>
            </a:extLst>
          </p:cNvPr>
          <p:cNvSpPr/>
          <p:nvPr/>
        </p:nvSpPr>
        <p:spPr>
          <a:xfrm>
            <a:off x="7852649" y="4567318"/>
            <a:ext cx="4360445" cy="22393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2800" b="1" dirty="0">
                <a:solidFill>
                  <a:schemeClr val="tx1"/>
                </a:solidFill>
              </a:rPr>
              <a:t> </a:t>
            </a:r>
            <a:r>
              <a:rPr lang="fr-FR" sz="2800" b="1" dirty="0" err="1">
                <a:solidFill>
                  <a:schemeClr val="tx1"/>
                </a:solidFill>
              </a:rPr>
              <a:t>Débimètre</a:t>
            </a:r>
            <a:r>
              <a:rPr lang="fr-FR" sz="2800" b="1" dirty="0">
                <a:solidFill>
                  <a:schemeClr val="tx1"/>
                </a:solidFill>
              </a:rPr>
              <a:t> d’</a:t>
            </a:r>
            <a:r>
              <a:rPr lang="fr-FR" sz="2800" b="1" dirty="0" err="1">
                <a:solidFill>
                  <a:schemeClr val="tx1"/>
                </a:solidFill>
              </a:rPr>
              <a:t>oxygéne</a:t>
            </a:r>
            <a:r>
              <a:rPr lang="fr-FR" sz="2800" b="1" dirty="0">
                <a:solidFill>
                  <a:schemeClr val="tx1"/>
                </a:solidFill>
              </a:rPr>
              <a:t> mural à bille +Humidificateur </a:t>
            </a:r>
          </a:p>
        </p:txBody>
      </p:sp>
      <p:sp>
        <p:nvSpPr>
          <p:cNvPr id="7" name="Ellipse 6">
            <a:extLst>
              <a:ext uri="{FF2B5EF4-FFF2-40B4-BE49-F238E27FC236}">
                <a16:creationId xmlns:a16="http://schemas.microsoft.com/office/drawing/2014/main" id="{9FE0F097-B785-429D-9DF5-91ECA641179E}"/>
              </a:ext>
            </a:extLst>
          </p:cNvPr>
          <p:cNvSpPr/>
          <p:nvPr/>
        </p:nvSpPr>
        <p:spPr>
          <a:xfrm>
            <a:off x="9927772" y="3135407"/>
            <a:ext cx="2513474" cy="70990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tx1"/>
                </a:solidFill>
              </a:rPr>
              <a:t>Humidificateur</a:t>
            </a:r>
          </a:p>
        </p:txBody>
      </p:sp>
      <p:cxnSp>
        <p:nvCxnSpPr>
          <p:cNvPr id="12" name="Connecteur droit avec flèche 11">
            <a:extLst>
              <a:ext uri="{FF2B5EF4-FFF2-40B4-BE49-F238E27FC236}">
                <a16:creationId xmlns:a16="http://schemas.microsoft.com/office/drawing/2014/main" id="{4B9FF1DA-1A9C-4900-B0A6-E7F3AC155D83}"/>
              </a:ext>
            </a:extLst>
          </p:cNvPr>
          <p:cNvCxnSpPr>
            <a:cxnSpLocks/>
          </p:cNvCxnSpPr>
          <p:nvPr/>
        </p:nvCxnSpPr>
        <p:spPr>
          <a:xfrm flipH="1">
            <a:off x="9510638" y="3579394"/>
            <a:ext cx="67839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822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0F7759-FCA5-4CCA-A586-50FF294371EA}"/>
              </a:ext>
            </a:extLst>
          </p:cNvPr>
          <p:cNvSpPr>
            <a:spLocks noGrp="1"/>
          </p:cNvSpPr>
          <p:nvPr>
            <p:ph type="title"/>
          </p:nvPr>
        </p:nvSpPr>
        <p:spPr>
          <a:xfrm>
            <a:off x="801098" y="1396289"/>
            <a:ext cx="4873440" cy="1325563"/>
          </a:xfrm>
          <a:solidFill>
            <a:schemeClr val="tx1"/>
          </a:solidFill>
        </p:spPr>
        <p:txBody>
          <a:bodyPr>
            <a:normAutofit/>
          </a:bodyPr>
          <a:lstStyle/>
          <a:p>
            <a:r>
              <a:rPr lang="fr-FR" sz="3200" b="1" dirty="0">
                <a:solidFill>
                  <a:srgbClr val="FF0000"/>
                </a:solidFill>
                <a:latin typeface="+mn-lt"/>
              </a:rPr>
              <a:t>3/Lunettes à oxygène </a:t>
            </a:r>
          </a:p>
        </p:txBody>
      </p:sp>
      <p:sp>
        <p:nvSpPr>
          <p:cNvPr id="9" name="Content Placeholder 8">
            <a:extLst>
              <a:ext uri="{FF2B5EF4-FFF2-40B4-BE49-F238E27FC236}">
                <a16:creationId xmlns:a16="http://schemas.microsoft.com/office/drawing/2014/main" id="{3B7C8693-00CA-4594-9235-7FBFDC93B945}"/>
              </a:ext>
            </a:extLst>
          </p:cNvPr>
          <p:cNvSpPr>
            <a:spLocks noGrp="1"/>
          </p:cNvSpPr>
          <p:nvPr>
            <p:ph idx="1"/>
          </p:nvPr>
        </p:nvSpPr>
        <p:spPr>
          <a:xfrm>
            <a:off x="805543" y="2871982"/>
            <a:ext cx="4999218" cy="3181684"/>
          </a:xfrm>
          <a:solidFill>
            <a:schemeClr val="tx1"/>
          </a:solidFill>
        </p:spPr>
        <p:txBody>
          <a:bodyPr anchor="t">
            <a:normAutofit/>
          </a:bodyPr>
          <a:lstStyle/>
          <a:p>
            <a:pPr marL="0" indent="0">
              <a:buNone/>
            </a:pPr>
            <a:r>
              <a:rPr lang="en-US" sz="1800" dirty="0">
                <a:solidFill>
                  <a:schemeClr val="bg1"/>
                </a:solidFill>
              </a:rPr>
              <a:t>-</a:t>
            </a:r>
            <a:r>
              <a:rPr lang="en-US" b="1" dirty="0" err="1">
                <a:solidFill>
                  <a:schemeClr val="bg1"/>
                </a:solidFill>
              </a:rPr>
              <a:t>Accessore</a:t>
            </a:r>
            <a:r>
              <a:rPr lang="en-US" b="1" dirty="0">
                <a:solidFill>
                  <a:schemeClr val="bg1"/>
                </a:solidFill>
              </a:rPr>
              <a:t> d’ oxygénothérapie à travers les </a:t>
            </a:r>
            <a:r>
              <a:rPr lang="en-US" b="1" dirty="0" err="1">
                <a:solidFill>
                  <a:schemeClr val="bg1"/>
                </a:solidFill>
              </a:rPr>
              <a:t>narines</a:t>
            </a:r>
            <a:r>
              <a:rPr lang="en-US" b="1" dirty="0">
                <a:solidFill>
                  <a:schemeClr val="bg1"/>
                </a:solidFill>
              </a:rPr>
              <a:t> du patient </a:t>
            </a:r>
          </a:p>
          <a:p>
            <a:pPr marL="0" indent="0">
              <a:buNone/>
            </a:pPr>
            <a:r>
              <a:rPr lang="en-US" b="1" dirty="0">
                <a:solidFill>
                  <a:schemeClr val="bg1"/>
                </a:solidFill>
              </a:rPr>
              <a:t>-Le </a:t>
            </a:r>
            <a:r>
              <a:rPr lang="en-US" b="1" dirty="0" err="1">
                <a:solidFill>
                  <a:schemeClr val="bg1"/>
                </a:solidFill>
              </a:rPr>
              <a:t>Débit</a:t>
            </a:r>
            <a:r>
              <a:rPr lang="en-US" b="1" dirty="0">
                <a:solidFill>
                  <a:schemeClr val="bg1"/>
                </a:solidFill>
              </a:rPr>
              <a:t>  </a:t>
            </a:r>
            <a:r>
              <a:rPr lang="en-US" b="1" dirty="0" err="1">
                <a:solidFill>
                  <a:schemeClr val="bg1"/>
                </a:solidFill>
              </a:rPr>
              <a:t>délivré</a:t>
            </a:r>
            <a:r>
              <a:rPr lang="en-US" b="1" dirty="0">
                <a:solidFill>
                  <a:schemeClr val="bg1"/>
                </a:solidFill>
              </a:rPr>
              <a:t> </a:t>
            </a:r>
            <a:r>
              <a:rPr lang="en-US" b="1" dirty="0" err="1">
                <a:solidFill>
                  <a:schemeClr val="bg1"/>
                </a:solidFill>
              </a:rPr>
              <a:t>est</a:t>
            </a:r>
            <a:r>
              <a:rPr lang="en-US" b="1" dirty="0">
                <a:solidFill>
                  <a:schemeClr val="bg1"/>
                </a:solidFill>
              </a:rPr>
              <a:t> de 0,5 à</a:t>
            </a:r>
          </a:p>
          <a:p>
            <a:pPr marL="0" indent="0">
              <a:buNone/>
            </a:pPr>
            <a:r>
              <a:rPr lang="en-US" b="1" dirty="0">
                <a:solidFill>
                  <a:schemeClr val="bg1"/>
                </a:solidFill>
              </a:rPr>
              <a:t> 5 l/</a:t>
            </a:r>
            <a:r>
              <a:rPr lang="en-US" b="1" dirty="0" err="1">
                <a:solidFill>
                  <a:schemeClr val="bg1"/>
                </a:solidFill>
              </a:rPr>
              <a:t>mn</a:t>
            </a:r>
            <a:r>
              <a:rPr lang="en-US" b="1" dirty="0">
                <a:solidFill>
                  <a:schemeClr val="bg1"/>
                </a:solidFill>
              </a:rPr>
              <a:t> </a:t>
            </a:r>
            <a:r>
              <a:rPr lang="en-US" b="1" dirty="0" err="1">
                <a:solidFill>
                  <a:schemeClr val="bg1"/>
                </a:solidFill>
              </a:rPr>
              <a:t>ce</a:t>
            </a:r>
            <a:r>
              <a:rPr lang="en-US" b="1" dirty="0">
                <a:solidFill>
                  <a:schemeClr val="bg1"/>
                </a:solidFill>
              </a:rPr>
              <a:t> qui correspond à </a:t>
            </a:r>
            <a:r>
              <a:rPr lang="en-US" b="1" dirty="0" err="1">
                <a:solidFill>
                  <a:schemeClr val="bg1"/>
                </a:solidFill>
              </a:rPr>
              <a:t>une</a:t>
            </a:r>
            <a:r>
              <a:rPr lang="en-US" b="1" dirty="0">
                <a:solidFill>
                  <a:schemeClr val="bg1"/>
                </a:solidFill>
              </a:rPr>
              <a:t> FIO2 de 25-40 % </a:t>
            </a:r>
          </a:p>
          <a:p>
            <a:pPr marL="0" indent="0">
              <a:buNone/>
            </a:pPr>
            <a:r>
              <a:rPr lang="en-US" b="1" dirty="0">
                <a:solidFill>
                  <a:schemeClr val="bg1"/>
                </a:solidFill>
              </a:rPr>
              <a:t>(FIO2=fraction </a:t>
            </a:r>
            <a:r>
              <a:rPr lang="en-US" b="1" dirty="0" err="1">
                <a:solidFill>
                  <a:schemeClr val="bg1"/>
                </a:solidFill>
              </a:rPr>
              <a:t>inspiré</a:t>
            </a:r>
            <a:r>
              <a:rPr lang="en-US" b="1" dirty="0">
                <a:solidFill>
                  <a:schemeClr val="bg1"/>
                </a:solidFill>
              </a:rPr>
              <a:t>  </a:t>
            </a:r>
            <a:r>
              <a:rPr lang="en-US" b="1" dirty="0" err="1">
                <a:solidFill>
                  <a:schemeClr val="bg1"/>
                </a:solidFill>
              </a:rPr>
              <a:t>en</a:t>
            </a:r>
            <a:r>
              <a:rPr lang="en-US" b="1" dirty="0">
                <a:solidFill>
                  <a:schemeClr val="bg1"/>
                </a:solidFill>
              </a:rPr>
              <a:t> </a:t>
            </a:r>
            <a:r>
              <a:rPr lang="en-US" b="1" dirty="0" err="1">
                <a:solidFill>
                  <a:schemeClr val="bg1"/>
                </a:solidFill>
              </a:rPr>
              <a:t>oxygène</a:t>
            </a:r>
            <a:r>
              <a:rPr lang="en-US" b="1" dirty="0">
                <a:solidFill>
                  <a:schemeClr val="bg1"/>
                </a:solidFill>
              </a:rPr>
              <a:t> )</a:t>
            </a:r>
          </a:p>
          <a:p>
            <a:pPr marL="0" indent="0">
              <a:buNone/>
            </a:pPr>
            <a:endParaRPr lang="en-US" sz="1800" dirty="0">
              <a:solidFill>
                <a:schemeClr val="bg1"/>
              </a:solidFill>
            </a:endParaRPr>
          </a:p>
        </p:txBody>
      </p:sp>
      <p:sp>
        <p:nvSpPr>
          <p:cNvPr id="25" name="Oval 16">
            <a:extLst>
              <a:ext uri="{FF2B5EF4-FFF2-40B4-BE49-F238E27FC236}">
                <a16:creationId xmlns:a16="http://schemas.microsoft.com/office/drawing/2014/main" id="{C99A8FB7-A79B-4BC9-9D56-B79587F6A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4761" y="2650637"/>
            <a:ext cx="3118104" cy="3118104"/>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Freeform: Shape 18">
            <a:extLst>
              <a:ext uri="{FF2B5EF4-FFF2-40B4-BE49-F238E27FC236}">
                <a16:creationId xmlns:a16="http://schemas.microsoft.com/office/drawing/2014/main" id="{B23893E2-3349-46D7-A7AA-B9E447957F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96859" y="0"/>
            <a:ext cx="4198060" cy="3650200"/>
          </a:xfrm>
          <a:custGeom>
            <a:avLst/>
            <a:gdLst>
              <a:gd name="connsiteX0" fmla="*/ 262846 w 4198060"/>
              <a:gd name="connsiteY0" fmla="*/ 0 h 3650200"/>
              <a:gd name="connsiteX1" fmla="*/ 4198060 w 4198060"/>
              <a:gd name="connsiteY1" fmla="*/ 0 h 3650200"/>
              <a:gd name="connsiteX2" fmla="*/ 4198060 w 4198060"/>
              <a:gd name="connsiteY2" fmla="*/ 3021648 h 3650200"/>
              <a:gd name="connsiteX3" fmla="*/ 4142653 w 4198060"/>
              <a:gd name="connsiteY3" fmla="*/ 3072005 h 3650200"/>
              <a:gd name="connsiteX4" fmla="*/ 2532040 w 4198060"/>
              <a:gd name="connsiteY4" fmla="*/ 3650200 h 3650200"/>
              <a:gd name="connsiteX5" fmla="*/ 0 w 4198060"/>
              <a:gd name="connsiteY5" fmla="*/ 1118160 h 3650200"/>
              <a:gd name="connsiteX6" fmla="*/ 198981 w 4198060"/>
              <a:gd name="connsiteY6" fmla="*/ 132576 h 365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8060" h="3650200">
                <a:moveTo>
                  <a:pt x="262846" y="0"/>
                </a:moveTo>
                <a:lnTo>
                  <a:pt x="4198060" y="0"/>
                </a:lnTo>
                <a:lnTo>
                  <a:pt x="4198060" y="3021648"/>
                </a:lnTo>
                <a:lnTo>
                  <a:pt x="4142653" y="3072005"/>
                </a:lnTo>
                <a:cubicBezTo>
                  <a:pt x="3704967" y="3433216"/>
                  <a:pt x="3143843" y="3650200"/>
                  <a:pt x="2532040" y="3650200"/>
                </a:cubicBezTo>
                <a:cubicBezTo>
                  <a:pt x="1133633" y="3650200"/>
                  <a:pt x="0" y="2516567"/>
                  <a:pt x="0" y="1118160"/>
                </a:cubicBezTo>
                <a:cubicBezTo>
                  <a:pt x="0" y="768558"/>
                  <a:pt x="70852" y="435505"/>
                  <a:pt x="198981" y="132576"/>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Image 5">
            <a:extLst>
              <a:ext uri="{FF2B5EF4-FFF2-40B4-BE49-F238E27FC236}">
                <a16:creationId xmlns:a16="http://schemas.microsoft.com/office/drawing/2014/main" id="{AD3F423A-07A5-4F9E-A71F-B1BE01501C64}"/>
              </a:ext>
            </a:extLst>
          </p:cNvPr>
          <p:cNvPicPr>
            <a:picLocks noChangeAspect="1"/>
          </p:cNvPicPr>
          <p:nvPr/>
        </p:nvPicPr>
        <p:blipFill rotWithShape="1">
          <a:blip r:embed="rId2"/>
          <a:srcRect t="375" r="1" b="2626"/>
          <a:stretch/>
        </p:blipFill>
        <p:spPr>
          <a:xfrm>
            <a:off x="5969353" y="2871982"/>
            <a:ext cx="2788920" cy="2788920"/>
          </a:xfrm>
          <a:custGeom>
            <a:avLst/>
            <a:gdLst/>
            <a:ahLst/>
            <a:cxnLst/>
            <a:rect l="l" t="t" r="r" b="b"/>
            <a:pathLst>
              <a:path w="2880360" h="2880360">
                <a:moveTo>
                  <a:pt x="1440180" y="0"/>
                </a:moveTo>
                <a:cubicBezTo>
                  <a:pt x="2235569" y="0"/>
                  <a:pt x="2880360" y="644791"/>
                  <a:pt x="2880360" y="1440180"/>
                </a:cubicBezTo>
                <a:cubicBezTo>
                  <a:pt x="2880360" y="2235569"/>
                  <a:pt x="2235569" y="2880360"/>
                  <a:pt x="1440180" y="2880360"/>
                </a:cubicBezTo>
                <a:cubicBezTo>
                  <a:pt x="644791" y="2880360"/>
                  <a:pt x="0" y="2235569"/>
                  <a:pt x="0" y="1440180"/>
                </a:cubicBezTo>
                <a:cubicBezTo>
                  <a:pt x="0" y="644791"/>
                  <a:pt x="644791" y="0"/>
                  <a:pt x="1440180" y="0"/>
                </a:cubicBezTo>
                <a:close/>
              </a:path>
            </a:pathLst>
          </a:custGeom>
        </p:spPr>
      </p:pic>
      <p:pic>
        <p:nvPicPr>
          <p:cNvPr id="5" name="Image 4" descr="Une image contenant personne, bébé, intérieur, lit&#10;&#10;Description générée automatiquement">
            <a:extLst>
              <a:ext uri="{FF2B5EF4-FFF2-40B4-BE49-F238E27FC236}">
                <a16:creationId xmlns:a16="http://schemas.microsoft.com/office/drawing/2014/main" id="{F3D5C599-17FC-4469-95CA-683BC0CE63AD}"/>
              </a:ext>
            </a:extLst>
          </p:cNvPr>
          <p:cNvPicPr>
            <a:picLocks noChangeAspect="1"/>
          </p:cNvPicPr>
          <p:nvPr/>
        </p:nvPicPr>
        <p:blipFill rotWithShape="1">
          <a:blip r:embed="rId3"/>
          <a:srcRect l="4322" r="19015" b="-3"/>
          <a:stretch/>
        </p:blipFill>
        <p:spPr>
          <a:xfrm>
            <a:off x="8160603" y="2"/>
            <a:ext cx="4034316" cy="3486455"/>
          </a:xfrm>
          <a:custGeom>
            <a:avLst/>
            <a:gdLst/>
            <a:ahLst/>
            <a:cxnLst/>
            <a:rect l="l" t="t" r="r" b="b"/>
            <a:pathLst>
              <a:path w="4034316" h="3486455">
                <a:moveTo>
                  <a:pt x="280681" y="0"/>
                </a:moveTo>
                <a:lnTo>
                  <a:pt x="4034316" y="0"/>
                </a:lnTo>
                <a:lnTo>
                  <a:pt x="4034316" y="2800630"/>
                </a:lnTo>
                <a:lnTo>
                  <a:pt x="3874752" y="2945652"/>
                </a:lnTo>
                <a:cubicBezTo>
                  <a:pt x="3465371" y="3283503"/>
                  <a:pt x="2940535" y="3486455"/>
                  <a:pt x="2368296" y="3486455"/>
                </a:cubicBezTo>
                <a:cubicBezTo>
                  <a:pt x="1060322" y="3486455"/>
                  <a:pt x="0" y="2426133"/>
                  <a:pt x="0" y="1118159"/>
                </a:cubicBezTo>
                <a:cubicBezTo>
                  <a:pt x="0" y="791166"/>
                  <a:pt x="66270" y="479650"/>
                  <a:pt x="186113" y="196311"/>
                </a:cubicBezTo>
                <a:close/>
              </a:path>
            </a:pathLst>
          </a:custGeom>
        </p:spPr>
      </p:pic>
      <p:sp>
        <p:nvSpPr>
          <p:cNvPr id="27" name="Freeform: Shape 20">
            <a:extLst>
              <a:ext uri="{FF2B5EF4-FFF2-40B4-BE49-F238E27FC236}">
                <a16:creationId xmlns:a16="http://schemas.microsoft.com/office/drawing/2014/main" id="{2B7592FE-10D1-4664-B623-353F47C8D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8132" y="4032250"/>
            <a:ext cx="3303868" cy="2825750"/>
          </a:xfrm>
          <a:custGeom>
            <a:avLst/>
            <a:gdLst>
              <a:gd name="connsiteX0" fmla="*/ 1888600 w 3303868"/>
              <a:gd name="connsiteY0" fmla="*/ 0 h 2825750"/>
              <a:gd name="connsiteX1" fmla="*/ 3224042 w 3303868"/>
              <a:gd name="connsiteY1" fmla="*/ 553158 h 2825750"/>
              <a:gd name="connsiteX2" fmla="*/ 3303868 w 3303868"/>
              <a:gd name="connsiteY2" fmla="*/ 640989 h 2825750"/>
              <a:gd name="connsiteX3" fmla="*/ 3303868 w 3303868"/>
              <a:gd name="connsiteY3" fmla="*/ 2825750 h 2825750"/>
              <a:gd name="connsiteX4" fmla="*/ 250380 w 3303868"/>
              <a:gd name="connsiteY4" fmla="*/ 2825750 h 2825750"/>
              <a:gd name="connsiteX5" fmla="*/ 227944 w 3303868"/>
              <a:gd name="connsiteY5" fmla="*/ 2788819 h 2825750"/>
              <a:gd name="connsiteX6" fmla="*/ 0 w 3303868"/>
              <a:gd name="connsiteY6" fmla="*/ 1888600 h 2825750"/>
              <a:gd name="connsiteX7" fmla="*/ 1888600 w 3303868"/>
              <a:gd name="connsiteY7" fmla="*/ 0 h 282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03868" h="2825750">
                <a:moveTo>
                  <a:pt x="1888600" y="0"/>
                </a:moveTo>
                <a:cubicBezTo>
                  <a:pt x="2410123" y="0"/>
                  <a:pt x="2882273" y="211389"/>
                  <a:pt x="3224042" y="553158"/>
                </a:cubicBezTo>
                <a:lnTo>
                  <a:pt x="3303868" y="640989"/>
                </a:lnTo>
                <a:lnTo>
                  <a:pt x="3303868" y="2825750"/>
                </a:lnTo>
                <a:lnTo>
                  <a:pt x="250380" y="2825750"/>
                </a:lnTo>
                <a:lnTo>
                  <a:pt x="227944" y="2788819"/>
                </a:lnTo>
                <a:cubicBezTo>
                  <a:pt x="82574" y="2521217"/>
                  <a:pt x="0" y="2214552"/>
                  <a:pt x="0" y="1888600"/>
                </a:cubicBezTo>
                <a:cubicBezTo>
                  <a:pt x="0" y="845555"/>
                  <a:pt x="845555" y="0"/>
                  <a:pt x="188860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Espace réservé du contenu 3" descr="Une image contenant personne, portant, fermer, lunettes&#10;&#10;Description générée automatiquement">
            <a:extLst>
              <a:ext uri="{FF2B5EF4-FFF2-40B4-BE49-F238E27FC236}">
                <a16:creationId xmlns:a16="http://schemas.microsoft.com/office/drawing/2014/main" id="{6A4B4A15-8278-4E69-A8F2-4C59EC66F484}"/>
              </a:ext>
            </a:extLst>
          </p:cNvPr>
          <p:cNvPicPr>
            <a:picLocks noChangeAspect="1"/>
          </p:cNvPicPr>
          <p:nvPr/>
        </p:nvPicPr>
        <p:blipFill rotWithShape="1">
          <a:blip r:embed="rId4"/>
          <a:srcRect l="5922" r="4721" b="6"/>
          <a:stretch/>
        </p:blipFill>
        <p:spPr>
          <a:xfrm>
            <a:off x="9053088" y="4197217"/>
            <a:ext cx="3138912" cy="2660795"/>
          </a:xfrm>
          <a:custGeom>
            <a:avLst/>
            <a:gdLst/>
            <a:ahLst/>
            <a:cxnLst/>
            <a:rect l="l" t="t" r="r" b="b"/>
            <a:pathLst>
              <a:path w="3138912" h="2660795">
                <a:moveTo>
                  <a:pt x="1723644" y="0"/>
                </a:moveTo>
                <a:cubicBezTo>
                  <a:pt x="2259111" y="0"/>
                  <a:pt x="2737550" y="244172"/>
                  <a:pt x="3053691" y="627247"/>
                </a:cubicBezTo>
                <a:lnTo>
                  <a:pt x="3138912" y="741211"/>
                </a:lnTo>
                <a:lnTo>
                  <a:pt x="3138912" y="2660795"/>
                </a:lnTo>
                <a:lnTo>
                  <a:pt x="278239" y="2660795"/>
                </a:lnTo>
                <a:lnTo>
                  <a:pt x="208035" y="2545235"/>
                </a:lnTo>
                <a:cubicBezTo>
                  <a:pt x="75362" y="2301006"/>
                  <a:pt x="0" y="2021126"/>
                  <a:pt x="0" y="1723644"/>
                </a:cubicBezTo>
                <a:cubicBezTo>
                  <a:pt x="0" y="771702"/>
                  <a:pt x="771702" y="0"/>
                  <a:pt x="1723644" y="0"/>
                </a:cubicBezTo>
                <a:close/>
              </a:path>
            </a:pathLst>
          </a:custGeom>
        </p:spPr>
      </p:pic>
      <p:cxnSp>
        <p:nvCxnSpPr>
          <p:cNvPr id="8" name="Connecteur droit avec flèche 7">
            <a:extLst>
              <a:ext uri="{FF2B5EF4-FFF2-40B4-BE49-F238E27FC236}">
                <a16:creationId xmlns:a16="http://schemas.microsoft.com/office/drawing/2014/main" id="{1A4403EC-759F-4BD4-BBD1-A8EFA20C7AC1}"/>
              </a:ext>
            </a:extLst>
          </p:cNvPr>
          <p:cNvCxnSpPr/>
          <p:nvPr/>
        </p:nvCxnSpPr>
        <p:spPr>
          <a:xfrm flipV="1">
            <a:off x="7996859" y="5660902"/>
            <a:ext cx="2322798" cy="702576"/>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 coins arrondis 9">
            <a:extLst>
              <a:ext uri="{FF2B5EF4-FFF2-40B4-BE49-F238E27FC236}">
                <a16:creationId xmlns:a16="http://schemas.microsoft.com/office/drawing/2014/main" id="{EE46BE0E-20B7-41C3-82BB-570BD44A940D}"/>
              </a:ext>
            </a:extLst>
          </p:cNvPr>
          <p:cNvSpPr/>
          <p:nvPr/>
        </p:nvSpPr>
        <p:spPr>
          <a:xfrm>
            <a:off x="5505062" y="6195527"/>
            <a:ext cx="2655542" cy="66247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rPr>
              <a:t>Lunettes à oxygène </a:t>
            </a:r>
          </a:p>
        </p:txBody>
      </p:sp>
    </p:spTree>
    <p:extLst>
      <p:ext uri="{BB962C8B-B14F-4D97-AF65-F5344CB8AC3E}">
        <p14:creationId xmlns:p14="http://schemas.microsoft.com/office/powerpoint/2010/main" val="3251992583"/>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2B35F886-1102-4486-830A-34F41439CE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8" name="Oval 47">
              <a:extLst>
                <a:ext uri="{FF2B5EF4-FFF2-40B4-BE49-F238E27FC236}">
                  <a16:creationId xmlns:a16="http://schemas.microsoft.com/office/drawing/2014/main" id="{7DEFD1BC-7AD4-41EC-8E11-4E5E8AC541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B0E5C8B-3874-4B3C-BAD4-9EFE85FEAC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E7DA6224-9378-452F-A53A-DD0BF19724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DE869DF-C006-49F7-B9FF-0317F64E9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FD200C16-6204-4580-AB37-7E94176D0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0DE7603-6DD0-4DB6-88FC-5402B9D4A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Espace réservé du contenu 3" descr="Une image contenant texte&#10;&#10;Description générée automatiquement">
            <a:extLst>
              <a:ext uri="{FF2B5EF4-FFF2-40B4-BE49-F238E27FC236}">
                <a16:creationId xmlns:a16="http://schemas.microsoft.com/office/drawing/2014/main" id="{1BEA80C1-09A8-4737-A724-7CBE4191B396}"/>
              </a:ext>
            </a:extLst>
          </p:cNvPr>
          <p:cNvPicPr>
            <a:picLocks noChangeAspect="1"/>
          </p:cNvPicPr>
          <p:nvPr/>
        </p:nvPicPr>
        <p:blipFill rotWithShape="1">
          <a:blip r:embed="rId3"/>
          <a:srcRect l="3492" r="3487" b="-3"/>
          <a:stretch/>
        </p:blipFill>
        <p:spPr>
          <a:xfrm>
            <a:off x="170041" y="1154420"/>
            <a:ext cx="4868598" cy="5633643"/>
          </a:xfrm>
          <a:prstGeom prst="rect">
            <a:avLst/>
          </a:prstGeom>
        </p:spPr>
      </p:pic>
      <p:grpSp>
        <p:nvGrpSpPr>
          <p:cNvPr id="55" name="Group 54">
            <a:extLst>
              <a:ext uri="{FF2B5EF4-FFF2-40B4-BE49-F238E27FC236}">
                <a16:creationId xmlns:a16="http://schemas.microsoft.com/office/drawing/2014/main" id="{975C268C-D419-4123-9FAD-0E2B7F9EE7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584794"/>
            <a:ext cx="304800" cy="429768"/>
            <a:chOff x="215328" y="-46937"/>
            <a:chExt cx="304800" cy="2773841"/>
          </a:xfrm>
        </p:grpSpPr>
        <p:cxnSp>
          <p:nvCxnSpPr>
            <p:cNvPr id="56" name="Straight Connector 55">
              <a:extLst>
                <a:ext uri="{FF2B5EF4-FFF2-40B4-BE49-F238E27FC236}">
                  <a16:creationId xmlns:a16="http://schemas.microsoft.com/office/drawing/2014/main" id="{3A7E309C-A3BD-432E-8CB5-F0B6425281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F1F621C-4533-4835-ADE2-372F2763A0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EFC8245-5168-4DAF-930D-09A7BDDA6C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192ED34-5046-4043-AEF8-2DF7C4806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5" name="Image 4">
            <a:extLst>
              <a:ext uri="{FF2B5EF4-FFF2-40B4-BE49-F238E27FC236}">
                <a16:creationId xmlns:a16="http://schemas.microsoft.com/office/drawing/2014/main" id="{207B5480-3EC1-44A6-AC37-79B6D95A5B63}"/>
              </a:ext>
            </a:extLst>
          </p:cNvPr>
          <p:cNvPicPr>
            <a:picLocks noChangeAspect="1"/>
          </p:cNvPicPr>
          <p:nvPr/>
        </p:nvPicPr>
        <p:blipFill rotWithShape="1">
          <a:blip r:embed="rId4"/>
          <a:srcRect r="145" b="5"/>
          <a:stretch/>
        </p:blipFill>
        <p:spPr>
          <a:xfrm>
            <a:off x="4898253" y="1"/>
            <a:ext cx="2931858" cy="3045669"/>
          </a:xfrm>
          <a:prstGeom prst="rect">
            <a:avLst/>
          </a:prstGeom>
        </p:spPr>
      </p:pic>
      <p:sp>
        <p:nvSpPr>
          <p:cNvPr id="61" name="Rectangle 60">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3" name="Group 62">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64" name="Straight Connector 63">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6" name="Image 5">
            <a:extLst>
              <a:ext uri="{FF2B5EF4-FFF2-40B4-BE49-F238E27FC236}">
                <a16:creationId xmlns:a16="http://schemas.microsoft.com/office/drawing/2014/main" id="{A9138E36-66B6-4E25-AC30-7C67AF14F727}"/>
              </a:ext>
            </a:extLst>
          </p:cNvPr>
          <p:cNvPicPr>
            <a:picLocks noChangeAspect="1"/>
          </p:cNvPicPr>
          <p:nvPr/>
        </p:nvPicPr>
        <p:blipFill rotWithShape="1">
          <a:blip r:embed="rId5"/>
          <a:srcRect l="4886"/>
          <a:stretch/>
        </p:blipFill>
        <p:spPr>
          <a:xfrm>
            <a:off x="7830111" y="-44125"/>
            <a:ext cx="4056775" cy="3089795"/>
          </a:xfrm>
          <a:prstGeom prst="rect">
            <a:avLst/>
          </a:prstGeom>
        </p:spPr>
      </p:pic>
      <p:sp>
        <p:nvSpPr>
          <p:cNvPr id="69" name="Rectangle 68">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72" name="Straight Connector 71">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A096B894-7D6D-4F91-8723-2D3D97030F38}"/>
              </a:ext>
            </a:extLst>
          </p:cNvPr>
          <p:cNvSpPr>
            <a:spLocks noGrp="1"/>
          </p:cNvSpPr>
          <p:nvPr>
            <p:ph type="title"/>
          </p:nvPr>
        </p:nvSpPr>
        <p:spPr>
          <a:xfrm>
            <a:off x="-76973" y="178779"/>
            <a:ext cx="5055247" cy="975641"/>
          </a:xfrm>
          <a:solidFill>
            <a:schemeClr val="bg1"/>
          </a:solidFill>
        </p:spPr>
        <p:txBody>
          <a:bodyPr vert="horz" lIns="91440" tIns="45720" rIns="91440" bIns="45720" rtlCol="0" anchor="t">
            <a:normAutofit/>
          </a:bodyPr>
          <a:lstStyle/>
          <a:p>
            <a:r>
              <a:rPr lang="en-US" b="1" dirty="0">
                <a:solidFill>
                  <a:srgbClr val="FF0000"/>
                </a:solidFill>
                <a:latin typeface="+mn-lt"/>
              </a:rPr>
              <a:t>Masque à </a:t>
            </a:r>
            <a:r>
              <a:rPr lang="en-US" b="1" dirty="0" err="1">
                <a:solidFill>
                  <a:srgbClr val="FF0000"/>
                </a:solidFill>
                <a:latin typeface="+mn-lt"/>
              </a:rPr>
              <a:t>oxygène</a:t>
            </a:r>
            <a:r>
              <a:rPr lang="en-US" b="1" dirty="0">
                <a:solidFill>
                  <a:srgbClr val="FF0000"/>
                </a:solidFill>
                <a:latin typeface="+mn-lt"/>
              </a:rPr>
              <a:t> </a:t>
            </a:r>
          </a:p>
        </p:txBody>
      </p:sp>
      <p:sp>
        <p:nvSpPr>
          <p:cNvPr id="35" name="Content Placeholder 34">
            <a:extLst>
              <a:ext uri="{FF2B5EF4-FFF2-40B4-BE49-F238E27FC236}">
                <a16:creationId xmlns:a16="http://schemas.microsoft.com/office/drawing/2014/main" id="{E0D49275-1BDD-4D7E-BBB7-53930F68C908}"/>
              </a:ext>
            </a:extLst>
          </p:cNvPr>
          <p:cNvSpPr>
            <a:spLocks noGrp="1"/>
          </p:cNvSpPr>
          <p:nvPr>
            <p:ph idx="1"/>
          </p:nvPr>
        </p:nvSpPr>
        <p:spPr>
          <a:xfrm>
            <a:off x="5058295" y="3114040"/>
            <a:ext cx="6848239" cy="3589009"/>
          </a:xfrm>
          <a:solidFill>
            <a:schemeClr val="bg1"/>
          </a:solidFill>
        </p:spPr>
        <p:txBody>
          <a:bodyPr anchor="t">
            <a:normAutofit lnSpcReduction="10000"/>
          </a:bodyPr>
          <a:lstStyle/>
          <a:p>
            <a:r>
              <a:rPr lang="fr-FR" b="1" dirty="0"/>
              <a:t>Un </a:t>
            </a:r>
            <a:r>
              <a:rPr lang="fr-FR" b="1" dirty="0">
                <a:solidFill>
                  <a:srgbClr val="00B0F0"/>
                </a:solidFill>
              </a:rPr>
              <a:t>masque à oxygène </a:t>
            </a:r>
            <a:r>
              <a:rPr lang="fr-FR" b="1" dirty="0"/>
              <a:t>est un masque</a:t>
            </a:r>
          </a:p>
          <a:p>
            <a:pPr marL="0" indent="0">
              <a:buNone/>
            </a:pPr>
            <a:r>
              <a:rPr lang="fr-FR" b="1" dirty="0"/>
              <a:t>fournissant de l'oxygène aux poumons à partir d'un réservoir de stockage.</a:t>
            </a:r>
          </a:p>
          <a:p>
            <a:r>
              <a:rPr lang="fr-FR" b="1" dirty="0"/>
              <a:t> Le débit en oxygène peut atteindre </a:t>
            </a:r>
            <a:r>
              <a:rPr lang="fr-FR" b="1" dirty="0">
                <a:solidFill>
                  <a:srgbClr val="00B0F0"/>
                </a:solidFill>
              </a:rPr>
              <a:t>15 l/mn</a:t>
            </a:r>
            <a:r>
              <a:rPr lang="fr-FR" b="1" dirty="0"/>
              <a:t> avec ce masque </a:t>
            </a:r>
          </a:p>
          <a:p>
            <a:r>
              <a:rPr lang="fr-FR" b="1" dirty="0"/>
              <a:t> Il couvre généralement le nez et la bouche</a:t>
            </a:r>
          </a:p>
          <a:p>
            <a:r>
              <a:rPr lang="fr-FR" b="1" dirty="0"/>
              <a:t>il peut être en plastique, en silicone ou en caoutchouc.</a:t>
            </a:r>
          </a:p>
          <a:p>
            <a:endParaRPr lang="en-US" sz="1800" b="1" dirty="0"/>
          </a:p>
        </p:txBody>
      </p:sp>
    </p:spTree>
    <p:extLst>
      <p:ext uri="{BB962C8B-B14F-4D97-AF65-F5344CB8AC3E}">
        <p14:creationId xmlns:p14="http://schemas.microsoft.com/office/powerpoint/2010/main" val="4037836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6E6ABB-C3A2-41A3-8B5C-3CBD2A9E4B51}"/>
              </a:ext>
            </a:extLst>
          </p:cNvPr>
          <p:cNvSpPr>
            <a:spLocks noGrp="1"/>
          </p:cNvSpPr>
          <p:nvPr>
            <p:ph type="title"/>
          </p:nvPr>
        </p:nvSpPr>
        <p:spPr>
          <a:xfrm>
            <a:off x="838200" y="365126"/>
            <a:ext cx="10769082" cy="689800"/>
          </a:xfrm>
        </p:spPr>
        <p:txBody>
          <a:bodyPr>
            <a:normAutofit/>
          </a:bodyPr>
          <a:lstStyle/>
          <a:p>
            <a:r>
              <a:rPr lang="fr-FR" sz="4000" b="1" dirty="0">
                <a:solidFill>
                  <a:srgbClr val="FF0000"/>
                </a:solidFill>
                <a:latin typeface="+mn-lt"/>
              </a:rPr>
              <a:t>                MATERIEL DE REANIMATION </a:t>
            </a:r>
          </a:p>
        </p:txBody>
      </p:sp>
      <p:pic>
        <p:nvPicPr>
          <p:cNvPr id="4" name="Espace réservé du contenu 3">
            <a:extLst>
              <a:ext uri="{FF2B5EF4-FFF2-40B4-BE49-F238E27FC236}">
                <a16:creationId xmlns:a16="http://schemas.microsoft.com/office/drawing/2014/main" id="{4867CDC0-246C-4CC4-A791-D5CA4B9FBBCE}"/>
              </a:ext>
            </a:extLst>
          </p:cNvPr>
          <p:cNvPicPr>
            <a:picLocks noGrp="1" noChangeAspect="1"/>
          </p:cNvPicPr>
          <p:nvPr>
            <p:ph idx="1"/>
          </p:nvPr>
        </p:nvPicPr>
        <p:blipFill>
          <a:blip r:embed="rId2"/>
          <a:stretch>
            <a:fillRect/>
          </a:stretch>
        </p:blipFill>
        <p:spPr>
          <a:xfrm>
            <a:off x="4949372" y="1455575"/>
            <a:ext cx="7010400" cy="5371189"/>
          </a:xfrm>
          <a:prstGeom prst="rect">
            <a:avLst/>
          </a:prstGeom>
        </p:spPr>
      </p:pic>
      <p:sp>
        <p:nvSpPr>
          <p:cNvPr id="5" name="Rectangle 4">
            <a:extLst>
              <a:ext uri="{FF2B5EF4-FFF2-40B4-BE49-F238E27FC236}">
                <a16:creationId xmlns:a16="http://schemas.microsoft.com/office/drawing/2014/main" id="{36B7EC09-2562-49BA-A5C1-320B8F3DAD3E}"/>
              </a:ext>
            </a:extLst>
          </p:cNvPr>
          <p:cNvSpPr/>
          <p:nvPr/>
        </p:nvSpPr>
        <p:spPr>
          <a:xfrm>
            <a:off x="260278" y="1455576"/>
            <a:ext cx="4555272" cy="5037299"/>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pPr algn="ctr"/>
            <a:r>
              <a:rPr lang="fr-FR" sz="3600" b="1" u="sng" dirty="0">
                <a:solidFill>
                  <a:srgbClr val="FF0000"/>
                </a:solidFill>
              </a:rPr>
              <a:t>BAVU </a:t>
            </a:r>
          </a:p>
          <a:p>
            <a:pPr algn="ctr"/>
            <a:r>
              <a:rPr lang="fr-FR" sz="2400" b="1" dirty="0">
                <a:solidFill>
                  <a:srgbClr val="FF0000"/>
                </a:solidFill>
              </a:rPr>
              <a:t>Associée à un Masque </a:t>
            </a:r>
            <a:r>
              <a:rPr lang="fr-FR" sz="2400" b="1" dirty="0" err="1">
                <a:solidFill>
                  <a:srgbClr val="FF0000"/>
                </a:solidFill>
              </a:rPr>
              <a:t>Naso</a:t>
            </a:r>
            <a:r>
              <a:rPr lang="fr-FR" sz="2400" b="1" dirty="0">
                <a:solidFill>
                  <a:srgbClr val="FF0000"/>
                </a:solidFill>
              </a:rPr>
              <a:t>-Buccal </a:t>
            </a:r>
          </a:p>
        </p:txBody>
      </p:sp>
      <p:cxnSp>
        <p:nvCxnSpPr>
          <p:cNvPr id="7" name="Connecteur droit avec flèche 6">
            <a:extLst>
              <a:ext uri="{FF2B5EF4-FFF2-40B4-BE49-F238E27FC236}">
                <a16:creationId xmlns:a16="http://schemas.microsoft.com/office/drawing/2014/main" id="{A6BA2DE0-4174-430F-BAA5-AECA0FEB625A}"/>
              </a:ext>
            </a:extLst>
          </p:cNvPr>
          <p:cNvCxnSpPr>
            <a:cxnSpLocks/>
          </p:cNvCxnSpPr>
          <p:nvPr/>
        </p:nvCxnSpPr>
        <p:spPr>
          <a:xfrm flipH="1" flipV="1">
            <a:off x="8383265" y="4201594"/>
            <a:ext cx="252735" cy="86981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D9AEB608-80E8-428C-9D02-325A02FBB4E3}"/>
              </a:ext>
            </a:extLst>
          </p:cNvPr>
          <p:cNvCxnSpPr>
            <a:cxnSpLocks/>
          </p:cNvCxnSpPr>
          <p:nvPr/>
        </p:nvCxnSpPr>
        <p:spPr>
          <a:xfrm flipH="1" flipV="1">
            <a:off x="6560457" y="5636675"/>
            <a:ext cx="183831" cy="69668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73275FF1-E28A-42C4-9EA0-FC6D21063FDB}"/>
              </a:ext>
            </a:extLst>
          </p:cNvPr>
          <p:cNvCxnSpPr>
            <a:cxnSpLocks/>
          </p:cNvCxnSpPr>
          <p:nvPr/>
        </p:nvCxnSpPr>
        <p:spPr>
          <a:xfrm>
            <a:off x="6222741" y="2585049"/>
            <a:ext cx="331182" cy="100148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3F4B04CB-CAAC-4A3E-B80C-36AC8D009074}"/>
              </a:ext>
            </a:extLst>
          </p:cNvPr>
          <p:cNvCxnSpPr>
            <a:cxnSpLocks/>
          </p:cNvCxnSpPr>
          <p:nvPr/>
        </p:nvCxnSpPr>
        <p:spPr>
          <a:xfrm flipH="1" flipV="1">
            <a:off x="10923038" y="4339741"/>
            <a:ext cx="328405" cy="146333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382D60D-14C9-4546-BE65-EF8E164F10F3}"/>
              </a:ext>
            </a:extLst>
          </p:cNvPr>
          <p:cNvSpPr/>
          <p:nvPr/>
        </p:nvSpPr>
        <p:spPr>
          <a:xfrm>
            <a:off x="4943973" y="1455575"/>
            <a:ext cx="2702672" cy="1229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t>Valve unidirectionnelle  </a:t>
            </a:r>
          </a:p>
        </p:txBody>
      </p:sp>
      <p:sp>
        <p:nvSpPr>
          <p:cNvPr id="26" name="Rectangle 25">
            <a:extLst>
              <a:ext uri="{FF2B5EF4-FFF2-40B4-BE49-F238E27FC236}">
                <a16:creationId xmlns:a16="http://schemas.microsoft.com/office/drawing/2014/main" id="{C6A1F436-9F60-40D7-A3BE-E8EDD3F363D9}"/>
              </a:ext>
            </a:extLst>
          </p:cNvPr>
          <p:cNvSpPr/>
          <p:nvPr/>
        </p:nvSpPr>
        <p:spPr>
          <a:xfrm>
            <a:off x="5974435" y="6226854"/>
            <a:ext cx="1672210" cy="5999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t>Masque</a:t>
            </a:r>
          </a:p>
        </p:txBody>
      </p:sp>
      <p:sp>
        <p:nvSpPr>
          <p:cNvPr id="28" name="Rectangle 27">
            <a:extLst>
              <a:ext uri="{FF2B5EF4-FFF2-40B4-BE49-F238E27FC236}">
                <a16:creationId xmlns:a16="http://schemas.microsoft.com/office/drawing/2014/main" id="{98CF3C32-9260-4762-A60D-2D04B57524DE}"/>
              </a:ext>
            </a:extLst>
          </p:cNvPr>
          <p:cNvSpPr/>
          <p:nvPr/>
        </p:nvSpPr>
        <p:spPr>
          <a:xfrm>
            <a:off x="7997558" y="5064021"/>
            <a:ext cx="1672210" cy="4787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Ballon </a:t>
            </a:r>
          </a:p>
        </p:txBody>
      </p:sp>
      <p:sp>
        <p:nvSpPr>
          <p:cNvPr id="30" name="Rectangle 29">
            <a:extLst>
              <a:ext uri="{FF2B5EF4-FFF2-40B4-BE49-F238E27FC236}">
                <a16:creationId xmlns:a16="http://schemas.microsoft.com/office/drawing/2014/main" id="{F8F5EE5F-CBD8-40E3-BC8D-FD85AA7E4DCC}"/>
              </a:ext>
            </a:extLst>
          </p:cNvPr>
          <p:cNvSpPr/>
          <p:nvPr/>
        </p:nvSpPr>
        <p:spPr>
          <a:xfrm>
            <a:off x="10537714" y="5400860"/>
            <a:ext cx="1427458" cy="957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t>Réservoir à </a:t>
            </a:r>
            <a:r>
              <a:rPr lang="fr-FR" sz="2000" b="1" dirty="0" err="1"/>
              <a:t>Oxygene</a:t>
            </a:r>
            <a:r>
              <a:rPr lang="fr-FR" sz="2000" b="1" dirty="0"/>
              <a:t> </a:t>
            </a:r>
            <a:r>
              <a:rPr lang="fr-FR" sz="2400" b="1" dirty="0"/>
              <a:t> </a:t>
            </a:r>
          </a:p>
        </p:txBody>
      </p:sp>
      <p:pic>
        <p:nvPicPr>
          <p:cNvPr id="37" name="Image 36">
            <a:extLst>
              <a:ext uri="{FF2B5EF4-FFF2-40B4-BE49-F238E27FC236}">
                <a16:creationId xmlns:a16="http://schemas.microsoft.com/office/drawing/2014/main" id="{AB889887-913E-4A3A-B90B-ED8A3024FE90}"/>
              </a:ext>
            </a:extLst>
          </p:cNvPr>
          <p:cNvPicPr>
            <a:picLocks noChangeAspect="1"/>
          </p:cNvPicPr>
          <p:nvPr/>
        </p:nvPicPr>
        <p:blipFill>
          <a:blip r:embed="rId3"/>
          <a:stretch>
            <a:fillRect/>
          </a:stretch>
        </p:blipFill>
        <p:spPr>
          <a:xfrm>
            <a:off x="288239" y="2922104"/>
            <a:ext cx="4555272" cy="3725439"/>
          </a:xfrm>
          <a:prstGeom prst="rect">
            <a:avLst/>
          </a:prstGeom>
        </p:spPr>
      </p:pic>
    </p:spTree>
    <p:extLst>
      <p:ext uri="{BB962C8B-B14F-4D97-AF65-F5344CB8AC3E}">
        <p14:creationId xmlns:p14="http://schemas.microsoft.com/office/powerpoint/2010/main" val="1788214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FA4E651-C3D8-4DB8-A026-E8531C6AF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BFD67AC-E01D-4DC3-9E76-17E84F21467D}"/>
              </a:ext>
            </a:extLst>
          </p:cNvPr>
          <p:cNvSpPr>
            <a:spLocks noGrp="1"/>
          </p:cNvSpPr>
          <p:nvPr>
            <p:ph type="title"/>
          </p:nvPr>
        </p:nvSpPr>
        <p:spPr>
          <a:xfrm>
            <a:off x="-218660" y="516836"/>
            <a:ext cx="11452717" cy="1292087"/>
          </a:xfrm>
          <a:noFill/>
        </p:spPr>
        <p:txBody>
          <a:bodyPr vert="horz" lIns="91440" tIns="45720" rIns="91440" bIns="45720" rtlCol="0" anchor="b">
            <a:normAutofit fontScale="90000"/>
          </a:bodyPr>
          <a:lstStyle/>
          <a:p>
            <a:pPr algn="ctr"/>
            <a:br>
              <a:rPr lang="en-US" sz="5200" dirty="0"/>
            </a:br>
            <a:r>
              <a:rPr lang="en-US" sz="5200" dirty="0"/>
              <a:t> </a:t>
            </a:r>
            <a:br>
              <a:rPr lang="en-US" sz="5200" dirty="0"/>
            </a:br>
            <a:r>
              <a:rPr lang="en-US" sz="4900" b="1" dirty="0">
                <a:solidFill>
                  <a:srgbClr val="FF0000"/>
                </a:solidFill>
                <a:latin typeface="+mn-lt"/>
              </a:rPr>
              <a:t>MATERIEL DE REANIMATION </a:t>
            </a:r>
          </a:p>
        </p:txBody>
      </p:sp>
      <p:pic>
        <p:nvPicPr>
          <p:cNvPr id="8" name="Espace réservé du contenu 7">
            <a:extLst>
              <a:ext uri="{FF2B5EF4-FFF2-40B4-BE49-F238E27FC236}">
                <a16:creationId xmlns:a16="http://schemas.microsoft.com/office/drawing/2014/main" id="{1617BF4A-BBC5-43C8-84B3-EC24DB13E106}"/>
              </a:ext>
            </a:extLst>
          </p:cNvPr>
          <p:cNvPicPr>
            <a:picLocks noGrp="1" noChangeAspect="1"/>
          </p:cNvPicPr>
          <p:nvPr>
            <p:ph idx="1"/>
          </p:nvPr>
        </p:nvPicPr>
        <p:blipFill rotWithShape="1">
          <a:blip r:embed="rId3"/>
          <a:srcRect l="3092" r="-1" b="-1"/>
          <a:stretch/>
        </p:blipFill>
        <p:spPr>
          <a:xfrm>
            <a:off x="178903" y="2082449"/>
            <a:ext cx="11689635" cy="2508214"/>
          </a:xfrm>
          <a:prstGeom prst="rect">
            <a:avLst/>
          </a:prstGeom>
        </p:spPr>
      </p:pic>
      <p:sp>
        <p:nvSpPr>
          <p:cNvPr id="3" name="Rectangle 2">
            <a:extLst>
              <a:ext uri="{FF2B5EF4-FFF2-40B4-BE49-F238E27FC236}">
                <a16:creationId xmlns:a16="http://schemas.microsoft.com/office/drawing/2014/main" id="{453E388E-3635-4655-9A1D-37BAA735A2B4}"/>
              </a:ext>
            </a:extLst>
          </p:cNvPr>
          <p:cNvSpPr/>
          <p:nvPr/>
        </p:nvSpPr>
        <p:spPr>
          <a:xfrm>
            <a:off x="485192" y="4590663"/>
            <a:ext cx="11527904" cy="208244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3200" b="1" dirty="0">
                <a:solidFill>
                  <a:schemeClr val="tx1"/>
                </a:solidFill>
              </a:rPr>
              <a:t>    La valve unidirectionnelle Permet  de séparer l’air inspiré de l’ air expiré afin d’éviter le stockage du  gaz carbonique  dans le ballon et le risque de Ré-insufflation du CO2 .</a:t>
            </a:r>
            <a:endParaRPr lang="fr-FR" sz="3200" b="1" dirty="0"/>
          </a:p>
        </p:txBody>
      </p:sp>
      <p:pic>
        <p:nvPicPr>
          <p:cNvPr id="6" name="Espace réservé du contenu 3">
            <a:extLst>
              <a:ext uri="{FF2B5EF4-FFF2-40B4-BE49-F238E27FC236}">
                <a16:creationId xmlns:a16="http://schemas.microsoft.com/office/drawing/2014/main" id="{965BD20F-2888-4E7F-96C0-B6084BFF2449}"/>
              </a:ext>
            </a:extLst>
          </p:cNvPr>
          <p:cNvPicPr>
            <a:picLocks noChangeAspect="1"/>
          </p:cNvPicPr>
          <p:nvPr/>
        </p:nvPicPr>
        <p:blipFill>
          <a:blip r:embed="rId4"/>
          <a:stretch>
            <a:fillRect/>
          </a:stretch>
        </p:blipFill>
        <p:spPr>
          <a:xfrm>
            <a:off x="9629191" y="129414"/>
            <a:ext cx="2311625" cy="1768146"/>
          </a:xfrm>
          <a:prstGeom prst="rect">
            <a:avLst/>
          </a:prstGeom>
        </p:spPr>
      </p:pic>
    </p:spTree>
    <p:extLst>
      <p:ext uri="{BB962C8B-B14F-4D97-AF65-F5344CB8AC3E}">
        <p14:creationId xmlns:p14="http://schemas.microsoft.com/office/powerpoint/2010/main" val="2623140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151814-7482-4342-AEC0-1F9E3D93E5E5}"/>
              </a:ext>
            </a:extLst>
          </p:cNvPr>
          <p:cNvSpPr>
            <a:spLocks noGrp="1"/>
          </p:cNvSpPr>
          <p:nvPr>
            <p:ph type="title"/>
          </p:nvPr>
        </p:nvSpPr>
        <p:spPr/>
        <p:txBody>
          <a:bodyPr/>
          <a:lstStyle/>
          <a:p>
            <a:endParaRPr lang="fr-FR"/>
          </a:p>
        </p:txBody>
      </p:sp>
      <p:pic>
        <p:nvPicPr>
          <p:cNvPr id="4" name="Espace réservé du contenu 3">
            <a:extLst>
              <a:ext uri="{FF2B5EF4-FFF2-40B4-BE49-F238E27FC236}">
                <a16:creationId xmlns:a16="http://schemas.microsoft.com/office/drawing/2014/main" id="{D8FF642F-B438-41BE-987D-53654DA00619}"/>
              </a:ext>
            </a:extLst>
          </p:cNvPr>
          <p:cNvPicPr>
            <a:picLocks noGrp="1" noChangeAspect="1"/>
          </p:cNvPicPr>
          <p:nvPr>
            <p:ph idx="1"/>
          </p:nvPr>
        </p:nvPicPr>
        <p:blipFill>
          <a:blip r:embed="rId2"/>
          <a:stretch>
            <a:fillRect/>
          </a:stretch>
        </p:blipFill>
        <p:spPr>
          <a:xfrm>
            <a:off x="566057" y="365126"/>
            <a:ext cx="10787743" cy="6282418"/>
          </a:xfrm>
          <a:prstGeom prst="rect">
            <a:avLst/>
          </a:prstGeom>
        </p:spPr>
      </p:pic>
    </p:spTree>
    <p:extLst>
      <p:ext uri="{BB962C8B-B14F-4D97-AF65-F5344CB8AC3E}">
        <p14:creationId xmlns:p14="http://schemas.microsoft.com/office/powerpoint/2010/main" val="767517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2B35F886-1102-4486-830A-34F41439CE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2" name="Oval 41">
              <a:extLst>
                <a:ext uri="{FF2B5EF4-FFF2-40B4-BE49-F238E27FC236}">
                  <a16:creationId xmlns:a16="http://schemas.microsoft.com/office/drawing/2014/main" id="{7DEFD1BC-7AD4-41EC-8E11-4E5E8AC541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B0E5C8B-3874-4B3C-BAD4-9EFE85FEAC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7DA6224-9378-452F-A53A-DD0BF19724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1DE869DF-C006-49F7-B9FF-0317F64E9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FD200C16-6204-4580-AB37-7E94176D0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F0DE7603-6DD0-4DB6-88FC-5402B9D4A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975C268C-D419-4123-9FAD-0E2B7F9EE7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584794"/>
            <a:ext cx="304800" cy="429768"/>
            <a:chOff x="215328" y="-46937"/>
            <a:chExt cx="304800" cy="2773841"/>
          </a:xfrm>
        </p:grpSpPr>
        <p:cxnSp>
          <p:nvCxnSpPr>
            <p:cNvPr id="50" name="Straight Connector 49">
              <a:extLst>
                <a:ext uri="{FF2B5EF4-FFF2-40B4-BE49-F238E27FC236}">
                  <a16:creationId xmlns:a16="http://schemas.microsoft.com/office/drawing/2014/main" id="{3A7E309C-A3BD-432E-8CB5-F0B6425281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F1F621C-4533-4835-ADE2-372F2763A0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EFC8245-5168-4DAF-930D-09A7BDDA6C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192ED34-5046-4043-AEF8-2DF7C4806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3" name="Image 2" descr="Une image contenant personne, main&#10;&#10;Description générée automatiquement">
            <a:extLst>
              <a:ext uri="{FF2B5EF4-FFF2-40B4-BE49-F238E27FC236}">
                <a16:creationId xmlns:a16="http://schemas.microsoft.com/office/drawing/2014/main" id="{BE06AC16-8031-41C0-8AC7-02A35E304110}"/>
              </a:ext>
            </a:extLst>
          </p:cNvPr>
          <p:cNvPicPr>
            <a:picLocks noChangeAspect="1"/>
          </p:cNvPicPr>
          <p:nvPr/>
        </p:nvPicPr>
        <p:blipFill rotWithShape="1">
          <a:blip r:embed="rId3"/>
          <a:srcRect l="6089" r="31342" b="-2"/>
          <a:stretch/>
        </p:blipFill>
        <p:spPr>
          <a:xfrm>
            <a:off x="411709" y="878049"/>
            <a:ext cx="6565182" cy="2690868"/>
          </a:xfrm>
          <a:prstGeom prst="rect">
            <a:avLst/>
          </a:prstGeom>
        </p:spPr>
      </p:pic>
      <p:sp>
        <p:nvSpPr>
          <p:cNvPr id="55" name="Rectangle 54">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8" name="Straight Connector 57">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 name="Image 4">
            <a:extLst>
              <a:ext uri="{FF2B5EF4-FFF2-40B4-BE49-F238E27FC236}">
                <a16:creationId xmlns:a16="http://schemas.microsoft.com/office/drawing/2014/main" id="{41FAD851-8BC6-49DB-87A6-2EF7C865681E}"/>
              </a:ext>
            </a:extLst>
          </p:cNvPr>
          <p:cNvPicPr>
            <a:picLocks noChangeAspect="1"/>
          </p:cNvPicPr>
          <p:nvPr/>
        </p:nvPicPr>
        <p:blipFill rotWithShape="1">
          <a:blip r:embed="rId4"/>
          <a:srcRect l="1875" r="31627" b="-3"/>
          <a:stretch/>
        </p:blipFill>
        <p:spPr>
          <a:xfrm>
            <a:off x="7099338" y="866584"/>
            <a:ext cx="4616294" cy="2613867"/>
          </a:xfrm>
          <a:prstGeom prst="rect">
            <a:avLst/>
          </a:prstGeom>
        </p:spPr>
      </p:pic>
      <p:sp>
        <p:nvSpPr>
          <p:cNvPr id="63" name="Rectangle 62">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6" name="Straight Connector 65">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8" name="Content Placeholder 7">
            <a:extLst>
              <a:ext uri="{FF2B5EF4-FFF2-40B4-BE49-F238E27FC236}">
                <a16:creationId xmlns:a16="http://schemas.microsoft.com/office/drawing/2014/main" id="{5106A1AF-A6D1-4A7B-BB42-6E4F37827064}"/>
              </a:ext>
            </a:extLst>
          </p:cNvPr>
          <p:cNvSpPr>
            <a:spLocks noGrp="1"/>
          </p:cNvSpPr>
          <p:nvPr>
            <p:ph idx="1"/>
          </p:nvPr>
        </p:nvSpPr>
        <p:spPr>
          <a:xfrm>
            <a:off x="375328" y="3554480"/>
            <a:ext cx="11404963" cy="3108697"/>
          </a:xfrm>
          <a:solidFill>
            <a:schemeClr val="bg1"/>
          </a:solidFill>
        </p:spPr>
        <p:txBody>
          <a:bodyPr anchor="t">
            <a:normAutofit/>
          </a:bodyPr>
          <a:lstStyle/>
          <a:p>
            <a:r>
              <a:rPr lang="fr-FR" sz="3000" b="1" dirty="0"/>
              <a:t>La canule de </a:t>
            </a:r>
            <a:r>
              <a:rPr lang="fr-FR" sz="3000" b="1" dirty="0" err="1"/>
              <a:t>Guedel</a:t>
            </a:r>
            <a:r>
              <a:rPr lang="fr-FR" sz="3000" b="1" dirty="0"/>
              <a:t> a pour rôle d'empêcher la chute de  la langue contre le pharynx.</a:t>
            </a:r>
          </a:p>
          <a:p>
            <a:r>
              <a:rPr lang="fr-FR" sz="3000" b="1" dirty="0"/>
              <a:t>On l'utilise chez le patient  :</a:t>
            </a:r>
          </a:p>
          <a:p>
            <a:pPr marL="0" indent="0">
              <a:buNone/>
            </a:pPr>
            <a:r>
              <a:rPr lang="fr-FR" sz="3000" b="1" dirty="0"/>
              <a:t>  -Arrêt cardiorespiratoire </a:t>
            </a:r>
          </a:p>
          <a:p>
            <a:pPr marL="0" indent="0">
              <a:buNone/>
            </a:pPr>
            <a:r>
              <a:rPr lang="fr-FR" sz="3000" b="1" dirty="0"/>
              <a:t>  -Patient sédaté </a:t>
            </a:r>
          </a:p>
          <a:p>
            <a:pPr marL="0" indent="0">
              <a:buNone/>
            </a:pPr>
            <a:r>
              <a:rPr lang="fr-FR" sz="3000" b="1" dirty="0"/>
              <a:t>  -Patient comateux (état d’inconscience grave </a:t>
            </a:r>
            <a:r>
              <a:rPr lang="fr-FR" dirty="0"/>
              <a:t>)</a:t>
            </a:r>
          </a:p>
          <a:p>
            <a:pPr marL="0" indent="0">
              <a:buNone/>
            </a:pPr>
            <a:endParaRPr lang="fr-FR" dirty="0"/>
          </a:p>
          <a:p>
            <a:endParaRPr lang="en-US" sz="1800" dirty="0">
              <a:solidFill>
                <a:schemeClr val="bg1"/>
              </a:solidFill>
            </a:endParaRPr>
          </a:p>
        </p:txBody>
      </p:sp>
      <p:sp>
        <p:nvSpPr>
          <p:cNvPr id="6" name="Rectangle : coins arrondis 5">
            <a:extLst>
              <a:ext uri="{FF2B5EF4-FFF2-40B4-BE49-F238E27FC236}">
                <a16:creationId xmlns:a16="http://schemas.microsoft.com/office/drawing/2014/main" id="{16B39B02-98B6-4876-96F1-B4192DAC33D6}"/>
              </a:ext>
            </a:extLst>
          </p:cNvPr>
          <p:cNvSpPr/>
          <p:nvPr/>
        </p:nvSpPr>
        <p:spPr>
          <a:xfrm>
            <a:off x="476368" y="2756921"/>
            <a:ext cx="6565182" cy="77128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tx1"/>
                </a:solidFill>
              </a:rPr>
              <a:t>Canule de </a:t>
            </a:r>
            <a:r>
              <a:rPr lang="fr-FR" sz="3600" b="1" dirty="0" err="1">
                <a:solidFill>
                  <a:schemeClr val="tx1"/>
                </a:solidFill>
              </a:rPr>
              <a:t>Guedel</a:t>
            </a:r>
            <a:r>
              <a:rPr lang="fr-FR" sz="3600" b="1" dirty="0">
                <a:solidFill>
                  <a:schemeClr val="tx1"/>
                </a:solidFill>
              </a:rPr>
              <a:t> </a:t>
            </a:r>
          </a:p>
        </p:txBody>
      </p:sp>
      <p:cxnSp>
        <p:nvCxnSpPr>
          <p:cNvPr id="9" name="Connecteur droit avec flèche 8">
            <a:extLst>
              <a:ext uri="{FF2B5EF4-FFF2-40B4-BE49-F238E27FC236}">
                <a16:creationId xmlns:a16="http://schemas.microsoft.com/office/drawing/2014/main" id="{AE59D6E1-85A5-4CF8-A747-B2E56E7AA010}"/>
              </a:ext>
            </a:extLst>
          </p:cNvPr>
          <p:cNvCxnSpPr>
            <a:cxnSpLocks/>
          </p:cNvCxnSpPr>
          <p:nvPr/>
        </p:nvCxnSpPr>
        <p:spPr>
          <a:xfrm flipH="1" flipV="1">
            <a:off x="2407298" y="1844294"/>
            <a:ext cx="765542" cy="952169"/>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AC8A7D6C-4552-4584-8345-D40C655C5923}"/>
              </a:ext>
            </a:extLst>
          </p:cNvPr>
          <p:cNvCxnSpPr>
            <a:cxnSpLocks/>
          </p:cNvCxnSpPr>
          <p:nvPr/>
        </p:nvCxnSpPr>
        <p:spPr>
          <a:xfrm flipV="1">
            <a:off x="6758893" y="2329384"/>
            <a:ext cx="1245013" cy="813181"/>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459844E3-038D-46C0-AC56-2A6244ED3064}"/>
              </a:ext>
            </a:extLst>
          </p:cNvPr>
          <p:cNvSpPr/>
          <p:nvPr/>
        </p:nvSpPr>
        <p:spPr>
          <a:xfrm>
            <a:off x="375328" y="59390"/>
            <a:ext cx="11404963" cy="6838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a:solidFill>
                  <a:srgbClr val="FF0000"/>
                </a:solidFill>
              </a:rPr>
              <a:t>MATERIEL DE REANIMATION  </a:t>
            </a:r>
          </a:p>
        </p:txBody>
      </p:sp>
      <p:pic>
        <p:nvPicPr>
          <p:cNvPr id="4" name="Image 3">
            <a:extLst>
              <a:ext uri="{FF2B5EF4-FFF2-40B4-BE49-F238E27FC236}">
                <a16:creationId xmlns:a16="http://schemas.microsoft.com/office/drawing/2014/main" id="{7BA163F6-D311-5630-14B5-F7E214F79BC4}"/>
              </a:ext>
            </a:extLst>
          </p:cNvPr>
          <p:cNvPicPr>
            <a:picLocks noChangeAspect="1"/>
          </p:cNvPicPr>
          <p:nvPr/>
        </p:nvPicPr>
        <p:blipFill>
          <a:blip r:embed="rId5"/>
          <a:stretch>
            <a:fillRect/>
          </a:stretch>
        </p:blipFill>
        <p:spPr>
          <a:xfrm>
            <a:off x="4951258" y="4035138"/>
            <a:ext cx="3476157" cy="2025677"/>
          </a:xfrm>
          <a:prstGeom prst="rect">
            <a:avLst/>
          </a:prstGeom>
        </p:spPr>
      </p:pic>
      <p:pic>
        <p:nvPicPr>
          <p:cNvPr id="10" name="Image 9">
            <a:extLst>
              <a:ext uri="{FF2B5EF4-FFF2-40B4-BE49-F238E27FC236}">
                <a16:creationId xmlns:a16="http://schemas.microsoft.com/office/drawing/2014/main" id="{435439BB-FA5A-CF6A-3419-1D501475F5CF}"/>
              </a:ext>
            </a:extLst>
          </p:cNvPr>
          <p:cNvPicPr>
            <a:picLocks noChangeAspect="1"/>
          </p:cNvPicPr>
          <p:nvPr/>
        </p:nvPicPr>
        <p:blipFill>
          <a:blip r:embed="rId6"/>
          <a:stretch>
            <a:fillRect/>
          </a:stretch>
        </p:blipFill>
        <p:spPr>
          <a:xfrm>
            <a:off x="8799695" y="4115108"/>
            <a:ext cx="2915937" cy="1876307"/>
          </a:xfrm>
          <a:prstGeom prst="rect">
            <a:avLst/>
          </a:prstGeom>
        </p:spPr>
      </p:pic>
      <p:cxnSp>
        <p:nvCxnSpPr>
          <p:cNvPr id="11" name="Connecteur droit avec flèche 10">
            <a:extLst>
              <a:ext uri="{FF2B5EF4-FFF2-40B4-BE49-F238E27FC236}">
                <a16:creationId xmlns:a16="http://schemas.microsoft.com/office/drawing/2014/main" id="{6B9B768F-CD37-3B37-B3C3-8451155DF230}"/>
              </a:ext>
            </a:extLst>
          </p:cNvPr>
          <p:cNvCxnSpPr>
            <a:cxnSpLocks/>
          </p:cNvCxnSpPr>
          <p:nvPr/>
        </p:nvCxnSpPr>
        <p:spPr>
          <a:xfrm flipV="1">
            <a:off x="8289525" y="5011955"/>
            <a:ext cx="1091652" cy="36021"/>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5901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0DF40B2-80F7-4E71-B46C-284163F3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F890D19-F3EB-4800-B1B6-ADCF4DC6AFDB}"/>
              </a:ext>
            </a:extLst>
          </p:cNvPr>
          <p:cNvSpPr>
            <a:spLocks noGrp="1"/>
          </p:cNvSpPr>
          <p:nvPr>
            <p:ph type="title"/>
          </p:nvPr>
        </p:nvSpPr>
        <p:spPr>
          <a:xfrm>
            <a:off x="223935" y="548464"/>
            <a:ext cx="7021283" cy="507980"/>
          </a:xfrm>
        </p:spPr>
        <p:txBody>
          <a:bodyPr>
            <a:normAutofit fontScale="90000"/>
          </a:bodyPr>
          <a:lstStyle/>
          <a:p>
            <a:r>
              <a:rPr lang="fr-FR" sz="4000" b="1" dirty="0">
                <a:solidFill>
                  <a:srgbClr val="FF0000"/>
                </a:solidFill>
                <a:latin typeface="+mn-lt"/>
              </a:rPr>
              <a:t>      MATERIEL DE REANIMATION </a:t>
            </a:r>
          </a:p>
        </p:txBody>
      </p:sp>
      <p:sp>
        <p:nvSpPr>
          <p:cNvPr id="8" name="Content Placeholder 7">
            <a:extLst>
              <a:ext uri="{FF2B5EF4-FFF2-40B4-BE49-F238E27FC236}">
                <a16:creationId xmlns:a16="http://schemas.microsoft.com/office/drawing/2014/main" id="{FB5041B0-7775-47C8-BA36-04D183DA7CCC}"/>
              </a:ext>
            </a:extLst>
          </p:cNvPr>
          <p:cNvSpPr>
            <a:spLocks noGrp="1"/>
          </p:cNvSpPr>
          <p:nvPr>
            <p:ph idx="1"/>
          </p:nvPr>
        </p:nvSpPr>
        <p:spPr>
          <a:xfrm>
            <a:off x="473199" y="1250302"/>
            <a:ext cx="6412793" cy="5059234"/>
          </a:xfrm>
        </p:spPr>
        <p:txBody>
          <a:bodyPr>
            <a:normAutofit fontScale="92500"/>
          </a:bodyPr>
          <a:lstStyle/>
          <a:p>
            <a:pPr marL="0" indent="0">
              <a:buNone/>
            </a:pPr>
            <a:r>
              <a:rPr lang="en-US" sz="2400" b="1" u="sng" dirty="0">
                <a:solidFill>
                  <a:srgbClr val="FF0000"/>
                </a:solidFill>
              </a:rPr>
              <a:t>OUVRE BOUCHE HELICOIDAL </a:t>
            </a:r>
            <a:endParaRPr lang="fr-FR" sz="2400" b="1" u="sng" dirty="0">
              <a:solidFill>
                <a:srgbClr val="FF0000"/>
              </a:solidFill>
            </a:endParaRPr>
          </a:p>
          <a:p>
            <a:pPr>
              <a:buFont typeface="Wingdings" panose="05000000000000000000" pitchFamily="2" charset="2"/>
              <a:buChar char="Ø"/>
            </a:pPr>
            <a:r>
              <a:rPr lang="fr-FR" b="1" u="sng" dirty="0"/>
              <a:t>C</a:t>
            </a:r>
            <a:r>
              <a:rPr lang="fr-FR" b="1" u="sng" dirty="0">
                <a:solidFill>
                  <a:srgbClr val="FF0000"/>
                </a:solidFill>
              </a:rPr>
              <a:t>’</a:t>
            </a:r>
            <a:r>
              <a:rPr lang="fr-FR" b="1" dirty="0"/>
              <a:t>est un accessoire d'urgence médicale qui permet d'ouvrir la bouche de la personne inconsciente en cas de contraction musculaire de la mâchoire, afin de procéder à une oxygénothérapie</a:t>
            </a:r>
          </a:p>
          <a:p>
            <a:pPr>
              <a:buFont typeface="Wingdings" panose="05000000000000000000" pitchFamily="2" charset="2"/>
              <a:buChar char="Ø"/>
            </a:pPr>
            <a:r>
              <a:rPr lang="fr-FR" b="1" dirty="0"/>
              <a:t>Nest plus utilisé</a:t>
            </a:r>
          </a:p>
          <a:p>
            <a:pPr marL="0" indent="0">
              <a:buNone/>
            </a:pPr>
            <a:r>
              <a:rPr lang="fr-FR" b="1" i="0" dirty="0">
                <a:solidFill>
                  <a:srgbClr val="000000"/>
                </a:solidFill>
                <a:effectLst/>
                <a:latin typeface="TT Norms Pro"/>
              </a:rPr>
              <a:t> </a:t>
            </a:r>
            <a:r>
              <a:rPr lang="fr-FR" b="1" u="sng" dirty="0">
                <a:solidFill>
                  <a:srgbClr val="FF0000"/>
                </a:solidFill>
                <a:latin typeface="Calibri" panose="020F0502020204030204" pitchFamily="34" charset="0"/>
                <a:ea typeface="Calibri" panose="020F0502020204030204" pitchFamily="34" charset="0"/>
                <a:cs typeface="Calibri" panose="020F0502020204030204" pitchFamily="34" charset="0"/>
              </a:rPr>
              <a:t>Écarteur de Joues Orthodontique Intra-Oral :</a:t>
            </a:r>
            <a:r>
              <a:rPr lang="fr-FR" b="0" i="0" dirty="0">
                <a:solidFill>
                  <a:srgbClr val="202124"/>
                </a:solidFill>
                <a:effectLst/>
                <a:latin typeface="Google Sans"/>
              </a:rPr>
              <a:t> </a:t>
            </a:r>
            <a:r>
              <a:rPr lang="fr-FR" b="1" i="0" dirty="0">
                <a:solidFill>
                  <a:srgbClr val="202124"/>
                </a:solidFill>
                <a:effectLst/>
                <a:latin typeface="Google Sans"/>
              </a:rPr>
              <a:t>Les ouvres bouches dentaires </a:t>
            </a:r>
            <a:r>
              <a:rPr lang="fr-FR" b="1" i="0" dirty="0">
                <a:solidFill>
                  <a:srgbClr val="040C28"/>
                </a:solidFill>
                <a:effectLst/>
                <a:latin typeface="Google Sans"/>
              </a:rPr>
              <a:t>permettent de rétracter complètement les lèvres et les joues pour offrir un large champ de vision et de travail au dentiste</a:t>
            </a:r>
            <a:r>
              <a:rPr lang="fr-FR" b="0" i="0" dirty="0">
                <a:solidFill>
                  <a:srgbClr val="202124"/>
                </a:solidFill>
                <a:effectLst/>
                <a:latin typeface="Google Sans"/>
              </a:rPr>
              <a:t>.</a:t>
            </a:r>
            <a:br>
              <a:rPr lang="fr-FR" dirty="0"/>
            </a:br>
            <a:endParaRPr lang="en-US" b="1" u="sng" dirty="0">
              <a:solidFill>
                <a:srgbClr val="FF0000"/>
              </a:solidFill>
            </a:endParaRPr>
          </a:p>
        </p:txBody>
      </p:sp>
      <p:pic>
        <p:nvPicPr>
          <p:cNvPr id="4" name="Espace réservé du contenu 3">
            <a:extLst>
              <a:ext uri="{FF2B5EF4-FFF2-40B4-BE49-F238E27FC236}">
                <a16:creationId xmlns:a16="http://schemas.microsoft.com/office/drawing/2014/main" id="{B5D4AFDB-84D8-4D3A-AC32-90B3CDAC8A6E}"/>
              </a:ext>
            </a:extLst>
          </p:cNvPr>
          <p:cNvPicPr>
            <a:picLocks noChangeAspect="1"/>
          </p:cNvPicPr>
          <p:nvPr/>
        </p:nvPicPr>
        <p:blipFill rotWithShape="1">
          <a:blip r:embed="rId3"/>
          <a:srcRect r="1" b="16443"/>
          <a:stretch/>
        </p:blipFill>
        <p:spPr>
          <a:xfrm>
            <a:off x="7017653" y="1477078"/>
            <a:ext cx="4844495" cy="1541695"/>
          </a:xfrm>
          <a:prstGeom prst="rect">
            <a:avLst/>
          </a:prstGeom>
          <a:effectLst/>
        </p:spPr>
      </p:pic>
      <p:pic>
        <p:nvPicPr>
          <p:cNvPr id="3" name="Espace réservé du contenu 4">
            <a:extLst>
              <a:ext uri="{FF2B5EF4-FFF2-40B4-BE49-F238E27FC236}">
                <a16:creationId xmlns:a16="http://schemas.microsoft.com/office/drawing/2014/main" id="{9E9B0DC3-1105-27C3-13B7-076001F3CAF1}"/>
              </a:ext>
            </a:extLst>
          </p:cNvPr>
          <p:cNvPicPr>
            <a:picLocks noChangeAspect="1"/>
          </p:cNvPicPr>
          <p:nvPr/>
        </p:nvPicPr>
        <p:blipFill>
          <a:blip r:embed="rId4"/>
          <a:stretch>
            <a:fillRect/>
          </a:stretch>
        </p:blipFill>
        <p:spPr>
          <a:xfrm>
            <a:off x="7089326" y="3318952"/>
            <a:ext cx="4701148" cy="2990584"/>
          </a:xfrm>
          <a:prstGeom prst="rect">
            <a:avLst/>
          </a:prstGeom>
        </p:spPr>
      </p:pic>
    </p:spTree>
    <p:extLst>
      <p:ext uri="{BB962C8B-B14F-4D97-AF65-F5344CB8AC3E}">
        <p14:creationId xmlns:p14="http://schemas.microsoft.com/office/powerpoint/2010/main" val="4018837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0DB9C61-90E0-484F-8602-02F49EDC1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26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F7ED563-E5DB-4937-BF78-7893C4DC9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680" y="228036"/>
            <a:ext cx="11724640" cy="6377939"/>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re 1">
            <a:extLst>
              <a:ext uri="{FF2B5EF4-FFF2-40B4-BE49-F238E27FC236}">
                <a16:creationId xmlns:a16="http://schemas.microsoft.com/office/drawing/2014/main" id="{6F063AC6-B5C0-44CD-A06A-7DE51097B9AA}"/>
              </a:ext>
            </a:extLst>
          </p:cNvPr>
          <p:cNvSpPr>
            <a:spLocks noGrp="1"/>
          </p:cNvSpPr>
          <p:nvPr>
            <p:ph type="title"/>
          </p:nvPr>
        </p:nvSpPr>
        <p:spPr>
          <a:xfrm>
            <a:off x="463463" y="681039"/>
            <a:ext cx="6733644" cy="181723"/>
          </a:xfrm>
        </p:spPr>
        <p:txBody>
          <a:bodyPr>
            <a:normAutofit fontScale="90000"/>
          </a:bodyPr>
          <a:lstStyle/>
          <a:p>
            <a:r>
              <a:rPr lang="fr-FR" b="1" dirty="0">
                <a:solidFill>
                  <a:srgbClr val="FF0000"/>
                </a:solidFill>
                <a:latin typeface="Calibri" panose="020F0502020204030204" pitchFamily="34" charset="0"/>
                <a:ea typeface="Calibri" panose="020F0502020204030204" pitchFamily="34" charset="0"/>
                <a:cs typeface="Calibri" panose="020F0502020204030204" pitchFamily="34" charset="0"/>
              </a:rPr>
              <a:t>MATERIEL DE REANIMATION  </a:t>
            </a:r>
          </a:p>
        </p:txBody>
      </p:sp>
      <p:sp>
        <p:nvSpPr>
          <p:cNvPr id="8" name="Content Placeholder 7">
            <a:extLst>
              <a:ext uri="{FF2B5EF4-FFF2-40B4-BE49-F238E27FC236}">
                <a16:creationId xmlns:a16="http://schemas.microsoft.com/office/drawing/2014/main" id="{B7B7FCB4-BF6C-47AB-852B-70B2DB23FB6C}"/>
              </a:ext>
            </a:extLst>
          </p:cNvPr>
          <p:cNvSpPr>
            <a:spLocks noGrp="1"/>
          </p:cNvSpPr>
          <p:nvPr>
            <p:ph idx="1"/>
          </p:nvPr>
        </p:nvSpPr>
        <p:spPr>
          <a:xfrm>
            <a:off x="229783" y="1596571"/>
            <a:ext cx="6647629" cy="4794897"/>
          </a:xfrm>
        </p:spPr>
        <p:txBody>
          <a:bodyPr>
            <a:normAutofit/>
          </a:bodyPr>
          <a:lstStyle/>
          <a:p>
            <a:pPr marL="0" indent="0">
              <a:buNone/>
            </a:pPr>
            <a:r>
              <a:rPr lang="en-US" b="1" u="sng" dirty="0" err="1">
                <a:solidFill>
                  <a:srgbClr val="FF0000"/>
                </a:solidFill>
              </a:rPr>
              <a:t>Oxymètre</a:t>
            </a:r>
            <a:r>
              <a:rPr lang="en-US" b="1" u="sng" dirty="0">
                <a:solidFill>
                  <a:srgbClr val="FF0000"/>
                </a:solidFill>
              </a:rPr>
              <a:t> du </a:t>
            </a:r>
            <a:r>
              <a:rPr lang="en-US" b="1" u="sng" dirty="0" err="1">
                <a:solidFill>
                  <a:srgbClr val="FF0000"/>
                </a:solidFill>
              </a:rPr>
              <a:t>pouls</a:t>
            </a:r>
            <a:r>
              <a:rPr lang="en-US" b="1" u="sng" dirty="0">
                <a:solidFill>
                  <a:srgbClr val="FF0000"/>
                </a:solidFill>
              </a:rPr>
              <a:t>:</a:t>
            </a:r>
          </a:p>
          <a:p>
            <a:pPr>
              <a:buFont typeface="Wingdings" panose="05000000000000000000" pitchFamily="2" charset="2"/>
              <a:buChar char="Ø"/>
            </a:pPr>
            <a:r>
              <a:rPr lang="en-US" sz="2400" dirty="0"/>
              <a:t>  </a:t>
            </a:r>
            <a:r>
              <a:rPr lang="en-US" sz="2400" b="1" dirty="0" err="1"/>
              <a:t>Mesure</a:t>
            </a:r>
            <a:r>
              <a:rPr lang="en-US" sz="2400" b="1" dirty="0"/>
              <a:t> de saturation </a:t>
            </a:r>
            <a:r>
              <a:rPr lang="en-US" sz="2400" b="1" dirty="0" err="1"/>
              <a:t>en</a:t>
            </a:r>
            <a:r>
              <a:rPr lang="en-US" sz="2400" b="1" dirty="0"/>
              <a:t> </a:t>
            </a:r>
            <a:r>
              <a:rPr lang="en-US" sz="2400" b="1" dirty="0" err="1"/>
              <a:t>oxygène</a:t>
            </a:r>
            <a:r>
              <a:rPr lang="en-US" sz="2400" b="1" dirty="0"/>
              <a:t> du sang </a:t>
            </a:r>
            <a:r>
              <a:rPr lang="en-US" sz="2400" b="1" dirty="0" err="1"/>
              <a:t>artériel</a:t>
            </a:r>
            <a:r>
              <a:rPr lang="en-US" sz="2400" b="1" dirty="0"/>
              <a:t> et </a:t>
            </a:r>
            <a:r>
              <a:rPr lang="en-US" sz="2400" b="1" dirty="0" err="1"/>
              <a:t>prise</a:t>
            </a:r>
            <a:r>
              <a:rPr lang="en-US" sz="2400" b="1" dirty="0"/>
              <a:t> du </a:t>
            </a:r>
            <a:r>
              <a:rPr lang="en-US" sz="2400" b="1" dirty="0" err="1"/>
              <a:t>pouls</a:t>
            </a:r>
            <a:endParaRPr lang="en-US" sz="2400" b="1" dirty="0"/>
          </a:p>
          <a:p>
            <a:pPr>
              <a:buFont typeface="Wingdings" panose="05000000000000000000" pitchFamily="2" charset="2"/>
              <a:buChar char="Ø"/>
            </a:pPr>
            <a:r>
              <a:rPr lang="en-US" sz="2400" b="1" dirty="0"/>
              <a:t>La saturation normal chez l ‘</a:t>
            </a:r>
            <a:r>
              <a:rPr lang="en-US" sz="2400" b="1" dirty="0" err="1"/>
              <a:t>adulte</a:t>
            </a:r>
            <a:r>
              <a:rPr lang="en-US" sz="2400" b="1" dirty="0"/>
              <a:t> </a:t>
            </a:r>
            <a:r>
              <a:rPr lang="en-US" sz="2400" b="1" dirty="0" err="1"/>
              <a:t>est</a:t>
            </a:r>
            <a:r>
              <a:rPr lang="en-US" sz="2400" b="1" dirty="0"/>
              <a:t> de 96% à 100 %</a:t>
            </a:r>
          </a:p>
          <a:p>
            <a:pPr>
              <a:buFont typeface="Wingdings" panose="05000000000000000000" pitchFamily="2" charset="2"/>
              <a:buChar char="Ø"/>
            </a:pPr>
            <a:endParaRPr lang="en-US" sz="2400" dirty="0"/>
          </a:p>
          <a:p>
            <a:pPr marL="0" indent="0">
              <a:buNone/>
            </a:pPr>
            <a:r>
              <a:rPr lang="en-US" sz="2400" dirty="0"/>
              <a:t>   </a:t>
            </a:r>
          </a:p>
        </p:txBody>
      </p:sp>
      <p:sp>
        <p:nvSpPr>
          <p:cNvPr id="24" name="Rectangle 23">
            <a:extLst>
              <a:ext uri="{FF2B5EF4-FFF2-40B4-BE49-F238E27FC236}">
                <a16:creationId xmlns:a16="http://schemas.microsoft.com/office/drawing/2014/main" id="{2306B647-FE95-4550-8350-3D2180C62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60466" y="699706"/>
            <a:ext cx="4114800" cy="5477256"/>
          </a:xfrm>
          <a:prstGeom prst="rect">
            <a:avLst/>
          </a:prstGeom>
          <a:solidFill>
            <a:srgbClr val="FFFFFF"/>
          </a:solidFill>
          <a:ln w="15875">
            <a:solidFill>
              <a:srgbClr val="4265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Espace réservé du contenu 3">
            <a:extLst>
              <a:ext uri="{FF2B5EF4-FFF2-40B4-BE49-F238E27FC236}">
                <a16:creationId xmlns:a16="http://schemas.microsoft.com/office/drawing/2014/main" id="{3C9F1102-3C83-4303-8A9B-B2B1EEA9B188}"/>
              </a:ext>
            </a:extLst>
          </p:cNvPr>
          <p:cNvPicPr>
            <a:picLocks noChangeAspect="1"/>
          </p:cNvPicPr>
          <p:nvPr/>
        </p:nvPicPr>
        <p:blipFill rotWithShape="1">
          <a:blip r:embed="rId2"/>
          <a:srcRect l="31540" r="14042" b="3"/>
          <a:stretch/>
        </p:blipFill>
        <p:spPr>
          <a:xfrm>
            <a:off x="7523826" y="862762"/>
            <a:ext cx="3788081" cy="5477255"/>
          </a:xfrm>
          <a:prstGeom prst="rect">
            <a:avLst/>
          </a:prstGeom>
        </p:spPr>
      </p:pic>
      <p:cxnSp>
        <p:nvCxnSpPr>
          <p:cNvPr id="6" name="Connecteur droit avec flèche 5">
            <a:extLst>
              <a:ext uri="{FF2B5EF4-FFF2-40B4-BE49-F238E27FC236}">
                <a16:creationId xmlns:a16="http://schemas.microsoft.com/office/drawing/2014/main" id="{C9474AE3-96F3-45A7-A9EC-ADCB831FC735}"/>
              </a:ext>
            </a:extLst>
          </p:cNvPr>
          <p:cNvCxnSpPr>
            <a:cxnSpLocks/>
          </p:cNvCxnSpPr>
          <p:nvPr/>
        </p:nvCxnSpPr>
        <p:spPr>
          <a:xfrm>
            <a:off x="8417490" y="3509447"/>
            <a:ext cx="413359" cy="1400756"/>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19E5C-37E2-4C6F-BC88-12E57F3F5196}"/>
              </a:ext>
            </a:extLst>
          </p:cNvPr>
          <p:cNvSpPr/>
          <p:nvPr/>
        </p:nvSpPr>
        <p:spPr>
          <a:xfrm>
            <a:off x="7653403" y="2883146"/>
            <a:ext cx="1979112" cy="62630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Oxymètre du </a:t>
            </a:r>
            <a:r>
              <a:rPr lang="fr-FR" b="1" dirty="0" err="1">
                <a:solidFill>
                  <a:schemeClr val="tx1"/>
                </a:solidFill>
              </a:rPr>
              <a:t>poul</a:t>
            </a:r>
            <a:endParaRPr lang="fr-FR" b="1" dirty="0">
              <a:solidFill>
                <a:schemeClr val="tx1"/>
              </a:solidFill>
            </a:endParaRPr>
          </a:p>
        </p:txBody>
      </p:sp>
      <p:pic>
        <p:nvPicPr>
          <p:cNvPr id="3" name="Image 2">
            <a:extLst>
              <a:ext uri="{FF2B5EF4-FFF2-40B4-BE49-F238E27FC236}">
                <a16:creationId xmlns:a16="http://schemas.microsoft.com/office/drawing/2014/main" id="{0B56C2B5-2C60-4282-BB57-37D71F8BC3E2}"/>
              </a:ext>
            </a:extLst>
          </p:cNvPr>
          <p:cNvPicPr>
            <a:picLocks noChangeAspect="1"/>
          </p:cNvPicPr>
          <p:nvPr/>
        </p:nvPicPr>
        <p:blipFill>
          <a:blip r:embed="rId3"/>
          <a:stretch>
            <a:fillRect/>
          </a:stretch>
        </p:blipFill>
        <p:spPr>
          <a:xfrm>
            <a:off x="880093" y="4554277"/>
            <a:ext cx="3765634" cy="1837191"/>
          </a:xfrm>
          <a:prstGeom prst="rect">
            <a:avLst/>
          </a:prstGeom>
        </p:spPr>
      </p:pic>
      <p:pic>
        <p:nvPicPr>
          <p:cNvPr id="5" name="Image 4">
            <a:extLst>
              <a:ext uri="{FF2B5EF4-FFF2-40B4-BE49-F238E27FC236}">
                <a16:creationId xmlns:a16="http://schemas.microsoft.com/office/drawing/2014/main" id="{36B5B15E-C6C8-49A5-B6FB-B847081ADBD3}"/>
              </a:ext>
            </a:extLst>
          </p:cNvPr>
          <p:cNvPicPr>
            <a:picLocks noChangeAspect="1"/>
          </p:cNvPicPr>
          <p:nvPr/>
        </p:nvPicPr>
        <p:blipFill>
          <a:blip r:embed="rId4"/>
          <a:stretch>
            <a:fillRect/>
          </a:stretch>
        </p:blipFill>
        <p:spPr>
          <a:xfrm>
            <a:off x="4879407" y="4339770"/>
            <a:ext cx="1842753" cy="1837191"/>
          </a:xfrm>
          <a:prstGeom prst="rect">
            <a:avLst/>
          </a:prstGeom>
        </p:spPr>
      </p:pic>
    </p:spTree>
    <p:extLst>
      <p:ext uri="{BB962C8B-B14F-4D97-AF65-F5344CB8AC3E}">
        <p14:creationId xmlns:p14="http://schemas.microsoft.com/office/powerpoint/2010/main" val="3006500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D784BD-A936-4332-82F9-DD4337178130}"/>
              </a:ext>
            </a:extLst>
          </p:cNvPr>
          <p:cNvSpPr>
            <a:spLocks noGrp="1"/>
          </p:cNvSpPr>
          <p:nvPr>
            <p:ph type="title"/>
          </p:nvPr>
        </p:nvSpPr>
        <p:spPr>
          <a:xfrm>
            <a:off x="801098" y="377687"/>
            <a:ext cx="6387102" cy="1152939"/>
          </a:xfrm>
          <a:solidFill>
            <a:schemeClr val="tx1"/>
          </a:solidFill>
        </p:spPr>
        <p:txBody>
          <a:bodyPr>
            <a:normAutofit/>
          </a:bodyPr>
          <a:lstStyle/>
          <a:p>
            <a:r>
              <a:rPr lang="fr-FR" b="1" dirty="0">
                <a:solidFill>
                  <a:srgbClr val="FF0000"/>
                </a:solidFill>
                <a:latin typeface="+mn-lt"/>
              </a:rPr>
              <a:t>        TENSIOMETRE </a:t>
            </a:r>
          </a:p>
        </p:txBody>
      </p:sp>
      <p:sp>
        <p:nvSpPr>
          <p:cNvPr id="34" name="Content Placeholder 7">
            <a:extLst>
              <a:ext uri="{FF2B5EF4-FFF2-40B4-BE49-F238E27FC236}">
                <a16:creationId xmlns:a16="http://schemas.microsoft.com/office/drawing/2014/main" id="{086F2142-7FEE-4FB7-BAA7-CCF05447DA4A}"/>
              </a:ext>
            </a:extLst>
          </p:cNvPr>
          <p:cNvSpPr>
            <a:spLocks noGrp="1"/>
          </p:cNvSpPr>
          <p:nvPr>
            <p:ph idx="1"/>
          </p:nvPr>
        </p:nvSpPr>
        <p:spPr>
          <a:xfrm>
            <a:off x="805543" y="1530625"/>
            <a:ext cx="6382657" cy="5108170"/>
          </a:xfrm>
          <a:solidFill>
            <a:schemeClr val="tx1"/>
          </a:solidFill>
        </p:spPr>
        <p:txBody>
          <a:bodyPr anchor="t">
            <a:normAutofit/>
          </a:bodyPr>
          <a:lstStyle/>
          <a:p>
            <a:r>
              <a:rPr lang="en-US" sz="3200" b="1" dirty="0" err="1">
                <a:solidFill>
                  <a:schemeClr val="bg1"/>
                </a:solidFill>
              </a:rPr>
              <a:t>Appareil</a:t>
            </a:r>
            <a:r>
              <a:rPr lang="en-US" sz="3200" b="1" dirty="0">
                <a:solidFill>
                  <a:schemeClr val="bg1"/>
                </a:solidFill>
              </a:rPr>
              <a:t> de </a:t>
            </a:r>
            <a:r>
              <a:rPr lang="en-US" sz="3200" b="1" dirty="0" err="1">
                <a:solidFill>
                  <a:schemeClr val="bg1"/>
                </a:solidFill>
              </a:rPr>
              <a:t>mesure</a:t>
            </a:r>
            <a:r>
              <a:rPr lang="en-US" sz="3200" b="1" dirty="0">
                <a:solidFill>
                  <a:schemeClr val="bg1"/>
                </a:solidFill>
              </a:rPr>
              <a:t> de la pression </a:t>
            </a:r>
            <a:r>
              <a:rPr lang="en-US" sz="3200" b="1" dirty="0" err="1">
                <a:solidFill>
                  <a:schemeClr val="bg1"/>
                </a:solidFill>
              </a:rPr>
              <a:t>artérielle</a:t>
            </a:r>
            <a:r>
              <a:rPr lang="en-US" sz="3200" b="1" dirty="0">
                <a:solidFill>
                  <a:schemeClr val="bg1"/>
                </a:solidFill>
              </a:rPr>
              <a:t> </a:t>
            </a:r>
          </a:p>
          <a:p>
            <a:r>
              <a:rPr lang="en-US" sz="3200" b="1" dirty="0">
                <a:solidFill>
                  <a:schemeClr val="bg1"/>
                </a:solidFill>
              </a:rPr>
              <a:t>Une tension </a:t>
            </a:r>
            <a:r>
              <a:rPr lang="en-US" sz="3200" b="1" dirty="0" err="1">
                <a:solidFill>
                  <a:schemeClr val="bg1"/>
                </a:solidFill>
              </a:rPr>
              <a:t>artérielle</a:t>
            </a:r>
            <a:r>
              <a:rPr lang="en-US" sz="3200" b="1" dirty="0">
                <a:solidFill>
                  <a:schemeClr val="bg1"/>
                </a:solidFill>
              </a:rPr>
              <a:t> </a:t>
            </a:r>
            <a:r>
              <a:rPr lang="en-US" sz="3200" b="1" dirty="0" err="1">
                <a:solidFill>
                  <a:schemeClr val="bg1"/>
                </a:solidFill>
              </a:rPr>
              <a:t>normale</a:t>
            </a:r>
            <a:r>
              <a:rPr lang="en-US" sz="3200" b="1" dirty="0">
                <a:solidFill>
                  <a:schemeClr val="bg1"/>
                </a:solidFill>
              </a:rPr>
              <a:t> se </a:t>
            </a:r>
            <a:r>
              <a:rPr lang="en-US" sz="3200" b="1" dirty="0" err="1">
                <a:solidFill>
                  <a:schemeClr val="bg1"/>
                </a:solidFill>
              </a:rPr>
              <a:t>situe</a:t>
            </a:r>
            <a:r>
              <a:rPr lang="en-US" sz="3200" b="1" dirty="0">
                <a:solidFill>
                  <a:schemeClr val="bg1"/>
                </a:solidFill>
              </a:rPr>
              <a:t> entre :</a:t>
            </a:r>
          </a:p>
          <a:p>
            <a:pPr lvl="1">
              <a:buFont typeface="Wingdings" panose="05000000000000000000" pitchFamily="2" charset="2"/>
              <a:buChar char="§"/>
            </a:pPr>
            <a:r>
              <a:rPr lang="en-US" sz="2800" b="1" dirty="0">
                <a:solidFill>
                  <a:schemeClr val="bg1"/>
                </a:solidFill>
              </a:rPr>
              <a:t> 120 mm Hg pour la </a:t>
            </a:r>
            <a:r>
              <a:rPr lang="en-US" sz="2800" b="1" dirty="0" err="1">
                <a:solidFill>
                  <a:schemeClr val="bg1"/>
                </a:solidFill>
              </a:rPr>
              <a:t>systolique</a:t>
            </a:r>
            <a:r>
              <a:rPr lang="en-US" sz="2800" b="1" dirty="0">
                <a:solidFill>
                  <a:schemeClr val="bg1"/>
                </a:solidFill>
              </a:rPr>
              <a:t> et</a:t>
            </a:r>
          </a:p>
          <a:p>
            <a:pPr lvl="1">
              <a:buFont typeface="Wingdings" panose="05000000000000000000" pitchFamily="2" charset="2"/>
              <a:buChar char="§"/>
            </a:pPr>
            <a:r>
              <a:rPr lang="en-US" sz="2800" b="1" dirty="0">
                <a:solidFill>
                  <a:schemeClr val="bg1"/>
                </a:solidFill>
              </a:rPr>
              <a:t>  80 mm Hg pour la </a:t>
            </a:r>
            <a:r>
              <a:rPr lang="en-US" sz="2800" b="1" dirty="0" err="1">
                <a:solidFill>
                  <a:schemeClr val="bg1"/>
                </a:solidFill>
              </a:rPr>
              <a:t>diastolique</a:t>
            </a:r>
            <a:r>
              <a:rPr lang="en-US" sz="2800" b="1" dirty="0">
                <a:solidFill>
                  <a:schemeClr val="bg1"/>
                </a:solidFill>
              </a:rPr>
              <a:t> </a:t>
            </a:r>
          </a:p>
          <a:p>
            <a:r>
              <a:rPr lang="en-US" sz="3200" b="1" dirty="0">
                <a:solidFill>
                  <a:schemeClr val="bg1"/>
                </a:solidFill>
              </a:rPr>
              <a:t>Pression Arterielle =12/8(</a:t>
            </a:r>
            <a:r>
              <a:rPr lang="en-US" sz="3200" b="1" dirty="0" err="1">
                <a:solidFill>
                  <a:schemeClr val="bg1"/>
                </a:solidFill>
              </a:rPr>
              <a:t>normale</a:t>
            </a:r>
            <a:r>
              <a:rPr lang="en-US" sz="3200" b="1" dirty="0">
                <a:solidFill>
                  <a:schemeClr val="bg1"/>
                </a:solidFill>
              </a:rPr>
              <a:t>)</a:t>
            </a:r>
          </a:p>
        </p:txBody>
      </p:sp>
      <p:sp>
        <p:nvSpPr>
          <p:cNvPr id="35" name="Freeform: Shape 10">
            <a:extLst>
              <a:ext uri="{FF2B5EF4-FFF2-40B4-BE49-F238E27FC236}">
                <a16:creationId xmlns:a16="http://schemas.microsoft.com/office/drawing/2014/main" id="{2C6A2225-94AF-4BC4-98F4-77746E7B1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5108" y="1"/>
            <a:ext cx="4666892" cy="3612937"/>
          </a:xfrm>
          <a:custGeom>
            <a:avLst/>
            <a:gdLst>
              <a:gd name="connsiteX0" fmla="*/ 192227 w 4666892"/>
              <a:gd name="connsiteY0" fmla="*/ 0 h 3612937"/>
              <a:gd name="connsiteX1" fmla="*/ 4666892 w 4666892"/>
              <a:gd name="connsiteY1" fmla="*/ 0 h 3612937"/>
              <a:gd name="connsiteX2" fmla="*/ 4666892 w 4666892"/>
              <a:gd name="connsiteY2" fmla="*/ 2643684 h 3612937"/>
              <a:gd name="connsiteX3" fmla="*/ 4657487 w 4666892"/>
              <a:gd name="connsiteY3" fmla="*/ 2656262 h 3612937"/>
              <a:gd name="connsiteX4" fmla="*/ 2628900 w 4666892"/>
              <a:gd name="connsiteY4" fmla="*/ 3612937 h 3612937"/>
              <a:gd name="connsiteX5" fmla="*/ 0 w 4666892"/>
              <a:gd name="connsiteY5" fmla="*/ 984037 h 3612937"/>
              <a:gd name="connsiteX6" fmla="*/ 118190 w 4666892"/>
              <a:gd name="connsiteY6" fmla="*/ 202283 h 361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6892" h="3612937">
                <a:moveTo>
                  <a:pt x="192227" y="0"/>
                </a:moveTo>
                <a:lnTo>
                  <a:pt x="4666892" y="0"/>
                </a:lnTo>
                <a:lnTo>
                  <a:pt x="4666892" y="2643684"/>
                </a:lnTo>
                <a:lnTo>
                  <a:pt x="4657487" y="2656262"/>
                </a:lnTo>
                <a:cubicBezTo>
                  <a:pt x="4175308" y="3240527"/>
                  <a:pt x="3445594" y="3612937"/>
                  <a:pt x="2628900" y="3612937"/>
                </a:cubicBezTo>
                <a:cubicBezTo>
                  <a:pt x="1176999" y="3612937"/>
                  <a:pt x="0" y="2435938"/>
                  <a:pt x="0" y="984037"/>
                </a:cubicBezTo>
                <a:cubicBezTo>
                  <a:pt x="0" y="711806"/>
                  <a:pt x="41379" y="449239"/>
                  <a:pt x="118190" y="2022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Espace réservé du contenu 3">
            <a:extLst>
              <a:ext uri="{FF2B5EF4-FFF2-40B4-BE49-F238E27FC236}">
                <a16:creationId xmlns:a16="http://schemas.microsoft.com/office/drawing/2014/main" id="{CB9D74F3-FDF0-4F8D-866E-A3935AB6FA0F}"/>
              </a:ext>
            </a:extLst>
          </p:cNvPr>
          <p:cNvPicPr>
            <a:picLocks noChangeAspect="1"/>
          </p:cNvPicPr>
          <p:nvPr/>
        </p:nvPicPr>
        <p:blipFill rotWithShape="1">
          <a:blip r:embed="rId3"/>
          <a:srcRect t="14119" r="-2" b="-2"/>
          <a:stretch/>
        </p:blipFill>
        <p:spPr>
          <a:xfrm>
            <a:off x="7689829" y="10"/>
            <a:ext cx="4502173" cy="3448209"/>
          </a:xfrm>
          <a:custGeom>
            <a:avLst/>
            <a:gdLst/>
            <a:ahLst/>
            <a:cxnLst/>
            <a:rect l="l" t="t" r="r" b="b"/>
            <a:pathLst>
              <a:path w="4502173" h="3448219">
                <a:moveTo>
                  <a:pt x="205627" y="0"/>
                </a:moveTo>
                <a:lnTo>
                  <a:pt x="4502173" y="0"/>
                </a:lnTo>
                <a:lnTo>
                  <a:pt x="4502173" y="2368934"/>
                </a:lnTo>
                <a:lnTo>
                  <a:pt x="4365663" y="2551486"/>
                </a:lnTo>
                <a:cubicBezTo>
                  <a:pt x="3913696" y="3099144"/>
                  <a:pt x="3229704" y="3448219"/>
                  <a:pt x="2464181" y="3448219"/>
                </a:cubicBezTo>
                <a:cubicBezTo>
                  <a:pt x="1103251" y="3448219"/>
                  <a:pt x="0" y="2344968"/>
                  <a:pt x="0" y="984038"/>
                </a:cubicBezTo>
                <a:cubicBezTo>
                  <a:pt x="0" y="643806"/>
                  <a:pt x="68954" y="319678"/>
                  <a:pt x="193648" y="24867"/>
                </a:cubicBezTo>
                <a:close/>
              </a:path>
            </a:pathLst>
          </a:custGeom>
        </p:spPr>
      </p:pic>
      <p:sp>
        <p:nvSpPr>
          <p:cNvPr id="36" name="Freeform: Shape 12">
            <a:extLst>
              <a:ext uri="{FF2B5EF4-FFF2-40B4-BE49-F238E27FC236}">
                <a16:creationId xmlns:a16="http://schemas.microsoft.com/office/drawing/2014/main" id="{648F5915-2CE1-4F74-88C5-D4366893D2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4737" y="3918051"/>
            <a:ext cx="3587263" cy="2939948"/>
          </a:xfrm>
          <a:custGeom>
            <a:avLst/>
            <a:gdLst>
              <a:gd name="connsiteX0" fmla="*/ 2070613 w 3587263"/>
              <a:gd name="connsiteY0" fmla="*/ 0 h 2939948"/>
              <a:gd name="connsiteX1" fmla="*/ 3534758 w 3587263"/>
              <a:gd name="connsiteY1" fmla="*/ 606469 h 2939948"/>
              <a:gd name="connsiteX2" fmla="*/ 3587263 w 3587263"/>
              <a:gd name="connsiteY2" fmla="*/ 664240 h 2939948"/>
              <a:gd name="connsiteX3" fmla="*/ 3587263 w 3587263"/>
              <a:gd name="connsiteY3" fmla="*/ 2939948 h 2939948"/>
              <a:gd name="connsiteX4" fmla="*/ 193241 w 3587263"/>
              <a:gd name="connsiteY4" fmla="*/ 2939948 h 2939948"/>
              <a:gd name="connsiteX5" fmla="*/ 162719 w 3587263"/>
              <a:gd name="connsiteY5" fmla="*/ 2876589 h 2939948"/>
              <a:gd name="connsiteX6" fmla="*/ 0 w 3587263"/>
              <a:gd name="connsiteY6" fmla="*/ 2070613 h 2939948"/>
              <a:gd name="connsiteX7" fmla="*/ 2070613 w 3587263"/>
              <a:gd name="connsiteY7" fmla="*/ 0 h 2939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7263" h="2939948">
                <a:moveTo>
                  <a:pt x="2070613" y="0"/>
                </a:moveTo>
                <a:cubicBezTo>
                  <a:pt x="2642397" y="0"/>
                  <a:pt x="3160050" y="231761"/>
                  <a:pt x="3534758" y="606469"/>
                </a:cubicBezTo>
                <a:lnTo>
                  <a:pt x="3587263" y="664240"/>
                </a:lnTo>
                <a:lnTo>
                  <a:pt x="3587263" y="2939948"/>
                </a:lnTo>
                <a:lnTo>
                  <a:pt x="193241" y="2939948"/>
                </a:lnTo>
                <a:lnTo>
                  <a:pt x="162719" y="2876589"/>
                </a:lnTo>
                <a:cubicBezTo>
                  <a:pt x="57940" y="2628865"/>
                  <a:pt x="0" y="2356505"/>
                  <a:pt x="0" y="2070613"/>
                </a:cubicBezTo>
                <a:cubicBezTo>
                  <a:pt x="0" y="927045"/>
                  <a:pt x="927045" y="0"/>
                  <a:pt x="2070613"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Image 2">
            <a:extLst>
              <a:ext uri="{FF2B5EF4-FFF2-40B4-BE49-F238E27FC236}">
                <a16:creationId xmlns:a16="http://schemas.microsoft.com/office/drawing/2014/main" id="{F0277E4B-FCBD-4D91-A404-0E7620A236F8}"/>
              </a:ext>
            </a:extLst>
          </p:cNvPr>
          <p:cNvPicPr>
            <a:picLocks noChangeAspect="1"/>
          </p:cNvPicPr>
          <p:nvPr/>
        </p:nvPicPr>
        <p:blipFill rotWithShape="1">
          <a:blip r:embed="rId4"/>
          <a:srcRect r="21386" b="3"/>
          <a:stretch/>
        </p:blipFill>
        <p:spPr>
          <a:xfrm>
            <a:off x="8768827" y="4082141"/>
            <a:ext cx="3423175" cy="2775859"/>
          </a:xfrm>
          <a:custGeom>
            <a:avLst/>
            <a:gdLst/>
            <a:ahLst/>
            <a:cxnLst/>
            <a:rect l="l" t="t" r="r" b="b"/>
            <a:pathLst>
              <a:path w="3423175" h="2775859">
                <a:moveTo>
                  <a:pt x="1906524" y="0"/>
                </a:moveTo>
                <a:cubicBezTo>
                  <a:pt x="2498805" y="0"/>
                  <a:pt x="3028006" y="270078"/>
                  <a:pt x="3377691" y="693798"/>
                </a:cubicBezTo>
                <a:lnTo>
                  <a:pt x="3423175" y="754624"/>
                </a:lnTo>
                <a:lnTo>
                  <a:pt x="3423175" y="2775859"/>
                </a:lnTo>
                <a:lnTo>
                  <a:pt x="211114" y="2775859"/>
                </a:lnTo>
                <a:lnTo>
                  <a:pt x="149824" y="2648629"/>
                </a:lnTo>
                <a:cubicBezTo>
                  <a:pt x="53349" y="2420536"/>
                  <a:pt x="0" y="2169760"/>
                  <a:pt x="0" y="1906524"/>
                </a:cubicBezTo>
                <a:cubicBezTo>
                  <a:pt x="0" y="853580"/>
                  <a:pt x="853580" y="0"/>
                  <a:pt x="1906524" y="0"/>
                </a:cubicBezTo>
                <a:close/>
              </a:path>
            </a:pathLst>
          </a:custGeom>
        </p:spPr>
      </p:pic>
    </p:spTree>
    <p:extLst>
      <p:ext uri="{BB962C8B-B14F-4D97-AF65-F5344CB8AC3E}">
        <p14:creationId xmlns:p14="http://schemas.microsoft.com/office/powerpoint/2010/main" val="1516603319"/>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796354-8B24-42E7-AC93-636CCD329B4F}"/>
              </a:ext>
            </a:extLst>
          </p:cNvPr>
          <p:cNvSpPr>
            <a:spLocks noGrp="1"/>
          </p:cNvSpPr>
          <p:nvPr>
            <p:ph type="title"/>
          </p:nvPr>
        </p:nvSpPr>
        <p:spPr>
          <a:xfrm>
            <a:off x="838200" y="365126"/>
            <a:ext cx="10515600" cy="717226"/>
          </a:xfrm>
        </p:spPr>
        <p:txBody>
          <a:bodyPr/>
          <a:lstStyle/>
          <a:p>
            <a:r>
              <a:rPr lang="fr-FR" b="1" dirty="0">
                <a:solidFill>
                  <a:srgbClr val="FF0000"/>
                </a:solidFill>
                <a:latin typeface="+mn-lt"/>
              </a:rPr>
              <a:t>MATERIEL DE REANIMATION </a:t>
            </a:r>
          </a:p>
        </p:txBody>
      </p:sp>
      <p:sp>
        <p:nvSpPr>
          <p:cNvPr id="3" name="Espace réservé du contenu 2">
            <a:extLst>
              <a:ext uri="{FF2B5EF4-FFF2-40B4-BE49-F238E27FC236}">
                <a16:creationId xmlns:a16="http://schemas.microsoft.com/office/drawing/2014/main" id="{93B0BF43-727C-4A6C-94F0-51A605CBC37D}"/>
              </a:ext>
            </a:extLst>
          </p:cNvPr>
          <p:cNvSpPr>
            <a:spLocks noGrp="1"/>
          </p:cNvSpPr>
          <p:nvPr>
            <p:ph idx="1"/>
          </p:nvPr>
        </p:nvSpPr>
        <p:spPr>
          <a:xfrm>
            <a:off x="838200" y="1436914"/>
            <a:ext cx="10515600" cy="4740049"/>
          </a:xfrm>
        </p:spPr>
        <p:txBody>
          <a:bodyPr>
            <a:normAutofit fontScale="92500" lnSpcReduction="20000"/>
          </a:bodyPr>
          <a:lstStyle/>
          <a:p>
            <a:pPr marL="0" indent="0">
              <a:buNone/>
            </a:pPr>
            <a:r>
              <a:rPr lang="fr-FR" sz="3500" b="1" u="sng" dirty="0">
                <a:solidFill>
                  <a:srgbClr val="FF0000"/>
                </a:solidFill>
              </a:rPr>
              <a:t>3/Matériel pour aspiration des mucosités :</a:t>
            </a:r>
          </a:p>
          <a:p>
            <a:pPr>
              <a:buFont typeface="Wingdings" panose="05000000000000000000" pitchFamily="2" charset="2"/>
              <a:buChar char="Ø"/>
            </a:pPr>
            <a:r>
              <a:rPr lang="fr-FR" b="1" dirty="0"/>
              <a:t>Appareil médical destiné à l'aspiration</a:t>
            </a:r>
          </a:p>
          <a:p>
            <a:pPr marL="0" indent="0">
              <a:buNone/>
            </a:pPr>
            <a:r>
              <a:rPr lang="fr-FR" b="1" dirty="0"/>
              <a:t> nasale, orale, ou trachéale des liquides corporels</a:t>
            </a:r>
          </a:p>
          <a:p>
            <a:pPr marL="0" indent="0">
              <a:buNone/>
            </a:pPr>
            <a:r>
              <a:rPr lang="fr-FR" b="1" dirty="0"/>
              <a:t> (mucus, catarrhe ou sang) chez l'adulte et</a:t>
            </a:r>
          </a:p>
          <a:p>
            <a:pPr marL="0" indent="0">
              <a:buNone/>
            </a:pPr>
            <a:r>
              <a:rPr lang="fr-FR" b="1" dirty="0"/>
              <a:t> l'enfant</a:t>
            </a:r>
            <a:r>
              <a:rPr lang="fr-FR" dirty="0"/>
              <a:t>. </a:t>
            </a:r>
          </a:p>
          <a:p>
            <a:pPr>
              <a:buFont typeface="Wingdings" panose="05000000000000000000" pitchFamily="2" charset="2"/>
              <a:buChar char="Ø"/>
            </a:pPr>
            <a:r>
              <a:rPr lang="fr-FR" b="1" dirty="0"/>
              <a:t>Il est utilisé  pour dégager les voies aériennes en cas d'encombrement ou d'obstruction.</a:t>
            </a:r>
          </a:p>
          <a:p>
            <a:pPr>
              <a:buFont typeface="Wingdings" panose="05000000000000000000" pitchFamily="2" charset="2"/>
              <a:buChar char="Ø"/>
            </a:pPr>
            <a:r>
              <a:rPr lang="fr-FR" b="1" dirty="0">
                <a:solidFill>
                  <a:srgbClr val="FF0000"/>
                </a:solidFill>
              </a:rPr>
              <a:t> </a:t>
            </a:r>
            <a:r>
              <a:rPr lang="fr-FR" b="1" dirty="0"/>
              <a:t>Il se compose:</a:t>
            </a:r>
          </a:p>
          <a:p>
            <a:pPr marL="0" indent="0">
              <a:buNone/>
            </a:pPr>
            <a:r>
              <a:rPr lang="fr-FR" b="1" dirty="0"/>
              <a:t>    - D'une sonde :nasopharyngée, trachéale, buccale </a:t>
            </a:r>
          </a:p>
          <a:p>
            <a:pPr marL="0" indent="0">
              <a:buNone/>
            </a:pPr>
            <a:r>
              <a:rPr lang="fr-FR" b="1" dirty="0"/>
              <a:t>    - D'un flacon collecteur et </a:t>
            </a:r>
          </a:p>
          <a:p>
            <a:pPr marL="0" indent="0">
              <a:buNone/>
            </a:pPr>
            <a:r>
              <a:rPr lang="fr-FR" b="1" dirty="0"/>
              <a:t>    -D'un système d'aspiration.</a:t>
            </a:r>
            <a:endParaRPr lang="fr-FR" b="1" dirty="0">
              <a:solidFill>
                <a:srgbClr val="00B050"/>
              </a:solidFill>
            </a:endParaRPr>
          </a:p>
        </p:txBody>
      </p:sp>
      <p:pic>
        <p:nvPicPr>
          <p:cNvPr id="4" name="Image 3">
            <a:extLst>
              <a:ext uri="{FF2B5EF4-FFF2-40B4-BE49-F238E27FC236}">
                <a16:creationId xmlns:a16="http://schemas.microsoft.com/office/drawing/2014/main" id="{28729D45-B4EA-4B3C-A134-6024C54ADA0A}"/>
              </a:ext>
            </a:extLst>
          </p:cNvPr>
          <p:cNvPicPr>
            <a:picLocks noChangeAspect="1"/>
          </p:cNvPicPr>
          <p:nvPr/>
        </p:nvPicPr>
        <p:blipFill>
          <a:blip r:embed="rId2"/>
          <a:stretch>
            <a:fillRect/>
          </a:stretch>
        </p:blipFill>
        <p:spPr>
          <a:xfrm>
            <a:off x="7951237" y="365126"/>
            <a:ext cx="3402563" cy="3063874"/>
          </a:xfrm>
          <a:prstGeom prst="rect">
            <a:avLst/>
          </a:prstGeom>
        </p:spPr>
      </p:pic>
      <p:pic>
        <p:nvPicPr>
          <p:cNvPr id="5" name="Image 4">
            <a:extLst>
              <a:ext uri="{FF2B5EF4-FFF2-40B4-BE49-F238E27FC236}">
                <a16:creationId xmlns:a16="http://schemas.microsoft.com/office/drawing/2014/main" id="{B6464616-12A0-4C7C-A233-75EC85BC94E1}"/>
              </a:ext>
            </a:extLst>
          </p:cNvPr>
          <p:cNvPicPr>
            <a:picLocks noChangeAspect="1"/>
          </p:cNvPicPr>
          <p:nvPr/>
        </p:nvPicPr>
        <p:blipFill>
          <a:blip r:embed="rId3"/>
          <a:stretch>
            <a:fillRect/>
          </a:stretch>
        </p:blipFill>
        <p:spPr>
          <a:xfrm>
            <a:off x="8378891" y="4030824"/>
            <a:ext cx="3813110" cy="2500701"/>
          </a:xfrm>
          <a:prstGeom prst="rect">
            <a:avLst/>
          </a:prstGeom>
        </p:spPr>
      </p:pic>
    </p:spTree>
    <p:extLst>
      <p:ext uri="{BB962C8B-B14F-4D97-AF65-F5344CB8AC3E}">
        <p14:creationId xmlns:p14="http://schemas.microsoft.com/office/powerpoint/2010/main" val="46958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EA205F-2AE2-4992-B852-8E077BDFF39B}"/>
              </a:ext>
            </a:extLst>
          </p:cNvPr>
          <p:cNvSpPr>
            <a:spLocks noGrp="1"/>
          </p:cNvSpPr>
          <p:nvPr>
            <p:ph type="title"/>
          </p:nvPr>
        </p:nvSpPr>
        <p:spPr>
          <a:xfrm>
            <a:off x="838200" y="365125"/>
            <a:ext cx="10515600" cy="737961"/>
          </a:xfrm>
        </p:spPr>
        <p:txBody>
          <a:bodyPr/>
          <a:lstStyle/>
          <a:p>
            <a:r>
              <a:rPr lang="fr-FR" dirty="0">
                <a:solidFill>
                  <a:srgbClr val="FF0000"/>
                </a:solidFill>
                <a:latin typeface="+mn-lt"/>
              </a:rPr>
              <a:t>                         </a:t>
            </a:r>
            <a:r>
              <a:rPr lang="fr-FR" b="1" dirty="0">
                <a:solidFill>
                  <a:srgbClr val="FF0000"/>
                </a:solidFill>
                <a:latin typeface="+mn-lt"/>
              </a:rPr>
              <a:t>CONCLUSION </a:t>
            </a:r>
          </a:p>
        </p:txBody>
      </p:sp>
      <p:sp>
        <p:nvSpPr>
          <p:cNvPr id="3" name="Espace réservé du contenu 2">
            <a:extLst>
              <a:ext uri="{FF2B5EF4-FFF2-40B4-BE49-F238E27FC236}">
                <a16:creationId xmlns:a16="http://schemas.microsoft.com/office/drawing/2014/main" id="{7C768997-D052-4718-AFC6-194F2D77606B}"/>
              </a:ext>
            </a:extLst>
          </p:cNvPr>
          <p:cNvSpPr>
            <a:spLocks noGrp="1"/>
          </p:cNvSpPr>
          <p:nvPr>
            <p:ph idx="1"/>
          </p:nvPr>
        </p:nvSpPr>
        <p:spPr>
          <a:xfrm>
            <a:off x="838200" y="1103086"/>
            <a:ext cx="10515600" cy="5073877"/>
          </a:xfrm>
        </p:spPr>
        <p:txBody>
          <a:bodyPr/>
          <a:lstStyle/>
          <a:p>
            <a:pPr>
              <a:buFont typeface="Wingdings" panose="05000000000000000000" pitchFamily="2" charset="2"/>
              <a:buChar char="Ø"/>
            </a:pPr>
            <a:endParaRPr lang="fr-FR" b="1" dirty="0"/>
          </a:p>
          <a:p>
            <a:pPr>
              <a:buFont typeface="Wingdings" panose="05000000000000000000" pitchFamily="2" charset="2"/>
              <a:buChar char="Ø"/>
            </a:pPr>
            <a:r>
              <a:rPr lang="fr-FR" b="1" dirty="0"/>
              <a:t>La fréquence des urgences médicales au cabinet dentaire est faible mais certaines peuvent mettre en jeu le pronostic vital du patient .</a:t>
            </a:r>
          </a:p>
          <a:p>
            <a:pPr>
              <a:buFont typeface="Wingdings" panose="05000000000000000000" pitchFamily="2" charset="2"/>
              <a:buChar char="Ø"/>
            </a:pPr>
            <a:r>
              <a:rPr lang="fr-FR" b="1" dirty="0"/>
              <a:t>Dans la plus part des cas ces urgences sont  le résultat de  décompensation d’une pathologie chronique .</a:t>
            </a:r>
          </a:p>
          <a:p>
            <a:pPr>
              <a:buFont typeface="Wingdings" panose="05000000000000000000" pitchFamily="2" charset="2"/>
              <a:buChar char="Ø"/>
            </a:pPr>
            <a:r>
              <a:rPr lang="fr-FR" b="1" dirty="0"/>
              <a:t>Le stress qui accompagne une situation d’ urgence impose l’utilisation de techniques simples ,facilement réalisables par le chirurgien dentiste ne les pratiquant pas régulièrement </a:t>
            </a:r>
          </a:p>
          <a:p>
            <a:pPr>
              <a:buFont typeface="Wingdings" panose="05000000000000000000" pitchFamily="2" charset="2"/>
              <a:buChar char="Ø"/>
            </a:pPr>
            <a:r>
              <a:rPr lang="fr-FR" b="1" dirty="0"/>
              <a:t>Plus qu’une obligation légale c’est une obligation morale d’avoir tout le matériel de réanimation dans un cabinet dentaire </a:t>
            </a:r>
          </a:p>
          <a:p>
            <a:pPr>
              <a:buFont typeface="Wingdings" panose="05000000000000000000" pitchFamily="2" charset="2"/>
              <a:buChar char="Ø"/>
            </a:pPr>
            <a:endParaRPr lang="fr-FR" b="1"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64180705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1708</TotalTime>
  <Words>877</Words>
  <Application>Microsoft Office PowerPoint</Application>
  <PresentationFormat>Grand écran</PresentationFormat>
  <Paragraphs>116</Paragraphs>
  <Slides>16</Slides>
  <Notes>8</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16</vt:i4>
      </vt:variant>
    </vt:vector>
  </HeadingPairs>
  <TitlesOfParts>
    <vt:vector size="23" baseType="lpstr">
      <vt:lpstr>Arial</vt:lpstr>
      <vt:lpstr>Calibri</vt:lpstr>
      <vt:lpstr>Calibri Light</vt:lpstr>
      <vt:lpstr>Google Sans</vt:lpstr>
      <vt:lpstr>TT Norms Pro</vt:lpstr>
      <vt:lpstr>Wingdings</vt:lpstr>
      <vt:lpstr>Thème Office</vt:lpstr>
      <vt:lpstr>Présentation PowerPoint</vt:lpstr>
      <vt:lpstr>                    INTRODUCTION </vt:lpstr>
      <vt:lpstr>          MATERIEL DE REANIMATION </vt:lpstr>
      <vt:lpstr>MATERIEL DEREANIMATION </vt:lpstr>
      <vt:lpstr>MATERIEL DE  REANIMATION </vt:lpstr>
      <vt:lpstr>3/Lunettes à oxygène </vt:lpstr>
      <vt:lpstr>Masque à oxygène </vt:lpstr>
      <vt:lpstr>                MATERIEL DE REANIMATION </vt:lpstr>
      <vt:lpstr>   MATERIEL DE REANIMATION </vt:lpstr>
      <vt:lpstr>Présentation PowerPoint</vt:lpstr>
      <vt:lpstr>Présentation PowerPoint</vt:lpstr>
      <vt:lpstr>      MATERIEL DE REANIMATION </vt:lpstr>
      <vt:lpstr>MATERIEL DE REANIMATION  </vt:lpstr>
      <vt:lpstr>        TENSIOMETRE </vt:lpstr>
      <vt:lpstr>MATERIEL DE REANIMATION </vt:lpstr>
      <vt:lpstr>                         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92969</dc:creator>
  <cp:lastModifiedBy>lenovo</cp:lastModifiedBy>
  <cp:revision>29</cp:revision>
  <dcterms:created xsi:type="dcterms:W3CDTF">2021-02-04T04:21:03Z</dcterms:created>
  <dcterms:modified xsi:type="dcterms:W3CDTF">2024-12-29T17:27:57Z</dcterms:modified>
</cp:coreProperties>
</file>