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9"/>
  </p:notesMasterIdLst>
  <p:sldIdLst>
    <p:sldId id="283" r:id="rId2"/>
    <p:sldId id="284" r:id="rId3"/>
    <p:sldId id="285" r:id="rId4"/>
    <p:sldId id="296" r:id="rId5"/>
    <p:sldId id="282" r:id="rId6"/>
    <p:sldId id="274" r:id="rId7"/>
    <p:sldId id="260" r:id="rId8"/>
    <p:sldId id="281" r:id="rId9"/>
    <p:sldId id="261" r:id="rId10"/>
    <p:sldId id="275" r:id="rId11"/>
    <p:sldId id="262" r:id="rId12"/>
    <p:sldId id="263" r:id="rId13"/>
    <p:sldId id="264" r:id="rId14"/>
    <p:sldId id="265" r:id="rId15"/>
    <p:sldId id="266" r:id="rId16"/>
    <p:sldId id="279" r:id="rId17"/>
    <p:sldId id="280" r:id="rId1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3F30D-D159-4DD6-8301-05FB9829C375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FDE46-DDC2-48E8-9755-8AF63CF570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37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FDE46-DDC2-48E8-9755-8AF63CF570EA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75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4B04470-AA9D-43FF-95E0-D8298F07A532}" type="datetimeFigureOut">
              <a:rPr lang="fr-FR" smtClean="0"/>
              <a:pPr/>
              <a:t>09/01/2025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F01BDB0-E199-42D0-9AEE-FEA7FEE82D36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692696"/>
          </a:xfrm>
        </p:spPr>
        <p:txBody>
          <a:bodyPr>
            <a:normAutofit fontScale="90000"/>
          </a:bodyPr>
          <a:lstStyle/>
          <a:p>
            <a:r>
              <a:rPr lang="fr-FR" dirty="0"/>
              <a:t>     DETRESSE NEUROLOGIQUE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908720"/>
            <a:ext cx="8507288" cy="541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I/DEFINITION 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dirty="0"/>
              <a:t>Atteinte de la </a:t>
            </a:r>
            <a:r>
              <a:rPr lang="fr-FR" b="1" dirty="0"/>
              <a:t>fonction nerveuse </a:t>
            </a:r>
            <a:r>
              <a:rPr lang="fr-FR" dirty="0"/>
              <a:t>dont l’ évolution affecte les fonctions circulatoires et respiratoires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dirty="0"/>
              <a:t>La détresse neurologique peut être </a:t>
            </a:r>
            <a:r>
              <a:rPr lang="fr-FR" b="1" dirty="0"/>
              <a:t>associée ou non</a:t>
            </a:r>
            <a:r>
              <a:rPr lang="fr-FR" dirty="0"/>
              <a:t> à une  </a:t>
            </a:r>
            <a:r>
              <a:rPr lang="fr-FR" b="1" dirty="0"/>
              <a:t>perte de connaissance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dirty="0"/>
              <a:t>L’atteinte neurologique se complique d’ une </a:t>
            </a:r>
            <a:r>
              <a:rPr lang="fr-FR" b="1" dirty="0"/>
              <a:t>hypoxie</a:t>
            </a:r>
            <a:r>
              <a:rPr lang="fr-FR" dirty="0"/>
              <a:t> par atteinte cardiaque et respiratoire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659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792088"/>
          </a:xfrm>
        </p:spPr>
        <p:txBody>
          <a:bodyPr>
            <a:normAutofit fontScale="90000"/>
          </a:bodyPr>
          <a:lstStyle/>
          <a:p>
            <a:r>
              <a:rPr lang="fr-FR" dirty="0"/>
              <a:t>DETRESSE NEUROLOGIQUE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II/ETIOLOGIES:</a:t>
            </a:r>
          </a:p>
          <a:p>
            <a:pPr marL="0" indent="0">
              <a:buNone/>
            </a:pPr>
            <a:r>
              <a:rPr lang="fr-FR" dirty="0"/>
              <a:t>- Comas suite à un Traumatisme crânien</a:t>
            </a:r>
          </a:p>
          <a:p>
            <a:pPr marL="0" indent="0">
              <a:buNone/>
            </a:pPr>
            <a:r>
              <a:rPr lang="fr-FR" dirty="0"/>
              <a:t>-Accidents vasculaires cérébraux dont l’</a:t>
            </a:r>
            <a:r>
              <a:rPr lang="fr-FR" dirty="0" err="1"/>
              <a:t>etiologie</a:t>
            </a:r>
            <a:r>
              <a:rPr lang="fr-FR" dirty="0"/>
              <a:t> peut être : -Athérosclérose </a:t>
            </a:r>
          </a:p>
          <a:p>
            <a:pPr marL="0" indent="0">
              <a:buNone/>
            </a:pPr>
            <a:r>
              <a:rPr lang="fr-FR" dirty="0"/>
              <a:t>          -Cardiopathies </a:t>
            </a:r>
            <a:r>
              <a:rPr lang="fr-FR" dirty="0" err="1"/>
              <a:t>emboligenes</a:t>
            </a:r>
            <a:r>
              <a:rPr lang="fr-FR" dirty="0"/>
              <a:t> :ACFA </a:t>
            </a:r>
          </a:p>
          <a:p>
            <a:pPr marL="0" indent="0">
              <a:buNone/>
            </a:pPr>
            <a:r>
              <a:rPr lang="fr-FR" dirty="0"/>
              <a:t>          -       </a:t>
            </a:r>
          </a:p>
          <a:p>
            <a:pPr marL="0" indent="0">
              <a:buNone/>
            </a:pPr>
            <a:r>
              <a:rPr lang="fr-FR" dirty="0"/>
              <a:t>-</a:t>
            </a:r>
            <a:r>
              <a:rPr lang="fr-FR" dirty="0" err="1"/>
              <a:t>Meningite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-Hypoglycémie </a:t>
            </a:r>
          </a:p>
          <a:p>
            <a:pPr marL="0" indent="0">
              <a:buNone/>
            </a:pPr>
            <a:r>
              <a:rPr lang="fr-FR" dirty="0"/>
              <a:t>-Intoxications médicamenteuses et alimentaires </a:t>
            </a:r>
          </a:p>
          <a:p>
            <a:pPr marL="0" indent="0">
              <a:buNone/>
            </a:pPr>
            <a:r>
              <a:rPr lang="fr-FR" dirty="0"/>
              <a:t>-Insolation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720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496" y="260648"/>
            <a:ext cx="8651304" cy="576064"/>
          </a:xfrm>
        </p:spPr>
        <p:txBody>
          <a:bodyPr>
            <a:normAutofit fontScale="90000"/>
          </a:bodyPr>
          <a:lstStyle/>
          <a:p>
            <a:r>
              <a:rPr lang="fr-FR" dirty="0"/>
              <a:t>       DETRESSE NEUROLOGIQUE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87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III/CLINIQUE :</a:t>
            </a:r>
            <a:r>
              <a:rPr lang="fr-FR" b="1" dirty="0"/>
              <a:t>Fonction de l’</a:t>
            </a:r>
            <a:r>
              <a:rPr lang="fr-FR" b="1" dirty="0" err="1"/>
              <a:t>etiologie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94955F9-2662-1A35-60E4-AB5B32D7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8363272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07184D3-AE4D-37B5-AE28-D76991D9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fr-FR" dirty="0"/>
              <a:t>       DETRESSE NEUROLOGIQUE 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80136B1-93EC-F5FA-254C-6263E81AE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271864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rgbClr val="EE0000"/>
                </a:solidFill>
              </a:rPr>
              <a:t>CLINIQUE EN CAS DE MENINGITE 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37FE28B-97E0-6868-B995-047BFE27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2"/>
            <a:ext cx="8568952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0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88640"/>
            <a:ext cx="8964488" cy="648072"/>
          </a:xfrm>
        </p:spPr>
        <p:txBody>
          <a:bodyPr>
            <a:normAutofit fontScale="90000"/>
          </a:bodyPr>
          <a:lstStyle/>
          <a:p>
            <a:r>
              <a:rPr lang="fr-FR" dirty="0"/>
              <a:t>                   A/ </a:t>
            </a:r>
            <a:r>
              <a:rPr lang="fr-FR" sz="6000" dirty="0"/>
              <a:t>MALAISE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31904"/>
          </a:xfrm>
        </p:spPr>
        <p:txBody>
          <a:bodyPr/>
          <a:lstStyle/>
          <a:p>
            <a:pPr>
              <a:buNone/>
            </a:pPr>
            <a:endParaRPr lang="fr-FR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dirty="0"/>
              <a:t>I-DEFINITION</a:t>
            </a:r>
          </a:p>
          <a:p>
            <a:pPr marL="0" indent="0">
              <a:buNone/>
            </a:pPr>
            <a:r>
              <a:rPr lang="fr-FR" dirty="0"/>
              <a:t>II-MALAISE VAGAL:1-definition</a:t>
            </a:r>
          </a:p>
          <a:p>
            <a:pPr>
              <a:buNone/>
            </a:pPr>
            <a:r>
              <a:rPr lang="fr-FR" dirty="0"/>
              <a:t>                                    2-circonstances favorisantes</a:t>
            </a:r>
          </a:p>
          <a:p>
            <a:pPr>
              <a:buNone/>
            </a:pPr>
            <a:r>
              <a:rPr lang="fr-FR" dirty="0"/>
              <a:t>                                     3-conduite à tenir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 III-MALAISE HYPOGLYCEMIQUE:</a:t>
            </a:r>
          </a:p>
          <a:p>
            <a:pPr>
              <a:buNone/>
            </a:pPr>
            <a:r>
              <a:rPr lang="fr-FR" dirty="0"/>
              <a:t>                                     1-facteurs déclenchant</a:t>
            </a:r>
          </a:p>
          <a:p>
            <a:pPr>
              <a:buNone/>
            </a:pPr>
            <a:r>
              <a:rPr lang="fr-FR" dirty="0"/>
              <a:t>                                      2-conduite à tenir         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571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             MALAISE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2449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1/DEFINITION</a:t>
            </a:r>
            <a:r>
              <a:rPr lang="fr-FR" u="sng" dirty="0">
                <a:solidFill>
                  <a:srgbClr val="FF0000"/>
                </a:solidFill>
              </a:rPr>
              <a:t>: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600" dirty="0"/>
              <a:t>Le malaise est une sensation de mal- être avec impression imminente  de perte de connaissance 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600" dirty="0"/>
              <a:t> </a:t>
            </a:r>
            <a:r>
              <a:rPr lang="fr-FR" sz="3600" dirty="0">
                <a:solidFill>
                  <a:srgbClr val="7030A0"/>
                </a:solidFill>
              </a:rPr>
              <a:t>Un épisode aigu, régressif, caractérisé par un trouble de la conscience ou de la vigilance de façon plus ou moins complète</a:t>
            </a:r>
            <a:r>
              <a:rPr lang="fr-FR" sz="3600" dirty="0"/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600" dirty="0"/>
              <a:t>Lorsque </a:t>
            </a:r>
            <a:r>
              <a:rPr lang="fr-FR" sz="3600" dirty="0">
                <a:solidFill>
                  <a:srgbClr val="00B050"/>
                </a:solidFill>
              </a:rPr>
              <a:t>la perte de connaissance </a:t>
            </a:r>
            <a:r>
              <a:rPr lang="fr-FR" sz="3600" dirty="0"/>
              <a:t>n a </a:t>
            </a:r>
            <a:r>
              <a:rPr lang="fr-FR" sz="3600" dirty="0">
                <a:solidFill>
                  <a:srgbClr val="00B050"/>
                </a:solidFill>
              </a:rPr>
              <a:t>pas</a:t>
            </a:r>
            <a:r>
              <a:rPr lang="fr-FR" sz="3600" dirty="0"/>
              <a:t> eu lieu ou de très brève durée on parle plus volontiers de </a:t>
            </a:r>
            <a:r>
              <a:rPr lang="fr-FR" sz="3600" dirty="0">
                <a:solidFill>
                  <a:srgbClr val="00B050"/>
                </a:solidFill>
              </a:rPr>
              <a:t>lipothymie </a:t>
            </a:r>
            <a:r>
              <a:rPr lang="fr-FR" sz="3600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/>
              <a:t>           </a:t>
            </a:r>
            <a:r>
              <a:rPr lang="fr-FR" b="1" dirty="0">
                <a:solidFill>
                  <a:srgbClr val="002060"/>
                </a:solidFill>
              </a:rPr>
              <a:t>MALAISE VAGAL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7216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sz="3900" b="1" u="sng" dirty="0">
                <a:solidFill>
                  <a:srgbClr val="FF0000"/>
                </a:solidFill>
              </a:rPr>
              <a:t>1</a:t>
            </a:r>
            <a:r>
              <a:rPr lang="fr-FR" b="1" u="sng" dirty="0">
                <a:solidFill>
                  <a:srgbClr val="FF0000"/>
                </a:solidFill>
              </a:rPr>
              <a:t>/DEFINITION</a:t>
            </a:r>
          </a:p>
          <a:p>
            <a:pPr>
              <a:buNone/>
            </a:pPr>
            <a:r>
              <a:rPr lang="fr-FR" sz="3200" dirty="0"/>
              <a:t>Le malaise vagal ou malaise </a:t>
            </a:r>
            <a:r>
              <a:rPr lang="fr-FR" sz="3200" dirty="0" err="1"/>
              <a:t>vaso-vagal</a:t>
            </a:r>
            <a:r>
              <a:rPr lang="fr-FR" sz="3200" dirty="0"/>
              <a:t> ou choc vagal est un malaise pouvant être du à:</a:t>
            </a:r>
          </a:p>
          <a:p>
            <a:pPr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 Une activité</a:t>
            </a:r>
            <a:r>
              <a:rPr lang="fr-FR" sz="3200" dirty="0">
                <a:solidFill>
                  <a:srgbClr val="0070C0"/>
                </a:solidFill>
              </a:rPr>
              <a:t> excessive du système nerveux parasympathique </a:t>
            </a:r>
          </a:p>
          <a:p>
            <a:pPr marL="0" indent="0">
              <a:buNone/>
            </a:pPr>
            <a:r>
              <a:rPr lang="fr-FR" sz="3200" dirty="0"/>
              <a:t>ou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 Une </a:t>
            </a:r>
            <a:r>
              <a:rPr lang="fr-FR" sz="3200" dirty="0">
                <a:solidFill>
                  <a:srgbClr val="0070C0"/>
                </a:solidFill>
              </a:rPr>
              <a:t>baisse </a:t>
            </a:r>
            <a:r>
              <a:rPr lang="fr-FR" sz="3200" dirty="0"/>
              <a:t>de l activité </a:t>
            </a:r>
            <a:r>
              <a:rPr lang="fr-FR" sz="3200" dirty="0">
                <a:solidFill>
                  <a:srgbClr val="0070C0"/>
                </a:solidFill>
              </a:rPr>
              <a:t>sympathique</a:t>
            </a:r>
            <a:r>
              <a:rPr lang="fr-FR" sz="3200" dirty="0"/>
              <a:t>.</a:t>
            </a:r>
          </a:p>
          <a:p>
            <a:pPr marL="0" indent="0">
              <a:buNone/>
            </a:pPr>
            <a:endParaRPr lang="fr-FR" sz="3200" dirty="0"/>
          </a:p>
          <a:p>
            <a:pPr>
              <a:buNone/>
            </a:pPr>
            <a:r>
              <a:rPr lang="fr-FR" sz="3200" dirty="0"/>
              <a:t>      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409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       MALAISE VAGAL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55840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/>
              <a:t>Il se manifeste par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   Ralentissement du rythme cardiaque.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Chute de la pression artérielle.</a:t>
            </a:r>
          </a:p>
          <a:p>
            <a:pPr marL="0" indent="0">
              <a:buNone/>
            </a:pPr>
            <a:endParaRPr lang="fr-FR" sz="2800" dirty="0"/>
          </a:p>
          <a:p>
            <a:pPr>
              <a:buNone/>
            </a:pPr>
            <a:r>
              <a:rPr lang="fr-FR" sz="2800" dirty="0"/>
              <a:t>Ceci s exprime soit par une </a:t>
            </a:r>
            <a:r>
              <a:rPr lang="fr-FR" sz="2800" dirty="0">
                <a:solidFill>
                  <a:srgbClr val="FF0000"/>
                </a:solidFill>
              </a:rPr>
              <a:t>perte de connaissance    </a:t>
            </a:r>
            <a:endParaRPr lang="fr-FR" sz="2800" dirty="0"/>
          </a:p>
          <a:p>
            <a:pPr>
              <a:buNone/>
            </a:pPr>
            <a:endParaRPr lang="fr-FR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Très brève </a:t>
            </a:r>
            <a:r>
              <a:rPr lang="fr-FR" sz="2800" dirty="0">
                <a:solidFill>
                  <a:srgbClr val="00B050"/>
                </a:solidFill>
              </a:rPr>
              <a:t>partielle</a:t>
            </a:r>
            <a:r>
              <a:rPr lang="fr-FR" sz="2800" dirty="0"/>
              <a:t> </a:t>
            </a:r>
            <a:r>
              <a:rPr lang="fr-FR" sz="2800" dirty="0">
                <a:solidFill>
                  <a:srgbClr val="FF0000"/>
                </a:solidFill>
              </a:rPr>
              <a:t>lipothymie</a:t>
            </a:r>
          </a:p>
          <a:p>
            <a:pPr>
              <a:buNone/>
            </a:pPr>
            <a:r>
              <a:rPr lang="fr-FR" sz="2800" dirty="0"/>
              <a:t>   ou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00B050"/>
                </a:solidFill>
              </a:rPr>
              <a:t>Totale</a:t>
            </a:r>
            <a:r>
              <a:rPr lang="fr-FR" sz="2800" dirty="0"/>
              <a:t> </a:t>
            </a:r>
            <a:r>
              <a:rPr lang="fr-FR" sz="2800" dirty="0">
                <a:solidFill>
                  <a:srgbClr val="FF0000"/>
                </a:solidFill>
              </a:rPr>
              <a:t>syncope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978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fr-FR" dirty="0"/>
              <a:t>           </a:t>
            </a:r>
            <a:r>
              <a:rPr lang="fr-FR" b="1" dirty="0">
                <a:solidFill>
                  <a:srgbClr val="002060"/>
                </a:solidFill>
              </a:rPr>
              <a:t>MALAISE  VAGAL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715016"/>
          </a:xfrm>
        </p:spPr>
        <p:txBody>
          <a:bodyPr>
            <a:normAutofit/>
          </a:bodyPr>
          <a:lstStyle/>
          <a:p>
            <a:r>
              <a:rPr lang="fr-FR" sz="4400" dirty="0"/>
              <a:t>Le malaise vagal est l étiologie la plus </a:t>
            </a:r>
            <a:r>
              <a:rPr lang="fr-FR" sz="4400" dirty="0">
                <a:solidFill>
                  <a:srgbClr val="FF0000"/>
                </a:solidFill>
              </a:rPr>
              <a:t>fréquente</a:t>
            </a:r>
            <a:r>
              <a:rPr lang="fr-FR" sz="4400" dirty="0"/>
              <a:t> retrouvée mais il est important de savoir évoquer les situations ou le malais n’est qu‘un épiphénomène d une affection grave. 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504" y="285728"/>
            <a:ext cx="9036496" cy="911024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          MALAISE VAGAL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/>
          <a:lstStyle/>
          <a:p>
            <a:pPr>
              <a:buNone/>
            </a:pPr>
            <a:r>
              <a:rPr lang="fr-FR" b="1" u="sng" dirty="0">
                <a:solidFill>
                  <a:srgbClr val="EE0000"/>
                </a:solidFill>
              </a:rPr>
              <a:t>2/CIRCONSTANCES FAVORISANTS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dirty="0"/>
              <a:t>Emotion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dirty="0"/>
              <a:t>Atmosphère surchauffée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dirty="0"/>
              <a:t>Période post prandiale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dirty="0">
                <a:solidFill>
                  <a:srgbClr val="FF0000"/>
                </a:solidFill>
              </a:rPr>
              <a:t>Douleur aigue</a:t>
            </a:r>
            <a:r>
              <a:rPr lang="fr-FR" sz="3200" dirty="0"/>
              <a:t>++++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dirty="0"/>
              <a:t>Station debout prolongé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         MALAISE VAGAL 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/>
          <a:lstStyle/>
          <a:p>
            <a:endParaRPr lang="fr-FR" dirty="0"/>
          </a:p>
          <a:p>
            <a:pPr marL="0" indent="0">
              <a:buNone/>
            </a:pPr>
            <a:r>
              <a:rPr lang="fr-FR" sz="3200" b="1" u="sng" dirty="0">
                <a:solidFill>
                  <a:srgbClr val="C00000"/>
                </a:solidFill>
              </a:rPr>
              <a:t>3/CONDUITE A TENIR:</a:t>
            </a:r>
          </a:p>
          <a:p>
            <a:pPr marL="0" indent="0">
              <a:buNone/>
            </a:pPr>
            <a:r>
              <a:rPr lang="fr-FR" sz="3200" u="sng" dirty="0"/>
              <a:t>Débutée dés </a:t>
            </a:r>
            <a:r>
              <a:rPr lang="fr-FR" sz="3200" dirty="0"/>
              <a:t> la constatation des signes d’ apparition </a:t>
            </a:r>
            <a:r>
              <a:rPr lang="fr-FR" sz="3200" dirty="0" err="1"/>
              <a:t>progréssive</a:t>
            </a:r>
            <a:r>
              <a:rPr lang="fr-FR" sz="3200" dirty="0"/>
              <a:t> précédés de signes annonciateurs subjectifs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Malaise général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Affaiblissement musculaire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Angoisse fatigue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Troubles visuels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857256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         MALAISE VAGAL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3/CONDUITE à TENIR: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interrompre les soins.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protéger le patient de la chute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 allonger les </a:t>
            </a:r>
            <a:r>
              <a:rPr lang="fr-FR" dirty="0">
                <a:solidFill>
                  <a:srgbClr val="FF0000"/>
                </a:solidFill>
              </a:rPr>
              <a:t>jambes surélevées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Le laisser suffisamment en décubitus jusqu’a  disparition de la symptomatologie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Si le malaise persiste ou récidive demander un avis aux urgences médicales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Surveiller la respiration et la circulation.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Rassurer le patient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Tamponner le visage avec de l’eau fraiche 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  MALAISE HYPOGLYCEMIQUE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3200" dirty="0"/>
              <a:t>IL survient chez tout type de patient mais les </a:t>
            </a:r>
            <a:r>
              <a:rPr lang="fr-FR" sz="3200" dirty="0">
                <a:solidFill>
                  <a:srgbClr val="FF0000"/>
                </a:solidFill>
              </a:rPr>
              <a:t>diabétiques </a:t>
            </a:r>
            <a:r>
              <a:rPr lang="fr-FR" sz="3200" dirty="0"/>
              <a:t>sont particulièrement concernées.</a:t>
            </a:r>
          </a:p>
          <a:p>
            <a:pPr>
              <a:buNone/>
            </a:pPr>
            <a:r>
              <a:rPr lang="fr-FR" sz="3200" b="1" u="sng" dirty="0">
                <a:solidFill>
                  <a:srgbClr val="C00000"/>
                </a:solidFill>
              </a:rPr>
              <a:t>1/facteurs déclenchants:</a:t>
            </a:r>
          </a:p>
          <a:p>
            <a:pPr>
              <a:buNone/>
            </a:pPr>
            <a:r>
              <a:rPr lang="fr-FR" sz="3200" dirty="0">
                <a:solidFill>
                  <a:srgbClr val="7030A0"/>
                </a:solidFill>
              </a:rPr>
              <a:t>A)chez les patients non diabétiques: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Etat de jeûne ou régime alimentaire    inadapté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Stress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Alcoolisme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Atteinte hépatique.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857256"/>
          </a:xfrm>
        </p:spPr>
        <p:txBody>
          <a:bodyPr>
            <a:normAutofit fontScale="90000"/>
          </a:bodyPr>
          <a:lstStyle/>
          <a:p>
            <a:br>
              <a:rPr lang="fr-FR" sz="4800" b="1" dirty="0">
                <a:solidFill>
                  <a:srgbClr val="C00000"/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800" b="1" dirty="0">
                <a:solidFill>
                  <a:srgbClr val="C00000"/>
                </a:solidFill>
              </a:rPr>
              <a:t>1/facteurs déclenchants</a:t>
            </a:r>
            <a:endParaRPr lang="fr-FR" u="sng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fr-FR" u="sng" dirty="0">
                <a:solidFill>
                  <a:srgbClr val="002060"/>
                </a:solidFill>
              </a:rPr>
              <a:t>B/ chez les diabétiques connus</a:t>
            </a:r>
            <a:r>
              <a:rPr lang="fr-FR" dirty="0">
                <a:solidFill>
                  <a:srgbClr val="00206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  <a:tabLst>
                <a:tab pos="1169988" algn="l"/>
              </a:tabLst>
            </a:pPr>
            <a:r>
              <a:rPr lang="fr-FR" sz="2800" dirty="0"/>
              <a:t>Insuffisance d’ apport en glucose</a:t>
            </a:r>
          </a:p>
          <a:p>
            <a:pPr>
              <a:buFont typeface="Wingdings" panose="05000000000000000000" pitchFamily="2" charset="2"/>
              <a:buChar char="Ø"/>
              <a:tabLst>
                <a:tab pos="1169988" algn="l"/>
              </a:tabLst>
            </a:pPr>
            <a:r>
              <a:rPr lang="fr-FR" sz="2800" dirty="0"/>
              <a:t>Infections</a:t>
            </a:r>
          </a:p>
          <a:p>
            <a:pPr>
              <a:buFont typeface="Wingdings" panose="05000000000000000000" pitchFamily="2" charset="2"/>
              <a:buChar char="Ø"/>
              <a:tabLst>
                <a:tab pos="1169988" algn="l"/>
              </a:tabLst>
            </a:pPr>
            <a:r>
              <a:rPr lang="fr-FR" sz="2800" dirty="0"/>
              <a:t>Insuffisance rénale</a:t>
            </a:r>
          </a:p>
          <a:p>
            <a:pPr>
              <a:buFont typeface="Wingdings" panose="05000000000000000000" pitchFamily="2" charset="2"/>
              <a:buChar char="Ø"/>
              <a:tabLst>
                <a:tab pos="1169988" algn="l"/>
              </a:tabLst>
            </a:pPr>
            <a:r>
              <a:rPr lang="fr-FR" sz="2800" dirty="0"/>
              <a:t>Surdosage en antidiabétiques</a:t>
            </a:r>
          </a:p>
          <a:p>
            <a:pPr>
              <a:buFont typeface="Wingdings" panose="05000000000000000000" pitchFamily="2" charset="2"/>
              <a:buChar char="Ø"/>
              <a:tabLst>
                <a:tab pos="1169988" algn="l"/>
              </a:tabLst>
            </a:pPr>
            <a:r>
              <a:rPr lang="fr-FR" sz="2800" dirty="0"/>
              <a:t>Interférences médicamenteuses avec les antidiabétiques:-Les bétabloquants</a:t>
            </a:r>
          </a:p>
          <a:p>
            <a:pPr>
              <a:buNone/>
              <a:tabLst>
                <a:tab pos="1169988" algn="l"/>
              </a:tabLst>
            </a:pPr>
            <a:r>
              <a:rPr lang="fr-FR" sz="2800" dirty="0"/>
              <a:t>                                -</a:t>
            </a:r>
            <a:r>
              <a:rPr lang="fr-FR" sz="2800" dirty="0" err="1"/>
              <a:t>Coronaro</a:t>
            </a:r>
            <a:r>
              <a:rPr lang="fr-FR" sz="2800" dirty="0"/>
              <a:t>-dilatateurs</a:t>
            </a:r>
          </a:p>
          <a:p>
            <a:pPr>
              <a:buNone/>
              <a:tabLst>
                <a:tab pos="1169988" algn="l"/>
              </a:tabLst>
            </a:pPr>
            <a:r>
              <a:rPr lang="fr-FR" sz="2800" dirty="0"/>
              <a:t>                                 -Anti-inflammatoires</a:t>
            </a:r>
          </a:p>
          <a:p>
            <a:pPr>
              <a:buNone/>
              <a:tabLst>
                <a:tab pos="1169988" algn="l"/>
              </a:tabLst>
            </a:pPr>
            <a:r>
              <a:rPr lang="fr-FR" sz="2800" dirty="0"/>
              <a:t>                                 -</a:t>
            </a:r>
            <a:r>
              <a:rPr lang="fr-FR" sz="2800" dirty="0" err="1"/>
              <a:t>Salycilés</a:t>
            </a:r>
            <a:endParaRPr lang="fr-FR" sz="2800" dirty="0"/>
          </a:p>
          <a:p>
            <a:pPr>
              <a:buNone/>
              <a:tabLst>
                <a:tab pos="1169988" algn="l"/>
              </a:tabLst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411D365-61FA-7013-2A38-A7451D66F01D}"/>
              </a:ext>
            </a:extLst>
          </p:cNvPr>
          <p:cNvSpPr txBox="1">
            <a:spLocks/>
          </p:cNvSpPr>
          <p:nvPr/>
        </p:nvSpPr>
        <p:spPr>
          <a:xfrm>
            <a:off x="457200" y="214290"/>
            <a:ext cx="8229600" cy="785818"/>
          </a:xfrm>
          <a:prstGeom prst="rect">
            <a:avLst/>
          </a:prstGeom>
        </p:spPr>
        <p:txBody>
          <a:bodyPr vert="horz" lIns="0" rIns="0" bIns="0" anchor="b">
            <a:normAutofit fontScale="97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rgbClr val="002060"/>
                </a:solidFill>
              </a:rPr>
              <a:t>  MALAISE HYPOGLYCEMIQUE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0072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CONDUITE A TENIR</a:t>
            </a:r>
            <a:endParaRPr lang="fr-FR" b="1" u="sng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a/patient conscient: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l’allonger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position de confort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faire absorber une </a:t>
            </a:r>
            <a:r>
              <a:rPr lang="fr-FR" dirty="0">
                <a:solidFill>
                  <a:srgbClr val="7030A0"/>
                </a:solidFill>
              </a:rPr>
              <a:t>boisson sucré</a:t>
            </a:r>
          </a:p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b/patient inconscient: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vérification de la vacuité des voies aériennes  supérieures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mise en position  latérale de sécurité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mesure de la glycémie.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oxygénation.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injection en intra veineux lente de 10 à 20 ml de </a:t>
            </a:r>
            <a:r>
              <a:rPr lang="fr-FR" dirty="0" err="1"/>
              <a:t>serum</a:t>
            </a:r>
            <a:r>
              <a:rPr lang="fr-FR" dirty="0"/>
              <a:t> glucosé.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surveillance clinique.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appeler une équipe de réanimation 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965FAFE-6E40-B15E-FD90-FB582EB18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4" y="0"/>
            <a:ext cx="8784976" cy="1071563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rgbClr val="002060"/>
                </a:solidFill>
              </a:rPr>
              <a:t>  MALAISE HYPOGLYCEMIQUE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836712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  </a:t>
            </a:r>
            <a:r>
              <a:rPr lang="fr-FR" sz="3600" b="1" dirty="0">
                <a:solidFill>
                  <a:srgbClr val="002060"/>
                </a:solidFill>
              </a:rPr>
              <a:t>MALAISE AVEC HYPERVENTILATION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692696"/>
            <a:ext cx="8784976" cy="56319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sz="3200" dirty="0"/>
              <a:t>Il réalise un tableau clinique avec angoisse chez un Sujet  jeune qui présente une hyperémotivité.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3200" dirty="0"/>
              <a:t>L’ alcalose respiratoire est induite par l’hyperventilation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3200" dirty="0"/>
              <a:t> augmentation de l’ amplitude et de la fréquence respiratoire aggravant le syndrome psychique.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928694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</a:rPr>
              <a:t>     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429288"/>
          </a:xfrm>
        </p:spPr>
        <p:txBody>
          <a:bodyPr/>
          <a:lstStyle/>
          <a:p>
            <a:pPr marL="0" indent="0">
              <a:buNone/>
            </a:pPr>
            <a:r>
              <a:rPr lang="fr-FR" b="1" u="sng" dirty="0">
                <a:solidFill>
                  <a:srgbClr val="EE0000"/>
                </a:solidFill>
              </a:rPr>
              <a:t>CONDUITE à  TENIR</a:t>
            </a:r>
            <a:endParaRPr lang="fr-FR" u="sng" dirty="0">
              <a:solidFill>
                <a:srgbClr val="EE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Calmer le patient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L’isoler   de son entourage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L’aider à ventiler calmement</a:t>
            </a:r>
          </a:p>
          <a:p>
            <a:pPr>
              <a:buNone/>
            </a:pPr>
            <a:r>
              <a:rPr lang="fr-FR" b="1" u="sng" dirty="0">
                <a:solidFill>
                  <a:srgbClr val="C00000"/>
                </a:solidFill>
              </a:rPr>
              <a:t>PREVENTION: </a:t>
            </a:r>
          </a:p>
          <a:p>
            <a:pPr>
              <a:buNone/>
            </a:pPr>
            <a:r>
              <a:rPr lang="fr-FR" b="1" dirty="0">
                <a:solidFill>
                  <a:srgbClr val="7030A0"/>
                </a:solidFill>
              </a:rPr>
              <a:t>BONNE RELATION PRATICIEN-MEDECIN</a:t>
            </a:r>
          </a:p>
          <a:p>
            <a:pPr>
              <a:buNone/>
            </a:pPr>
            <a:r>
              <a:rPr lang="fr-FR" b="1" dirty="0">
                <a:solidFill>
                  <a:srgbClr val="7030A0"/>
                </a:solidFill>
              </a:rPr>
              <a:t>PREMEDICATION</a:t>
            </a:r>
          </a:p>
          <a:p>
            <a:pPr>
              <a:buNone/>
            </a:pPr>
            <a:r>
              <a:rPr lang="fr-FR" b="1" u="sng" dirty="0">
                <a:solidFill>
                  <a:srgbClr val="C00000"/>
                </a:solidFill>
              </a:rPr>
              <a:t>CONCLUSION :</a:t>
            </a:r>
            <a:r>
              <a:rPr lang="fr-FR" dirty="0"/>
              <a:t> malaise est une urgence fréquente au cabinet dentaire dont la prise en charge immédiate est salvatrice du patient</a:t>
            </a:r>
            <a:endParaRPr lang="fr-FR" b="1" u="sng" dirty="0">
              <a:solidFill>
                <a:srgbClr val="C00000"/>
              </a:solidFill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EA858AA-A2FF-E9A2-3FD1-E69E8FABE2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964488" cy="692696"/>
          </a:xfrm>
          <a:prstGeom prst="rect">
            <a:avLst/>
          </a:prstGeom>
        </p:spPr>
        <p:txBody>
          <a:bodyPr vert="horz" lIns="0" rIns="0" bIns="0" anchor="b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rgbClr val="002060"/>
                </a:solidFill>
              </a:rPr>
              <a:t>      </a:t>
            </a:r>
            <a:r>
              <a:rPr lang="fr-FR" sz="4400" b="1" dirty="0">
                <a:solidFill>
                  <a:srgbClr val="002060"/>
                </a:solidFill>
              </a:rPr>
              <a:t>MALAISE AVEC HYPERVENTILATION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296</TotalTime>
  <Words>683</Words>
  <Application>Microsoft Office PowerPoint</Application>
  <PresentationFormat>Affichage à l'écran (4:3)</PresentationFormat>
  <Paragraphs>141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Calibri</vt:lpstr>
      <vt:lpstr>Constantia</vt:lpstr>
      <vt:lpstr>Wingdings</vt:lpstr>
      <vt:lpstr>Wingdings 2</vt:lpstr>
      <vt:lpstr>Débit</vt:lpstr>
      <vt:lpstr>     DETRESSE NEUROLOGIQUE</vt:lpstr>
      <vt:lpstr>DETRESSE NEUROLOGIQUE </vt:lpstr>
      <vt:lpstr>       DETRESSE NEUROLOGIQUE </vt:lpstr>
      <vt:lpstr>       DETRESSE NEUROLOGIQUE </vt:lpstr>
      <vt:lpstr>                   A/ MALAISE </vt:lpstr>
      <vt:lpstr>             MALAISE  </vt:lpstr>
      <vt:lpstr>           MALAISE VAGAL</vt:lpstr>
      <vt:lpstr>       MALAISE VAGAL </vt:lpstr>
      <vt:lpstr>           MALAISE  VAGAL</vt:lpstr>
      <vt:lpstr>          MALAISE VAGAL</vt:lpstr>
      <vt:lpstr>         MALAISE VAGAL   </vt:lpstr>
      <vt:lpstr>         MALAISE VAGAL </vt:lpstr>
      <vt:lpstr>  MALAISE HYPOGLYCEMIQUE</vt:lpstr>
      <vt:lpstr> </vt:lpstr>
      <vt:lpstr>  MALAISE HYPOGLYCEMIQUE</vt:lpstr>
      <vt:lpstr>  MALAISE AVEC HYPERVENTILATION</vt:lpstr>
      <vt:lpstr>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MALAISE</dc:title>
  <dc:creator>acer</dc:creator>
  <cp:lastModifiedBy>lenovo</cp:lastModifiedBy>
  <cp:revision>50</cp:revision>
  <dcterms:created xsi:type="dcterms:W3CDTF">2016-10-09T01:00:17Z</dcterms:created>
  <dcterms:modified xsi:type="dcterms:W3CDTF">2025-01-09T06:26:41Z</dcterms:modified>
</cp:coreProperties>
</file>