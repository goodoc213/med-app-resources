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5"/>
  </p:notesMasterIdLst>
  <p:sldIdLst>
    <p:sldId id="279" r:id="rId2"/>
    <p:sldId id="272" r:id="rId3"/>
    <p:sldId id="312" r:id="rId4"/>
    <p:sldId id="273" r:id="rId5"/>
    <p:sldId id="330" r:id="rId6"/>
    <p:sldId id="313" r:id="rId7"/>
    <p:sldId id="331" r:id="rId8"/>
    <p:sldId id="274" r:id="rId9"/>
    <p:sldId id="301" r:id="rId10"/>
    <p:sldId id="275" r:id="rId11"/>
    <p:sldId id="280" r:id="rId12"/>
    <p:sldId id="310" r:id="rId13"/>
    <p:sldId id="311" r:id="rId14"/>
    <p:sldId id="327" r:id="rId15"/>
    <p:sldId id="277" r:id="rId16"/>
    <p:sldId id="281" r:id="rId17"/>
    <p:sldId id="316" r:id="rId18"/>
    <p:sldId id="293" r:id="rId19"/>
    <p:sldId id="284" r:id="rId20"/>
    <p:sldId id="319" r:id="rId21"/>
    <p:sldId id="324" r:id="rId22"/>
    <p:sldId id="325" r:id="rId23"/>
    <p:sldId id="322" r:id="rId24"/>
    <p:sldId id="303" r:id="rId25"/>
    <p:sldId id="328" r:id="rId26"/>
    <p:sldId id="315" r:id="rId27"/>
    <p:sldId id="320" r:id="rId28"/>
    <p:sldId id="308" r:id="rId29"/>
    <p:sldId id="326" r:id="rId30"/>
    <p:sldId id="333" r:id="rId31"/>
    <p:sldId id="334" r:id="rId32"/>
    <p:sldId id="335" r:id="rId33"/>
    <p:sldId id="329" r:id="rId3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51" autoAdjust="0"/>
  </p:normalViewPr>
  <p:slideViewPr>
    <p:cSldViewPr>
      <p:cViewPr varScale="1">
        <p:scale>
          <a:sx n="60" d="100"/>
          <a:sy n="60" d="100"/>
        </p:scale>
        <p:origin x="146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EC253-9971-41A4-AF7C-6B667556299F}" type="datetimeFigureOut">
              <a:rPr lang="fr-FR" smtClean="0"/>
              <a:t>29/12/2024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FE4C0-D22B-44AE-BEAF-A14A956F77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99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781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H : hypoxémie, hypovolémie, hypothermie, hyper-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hypokaliém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601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659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02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Enlever toute prothèse dentaire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90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5599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E4C0-D22B-44AE-BEAF-A14A956F776D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21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e libre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Forme libre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Forme libre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e libre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Forme libre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Forme libre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Forme libre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Forme libre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1" name="Forme libre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Forme libre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3" name="Forme libre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4" name="Forme libre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5" name="Forme libre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6" name="Forme libre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Forme libre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9" name="Connecteur droit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e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Connecteur droit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fr-FR"/>
              <a:t>Cliquez sur l'icône pour ajouter une image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grpSp>
        <p:nvGrpSpPr>
          <p:cNvPr id="14" name="Groupe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Connecteur droit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Connecteur droit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7591C13-3EF2-46F1-9161-3F21E608F069}" type="datetimeFigureOut">
              <a:rPr lang="fr-FR" smtClean="0"/>
              <a:pPr/>
              <a:t>29/12/2024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D569E2-1E0E-49CD-8C7B-9C3AB5C9861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>
          <a:xfrm>
            <a:off x="3347864" y="5301208"/>
            <a:ext cx="3500462" cy="928694"/>
          </a:xfrm>
        </p:spPr>
        <p:txBody>
          <a:bodyPr>
            <a:normAutofit/>
          </a:bodyPr>
          <a:lstStyle/>
          <a:p>
            <a:endParaRPr lang="fr-FR" dirty="0"/>
          </a:p>
          <a:p>
            <a:endParaRPr lang="fr-FR" dirty="0"/>
          </a:p>
          <a:p>
            <a:endParaRPr lang="fr-FR" sz="4600" dirty="0">
              <a:solidFill>
                <a:srgbClr val="FF0000"/>
              </a:solidFill>
            </a:endParaRPr>
          </a:p>
          <a:p>
            <a:endParaRPr lang="fr-FR" sz="4600" dirty="0">
              <a:solidFill>
                <a:srgbClr val="FF0000"/>
              </a:solidFill>
            </a:endParaRPr>
          </a:p>
          <a:p>
            <a:endParaRPr lang="fr-FR" sz="4600" dirty="0">
              <a:solidFill>
                <a:srgbClr val="FF0000"/>
              </a:solidFill>
            </a:endParaRPr>
          </a:p>
          <a:p>
            <a:endParaRPr lang="fr-FR" sz="4600" dirty="0">
              <a:solidFill>
                <a:srgbClr val="FF0000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611560" y="476672"/>
            <a:ext cx="8532440" cy="6381328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br>
              <a:rPr lang="fr-FR" dirty="0"/>
            </a:br>
            <a:r>
              <a:rPr lang="fr-FR" dirty="0"/>
              <a:t>  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5576" y="5031783"/>
            <a:ext cx="8286526" cy="1467544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Dr .S.BELLAHDID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</a:rPr>
              <a:t>Réanimation  Médicale  Polyvalente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</a:rPr>
              <a:t>CHU MUSTAPHA    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054D4-F920-485C-8073-9D0362D64955}"/>
              </a:ext>
            </a:extLst>
          </p:cNvPr>
          <p:cNvSpPr/>
          <p:nvPr/>
        </p:nvSpPr>
        <p:spPr>
          <a:xfrm>
            <a:off x="1115616" y="1603023"/>
            <a:ext cx="5924200" cy="123622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Calibri" panose="020F0502020204030204" pitchFamily="34" charset="0"/>
              </a:rPr>
              <a:t>DETRESSE</a:t>
            </a:r>
          </a:p>
          <a:p>
            <a:pPr algn="ctr"/>
            <a:r>
              <a:rPr lang="fr-FR" sz="4400" b="1" dirty="0">
                <a:solidFill>
                  <a:schemeClr val="tx1"/>
                </a:solidFill>
                <a:latin typeface="Calibri" panose="020F0502020204030204" pitchFamily="34" charset="0"/>
              </a:rPr>
              <a:t> CARDIO-CIRCULATOIRE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214290"/>
            <a:ext cx="8143932" cy="785818"/>
          </a:xfrm>
          <a:solidFill>
            <a:schemeClr val="tx1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fr-FR" sz="4400" b="1" dirty="0">
                <a:latin typeface="Calibri" panose="020F0502020204030204" pitchFamily="34" charset="0"/>
              </a:rPr>
              <a:t>               </a:t>
            </a:r>
            <a:r>
              <a:rPr lang="fr-FR" sz="4400" b="1" dirty="0">
                <a:solidFill>
                  <a:srgbClr val="FF0000"/>
                </a:solidFill>
                <a:latin typeface="Calibri" panose="020F0502020204030204" pitchFamily="34" charset="0"/>
              </a:rPr>
              <a:t>I/INTRODUCTION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348" y="928670"/>
            <a:ext cx="8143932" cy="571504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endParaRPr lang="fr-FR" sz="4400" b="1" u="sng" dirty="0">
              <a:solidFill>
                <a:srgbClr val="FF0000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4400" b="1" dirty="0">
                <a:solidFill>
                  <a:schemeClr val="bg1"/>
                </a:solidFill>
              </a:rPr>
              <a:t>l’ arrêt cardiaque soudain est</a:t>
            </a:r>
          </a:p>
          <a:p>
            <a:pPr marL="68580" indent="0">
              <a:buClr>
                <a:schemeClr val="bg1"/>
              </a:buClr>
              <a:buNone/>
            </a:pPr>
            <a:r>
              <a:rPr lang="fr-FR" sz="4400" b="1" dirty="0">
                <a:solidFill>
                  <a:schemeClr val="bg1"/>
                </a:solidFill>
              </a:rPr>
              <a:t> l’ une des principales causes de décès.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4400" b="1" dirty="0">
                <a:solidFill>
                  <a:schemeClr val="bg1"/>
                </a:solidFill>
              </a:rPr>
              <a:t>C’est une </a:t>
            </a:r>
            <a:r>
              <a:rPr lang="fr-FR" sz="4400" b="1" dirty="0">
                <a:solidFill>
                  <a:srgbClr val="FF0000"/>
                </a:solidFill>
              </a:rPr>
              <a:t>urgence absolue ++++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4400" b="1" dirty="0">
                <a:solidFill>
                  <a:schemeClr val="bg1"/>
                </a:solidFill>
              </a:rPr>
              <a:t>50000 décès /an en France dont 50 % en </a:t>
            </a:r>
            <a:r>
              <a:rPr lang="fr-FR" sz="4400" b="1" dirty="0" err="1">
                <a:solidFill>
                  <a:schemeClr val="bg1"/>
                </a:solidFill>
              </a:rPr>
              <a:t>éxtra</a:t>
            </a:r>
            <a:r>
              <a:rPr lang="fr-FR" sz="4400" b="1" dirty="0">
                <a:solidFill>
                  <a:schemeClr val="bg1"/>
                </a:solidFill>
              </a:rPr>
              <a:t> hospitalier 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4400" b="1" dirty="0">
                <a:solidFill>
                  <a:schemeClr val="bg1"/>
                </a:solidFill>
              </a:rPr>
              <a:t>Taux de survie est de 2-11 %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4400" b="1" dirty="0">
                <a:solidFill>
                  <a:schemeClr val="bg1"/>
                </a:solidFill>
              </a:rPr>
              <a:t>La littérature montre qu’ un arrêt cardiaque peut survenir au cabinet dentaire 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4400" b="1" dirty="0">
                <a:solidFill>
                  <a:schemeClr val="bg1"/>
                </a:solidFill>
              </a:rPr>
              <a:t>La majorité des victimes d’ un arrêt cardiaque inopiné présente une fibrillation ventriculaire.</a:t>
            </a:r>
            <a:endParaRPr lang="fr-FR" sz="36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F0BF17-7F5A-4CE9-A08B-6D43376B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684688"/>
          </a:xfrm>
          <a:solidFill>
            <a:schemeClr val="tx1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</a:t>
            </a:r>
            <a:r>
              <a:rPr lang="fr-FR" sz="4800" b="1" dirty="0">
                <a:solidFill>
                  <a:srgbClr val="FF0000"/>
                </a:solidFill>
                <a:latin typeface="Calibri" panose="020F0502020204030204" pitchFamily="34" charset="0"/>
              </a:rPr>
              <a:t>DEFINITION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695C75-D0C1-44A6-92F7-2CA04344E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6752"/>
            <a:ext cx="7772400" cy="5158808"/>
          </a:xfrm>
          <a:solidFill>
            <a:schemeClr val="tx1"/>
          </a:solidFill>
        </p:spPr>
        <p:txBody>
          <a:bodyPr>
            <a:normAutofit fontScale="85000" lnSpcReduction="10000"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600" dirty="0">
                <a:solidFill>
                  <a:srgbClr val="FF0000"/>
                </a:solidFill>
                <a:latin typeface="Calibri" panose="020F0502020204030204" pitchFamily="34" charset="0"/>
              </a:rPr>
              <a:t>l’arrêt </a:t>
            </a:r>
            <a:r>
              <a:rPr lang="fr-FR" sz="3600" dirty="0" err="1">
                <a:solidFill>
                  <a:srgbClr val="FF0000"/>
                </a:solidFill>
                <a:latin typeface="Calibri" panose="020F0502020204030204" pitchFamily="34" charset="0"/>
              </a:rPr>
              <a:t>cardio-circulatoire</a:t>
            </a:r>
            <a:r>
              <a:rPr lang="fr-FR" sz="36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</a:rPr>
              <a:t>est une interruption brutale de la circulation et de la ventilation aboutissant à une anoxie cellulaire  notamment au niveau cérébrale.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600" dirty="0">
                <a:solidFill>
                  <a:schemeClr val="bg1"/>
                </a:solidFill>
                <a:latin typeface="Calibri" panose="020F0502020204030204" pitchFamily="34" charset="0"/>
              </a:rPr>
              <a:t>La mort neuronale survient en  4 à 6 minutes en l’ absence de Réanimation adéquate.</a:t>
            </a:r>
          </a:p>
          <a:p>
            <a:pPr>
              <a:buNone/>
            </a:pPr>
            <a:r>
              <a:rPr lang="fr-FR" sz="36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Code pénal </a:t>
            </a:r>
            <a:r>
              <a:rPr lang="fr-FR" sz="3600" u="sng" dirty="0">
                <a:solidFill>
                  <a:srgbClr val="FF0000"/>
                </a:solidFill>
                <a:latin typeface="Calibri" panose="020F0502020204030204" pitchFamily="34" charset="0"/>
              </a:rPr>
              <a:t>: </a:t>
            </a:r>
          </a:p>
          <a:p>
            <a:pPr>
              <a:buNone/>
            </a:pPr>
            <a:r>
              <a:rPr lang="fr-FR" sz="3600" dirty="0">
                <a:solidFill>
                  <a:srgbClr val="FF0000"/>
                </a:solidFill>
                <a:latin typeface="Calibri" panose="020F0502020204030204" pitchFamily="34" charset="0"/>
              </a:rPr>
              <a:t>l’ absence de réanimation devant un arrêt cardio- circulatoire est une non assistance à une personne en danger++++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0452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502440"/>
            <a:ext cx="7805599" cy="640544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II/ ETIOLOGIES (1)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400" y="1142984"/>
            <a:ext cx="7772400" cy="5212576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68580" indent="0">
              <a:buNone/>
            </a:pPr>
            <a:endParaRPr lang="fr-FR" b="1" u="sng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L’ arrêt  Cardio-circulatoire peut survenir: </a:t>
            </a:r>
          </a:p>
          <a:p>
            <a:pPr>
              <a:buNone/>
            </a:pPr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- Par hypovolémie</a:t>
            </a:r>
          </a:p>
          <a:p>
            <a:pPr>
              <a:buFont typeface="Wingdings" pitchFamily="2" charset="2"/>
              <a:buNone/>
            </a:pPr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-Par hypoxie</a:t>
            </a:r>
          </a:p>
          <a:p>
            <a:pPr>
              <a:buFont typeface="Wingdings" pitchFamily="2" charset="2"/>
              <a:buNone/>
            </a:pPr>
            <a:r>
              <a:rPr lang="fr-FR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- Par fibrillation ventriculaire </a:t>
            </a:r>
            <a:endParaRPr lang="fr-FR" sz="3600" b="1" dirty="0"/>
          </a:p>
          <a:p>
            <a:pPr>
              <a:buNone/>
            </a:pPr>
            <a:endParaRPr lang="fr-FR" sz="3600" b="1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3F83BC-0EE1-A4FA-7F80-A7383012D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27163"/>
            <a:ext cx="7772400" cy="4928397"/>
          </a:xfrm>
          <a:solidFill>
            <a:srgbClr val="FFFFFF"/>
          </a:solidFill>
        </p:spPr>
        <p:txBody>
          <a:bodyPr/>
          <a:lstStyle/>
          <a:p>
            <a:pPr marL="6858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A-ETIOLOGIES CARDIO VASCULAIRES:</a:t>
            </a:r>
          </a:p>
          <a:p>
            <a:pPr>
              <a:buNone/>
            </a:pPr>
            <a:r>
              <a:rPr lang="fr-FR" dirty="0"/>
              <a:t>-</a:t>
            </a:r>
            <a:r>
              <a:rPr lang="fr-FR" sz="3200" b="1" dirty="0">
                <a:solidFill>
                  <a:schemeClr val="bg1"/>
                </a:solidFill>
              </a:rPr>
              <a:t>Fibrillation ventriculaire</a:t>
            </a:r>
          </a:p>
          <a:p>
            <a:pPr>
              <a:buNone/>
            </a:pPr>
            <a:r>
              <a:rPr lang="fr-FR" sz="3200" b="1" dirty="0">
                <a:solidFill>
                  <a:schemeClr val="bg1"/>
                </a:solidFill>
              </a:rPr>
              <a:t>-Embolie pulmonaire massive </a:t>
            </a:r>
          </a:p>
          <a:p>
            <a:pPr>
              <a:buNone/>
            </a:pPr>
            <a:r>
              <a:rPr lang="fr-FR" sz="3200" b="1" dirty="0">
                <a:solidFill>
                  <a:schemeClr val="bg1"/>
                </a:solidFill>
              </a:rPr>
              <a:t>-Etats de choc ,Infarctus du myocarde massif </a:t>
            </a:r>
          </a:p>
          <a:p>
            <a:pPr>
              <a:buNone/>
            </a:pPr>
            <a:r>
              <a:rPr lang="fr-FR" sz="3200" b="1" dirty="0">
                <a:solidFill>
                  <a:schemeClr val="bg1"/>
                </a:solidFill>
              </a:rPr>
              <a:t>-Troubles de la conduction</a:t>
            </a:r>
          </a:p>
          <a:p>
            <a:pPr>
              <a:buNone/>
            </a:pPr>
            <a:r>
              <a:rPr lang="fr-FR" sz="3200" b="1" dirty="0">
                <a:solidFill>
                  <a:schemeClr val="bg1"/>
                </a:solidFill>
              </a:rPr>
              <a:t>-Traumatiques: plaie artérielle </a:t>
            </a:r>
          </a:p>
          <a:p>
            <a:pPr>
              <a:buNone/>
            </a:pPr>
            <a:r>
              <a:rPr lang="fr-FR" sz="3200" b="1" dirty="0">
                <a:solidFill>
                  <a:schemeClr val="bg1"/>
                </a:solidFill>
              </a:rPr>
              <a:t>-Tamponnade </a:t>
            </a: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88AE800-4844-A80C-5A62-58237F65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91440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II/ ETIOLOGIES (2)</a:t>
            </a:r>
          </a:p>
        </p:txBody>
      </p:sp>
    </p:spTree>
    <p:extLst>
      <p:ext uri="{BB962C8B-B14F-4D97-AF65-F5344CB8AC3E}">
        <p14:creationId xmlns:p14="http://schemas.microsoft.com/office/powerpoint/2010/main" val="26895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C1A778-C5A5-472C-82BE-49877CA0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solidFill>
            <a:schemeClr val="tx1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II/ETIOLOGIES(3)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B99097-CEE5-470E-B684-3BB3C933B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6752"/>
            <a:ext cx="7772400" cy="5158808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B-RESPIRATOIRES: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-Asthme aigue grave 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-Pneumothorax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-Obstruction  des voies aériennes par un corps étranger</a:t>
            </a:r>
          </a:p>
          <a:p>
            <a:pPr>
              <a:buNone/>
            </a:pPr>
            <a:r>
              <a:rPr lang="fr-FR" b="1" dirty="0">
                <a:solidFill>
                  <a:schemeClr val="bg1"/>
                </a:solidFill>
              </a:rPr>
              <a:t>-hypoxémie</a:t>
            </a:r>
          </a:p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  <a:latin typeface="Calibri" panose="020F0502020204030204" pitchFamily="34" charset="0"/>
              </a:rPr>
              <a:t>E-METABOLIQUE </a:t>
            </a:r>
            <a:r>
              <a:rPr lang="fr-FR" b="1" dirty="0">
                <a:solidFill>
                  <a:schemeClr val="bg1"/>
                </a:solidFill>
              </a:rPr>
              <a:t>:Hyperkaliémie ou Hyperkaliémie  ,acidose 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39BE40D-E82A-4F19-909A-27FF14E03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843768"/>
            <a:ext cx="1656184" cy="126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47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DC786C-E4D8-FCE9-77F8-43C06A5DF31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II/ETIOLOGIES(4)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C2CD1-00A1-3AC4-3AF5-FD38F2814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26464"/>
            <a:ext cx="7772400" cy="4929096"/>
          </a:xfrm>
          <a:solidFill>
            <a:srgbClr val="FFFFFF"/>
          </a:solidFill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C-NEUROLOGIQUES :</a:t>
            </a:r>
          </a:p>
          <a:p>
            <a:pPr marL="68580" indent="0">
              <a:buNone/>
            </a:pPr>
            <a:r>
              <a:rPr lang="fr-FR" b="1" dirty="0">
                <a:solidFill>
                  <a:schemeClr val="bg1"/>
                </a:solidFill>
              </a:rPr>
              <a:t>-Atteinte de la commande neurologique</a:t>
            </a:r>
          </a:p>
          <a:p>
            <a:pPr marL="68580" indent="0">
              <a:buNone/>
            </a:pPr>
            <a:r>
              <a:rPr lang="fr-FR" b="1" dirty="0">
                <a:solidFill>
                  <a:schemeClr val="bg1"/>
                </a:solidFill>
              </a:rPr>
              <a:t>-Syndrome de GUILAIN BARRE </a:t>
            </a:r>
          </a:p>
          <a:p>
            <a:pPr>
              <a:buNone/>
            </a:pPr>
            <a:r>
              <a:rPr lang="fr-FR" dirty="0"/>
              <a:t> </a:t>
            </a:r>
            <a:r>
              <a:rPr lang="fr-FR" b="1" u="sng" dirty="0">
                <a:solidFill>
                  <a:srgbClr val="FF0000"/>
                </a:solidFill>
              </a:rPr>
              <a:t>D-INTOXICATION</a:t>
            </a:r>
            <a:r>
              <a:rPr lang="fr-FR" dirty="0"/>
              <a:t>: </a:t>
            </a:r>
          </a:p>
          <a:p>
            <a:pPr>
              <a:buNone/>
            </a:pPr>
            <a:r>
              <a:rPr lang="fr-FR" b="1" dirty="0"/>
              <a:t>  </a:t>
            </a:r>
            <a:r>
              <a:rPr lang="fr-FR" b="1" dirty="0">
                <a:solidFill>
                  <a:schemeClr val="bg1"/>
                </a:solidFill>
              </a:rPr>
              <a:t>-Intoxication au  gaz carbonique</a:t>
            </a:r>
          </a:p>
          <a:p>
            <a:pPr marL="68580" indent="0">
              <a:buNone/>
            </a:pPr>
            <a:r>
              <a:rPr lang="fr-FR" b="1" dirty="0">
                <a:solidFill>
                  <a:schemeClr val="bg1"/>
                </a:solidFill>
              </a:rPr>
              <a:t> -Médicamenteuse  :</a:t>
            </a:r>
            <a:r>
              <a:rPr lang="fr-FR" b="1" dirty="0" err="1">
                <a:solidFill>
                  <a:schemeClr val="bg1"/>
                </a:solidFill>
              </a:rPr>
              <a:t>Tricycliques,inhibiteurs</a:t>
            </a:r>
            <a:r>
              <a:rPr lang="fr-FR" b="1" dirty="0">
                <a:solidFill>
                  <a:schemeClr val="bg1"/>
                </a:solidFill>
              </a:rPr>
              <a:t> calciques ,bétabloquants ,digitaliques</a:t>
            </a:r>
          </a:p>
          <a:p>
            <a:pPr marL="68580" indent="0">
              <a:buNone/>
            </a:pP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u="sng" dirty="0">
                <a:solidFill>
                  <a:srgbClr val="FF0000"/>
                </a:solidFill>
                <a:latin typeface="Calibri" panose="020F0502020204030204" pitchFamily="34" charset="0"/>
              </a:rPr>
              <a:t>E-METABOLIQUE </a:t>
            </a:r>
            <a:r>
              <a:rPr lang="fr-FR" b="1" dirty="0">
                <a:solidFill>
                  <a:schemeClr val="bg1"/>
                </a:solidFill>
              </a:rPr>
              <a:t>:</a:t>
            </a:r>
          </a:p>
          <a:p>
            <a:pPr marL="68580" indent="0">
              <a:buNone/>
            </a:pPr>
            <a:r>
              <a:rPr lang="fr-FR" b="1" dirty="0">
                <a:solidFill>
                  <a:schemeClr val="bg1"/>
                </a:solidFill>
              </a:rPr>
              <a:t>      -Hyperkaliémie ou Hyperkaliémie </a:t>
            </a:r>
          </a:p>
          <a:p>
            <a:pPr marL="68580" indent="0">
              <a:buNone/>
            </a:pPr>
            <a:r>
              <a:rPr lang="fr-FR" b="1" dirty="0">
                <a:solidFill>
                  <a:schemeClr val="bg1"/>
                </a:solidFill>
              </a:rPr>
              <a:t>      -Acidose </a:t>
            </a: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pPr>
              <a:buNone/>
            </a:pPr>
            <a:endParaRPr lang="fr-FR" b="1" dirty="0">
              <a:solidFill>
                <a:schemeClr val="bg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751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332656"/>
            <a:ext cx="8115328" cy="953204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sz="4400" b="1" dirty="0">
                <a:solidFill>
                  <a:srgbClr val="FF0000"/>
                </a:solidFill>
              </a:rPr>
              <a:t>    III/ DIAGNOSTIC  POSITIF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85860"/>
            <a:ext cx="8215370" cy="535785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FF0000"/>
                </a:solidFill>
              </a:rPr>
              <a:t>      SIGNES CLINIQUES DE L’ARRET CARDIAQUE :</a:t>
            </a:r>
          </a:p>
          <a:p>
            <a:pPr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>
              <a:buNone/>
            </a:pPr>
            <a:endParaRPr lang="fr-FR" b="1" u="sng" dirty="0">
              <a:solidFill>
                <a:srgbClr val="FF0000"/>
              </a:solidFill>
            </a:endParaRPr>
          </a:p>
          <a:p>
            <a:pPr marL="68580" indent="0">
              <a:buClrTx/>
              <a:buNone/>
            </a:pPr>
            <a:r>
              <a:rPr lang="fr-FR" dirty="0"/>
              <a:t>   </a:t>
            </a:r>
            <a:endParaRPr lang="fr-FR" b="1" dirty="0"/>
          </a:p>
          <a:p>
            <a:pPr marL="68580" indent="0">
              <a:buClrTx/>
              <a:buNone/>
            </a:pPr>
            <a:r>
              <a:rPr lang="fr-FR" b="1" dirty="0"/>
              <a:t> </a:t>
            </a:r>
            <a:r>
              <a:rPr lang="fr-FR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5" name="Organigramme : Alternative 4">
            <a:extLst>
              <a:ext uri="{FF2B5EF4-FFF2-40B4-BE49-F238E27FC236}">
                <a16:creationId xmlns:a16="http://schemas.microsoft.com/office/drawing/2014/main" id="{8186B0EA-F91A-4B4B-950C-5FA3C04C320A}"/>
              </a:ext>
            </a:extLst>
          </p:cNvPr>
          <p:cNvSpPr/>
          <p:nvPr/>
        </p:nvSpPr>
        <p:spPr>
          <a:xfrm>
            <a:off x="899592" y="1844824"/>
            <a:ext cx="7672936" cy="4680520"/>
          </a:xfrm>
          <a:prstGeom prst="flowChartAlternate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Absence de réponse=</a:t>
            </a:r>
            <a:r>
              <a:rPr lang="fr-FR" sz="2800" b="1" i="1" dirty="0">
                <a:solidFill>
                  <a:srgbClr val="0070C0"/>
                </a:solidFill>
                <a:latin typeface="Calibri" panose="020F0502020204030204" pitchFamily="34" charset="0"/>
              </a:rPr>
              <a:t>perte de connaissance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i="1" dirty="0">
                <a:solidFill>
                  <a:srgbClr val="0070C0"/>
                </a:solidFill>
                <a:latin typeface="Calibri" panose="020F0502020204030204" pitchFamily="34" charset="0"/>
              </a:rPr>
              <a:t>Absence </a:t>
            </a: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de </a:t>
            </a:r>
            <a:r>
              <a:rPr lang="fr-FR" sz="2800" b="1" i="1" dirty="0">
                <a:solidFill>
                  <a:srgbClr val="0070C0"/>
                </a:solidFill>
                <a:latin typeface="Calibri" panose="020F0502020204030204" pitchFamily="34" charset="0"/>
              </a:rPr>
              <a:t>respiration</a:t>
            </a: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=abolition des mouvements respiratoire s +/- </a:t>
            </a:r>
            <a:r>
              <a:rPr lang="fr-FR" sz="2800" b="1" i="1" dirty="0" err="1">
                <a:solidFill>
                  <a:schemeClr val="bg1"/>
                </a:solidFill>
                <a:latin typeface="Calibri" panose="020F0502020204030204" pitchFamily="34" charset="0"/>
              </a:rPr>
              <a:t>Gasps</a:t>
            </a: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.</a:t>
            </a:r>
          </a:p>
          <a:p>
            <a:pPr marL="174625" indent="-174625">
              <a:buFont typeface="Wingdings" panose="05000000000000000000" pitchFamily="2" charset="2"/>
              <a:buChar char="Ø"/>
            </a:pPr>
            <a:r>
              <a:rPr lang="fr-FR" sz="2800" b="1" i="1" dirty="0">
                <a:solidFill>
                  <a:srgbClr val="0070C0"/>
                </a:solidFill>
                <a:latin typeface="Calibri" panose="020F0502020204030204" pitchFamily="34" charset="0"/>
              </a:rPr>
              <a:t>Absence</a:t>
            </a: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 de </a:t>
            </a:r>
            <a:r>
              <a:rPr lang="fr-FR" sz="2800" b="1" i="1" dirty="0">
                <a:solidFill>
                  <a:srgbClr val="0070C0"/>
                </a:solidFill>
                <a:latin typeface="Calibri" panose="020F0502020204030204" pitchFamily="34" charset="0"/>
              </a:rPr>
              <a:t>pouls Radial ,carotidien, fémoral.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Modification du diamètre des pupilles</a:t>
            </a:r>
          </a:p>
          <a:p>
            <a:r>
              <a:rPr lang="fr-FR" sz="2800" b="1" i="1" dirty="0" err="1">
                <a:solidFill>
                  <a:schemeClr val="bg1"/>
                </a:solidFill>
                <a:latin typeface="Calibri" panose="020F0502020204030204" pitchFamily="34" charset="0"/>
              </a:rPr>
              <a:t>myosis,puis</a:t>
            </a: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i="1" u="sng" dirty="0">
                <a:solidFill>
                  <a:srgbClr val="0070C0"/>
                </a:solidFill>
                <a:latin typeface="Calibri" panose="020F0502020204030204" pitchFamily="34" charset="0"/>
              </a:rPr>
              <a:t>Mydriase</a:t>
            </a:r>
            <a:r>
              <a:rPr lang="fr-FR" sz="2800" b="1" i="1" u="sng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i="1" u="sng" dirty="0">
                <a:solidFill>
                  <a:srgbClr val="0070C0"/>
                </a:solidFill>
                <a:latin typeface="Calibri" panose="020F0502020204030204" pitchFamily="34" charset="0"/>
              </a:rPr>
              <a:t>bilatérale</a:t>
            </a:r>
            <a:r>
              <a:rPr lang="fr-FR" sz="2800" b="1" i="1" u="sng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i="1" u="sng" dirty="0">
                <a:solidFill>
                  <a:srgbClr val="0070C0"/>
                </a:solidFill>
                <a:latin typeface="Calibri" panose="020F0502020204030204" pitchFamily="34" charset="0"/>
              </a:rPr>
              <a:t>aréactive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i="1" dirty="0">
                <a:solidFill>
                  <a:schemeClr val="bg1"/>
                </a:solidFill>
                <a:latin typeface="Calibri" panose="020F0502020204030204" pitchFamily="34" charset="0"/>
              </a:rPr>
              <a:t>Signes cutanés :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marbrures</a:t>
            </a:r>
            <a:r>
              <a:rPr lang="fr-FR" sz="2800" b="1" u="sng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cyanose,pâleur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.</a:t>
            </a:r>
          </a:p>
        </p:txBody>
      </p:sp>
      <p:pic>
        <p:nvPicPr>
          <p:cNvPr id="6" name="Espace réservé du contenu 3">
            <a:extLst>
              <a:ext uri="{FF2B5EF4-FFF2-40B4-BE49-F238E27FC236}">
                <a16:creationId xmlns:a16="http://schemas.microsoft.com/office/drawing/2014/main" id="{BFDB39A0-69F1-44FC-A9A8-A212B9D1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234" y="4139260"/>
            <a:ext cx="1015976" cy="6578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185DB23-B802-4D37-AA58-A6A85D385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00192" y="4634766"/>
            <a:ext cx="1224136" cy="2232248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4CF7A34-BF9B-4689-8EDB-C11780B0E0D6}"/>
              </a:ext>
            </a:extLst>
          </p:cNvPr>
          <p:cNvCxnSpPr>
            <a:cxnSpLocks/>
          </p:cNvCxnSpPr>
          <p:nvPr/>
        </p:nvCxnSpPr>
        <p:spPr>
          <a:xfrm flipV="1">
            <a:off x="7229136" y="4468197"/>
            <a:ext cx="638195" cy="28803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06EEDC9-BE19-456F-A4F2-14E124DDD074}"/>
              </a:ext>
            </a:extLst>
          </p:cNvPr>
          <p:cNvCxnSpPr>
            <a:cxnSpLocks/>
          </p:cNvCxnSpPr>
          <p:nvPr/>
        </p:nvCxnSpPr>
        <p:spPr>
          <a:xfrm>
            <a:off x="4736060" y="5445224"/>
            <a:ext cx="1636140" cy="30566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MYDRIASE   ET   MYOSIS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26464"/>
            <a:ext cx="7906072" cy="5431536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1619672" y="2564904"/>
            <a:ext cx="1080120" cy="136815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12020" y="2060848"/>
            <a:ext cx="1656184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MYDRIASE 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7164288" y="2276872"/>
            <a:ext cx="936104" cy="180020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164288" y="1916832"/>
            <a:ext cx="1522512" cy="5040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MYOSIS</a:t>
            </a:r>
          </a:p>
        </p:txBody>
      </p:sp>
    </p:spTree>
    <p:extLst>
      <p:ext uri="{BB962C8B-B14F-4D97-AF65-F5344CB8AC3E}">
        <p14:creationId xmlns:p14="http://schemas.microsoft.com/office/powerpoint/2010/main" val="3063615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16632"/>
            <a:ext cx="7772400" cy="648072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IV/ CONDUITE THERAPEUTIQUE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400" y="764704"/>
            <a:ext cx="7906072" cy="6093296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b="1" dirty="0"/>
              <a:t>La réanimation d’ un arrêt cardio-circulatoire doit répondre à une organisation en chaine de l’ accès aux secours </a:t>
            </a:r>
            <a:r>
              <a:rPr lang="fr-FR" b="1" dirty="0" err="1"/>
              <a:t>apelée</a:t>
            </a:r>
            <a:r>
              <a:rPr lang="fr-FR" b="1" dirty="0"/>
              <a:t> </a:t>
            </a:r>
            <a:r>
              <a:rPr lang="fr-FR" b="1" dirty="0">
                <a:solidFill>
                  <a:srgbClr val="0070C0"/>
                </a:solidFill>
              </a:rPr>
              <a:t>« chaine de survie » </a:t>
            </a:r>
            <a:endParaRPr lang="fr-FR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fr-FR" sz="4200" b="1" u="sng" dirty="0">
                <a:solidFill>
                  <a:srgbClr val="FF0000"/>
                </a:solidFill>
              </a:rPr>
              <a:t>A/Alerte précoce:</a:t>
            </a:r>
          </a:p>
          <a:p>
            <a:pPr>
              <a:buNone/>
            </a:pPr>
            <a:endParaRPr lang="fr-FR" sz="33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sz="3300" b="1" dirty="0">
                <a:solidFill>
                  <a:srgbClr val="FF0000"/>
                </a:solidFill>
              </a:rPr>
              <a:t>MESSAGE      </a:t>
            </a:r>
            <a:r>
              <a:rPr lang="fr-FR" sz="3300" b="1" dirty="0"/>
              <a:t>                                      Rapide +++</a:t>
            </a:r>
          </a:p>
          <a:p>
            <a:pPr>
              <a:buNone/>
            </a:pPr>
            <a:r>
              <a:rPr lang="fr-FR" sz="3300" b="1" dirty="0">
                <a:solidFill>
                  <a:srgbClr val="FF0000"/>
                </a:solidFill>
              </a:rPr>
              <a:t>D’ALLERTE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/>
              <a:t>                                            </a:t>
            </a:r>
            <a:r>
              <a:rPr lang="fr-FR" sz="3800" b="1" dirty="0"/>
              <a:t>Précis +++</a:t>
            </a:r>
          </a:p>
          <a:p>
            <a:pPr marL="5197475" indent="-3770313">
              <a:buNone/>
              <a:tabLst>
                <a:tab pos="4748213" algn="l"/>
              </a:tabLst>
            </a:pPr>
            <a:r>
              <a:rPr lang="fr-FR" sz="3800" b="1" dirty="0"/>
              <a:t>                                         immédiate</a:t>
            </a:r>
            <a:r>
              <a:rPr lang="fr-FR" sz="3800" dirty="0"/>
              <a:t>++++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100" b="1" dirty="0"/>
              <a:t>Message au centre de secours depuis le  fixe ou téléphone portable en situant le lieu de l’ urgence.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100" b="1" dirty="0"/>
              <a:t>Commencer les gestes d’urgence en attendant le SAMU .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100" b="1" dirty="0"/>
              <a:t>Patient en « </a:t>
            </a:r>
            <a:r>
              <a:rPr lang="fr-FR" sz="3300" b="1" u="sng" dirty="0">
                <a:solidFill>
                  <a:srgbClr val="7030A0"/>
                </a:solidFill>
              </a:rPr>
              <a:t>Décubitus dorsal ,sauveteur agenouillé »</a:t>
            </a:r>
            <a:endParaRPr lang="fr-FR" sz="33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fr-FR" dirty="0"/>
              <a:t>                  </a:t>
            </a:r>
          </a:p>
        </p:txBody>
      </p:sp>
      <p:sp>
        <p:nvSpPr>
          <p:cNvPr id="5" name="Flèche droite 4"/>
          <p:cNvSpPr/>
          <p:nvPr/>
        </p:nvSpPr>
        <p:spPr>
          <a:xfrm>
            <a:off x="2915816" y="2549488"/>
            <a:ext cx="2698732" cy="12618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214290"/>
            <a:ext cx="8429684" cy="91440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 IV/ CHAINE DE SURVIE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28690"/>
            <a:ext cx="8429684" cy="366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5B4EB1-6FFE-466F-8E5B-29FB69101ECF}"/>
              </a:ext>
            </a:extLst>
          </p:cNvPr>
          <p:cNvSpPr/>
          <p:nvPr/>
        </p:nvSpPr>
        <p:spPr>
          <a:xfrm>
            <a:off x="500034" y="4797152"/>
            <a:ext cx="8643966" cy="2060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La chaine  de survie se compose de 4  maillons : 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1-Alerte précoce 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2-RCP précoce 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3-Défibrilation précoce </a:t>
            </a:r>
          </a:p>
          <a:p>
            <a:r>
              <a:rPr lang="fr-FR" sz="2400" b="1" dirty="0">
                <a:solidFill>
                  <a:schemeClr val="bg1"/>
                </a:solidFill>
              </a:rPr>
              <a:t>4-Réanimation spécialisée préhospitalière et hospitalière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E4682A-AABE-43C5-B417-7368C717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906072" cy="1044728"/>
          </a:xfrm>
          <a:solidFill>
            <a:schemeClr val="tx1"/>
          </a:solidFill>
        </p:spPr>
        <p:txBody>
          <a:bodyPr/>
          <a:lstStyle/>
          <a:p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 IV/ RECOMMANDATIONS  POUR LA REANIMATION</a:t>
            </a:r>
            <a:b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                              CARDIO-PULMONAIRE </a:t>
            </a:r>
            <a:r>
              <a:rPr lang="fr-FR" dirty="0"/>
              <a:t>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34E6B-20D7-48AF-8FB9-F437B334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56792"/>
            <a:ext cx="7906072" cy="5184576"/>
          </a:xfrm>
          <a:solidFill>
            <a:schemeClr val="tx1"/>
          </a:solidFill>
        </p:spPr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fr-FR" sz="3900" b="1" u="sng" dirty="0">
                <a:solidFill>
                  <a:srgbClr val="FF0000"/>
                </a:solidFill>
              </a:rPr>
              <a:t>1</a:t>
            </a:r>
            <a:r>
              <a:rPr lang="fr-FR" b="1" u="sng" dirty="0">
                <a:solidFill>
                  <a:srgbClr val="FF0000"/>
                </a:solidFill>
              </a:rPr>
              <a:t>/NO-NO-GO</a:t>
            </a:r>
            <a:r>
              <a:rPr lang="fr-FR" u="sng" dirty="0">
                <a:solidFill>
                  <a:schemeClr val="bg1"/>
                </a:solidFill>
              </a:rPr>
              <a:t>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 Premier outil  de diagnostic D’un arrêt cardiaque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Deux questions sont posés par l’ assistant de  régulation à l’ appelant :</a:t>
            </a:r>
          </a:p>
          <a:p>
            <a:pPr marL="68580" indent="0">
              <a:buClr>
                <a:schemeClr val="bg1"/>
              </a:buClr>
              <a:buNone/>
            </a:pPr>
            <a:r>
              <a:rPr lang="fr-FR" dirty="0">
                <a:solidFill>
                  <a:schemeClr val="bg1"/>
                </a:solidFill>
              </a:rPr>
              <a:t>     -Est-ce que le patient est conscient ?</a:t>
            </a:r>
          </a:p>
          <a:p>
            <a:pPr marL="68580" indent="0">
              <a:buNone/>
            </a:pPr>
            <a:r>
              <a:rPr lang="fr-FR" dirty="0">
                <a:solidFill>
                  <a:schemeClr val="bg1"/>
                </a:solidFill>
              </a:rPr>
              <a:t>             réponse </a:t>
            </a:r>
            <a:r>
              <a:rPr lang="fr-FR" b="1" dirty="0">
                <a:solidFill>
                  <a:srgbClr val="FF0000"/>
                </a:solidFill>
              </a:rPr>
              <a:t>NO </a:t>
            </a:r>
          </a:p>
          <a:p>
            <a:pPr marL="68580" indent="0">
              <a:buNone/>
            </a:pPr>
            <a:r>
              <a:rPr lang="fr-FR" dirty="0">
                <a:solidFill>
                  <a:schemeClr val="bg1"/>
                </a:solidFill>
              </a:rPr>
              <a:t>     -Est-ce que le patient respire normalement ?</a:t>
            </a:r>
          </a:p>
          <a:p>
            <a:pPr marL="68580" indent="0">
              <a:buNone/>
            </a:pPr>
            <a:r>
              <a:rPr lang="fr-FR" dirty="0">
                <a:solidFill>
                  <a:schemeClr val="bg1"/>
                </a:solidFill>
              </a:rPr>
              <a:t>           réponse </a:t>
            </a:r>
            <a:r>
              <a:rPr lang="fr-FR" b="1" dirty="0">
                <a:solidFill>
                  <a:srgbClr val="FF0000"/>
                </a:solidFill>
              </a:rPr>
              <a:t>NO </a:t>
            </a:r>
          </a:p>
          <a:p>
            <a:pPr marL="68580" indent="0">
              <a:buNone/>
            </a:pPr>
            <a:r>
              <a:rPr lang="fr-FR" dirty="0">
                <a:solidFill>
                  <a:schemeClr val="bg1"/>
                </a:solidFill>
              </a:rPr>
              <a:t>     -Dans ce cas l’ appelant doit débuter la compression thoracique continue jusqu’à l’ arrivé des secours   action :</a:t>
            </a:r>
            <a:r>
              <a:rPr lang="fr-FR" b="1" dirty="0">
                <a:solidFill>
                  <a:srgbClr val="FF0000"/>
                </a:solidFill>
              </a:rPr>
              <a:t>GO </a:t>
            </a:r>
          </a:p>
          <a:p>
            <a:pPr marL="68580" indent="0"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39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1A3A5C-1B49-4A1F-9AA1-B565DE16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88640"/>
            <a:ext cx="8208912" cy="1080120"/>
          </a:xfrm>
          <a:solidFill>
            <a:schemeClr val="tx1"/>
          </a:solidFill>
        </p:spPr>
        <p:txBody>
          <a:bodyPr/>
          <a:lstStyle/>
          <a:p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IV/  RECOMMANDATIONS  POUR LA REANIMATION </a:t>
            </a:r>
            <a:b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                     CARDIO-PULMONAIRE</a:t>
            </a:r>
            <a:endParaRPr lang="fr-FR" sz="2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F495E-7764-4844-9A12-AEC589AC1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268760"/>
            <a:ext cx="8208912" cy="5086800"/>
          </a:xfrm>
          <a:solidFill>
            <a:schemeClr val="tx1"/>
          </a:solidFill>
        </p:spPr>
        <p:txBody>
          <a:bodyPr>
            <a:normAutofit fontScale="25000" lnSpcReduction="20000"/>
          </a:bodyPr>
          <a:lstStyle/>
          <a:p>
            <a:pPr marL="68580" indent="0">
              <a:buNone/>
            </a:pPr>
            <a:r>
              <a:rPr lang="fr-FR" sz="11200" b="1" u="sng" dirty="0">
                <a:solidFill>
                  <a:srgbClr val="FF0000"/>
                </a:solidFill>
              </a:rPr>
              <a:t>2-la compression thoracique :</a:t>
            </a:r>
          </a:p>
          <a:p>
            <a:pPr marL="68580" indent="0">
              <a:buNone/>
            </a:pPr>
            <a:endParaRPr lang="fr-FR" sz="8600" b="1" u="sng" dirty="0">
              <a:solidFill>
                <a:srgbClr val="FF0000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9600" b="1" dirty="0">
                <a:solidFill>
                  <a:schemeClr val="bg1"/>
                </a:solidFill>
              </a:rPr>
              <a:t>Doit être profonde de </a:t>
            </a:r>
            <a:r>
              <a:rPr lang="fr-FR" sz="9600" b="1" dirty="0">
                <a:solidFill>
                  <a:srgbClr val="0070C0"/>
                </a:solidFill>
              </a:rPr>
              <a:t>5 </a:t>
            </a:r>
            <a:r>
              <a:rPr lang="fr-FR" sz="9600" b="1" dirty="0" err="1">
                <a:solidFill>
                  <a:srgbClr val="0070C0"/>
                </a:solidFill>
              </a:rPr>
              <a:t>cms</a:t>
            </a:r>
            <a:r>
              <a:rPr lang="fr-FR" sz="9600" b="1" dirty="0">
                <a:solidFill>
                  <a:schemeClr val="bg1"/>
                </a:solidFill>
              </a:rPr>
              <a:t> sans dépasser </a:t>
            </a:r>
            <a:r>
              <a:rPr lang="fr-FR" sz="9600" b="1" dirty="0">
                <a:solidFill>
                  <a:srgbClr val="0070C0"/>
                </a:solidFill>
              </a:rPr>
              <a:t>6cms </a:t>
            </a:r>
          </a:p>
          <a:p>
            <a:r>
              <a:rPr lang="fr-FR" sz="9600" b="1" dirty="0">
                <a:solidFill>
                  <a:schemeClr val="bg1"/>
                </a:solidFill>
              </a:rPr>
              <a:t>La fréquence </a:t>
            </a:r>
            <a:r>
              <a:rPr lang="fr-FR" sz="9600" b="1" dirty="0">
                <a:solidFill>
                  <a:srgbClr val="0070C0"/>
                </a:solidFill>
              </a:rPr>
              <a:t>des compressions  </a:t>
            </a:r>
            <a:r>
              <a:rPr lang="fr-FR" sz="9600" b="1" dirty="0">
                <a:solidFill>
                  <a:schemeClr val="bg1"/>
                </a:solidFill>
              </a:rPr>
              <a:t> est de </a:t>
            </a:r>
            <a:r>
              <a:rPr lang="fr-FR" sz="9600" b="1" dirty="0">
                <a:solidFill>
                  <a:srgbClr val="0070C0"/>
                </a:solidFill>
              </a:rPr>
              <a:t>100 à 120 /mn  </a:t>
            </a:r>
            <a:r>
              <a:rPr lang="fr-FR" sz="9600" b="1" dirty="0">
                <a:solidFill>
                  <a:schemeClr val="bg1"/>
                </a:solidFill>
              </a:rPr>
              <a:t>en minimisant les interruptions  </a:t>
            </a:r>
          </a:p>
          <a:p>
            <a:endParaRPr lang="fr-FR" sz="9600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9600" b="1" dirty="0">
                <a:solidFill>
                  <a:schemeClr val="bg1"/>
                </a:solidFill>
                <a:latin typeface="Calibri" panose="020F0502020204030204" pitchFamily="34" charset="0"/>
              </a:rPr>
              <a:t>Ventilation bouche a bouche, bouche a nez ou au ballon auto-gonfleur</a:t>
            </a:r>
          </a:p>
          <a:p>
            <a:pPr marL="68580" indent="0">
              <a:buClr>
                <a:schemeClr val="bg1"/>
              </a:buClr>
              <a:buNone/>
            </a:pPr>
            <a:endParaRPr lang="fr-FR" sz="96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9600" b="1" dirty="0">
                <a:solidFill>
                  <a:schemeClr val="bg1"/>
                </a:solidFill>
                <a:latin typeface="Calibri" panose="020F0502020204030204" pitchFamily="34" charset="0"/>
              </a:rPr>
              <a:t>oxygénation passive continue </a:t>
            </a:r>
          </a:p>
          <a:p>
            <a:pPr marL="68580" indent="0">
              <a:buClr>
                <a:schemeClr val="bg1"/>
              </a:buClr>
              <a:buNone/>
            </a:pPr>
            <a:endParaRPr lang="fr-FR" sz="96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9600" b="1" dirty="0">
                <a:solidFill>
                  <a:schemeClr val="bg1"/>
                </a:solidFill>
                <a:latin typeface="Calibri" panose="020F0502020204030204" pitchFamily="34" charset="0"/>
              </a:rPr>
              <a:t>Alternance de </a:t>
            </a:r>
            <a:r>
              <a:rPr lang="fr-FR" sz="9600" b="1" dirty="0">
                <a:solidFill>
                  <a:srgbClr val="0070C0"/>
                </a:solidFill>
                <a:latin typeface="Calibri" panose="020F0502020204030204" pitchFamily="34" charset="0"/>
              </a:rPr>
              <a:t>30 compressions </a:t>
            </a:r>
            <a:r>
              <a:rPr lang="fr-FR" sz="9600" b="1" dirty="0">
                <a:solidFill>
                  <a:schemeClr val="bg1"/>
                </a:solidFill>
                <a:latin typeface="Calibri" panose="020F0502020204030204" pitchFamily="34" charset="0"/>
              </a:rPr>
              <a:t>pour </a:t>
            </a:r>
            <a:r>
              <a:rPr lang="fr-FR" sz="9600" b="1" dirty="0">
                <a:solidFill>
                  <a:srgbClr val="0070C0"/>
                </a:solidFill>
                <a:latin typeface="Calibri" panose="020F0502020204030204" pitchFamily="34" charset="0"/>
              </a:rPr>
              <a:t>2 insufflations </a:t>
            </a:r>
            <a:r>
              <a:rPr lang="fr-FR" sz="9600" b="1" dirty="0">
                <a:solidFill>
                  <a:schemeClr val="bg1"/>
                </a:solidFill>
                <a:latin typeface="Calibri" panose="020F0502020204030204" pitchFamily="34" charset="0"/>
              </a:rPr>
              <a:t>quelque soit le nombre de secouristes</a:t>
            </a:r>
          </a:p>
          <a:p>
            <a:pPr marL="68580" indent="0">
              <a:buClr>
                <a:srgbClr val="002060"/>
              </a:buClr>
              <a:buNone/>
            </a:pPr>
            <a:endParaRPr lang="fr-FR" sz="96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sz="96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sz="9600" dirty="0">
              <a:solidFill>
                <a:schemeClr val="bg1"/>
              </a:solidFill>
            </a:endParaRPr>
          </a:p>
          <a:p>
            <a:pPr marL="68580" indent="0">
              <a:buNone/>
            </a:pPr>
            <a:endParaRPr lang="fr-FR" dirty="0">
              <a:solidFill>
                <a:schemeClr val="bg1"/>
              </a:solidFill>
            </a:endParaRPr>
          </a:p>
          <a:p>
            <a:pPr marL="68580" indent="0">
              <a:buNone/>
            </a:pPr>
            <a:r>
              <a:rPr lang="fr-FR" dirty="0">
                <a:solidFill>
                  <a:schemeClr val="bg1"/>
                </a:solidFill>
              </a:rPr>
              <a:t> </a:t>
            </a:r>
          </a:p>
          <a:p>
            <a:pPr marL="68580" indent="0"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42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78C3B-C189-4949-A25B-FD86171B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1188744"/>
          </a:xfrm>
          <a:solidFill>
            <a:schemeClr val="tx1"/>
          </a:solidFill>
        </p:spPr>
        <p:txBody>
          <a:bodyPr/>
          <a:lstStyle/>
          <a:p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RECOMMANDATIONS  POUR LA REANIMATION</a:t>
            </a:r>
            <a:b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fr-F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                   CARDIO-PULMONAIRE </a:t>
            </a:r>
            <a:endParaRPr lang="fr-FR" sz="2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51F4F5-2BF9-4356-8CC0-D84385BAA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00808"/>
            <a:ext cx="7772400" cy="5040560"/>
          </a:xfrm>
          <a:solidFill>
            <a:schemeClr val="tx1"/>
          </a:solidFill>
        </p:spPr>
        <p:txBody>
          <a:bodyPr/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chemeClr val="bg1"/>
                </a:solidFill>
              </a:rPr>
              <a:t>L’administration d’ </a:t>
            </a:r>
            <a:r>
              <a:rPr lang="fr-FR" sz="3200" b="1" dirty="0">
                <a:solidFill>
                  <a:srgbClr val="0070C0"/>
                </a:solidFill>
              </a:rPr>
              <a:t>adrénaline 1</a:t>
            </a:r>
            <a:r>
              <a:rPr lang="fr-FR" sz="3200" b="1" dirty="0">
                <a:solidFill>
                  <a:schemeClr val="bg1"/>
                </a:solidFill>
              </a:rPr>
              <a:t> </a:t>
            </a:r>
            <a:r>
              <a:rPr lang="fr-FR" sz="3200" b="1" dirty="0">
                <a:solidFill>
                  <a:srgbClr val="0070C0"/>
                </a:solidFill>
              </a:rPr>
              <a:t>mg</a:t>
            </a:r>
            <a:r>
              <a:rPr lang="fr-FR" sz="3200" b="1" dirty="0">
                <a:solidFill>
                  <a:schemeClr val="bg1"/>
                </a:solidFill>
              </a:rPr>
              <a:t> toutes les </a:t>
            </a:r>
            <a:r>
              <a:rPr lang="fr-FR" sz="3200" b="1" dirty="0">
                <a:solidFill>
                  <a:srgbClr val="0070C0"/>
                </a:solidFill>
              </a:rPr>
              <a:t>3</a:t>
            </a:r>
            <a:r>
              <a:rPr lang="fr-FR" sz="3200" b="1" dirty="0">
                <a:solidFill>
                  <a:schemeClr val="bg1"/>
                </a:solidFill>
              </a:rPr>
              <a:t> à </a:t>
            </a:r>
            <a:r>
              <a:rPr lang="fr-FR" sz="3200" b="1" dirty="0">
                <a:solidFill>
                  <a:srgbClr val="0070C0"/>
                </a:solidFill>
              </a:rPr>
              <a:t>5 minutes </a:t>
            </a:r>
            <a:r>
              <a:rPr lang="fr-FR" sz="3200" b="1" dirty="0">
                <a:solidFill>
                  <a:schemeClr val="bg1"/>
                </a:solidFill>
              </a:rPr>
              <a:t>est essentielle à la survie des patients en cas d’ arrêt cardiaque non choquable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chemeClr val="bg1"/>
                </a:solidFill>
              </a:rPr>
              <a:t>Pour les arrêts cardiaques choquables  l’adrénaline est administré </a:t>
            </a:r>
            <a:r>
              <a:rPr lang="fr-FR" sz="3200" b="1" dirty="0">
                <a:solidFill>
                  <a:srgbClr val="0070C0"/>
                </a:solidFill>
              </a:rPr>
              <a:t>après l</a:t>
            </a:r>
            <a:r>
              <a:rPr lang="fr-FR" sz="3200" b="1" dirty="0">
                <a:solidFill>
                  <a:schemeClr val="bg1"/>
                </a:solidFill>
              </a:rPr>
              <a:t>es cycles de </a:t>
            </a:r>
            <a:r>
              <a:rPr lang="fr-FR" sz="3200" b="1" dirty="0">
                <a:solidFill>
                  <a:srgbClr val="0070C0"/>
                </a:solidFill>
              </a:rPr>
              <a:t>défibrillation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603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5720" y="0"/>
            <a:ext cx="8606760" cy="57148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            CHAINE DE SURVIE </a:t>
            </a:r>
            <a:br>
              <a:rPr lang="fr-FR" b="1" dirty="0">
                <a:solidFill>
                  <a:srgbClr val="FF0000"/>
                </a:solidFill>
              </a:rPr>
            </a:b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606760" cy="6000792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fr-FR" sz="4000" b="1" dirty="0">
                <a:solidFill>
                  <a:srgbClr val="FF0000"/>
                </a:solidFill>
              </a:rPr>
              <a:t>    </a:t>
            </a:r>
            <a:r>
              <a:rPr lang="fr-FR" b="1" dirty="0">
                <a:solidFill>
                  <a:srgbClr val="FF0000"/>
                </a:solidFill>
              </a:rPr>
              <a:t>Réanimation cardio-pulmonaire de base:</a:t>
            </a:r>
          </a:p>
        </p:txBody>
      </p:sp>
      <p:sp>
        <p:nvSpPr>
          <p:cNvPr id="4" name="Organigramme : Processus 3"/>
          <p:cNvSpPr/>
          <p:nvPr/>
        </p:nvSpPr>
        <p:spPr>
          <a:xfrm>
            <a:off x="2428860" y="1357298"/>
            <a:ext cx="3286148" cy="642942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Vérifier  la réactivité</a:t>
            </a:r>
          </a:p>
        </p:txBody>
      </p:sp>
      <p:sp>
        <p:nvSpPr>
          <p:cNvPr id="5" name="Organigramme : Processus 4"/>
          <p:cNvSpPr/>
          <p:nvPr/>
        </p:nvSpPr>
        <p:spPr>
          <a:xfrm>
            <a:off x="2500298" y="2714620"/>
            <a:ext cx="3500462" cy="857256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Libérer les voies Aériennes Supérieures</a:t>
            </a:r>
          </a:p>
        </p:txBody>
      </p:sp>
      <p:sp>
        <p:nvSpPr>
          <p:cNvPr id="6" name="Organigramme : Processus 5"/>
          <p:cNvSpPr/>
          <p:nvPr/>
        </p:nvSpPr>
        <p:spPr>
          <a:xfrm>
            <a:off x="2500298" y="4143380"/>
            <a:ext cx="3571900" cy="642942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FF0000"/>
                </a:solidFill>
              </a:rPr>
              <a:t>Ventilation</a:t>
            </a:r>
          </a:p>
        </p:txBody>
      </p:sp>
      <p:sp>
        <p:nvSpPr>
          <p:cNvPr id="7" name="Organigramme : Processus 6"/>
          <p:cNvSpPr/>
          <p:nvPr/>
        </p:nvSpPr>
        <p:spPr>
          <a:xfrm>
            <a:off x="2500298" y="5572140"/>
            <a:ext cx="3643338" cy="642942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Circulation</a:t>
            </a:r>
          </a:p>
        </p:txBody>
      </p:sp>
      <p:sp>
        <p:nvSpPr>
          <p:cNvPr id="12" name="Flèche vers le bas 11"/>
          <p:cNvSpPr/>
          <p:nvPr/>
        </p:nvSpPr>
        <p:spPr>
          <a:xfrm>
            <a:off x="3786182" y="2143116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vers le bas 12"/>
          <p:cNvSpPr/>
          <p:nvPr/>
        </p:nvSpPr>
        <p:spPr>
          <a:xfrm>
            <a:off x="3786182" y="3643314"/>
            <a:ext cx="642942" cy="428628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vers le bas 13"/>
          <p:cNvSpPr/>
          <p:nvPr/>
        </p:nvSpPr>
        <p:spPr>
          <a:xfrm flipH="1">
            <a:off x="3786182" y="4857760"/>
            <a:ext cx="642942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285728"/>
            <a:ext cx="8358246" cy="500066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</a:rPr>
              <a:t>   Réanimation cardio-pulmonaire de base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785794"/>
            <a:ext cx="8358246" cy="5569766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1">
              <a:buNone/>
            </a:pPr>
            <a:r>
              <a:rPr lang="fr-FR" sz="3000" b="1" u="sng" dirty="0">
                <a:solidFill>
                  <a:srgbClr val="FF0000"/>
                </a:solidFill>
              </a:rPr>
              <a:t>1/vérifier la réactivité</a:t>
            </a:r>
            <a:r>
              <a:rPr lang="fr-FR" sz="3000" u="sng" dirty="0">
                <a:solidFill>
                  <a:srgbClr val="FF0000"/>
                </a:solidFill>
              </a:rPr>
              <a:t>:</a:t>
            </a:r>
          </a:p>
          <a:p>
            <a:pPr lvl="1">
              <a:buNone/>
            </a:pPr>
            <a:r>
              <a:rPr lang="fr-FR" b="1" dirty="0">
                <a:solidFill>
                  <a:schemeClr val="bg1"/>
                </a:solidFill>
              </a:rPr>
              <a:t>Crier :monsieur m’ entendez vous?</a:t>
            </a:r>
          </a:p>
          <a:p>
            <a:pPr lvl="1">
              <a:buNone/>
            </a:pPr>
            <a:r>
              <a:rPr lang="fr-FR" b="1" dirty="0">
                <a:solidFill>
                  <a:schemeClr val="bg1"/>
                </a:solidFill>
              </a:rPr>
              <a:t>Ouvrer les yeux </a:t>
            </a:r>
          </a:p>
          <a:p>
            <a:pPr lvl="1">
              <a:buNone/>
            </a:pPr>
            <a:r>
              <a:rPr lang="fr-FR" b="1" dirty="0">
                <a:solidFill>
                  <a:schemeClr val="bg1"/>
                </a:solidFill>
              </a:rPr>
              <a:t>Serrez moi la main ,Secouer</a:t>
            </a:r>
          </a:p>
          <a:p>
            <a:pPr lvl="1">
              <a:buNone/>
            </a:pPr>
            <a:endParaRPr lang="fr-FR" sz="2800" b="1" dirty="0"/>
          </a:p>
          <a:p>
            <a:pPr lvl="1">
              <a:buNone/>
            </a:pPr>
            <a:endParaRPr lang="fr-FR" dirty="0"/>
          </a:p>
          <a:p>
            <a:pPr lvl="1">
              <a:buNone/>
            </a:pPr>
            <a:endParaRPr lang="fr-FR" b="1" dirty="0">
              <a:solidFill>
                <a:srgbClr val="00B050"/>
              </a:solidFill>
            </a:endParaRPr>
          </a:p>
          <a:p>
            <a:pPr lvl="1">
              <a:buNone/>
            </a:pPr>
            <a:endParaRPr lang="fr-FR" dirty="0"/>
          </a:p>
          <a:p>
            <a:pPr lvl="1">
              <a:buNone/>
            </a:pPr>
            <a:endParaRPr lang="fr-FR" dirty="0"/>
          </a:p>
          <a:p>
            <a:pPr lvl="1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DF893A-9D50-4765-AC30-54EF0954F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797444"/>
            <a:ext cx="4320480" cy="357463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ADCF60-5B31-445B-9357-B31BCD666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3" y="1772816"/>
            <a:ext cx="3709645" cy="4582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143556-06F3-4A17-8C1F-554FDDC6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8640"/>
            <a:ext cx="7772400" cy="720080"/>
          </a:xfrm>
          <a:solidFill>
            <a:schemeClr val="tx1"/>
          </a:solidFill>
        </p:spPr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REANIMATION CARDIO-PULMONAIRE DE BASE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7BE4C7F-E816-41C7-9F4B-DC66F21103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508104" y="1052736"/>
            <a:ext cx="3178696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E15BC4-F5EC-459E-BEC4-CC0428C4CECF}"/>
              </a:ext>
            </a:extLst>
          </p:cNvPr>
          <p:cNvSpPr/>
          <p:nvPr/>
        </p:nvSpPr>
        <p:spPr>
          <a:xfrm>
            <a:off x="914400" y="1052736"/>
            <a:ext cx="4593704" cy="54726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7313" lvl="1" indent="-87313">
              <a:buNone/>
            </a:pPr>
            <a:endParaRPr lang="fr-FR" sz="2800" b="1" dirty="0">
              <a:solidFill>
                <a:srgbClr val="FF0000"/>
              </a:solidFill>
            </a:endParaRPr>
          </a:p>
          <a:p>
            <a:pPr marL="87313" lvl="1" indent="-87313">
              <a:buNone/>
            </a:pPr>
            <a:r>
              <a:rPr lang="fr-FR" sz="2800" b="1" u="sng" dirty="0">
                <a:solidFill>
                  <a:srgbClr val="FF0000"/>
                </a:solidFill>
              </a:rPr>
              <a:t>2/Libérer des voies aériennes supérieures: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S’assurer visuellement et manuellement de la liberté des voies aériennes  </a:t>
            </a:r>
          </a:p>
          <a:p>
            <a:pPr marL="342900" lvl="1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Placer une canule de GUEDEL</a:t>
            </a:r>
          </a:p>
          <a:p>
            <a:pPr marL="0" lvl="1">
              <a:buClr>
                <a:schemeClr val="bg1"/>
              </a:buClr>
            </a:pPr>
            <a:endParaRPr lang="fr-FR" sz="2400" b="1" dirty="0">
              <a:solidFill>
                <a:schemeClr val="bg1"/>
              </a:solidFill>
            </a:endParaRPr>
          </a:p>
          <a:p>
            <a:pPr marL="342900" lvl="1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Faire une  Extension de la tète</a:t>
            </a:r>
          </a:p>
          <a:p>
            <a:pPr marL="0" lvl="1">
              <a:buClr>
                <a:schemeClr val="bg1"/>
              </a:buClr>
            </a:pPr>
            <a:r>
              <a:rPr lang="fr-FR" sz="2400" b="1" dirty="0">
                <a:solidFill>
                  <a:schemeClr val="bg1"/>
                </a:solidFill>
              </a:rPr>
              <a:t> </a:t>
            </a:r>
          </a:p>
          <a:p>
            <a:pPr marL="436562" lvl="1" indent="-342900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</a:rPr>
              <a:t>Relever le maxillaire inferieure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91B9E-2059-4C5A-91F9-75A0D75D3801}"/>
              </a:ext>
            </a:extLst>
          </p:cNvPr>
          <p:cNvSpPr/>
          <p:nvPr/>
        </p:nvSpPr>
        <p:spPr>
          <a:xfrm>
            <a:off x="7236296" y="1340768"/>
            <a:ext cx="1450504" cy="3600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0000"/>
                </a:solidFill>
                <a:latin typeface="Calibri" panose="020F0502020204030204" pitchFamily="34" charset="0"/>
              </a:rPr>
              <a:t>Extension de la </a:t>
            </a:r>
            <a:r>
              <a:rPr lang="fr-FR" sz="11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tete</a:t>
            </a:r>
            <a:r>
              <a:rPr lang="fr-FR" sz="11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240E2D-C329-4781-8CED-774917195F6A}"/>
              </a:ext>
            </a:extLst>
          </p:cNvPr>
          <p:cNvSpPr/>
          <p:nvPr/>
        </p:nvSpPr>
        <p:spPr>
          <a:xfrm>
            <a:off x="7133456" y="4437112"/>
            <a:ext cx="1553344" cy="5406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rgbClr val="FF0000"/>
                </a:solidFill>
                <a:latin typeface="Calibri" panose="020F0502020204030204" pitchFamily="34" charset="0"/>
              </a:rPr>
              <a:t>Relever le maxillaire</a:t>
            </a:r>
          </a:p>
        </p:txBody>
      </p:sp>
    </p:spTree>
    <p:extLst>
      <p:ext uri="{BB962C8B-B14F-4D97-AF65-F5344CB8AC3E}">
        <p14:creationId xmlns:p14="http://schemas.microsoft.com/office/powerpoint/2010/main" val="464442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512064"/>
            <a:ext cx="7972452" cy="684688"/>
          </a:xfrm>
          <a:solidFill>
            <a:schemeClr val="tx1"/>
          </a:solidFill>
        </p:spPr>
        <p:txBody>
          <a:bodyPr/>
          <a:lstStyle/>
          <a:p>
            <a:r>
              <a:rPr lang="fr-FR" sz="3200" b="1" dirty="0">
                <a:solidFill>
                  <a:srgbClr val="FF0000"/>
                </a:solidFill>
                <a:latin typeface="Calibri" panose="020F0502020204030204" pitchFamily="34" charset="0"/>
              </a:rPr>
              <a:t>LIBERTE DES VOIES AERIENNES SUPERIEURES </a:t>
            </a:r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96752"/>
            <a:ext cx="8001056" cy="5161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8CC164-6A29-45A3-8E1D-F69573A95D74}"/>
              </a:ext>
            </a:extLst>
          </p:cNvPr>
          <p:cNvSpPr/>
          <p:nvPr/>
        </p:nvSpPr>
        <p:spPr>
          <a:xfrm>
            <a:off x="5930631" y="1556792"/>
            <a:ext cx="2736304" cy="12241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2425" indent="-352425"/>
            <a:r>
              <a:rPr lang="fr-FR" sz="3200" b="1" dirty="0">
                <a:solidFill>
                  <a:srgbClr val="FF0000"/>
                </a:solidFill>
              </a:rPr>
              <a:t>  Canule   de         GUEDEL 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60E76A2D-3A2E-42E4-B7FB-1E7AFC82A1D5}"/>
              </a:ext>
            </a:extLst>
          </p:cNvPr>
          <p:cNvCxnSpPr>
            <a:cxnSpLocks/>
          </p:cNvCxnSpPr>
          <p:nvPr/>
        </p:nvCxnSpPr>
        <p:spPr>
          <a:xfrm flipH="1">
            <a:off x="4572000" y="2168860"/>
            <a:ext cx="1565666" cy="252028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85728"/>
            <a:ext cx="7772400" cy="69500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</a:rPr>
              <a:t>REANIMATION  CARDIO -PULMONAIRE  DE BASE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400" y="980728"/>
            <a:ext cx="7772400" cy="5374832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3/</a:t>
            </a:r>
            <a:r>
              <a:rPr lang="fr-FR" sz="2800" b="1" u="sng" dirty="0" err="1">
                <a:solidFill>
                  <a:srgbClr val="FF0000"/>
                </a:solidFill>
                <a:latin typeface="Calibri" panose="020F0502020204030204" pitchFamily="34" charset="0"/>
              </a:rPr>
              <a:t>Ventilation</a:t>
            </a:r>
            <a:r>
              <a:rPr lang="fr-FR" b="1" u="sng" dirty="0" err="1">
                <a:solidFill>
                  <a:srgbClr val="FF0000"/>
                </a:solidFill>
              </a:rPr>
              <a:t>:</a:t>
            </a:r>
            <a:r>
              <a:rPr lang="fr-FR" sz="24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se</a:t>
            </a:r>
            <a:r>
              <a:rPr lang="fr-F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 fait au masque après la mise en place d’une canule de </a:t>
            </a:r>
            <a:r>
              <a:rPr lang="fr-FR" sz="24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Guedel</a:t>
            </a:r>
            <a:r>
              <a:rPr lang="fr-F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 .</a:t>
            </a:r>
          </a:p>
          <a:p>
            <a:pPr>
              <a:lnSpc>
                <a:spcPct val="90000"/>
              </a:lnSpc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fr-FR" sz="2400" b="1" u="sng" dirty="0">
                <a:solidFill>
                  <a:srgbClr val="FF0000"/>
                </a:solidFill>
              </a:rPr>
              <a:t>OXYGENE :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/>
              <a:t>masque à haute</a:t>
            </a:r>
          </a:p>
          <a:p>
            <a:pPr>
              <a:buFont typeface="Wingdings" pitchFamily="2" charset="2"/>
              <a:buNone/>
            </a:pPr>
            <a:r>
              <a:rPr lang="fr-FR" sz="2400" b="1" dirty="0"/>
              <a:t> concentration 15 l/mn( BAVU)</a:t>
            </a:r>
            <a:r>
              <a:rPr lang="fr-FR" sz="2400" b="1" u="sng" dirty="0"/>
              <a:t>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fr-FR" sz="2400" b="1" u="sng" dirty="0">
                <a:solidFill>
                  <a:srgbClr val="FF0000"/>
                </a:solidFill>
              </a:rPr>
              <a:t>POSITIONS D’ATTENTE:</a:t>
            </a:r>
          </a:p>
          <a:p>
            <a:pPr>
              <a:buFont typeface="Wingdings" pitchFamily="2" charset="2"/>
              <a:buNone/>
            </a:pPr>
            <a:r>
              <a:rPr lang="fr-FR" sz="2400" b="1" dirty="0"/>
              <a:t> -Détresse circulatoire :position allongée</a:t>
            </a:r>
          </a:p>
          <a:p>
            <a:pPr>
              <a:buFont typeface="Wingdings" pitchFamily="2" charset="2"/>
              <a:buNone/>
            </a:pPr>
            <a:r>
              <a:rPr lang="fr-FR" sz="2400" b="1" dirty="0"/>
              <a:t>Par terre ou sur un plan dur  </a:t>
            </a:r>
          </a:p>
          <a:p>
            <a:pPr>
              <a:buFont typeface="Wingdings" pitchFamily="2" charset="2"/>
              <a:buNone/>
            </a:pPr>
            <a:r>
              <a:rPr lang="fr-FR" sz="2400" b="1" dirty="0"/>
              <a:t>- Favoriser la perfusion cérébrale</a:t>
            </a:r>
          </a:p>
          <a:p>
            <a:pPr>
              <a:lnSpc>
                <a:spcPct val="90000"/>
              </a:lnSpc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fr-FR" sz="2400" b="1" u="sng" dirty="0">
                <a:solidFill>
                  <a:srgbClr val="FF0000"/>
                </a:solidFill>
              </a:rPr>
              <a:t>VOIE VEINEUSE 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fr-FR" sz="2400" b="1" dirty="0"/>
              <a:t>Sérum physiologique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fr-FR" sz="2400" b="1" dirty="0"/>
              <a:t>(+ prélèvements sanguins)</a:t>
            </a:r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340" y="2632008"/>
            <a:ext cx="2232248" cy="252028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35410-CF1A-466E-BB3C-49163431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56080"/>
            <a:ext cx="7772400" cy="756696"/>
          </a:xfrm>
          <a:solidFill>
            <a:schemeClr val="tx1"/>
          </a:solidFill>
        </p:spPr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REANIMATION CARDIO-PULMONAIRE DE BASE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E14447-58FF-4494-8C31-E1C2B63B8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12776"/>
            <a:ext cx="7772400" cy="4942784"/>
          </a:xfrm>
          <a:solidFill>
            <a:schemeClr val="tx1"/>
          </a:solidFill>
        </p:spPr>
        <p:txBody>
          <a:bodyPr>
            <a:normAutofit fontScale="92500"/>
          </a:bodyPr>
          <a:lstStyle/>
          <a:p>
            <a:pPr marL="68580" indent="0">
              <a:buClr>
                <a:schemeClr val="bg1"/>
              </a:buClr>
              <a:buNone/>
            </a:pPr>
            <a:r>
              <a:rPr lang="fr-FR" sz="35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4/Circulation :</a:t>
            </a:r>
          </a:p>
          <a:p>
            <a:pPr marL="68580" indent="0">
              <a:buClr>
                <a:schemeClr val="bg1"/>
              </a:buClr>
              <a:buNone/>
            </a:pPr>
            <a:r>
              <a:rPr lang="fr-FR" sz="28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a-Massage Cardiaque Externe </a:t>
            </a:r>
            <a:r>
              <a:rPr lang="fr-FR" sz="3500" b="1" dirty="0">
                <a:solidFill>
                  <a:srgbClr val="0070C0"/>
                </a:solidFill>
                <a:latin typeface="Calibri" panose="020F0502020204030204" pitchFamily="34" charset="0"/>
              </a:rPr>
              <a:t>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Après avoir libéré les voies aériennes, la prise en charge sera différente si le praticien est seul ou en présence de personnel formé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S’il n’est pas seul, le praticien débute le massage puis une personne aide à la ventilation.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S’il est seul il alternera 30 compressions et 2 insufflations.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0153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1131C0-B1E8-4E42-9532-15EBE170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540672"/>
          </a:xfrm>
          <a:solidFill>
            <a:schemeClr val="tx1"/>
          </a:solidFill>
        </p:spPr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REANIMATION CARDIO-PULMONAIRE DE BASE 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9ED0B4-BE6F-4690-834A-AFB23A9D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052736"/>
            <a:ext cx="7772400" cy="5302824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fr-FR" b="1" u="sng" dirty="0">
                <a:solidFill>
                  <a:srgbClr val="FF0000"/>
                </a:solidFill>
              </a:rPr>
              <a:t>Technique du massage cardiaque: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Le patient est couchée sur le dos sur un plan dur </a:t>
            </a:r>
          </a:p>
          <a:p>
            <a:pPr marL="6858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   « décubitus dorsal » </a:t>
            </a:r>
          </a:p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Agenouillez-vous à côté de la victime </a:t>
            </a:r>
            <a:r>
              <a:rPr lang="fr-FR" sz="2800" b="1" dirty="0">
                <a:solidFill>
                  <a:schemeClr val="bg1"/>
                </a:solidFill>
              </a:rPr>
              <a:t>Déterminer la zone d'appui qui est la jonction du 1/3 inférieur avec les 2/3 supérieurs du sternum </a:t>
            </a:r>
            <a:endParaRPr lang="fr-F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Placez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le talon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d'une de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vos mains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au niveau de cette zone  et le talon de l'autre main sur votre première main.</a:t>
            </a:r>
          </a:p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Solidarisez vos deux mains. </a:t>
            </a:r>
          </a:p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68580" indent="0">
              <a:buClr>
                <a:schemeClr val="bg1"/>
              </a:buClr>
              <a:buNone/>
            </a:pP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EA79424-9997-4AC7-9EAD-B3BA91CC7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5329578"/>
            <a:ext cx="3024336" cy="101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79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F262D-7B20-4769-A4F4-6CBB7BA6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540672"/>
          </a:xfrm>
          <a:solidFill>
            <a:schemeClr val="tx1"/>
          </a:solidFill>
        </p:spPr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   Technique du massage cardiaque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5DE989-1D55-414D-813D-420CEDBB6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052736"/>
            <a:ext cx="7772400" cy="5302824"/>
          </a:xfrm>
          <a:solidFill>
            <a:schemeClr val="tx1"/>
          </a:solidFill>
        </p:spPr>
        <p:txBody>
          <a:bodyPr/>
          <a:lstStyle/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Vos épaules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doivent être  à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l'aplomb de la poitrine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de la victime</a:t>
            </a:r>
          </a:p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Bras tendus,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comprimez verticalement le sternum en l'enfonçant de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5 à 6 cm. </a:t>
            </a:r>
          </a:p>
          <a:p>
            <a:pPr fontAlgn="base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N'appuyez ni sur les côtes, ni sur la partie inférieure du sternum.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/>
          </a:p>
        </p:txBody>
      </p:sp>
      <p:pic>
        <p:nvPicPr>
          <p:cNvPr id="6" name="Espace réservé du contenu 3">
            <a:extLst>
              <a:ext uri="{FF2B5EF4-FFF2-40B4-BE49-F238E27FC236}">
                <a16:creationId xmlns:a16="http://schemas.microsoft.com/office/drawing/2014/main" id="{B7E4F241-BB65-4D32-B254-0F2B6A147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3789040"/>
            <a:ext cx="3384376" cy="25568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53D3F48-3497-4C22-8113-34F47FA1E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789040"/>
            <a:ext cx="3734072" cy="243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62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E6916-25AA-4BDD-999A-ACB493EC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60" y="512064"/>
            <a:ext cx="8230108" cy="1332760"/>
          </a:xfrm>
          <a:solidFill>
            <a:schemeClr val="tx1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Technique Massage Cardiaque</a:t>
            </a:r>
            <a:br>
              <a:rPr lang="fr-FR" b="1" dirty="0">
                <a:solidFill>
                  <a:srgbClr val="FF0000"/>
                </a:solidFill>
              </a:rPr>
            </a:br>
            <a:r>
              <a:rPr lang="fr-FR" b="1" dirty="0">
                <a:solidFill>
                  <a:srgbClr val="0070C0"/>
                </a:solidFill>
              </a:rPr>
              <a:t>Position des mains 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C11781BB-1DBD-474D-81C7-A0D89C850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60" y="1844824"/>
            <a:ext cx="4925144" cy="475632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5884FDD-BF38-4DCD-B23F-79A687A8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1844824"/>
            <a:ext cx="3304964" cy="47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3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604448" cy="2232248"/>
          </a:xfrm>
          <a:solidFill>
            <a:schemeClr val="tx1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    </a:t>
            </a:r>
            <a:r>
              <a:rPr lang="fr-FR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MASSAGE CARDIAQUE</a:t>
            </a:r>
            <a:br>
              <a:rPr lang="fr-FR" b="1" dirty="0">
                <a:solidFill>
                  <a:srgbClr val="FF0000"/>
                </a:solidFill>
              </a:rPr>
            </a:br>
            <a:r>
              <a:rPr lang="fr-FR" b="1" dirty="0">
                <a:solidFill>
                  <a:srgbClr val="FF0000"/>
                </a:solidFill>
              </a:rPr>
              <a:t>    </a:t>
            </a:r>
            <a:br>
              <a:rPr lang="fr-FR" b="1" dirty="0">
                <a:solidFill>
                  <a:srgbClr val="FF0000"/>
                </a:solidFill>
              </a:rPr>
            </a:br>
            <a:r>
              <a:rPr lang="fr-FR" b="1" dirty="0">
                <a:solidFill>
                  <a:srgbClr val="FF0000"/>
                </a:solidFill>
              </a:rPr>
              <a:t>      </a:t>
            </a:r>
            <a:r>
              <a:rPr lang="fr-FR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GESTE QUI SAUVE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2564904"/>
            <a:ext cx="4572000" cy="3888432"/>
          </a:xfrm>
          <a:prstGeom prst="rect">
            <a:avLst/>
          </a:prstGeom>
        </p:spPr>
      </p:pic>
      <p:sp>
        <p:nvSpPr>
          <p:cNvPr id="5" name="Flèche vers le bas 4"/>
          <p:cNvSpPr/>
          <p:nvPr/>
        </p:nvSpPr>
        <p:spPr>
          <a:xfrm flipH="1">
            <a:off x="3851920" y="836712"/>
            <a:ext cx="606660" cy="720080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Espace réservé du contenu 3">
            <a:extLst>
              <a:ext uri="{FF2B5EF4-FFF2-40B4-BE49-F238E27FC236}">
                <a16:creationId xmlns:a16="http://schemas.microsoft.com/office/drawing/2014/main" id="{EDD90FF3-49A0-4328-A42A-01C0CDD3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564904"/>
            <a:ext cx="4032448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77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8E0A3-6CDC-40CA-ADEE-B1791308A7C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Massage </a:t>
            </a:r>
            <a:r>
              <a:rPr lang="fr-FR">
                <a:solidFill>
                  <a:srgbClr val="FF0000"/>
                </a:solidFill>
              </a:rPr>
              <a:t>cardiaque externe 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25C749EF-3937-4AED-A8B0-B772730A9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340768"/>
            <a:ext cx="7772400" cy="528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97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9C880B-E6F4-48AD-8DCA-83A6556C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30F3281-2DB7-4416-8DCF-86D3F7D82D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1520" y="0"/>
            <a:ext cx="8892479" cy="6467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69503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F9457-614E-4DA2-AA97-9348B0E2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684688"/>
          </a:xfrm>
          <a:solidFill>
            <a:schemeClr val="tx1"/>
          </a:solidFill>
        </p:spPr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REANIMATION CARDIO-PULMONAIRE  DE BASE </a:t>
            </a:r>
            <a:r>
              <a:rPr lang="fr-FR" sz="2800" dirty="0"/>
              <a:t>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05D022-1047-4DD6-A3E9-11D65B051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6752"/>
            <a:ext cx="7772400" cy="5158808"/>
          </a:xfrm>
          <a:solidFill>
            <a:schemeClr val="tx1"/>
          </a:solidFill>
        </p:spPr>
        <p:txBody>
          <a:bodyPr>
            <a:normAutofit fontScale="92500" lnSpcReduction="10000"/>
          </a:bodyPr>
          <a:lstStyle/>
          <a:p>
            <a:pPr marL="68580" indent="0">
              <a:buClr>
                <a:schemeClr val="bg1"/>
              </a:buClr>
              <a:buNone/>
            </a:pPr>
            <a:r>
              <a:rPr lang="fr-FR" b="1" u="sng" dirty="0">
                <a:solidFill>
                  <a:srgbClr val="0070C0"/>
                </a:solidFill>
                <a:latin typeface="Calibri" panose="020F0502020204030204" pitchFamily="34" charset="0"/>
              </a:rPr>
              <a:t>b-Défibrillation 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Toute mort subite présente initialement une fibrillation ventriculaire qui doit être traitée précocement par   </a:t>
            </a:r>
            <a:r>
              <a:rPr lang="fr-FR" b="1" dirty="0">
                <a:solidFill>
                  <a:srgbClr val="0070C0"/>
                </a:solidFill>
              </a:rPr>
              <a:t>choc électrique externe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</a:rPr>
              <a:t>.</a:t>
            </a:r>
            <a:r>
              <a:rPr lang="fr-FR" b="1" dirty="0"/>
              <a:t> </a:t>
            </a:r>
            <a:r>
              <a:rPr lang="fr-FR" b="1" dirty="0">
                <a:solidFill>
                  <a:srgbClr val="0070C0"/>
                </a:solidFill>
              </a:rPr>
              <a:t>La précocité </a:t>
            </a:r>
            <a:r>
              <a:rPr lang="fr-FR" b="1" dirty="0">
                <a:solidFill>
                  <a:schemeClr val="bg1"/>
                </a:solidFill>
              </a:rPr>
              <a:t>de la défibrillation dans la FV(fibrillation ventriculaire) et la TV(tachycardie ventriculaire) conditionne le </a:t>
            </a:r>
            <a:r>
              <a:rPr lang="fr-FR" b="1" dirty="0">
                <a:solidFill>
                  <a:srgbClr val="0070C0"/>
                </a:solidFill>
              </a:rPr>
              <a:t>pronostic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Défibrillation =</a:t>
            </a:r>
            <a:r>
              <a:rPr lang="fr-FR" b="1" dirty="0">
                <a:solidFill>
                  <a:srgbClr val="FF0000"/>
                </a:solidFill>
              </a:rPr>
              <a:t>choc électrique de 150 à 200 joules  biphasique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bg1"/>
                </a:solidFill>
              </a:rPr>
              <a:t>Puis reprise de la réanimation cardio-pulmonaire </a:t>
            </a:r>
            <a:r>
              <a:rPr lang="fr-FR" b="1" dirty="0">
                <a:solidFill>
                  <a:srgbClr val="002060"/>
                </a:solidFill>
              </a:rPr>
              <a:t>30 compressions /2 insufflations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b="1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rgbClr val="FF0000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274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5761" y="512064"/>
            <a:ext cx="8438727" cy="914400"/>
          </a:xfrm>
          <a:solidFill>
            <a:schemeClr val="tx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UTILISATION D’UN  DEFIBRILATEUR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4218806" y="1950455"/>
            <a:ext cx="5242894" cy="42484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844D48-F4B4-466F-AE5F-A326BF541E56}"/>
              </a:ext>
            </a:extLst>
          </p:cNvPr>
          <p:cNvSpPr/>
          <p:nvPr/>
        </p:nvSpPr>
        <p:spPr>
          <a:xfrm>
            <a:off x="525761" y="1402201"/>
            <a:ext cx="4046239" cy="52428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Installer les électrodes</a:t>
            </a:r>
          </a:p>
          <a:p>
            <a:r>
              <a:rPr lang="fr-FR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Sur les pastilles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 L’une se place </a:t>
            </a:r>
            <a:r>
              <a:rPr lang="fr-FR" sz="32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au-dessous de la clavicule droite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 l’autre sur le côté </a:t>
            </a:r>
            <a:r>
              <a:rPr lang="fr-FR" sz="32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gauche </a:t>
            </a:r>
            <a:r>
              <a:rPr lang="fr-FR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du thorax</a:t>
            </a:r>
            <a:r>
              <a:rPr lang="fr-FR" sz="32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, 5 </a:t>
            </a:r>
            <a:r>
              <a:rPr lang="fr-FR" sz="3200" b="1" u="sng" dirty="0">
                <a:solidFill>
                  <a:schemeClr val="bg1"/>
                </a:solidFill>
                <a:latin typeface="Calibri" panose="020F0502020204030204" pitchFamily="34" charset="0"/>
              </a:rPr>
              <a:t>à </a:t>
            </a:r>
            <a:r>
              <a:rPr lang="fr-FR" sz="32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10 c</a:t>
            </a:r>
            <a:r>
              <a:rPr lang="fr-FR" sz="3200" b="1" u="sng" dirty="0">
                <a:solidFill>
                  <a:schemeClr val="bg1"/>
                </a:solidFill>
                <a:latin typeface="Calibri" panose="020F0502020204030204" pitchFamily="34" charset="0"/>
              </a:rPr>
              <a:t>m </a:t>
            </a:r>
            <a:r>
              <a:rPr lang="fr-FR" sz="32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au-dessous de l’aisselle</a:t>
            </a:r>
            <a:r>
              <a:rPr lang="fr-FR" sz="3200" b="1" u="sng" dirty="0">
                <a:latin typeface="Calibri" panose="020F0502020204030204" pitchFamily="34" charset="0"/>
              </a:rPr>
              <a:t>.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2DB1267-5F7A-4641-BB1D-B93489BB27C9}"/>
              </a:ext>
            </a:extLst>
          </p:cNvPr>
          <p:cNvCxnSpPr/>
          <p:nvPr/>
        </p:nvCxnSpPr>
        <p:spPr>
          <a:xfrm flipV="1">
            <a:off x="3779912" y="3645024"/>
            <a:ext cx="2448272" cy="57606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EEC8761-3460-4C23-A6BC-DD5BE29D3385}"/>
              </a:ext>
            </a:extLst>
          </p:cNvPr>
          <p:cNvCxnSpPr>
            <a:cxnSpLocks/>
          </p:cNvCxnSpPr>
          <p:nvPr/>
        </p:nvCxnSpPr>
        <p:spPr>
          <a:xfrm flipV="1">
            <a:off x="4391981" y="4869160"/>
            <a:ext cx="3708411" cy="89599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002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D73028-82C7-452F-BE0B-5F98A93C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12064"/>
            <a:ext cx="8271344" cy="914400"/>
          </a:xfrm>
          <a:solidFill>
            <a:schemeClr val="tx1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</a:rPr>
              <a:t>    FONCTION D’UN DEFIBRILATEUR 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E3EA4D7-AEA2-43C5-929C-601F4C8F0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40315" y="1486138"/>
            <a:ext cx="4014597" cy="50405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4C6382-52E2-497D-AEC4-26180F4F7C7B}"/>
              </a:ext>
            </a:extLst>
          </p:cNvPr>
          <p:cNvSpPr/>
          <p:nvPr/>
        </p:nvSpPr>
        <p:spPr>
          <a:xfrm>
            <a:off x="683568" y="1415485"/>
            <a:ext cx="4248472" cy="51708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 Un défibrillateur est un petit appareil électrique doté de deux électrodes qui devront être collées sur la poitrine du patient  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Quand le cœur s’arrête de battre, on dit qu’il fibrille.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 la  défibrillation est le fait  délivrer un choc électrique au niveau du </a:t>
            </a:r>
            <a:r>
              <a:rPr lang="fr-FR" sz="24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coeur</a:t>
            </a:r>
            <a:r>
              <a:rPr lang="fr-F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 afin  de reprendre son  activité  normale  </a:t>
            </a:r>
          </a:p>
        </p:txBody>
      </p:sp>
    </p:spTree>
    <p:extLst>
      <p:ext uri="{BB962C8B-B14F-4D97-AF65-F5344CB8AC3E}">
        <p14:creationId xmlns:p14="http://schemas.microsoft.com/office/powerpoint/2010/main" val="23876825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49025-9746-4989-BF78-63FDA329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1116736"/>
          </a:xfrm>
          <a:solidFill>
            <a:srgbClr val="FFFFFF"/>
          </a:solidFill>
        </p:spPr>
        <p:txBody>
          <a:bodyPr/>
          <a:lstStyle/>
          <a:p>
            <a:pPr algn="ctr"/>
            <a:r>
              <a:rPr lang="fr-FR" sz="3600" b="1" i="0" dirty="0">
                <a:solidFill>
                  <a:srgbClr val="FF0000"/>
                </a:solidFill>
                <a:effectLst/>
                <a:latin typeface="Montserrat"/>
              </a:rPr>
              <a:t>Conseils 2024 pour la RCP</a:t>
            </a:r>
            <a:br>
              <a:rPr lang="fr-FR" b="1" i="0" dirty="0">
                <a:solidFill>
                  <a:srgbClr val="303D48"/>
                </a:solidFill>
                <a:effectLst/>
                <a:latin typeface="Montserrat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78A44-0D8B-629E-13F5-16C7F592919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FFFFFF"/>
          </a:solidFill>
        </p:spPr>
        <p:txBody>
          <a:bodyPr/>
          <a:lstStyle/>
          <a:p>
            <a:pPr marL="68580" indent="0" algn="l" fontAlgn="base">
              <a:buNone/>
            </a:pPr>
            <a:r>
              <a:rPr lang="fr-FR" b="1" i="0" dirty="0">
                <a:solidFill>
                  <a:srgbClr val="303D48"/>
                </a:solidFill>
                <a:effectLst/>
                <a:latin typeface="Montserrat"/>
              </a:rPr>
              <a:t>Liste des conseils 2024 pour la RCP</a:t>
            </a:r>
          </a:p>
          <a:p>
            <a:pPr marL="68580" indent="0" algn="l" fontAlgn="base">
              <a:lnSpc>
                <a:spcPts val="1950"/>
              </a:lnSpc>
              <a:buClr>
                <a:schemeClr val="bg1"/>
              </a:buClr>
              <a:buNone/>
            </a:pPr>
            <a:r>
              <a:rPr lang="fr-FR" sz="3200" b="0" i="0" dirty="0">
                <a:solidFill>
                  <a:srgbClr val="303D4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1-Il est recommandé d’effectuer les </a:t>
            </a:r>
            <a:r>
              <a:rPr lang="fr-FR" sz="3200" b="1" i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compressions thoraciques sur surface dure</a:t>
            </a:r>
            <a:r>
              <a:rPr lang="fr-FR" sz="3200" b="0" i="0" dirty="0">
                <a:solidFill>
                  <a:srgbClr val="303D4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sans retarder leur début de manière significative. </a:t>
            </a:r>
          </a:p>
          <a:p>
            <a:pPr algn="l" fontAlgn="base">
              <a:lnSpc>
                <a:spcPts val="1950"/>
              </a:lnSpc>
              <a:buFont typeface="+mj-lt"/>
              <a:buAutoNum type="arabicPeriod"/>
            </a:pPr>
            <a:endParaRPr lang="fr-FR" sz="3200" dirty="0">
              <a:solidFill>
                <a:srgbClr val="303D4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" indent="0" algn="l" fontAlgn="base">
              <a:lnSpc>
                <a:spcPts val="1950"/>
              </a:lnSpc>
              <a:buNone/>
            </a:pPr>
            <a:r>
              <a:rPr lang="fr-FR" sz="3200" b="0" i="0" dirty="0">
                <a:solidFill>
                  <a:srgbClr val="303D4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2-Notamment, on </a:t>
            </a:r>
            <a:r>
              <a:rPr lang="fr-FR" sz="3200" b="0" i="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évite de déplacer un patient d'un matelas vers le sol</a:t>
            </a:r>
          </a:p>
          <a:p>
            <a:pPr marL="68580" indent="0" algn="l" fontAlgn="base">
              <a:lnSpc>
                <a:spcPts val="1950"/>
              </a:lnSpc>
              <a:buNone/>
            </a:pPr>
            <a:r>
              <a:rPr lang="fr-FR" sz="3200" b="0" i="0" dirty="0">
                <a:solidFill>
                  <a:srgbClr val="303D4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uniquement dans le but d'améliorer la profondeur des compressions thoraciques.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103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BCF32E-2474-3A5D-6554-08C71795C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84784"/>
            <a:ext cx="7772400" cy="4870776"/>
          </a:xfrm>
          <a:solidFill>
            <a:srgbClr val="FFFFFF"/>
          </a:solidFill>
        </p:spPr>
        <p:txBody>
          <a:bodyPr>
            <a:normAutofit fontScale="92500"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303D48"/>
                </a:solidFill>
                <a:latin typeface="Hind"/>
              </a:rPr>
              <a:t>S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’assurer de la </a:t>
            </a:r>
            <a:r>
              <a:rPr lang="fr-FR" b="1" i="0" dirty="0">
                <a:solidFill>
                  <a:srgbClr val="FF0000"/>
                </a:solidFill>
                <a:effectLst/>
                <a:latin typeface="Hind"/>
              </a:rPr>
              <a:t>disponibilité des défibrillateurs</a:t>
            </a:r>
            <a:r>
              <a:rPr lang="fr-FR" b="0" i="0" dirty="0">
                <a:solidFill>
                  <a:srgbClr val="FF0000"/>
                </a:solidFill>
                <a:effectLst/>
                <a:latin typeface="Hind"/>
              </a:rPr>
              <a:t>, 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 lors de la confirmation de l’arrêt cardiaque jusqu’à son acheminement  site d’intervention.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dirty="0">
                <a:solidFill>
                  <a:srgbClr val="FF0000"/>
                </a:solidFill>
                <a:latin typeface="Hind"/>
              </a:rPr>
              <a:t>L’</a:t>
            </a:r>
            <a:r>
              <a:rPr lang="fr-FR" b="1" i="0" dirty="0">
                <a:solidFill>
                  <a:srgbClr val="FF0000"/>
                </a:solidFill>
                <a:effectLst/>
                <a:latin typeface="inherit"/>
              </a:rPr>
              <a:t>administration d'oxygène</a:t>
            </a:r>
            <a:r>
              <a:rPr lang="fr-FR" dirty="0">
                <a:solidFill>
                  <a:srgbClr val="FF0000"/>
                </a:solidFill>
                <a:latin typeface="Hind"/>
              </a:rPr>
              <a:t> </a:t>
            </a:r>
            <a:r>
              <a:rPr lang="fr-FR" dirty="0">
                <a:solidFill>
                  <a:srgbClr val="303D48"/>
                </a:solidFill>
                <a:latin typeface="Hind"/>
              </a:rPr>
              <a:t>doit 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 </a:t>
            </a:r>
            <a:r>
              <a:rPr lang="fr-FR" dirty="0">
                <a:solidFill>
                  <a:srgbClr val="303D48"/>
                </a:solidFill>
                <a:latin typeface="Hind"/>
              </a:rPr>
              <a:t>m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aintenir une saturation en oxygène à </a:t>
            </a:r>
            <a:r>
              <a:rPr lang="fr-FR" b="1" i="0" dirty="0">
                <a:solidFill>
                  <a:srgbClr val="303D48"/>
                </a:solidFill>
                <a:effectLst/>
                <a:latin typeface="Hind"/>
              </a:rPr>
              <a:t>100 % 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FF0000"/>
                </a:solidFill>
                <a:latin typeface="Hind"/>
              </a:rPr>
              <a:t>T</a:t>
            </a:r>
            <a:r>
              <a:rPr lang="fr-FR" b="1" i="0" dirty="0">
                <a:solidFill>
                  <a:srgbClr val="FF0000"/>
                </a:solidFill>
                <a:effectLst/>
                <a:latin typeface="Hind"/>
              </a:rPr>
              <a:t>empérature corporelle</a:t>
            </a:r>
            <a:r>
              <a:rPr lang="fr-FR" b="0" i="0" dirty="0">
                <a:solidFill>
                  <a:srgbClr val="FF0000"/>
                </a:solidFill>
                <a:effectLst/>
                <a:latin typeface="Hind"/>
              </a:rPr>
              <a:t> à ≤ 37,5 °C après réanimation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 permet un meilleur rétablissement des patients comateux 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Le refroidissement préhospitalier est </a:t>
            </a:r>
            <a:r>
              <a:rPr lang="fr-FR" b="1" i="0" dirty="0">
                <a:solidFill>
                  <a:srgbClr val="303D48"/>
                </a:solidFill>
                <a:effectLst/>
                <a:latin typeface="Hind"/>
              </a:rPr>
              <a:t>déconseillé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. </a:t>
            </a:r>
          </a:p>
          <a:p>
            <a:endParaRPr lang="fr-FR" b="0" i="0" dirty="0">
              <a:solidFill>
                <a:srgbClr val="303D48"/>
              </a:solidFill>
              <a:effectLst/>
              <a:latin typeface="Hind"/>
            </a:endParaRPr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01CC9CC-39E3-AD9B-27D2-7D848563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828006"/>
          </a:xfrm>
          <a:solidFill>
            <a:srgbClr val="FFFFFF"/>
          </a:solidFill>
        </p:spPr>
        <p:txBody>
          <a:bodyPr/>
          <a:lstStyle/>
          <a:p>
            <a:pPr algn="ctr"/>
            <a:r>
              <a:rPr lang="fr-FR" sz="3600" b="1" i="0" dirty="0">
                <a:solidFill>
                  <a:srgbClr val="FF0000"/>
                </a:solidFill>
                <a:effectLst/>
                <a:latin typeface="Montserrat"/>
              </a:rPr>
              <a:t>Conseils 2024 pour la RCP</a:t>
            </a:r>
            <a:br>
              <a:rPr lang="fr-FR" b="1" i="0" dirty="0">
                <a:solidFill>
                  <a:srgbClr val="303D48"/>
                </a:solidFill>
                <a:effectLst/>
                <a:latin typeface="Montserrat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2932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A0D7B2-4F8E-A04B-B955-326255F3543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lang="fr-FR" sz="4000" b="1" i="0" dirty="0">
                <a:solidFill>
                  <a:srgbClr val="FF0000"/>
                </a:solidFill>
                <a:effectLst/>
                <a:latin typeface="Montserrat"/>
              </a:rPr>
              <a:t>       Conseils 2024 pour la RCP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78DBA-F3F5-5BC7-FBB0-8EB3D4C5F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26464"/>
            <a:ext cx="7772400" cy="4929096"/>
          </a:xfrm>
          <a:solidFill>
            <a:srgbClr val="FFFFFF"/>
          </a:solidFill>
        </p:spPr>
        <p:txBody>
          <a:bodyPr/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Pour les </a:t>
            </a:r>
            <a:r>
              <a:rPr lang="fr-FR" b="1" i="0" dirty="0">
                <a:solidFill>
                  <a:srgbClr val="FF0000"/>
                </a:solidFill>
                <a:effectLst/>
                <a:latin typeface="inherit"/>
              </a:rPr>
              <a:t>femmes enceintes en arrêt cardiaque</a:t>
            </a:r>
            <a:r>
              <a:rPr lang="fr-FR" b="0" i="0" dirty="0">
                <a:solidFill>
                  <a:srgbClr val="FF0000"/>
                </a:solidFill>
                <a:effectLst/>
                <a:latin typeface="Hind"/>
              </a:rPr>
              <a:t>,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 l'accouchement par césarienne peut être envisagé pour augmenter  les chances de survie de  la mère </a:t>
            </a:r>
            <a:r>
              <a:rPr lang="fr-FR" dirty="0">
                <a:solidFill>
                  <a:srgbClr val="303D48"/>
                </a:solidFill>
                <a:latin typeface="Hind"/>
              </a:rPr>
              <a:t>et de 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l'enfant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Après un </a:t>
            </a:r>
            <a:r>
              <a:rPr lang="fr-FR" b="1" i="0" dirty="0">
                <a:solidFill>
                  <a:srgbClr val="FF0000"/>
                </a:solidFill>
                <a:effectLst/>
                <a:latin typeface="inherit"/>
              </a:rPr>
              <a:t>arrêt cardiaque chez l’enfant ou le nourrisson</a:t>
            </a:r>
            <a:r>
              <a:rPr lang="fr-FR" b="0" i="0" dirty="0">
                <a:solidFill>
                  <a:srgbClr val="FF0000"/>
                </a:solidFill>
                <a:effectLst/>
                <a:latin typeface="Hind"/>
              </a:rPr>
              <a:t>,</a:t>
            </a:r>
            <a:r>
              <a:rPr lang="fr-FR" b="0" i="0" dirty="0">
                <a:solidFill>
                  <a:srgbClr val="303D48"/>
                </a:solidFill>
                <a:effectLst/>
                <a:latin typeface="Hind"/>
              </a:rPr>
              <a:t> il est crucial de viser une pression artérielle systolique supérieure au 10ème percentile chez les enfants pour assurer une perfusion adéquate des organes vitaux.</a:t>
            </a:r>
          </a:p>
          <a:p>
            <a:pPr marL="68580" indent="0">
              <a:buNone/>
            </a:pPr>
            <a:endParaRPr lang="fr-FR" b="0" i="0" dirty="0">
              <a:solidFill>
                <a:srgbClr val="303D48"/>
              </a:solidFill>
              <a:effectLst/>
              <a:latin typeface="Hind"/>
            </a:endParaRPr>
          </a:p>
          <a:p>
            <a:pPr marL="68580" indent="0">
              <a:buNone/>
            </a:pPr>
            <a:endParaRPr lang="fr-FR" b="0" i="0" dirty="0">
              <a:solidFill>
                <a:srgbClr val="303D48"/>
              </a:solidFill>
              <a:effectLst/>
              <a:latin typeface="Hind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8501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5589A7-AA5C-4AF2-B5B3-FEA38F186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684688"/>
          </a:xfrm>
          <a:solidFill>
            <a:schemeClr val="tx1"/>
          </a:solidFill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  <a:latin typeface="Calibri" panose="020F0502020204030204" pitchFamily="34" charset="0"/>
              </a:rPr>
              <a:t>                   CONCLUSION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7BA277-A3D7-4633-9ADE-008B707B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40768"/>
            <a:ext cx="7772400" cy="5014792"/>
          </a:xfrm>
          <a:solidFill>
            <a:schemeClr val="tx1"/>
          </a:solidFill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L’arrêt cardiaque est une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urgence absolue médicale absolue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nécessitant la mise en œuvre immédiate d’un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massage cardiaque externe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Le choc électrique externe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est le traitement indispensable des </a:t>
            </a: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</a:rPr>
              <a:t>arrêt cardio-respiratoire 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consécutifs à un trouble du rythme ventriculaire alors qu’il n’a pas sa place dans les ACR de rythme non choquable.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Le pronostic à court et long terme est conditionné par la précocité des manœuvres de </a:t>
            </a:r>
            <a:r>
              <a:rPr lang="fr-FR" sz="28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reanimation</a:t>
            </a:r>
            <a:r>
              <a:rPr lang="fr-F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  .</a:t>
            </a:r>
          </a:p>
          <a:p>
            <a:endParaRPr lang="fr-F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6990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tro">
  <a:themeElements>
    <a:clrScheme name="Mé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é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2839</TotalTime>
  <Words>1498</Words>
  <Application>Microsoft Office PowerPoint</Application>
  <PresentationFormat>Affichage à l'écran (4:3)</PresentationFormat>
  <Paragraphs>227</Paragraphs>
  <Slides>33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3" baseType="lpstr">
      <vt:lpstr>Calibri</vt:lpstr>
      <vt:lpstr>Consolas</vt:lpstr>
      <vt:lpstr>Corbel</vt:lpstr>
      <vt:lpstr>Hind</vt:lpstr>
      <vt:lpstr>inherit</vt:lpstr>
      <vt:lpstr>Montserrat</vt:lpstr>
      <vt:lpstr>Wingdings</vt:lpstr>
      <vt:lpstr>Wingdings 2</vt:lpstr>
      <vt:lpstr>Wingdings 3</vt:lpstr>
      <vt:lpstr>Métro</vt:lpstr>
      <vt:lpstr>   </vt:lpstr>
      <vt:lpstr>               I/INTRODUCTION</vt:lpstr>
      <vt:lpstr>      DEFINITION </vt:lpstr>
      <vt:lpstr>        II/ ETIOLOGIES (1)</vt:lpstr>
      <vt:lpstr>       II/ ETIOLOGIES (2)</vt:lpstr>
      <vt:lpstr>   II/ETIOLOGIES(3) </vt:lpstr>
      <vt:lpstr>    II/ETIOLOGIES(4)</vt:lpstr>
      <vt:lpstr>    III/ DIAGNOSTIC  POSITIF </vt:lpstr>
      <vt:lpstr>         MYDRIASE   ET   MYOSIS</vt:lpstr>
      <vt:lpstr> IV/ CONDUITE THERAPEUTIQUE</vt:lpstr>
      <vt:lpstr>             IV/ CHAINE DE SURVIE</vt:lpstr>
      <vt:lpstr>             IV/ RECOMMANDATIONS  POUR LA REANIMATION                                           CARDIO-PULMONAIRE :</vt:lpstr>
      <vt:lpstr>       IV/  RECOMMANDATIONS  POUR LA REANIMATION                                   CARDIO-PULMONAIRE</vt:lpstr>
      <vt:lpstr>            RECOMMANDATIONS  POUR LA REANIMATION                                CARDIO-PULMONAIRE </vt:lpstr>
      <vt:lpstr>                CHAINE DE SURVIE  </vt:lpstr>
      <vt:lpstr>   Réanimation cardio-pulmonaire de base</vt:lpstr>
      <vt:lpstr>REANIMATION CARDIO-PULMONAIRE DE BASE </vt:lpstr>
      <vt:lpstr>LIBERTE DES VOIES AERIENNES SUPERIEURES </vt:lpstr>
      <vt:lpstr>REANIMATION  CARDIO -PULMONAIRE  DE BASE</vt:lpstr>
      <vt:lpstr>REANIMATION CARDIO-PULMONAIRE DE BASE </vt:lpstr>
      <vt:lpstr>REANIMATION CARDIO-PULMONAIRE DE BASE </vt:lpstr>
      <vt:lpstr>               Technique du massage cardiaque </vt:lpstr>
      <vt:lpstr>Technique Massage Cardiaque Position des mains </vt:lpstr>
      <vt:lpstr>    MASSAGE CARDIAQUE            GESTE QUI SAUVE </vt:lpstr>
      <vt:lpstr>Massage cardiaque externe </vt:lpstr>
      <vt:lpstr>Présentation PowerPoint</vt:lpstr>
      <vt:lpstr>REANIMATION CARDIO-PULMONAIRE  DE BASE  </vt:lpstr>
      <vt:lpstr>UTILISATION D’UN  DEFIBRILATEUR</vt:lpstr>
      <vt:lpstr>    FONCTION D’UN DEFIBRILATEUR </vt:lpstr>
      <vt:lpstr>Conseils 2024 pour la RCP </vt:lpstr>
      <vt:lpstr>Conseils 2024 pour la RCP </vt:lpstr>
      <vt:lpstr>       Conseils 2024 pour la RCP</vt:lpstr>
      <vt:lpstr>                   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DETRESSE CARDIO-CIRCULATOIRE</dc:title>
  <dc:creator>User</dc:creator>
  <cp:lastModifiedBy>lenovo</cp:lastModifiedBy>
  <cp:revision>102</cp:revision>
  <dcterms:created xsi:type="dcterms:W3CDTF">2016-12-06T02:54:14Z</dcterms:created>
  <dcterms:modified xsi:type="dcterms:W3CDTF">2024-12-29T17:45:03Z</dcterms:modified>
</cp:coreProperties>
</file>