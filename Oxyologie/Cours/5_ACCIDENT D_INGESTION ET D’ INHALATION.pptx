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9" r:id="rId5"/>
    <p:sldId id="291" r:id="rId6"/>
    <p:sldId id="292" r:id="rId7"/>
    <p:sldId id="280" r:id="rId8"/>
    <p:sldId id="260" r:id="rId9"/>
    <p:sldId id="286" r:id="rId10"/>
    <p:sldId id="272" r:id="rId11"/>
    <p:sldId id="281" r:id="rId12"/>
    <p:sldId id="274" r:id="rId13"/>
    <p:sldId id="275" r:id="rId14"/>
    <p:sldId id="288" r:id="rId15"/>
    <p:sldId id="282" r:id="rId16"/>
    <p:sldId id="277" r:id="rId17"/>
    <p:sldId id="293" r:id="rId18"/>
    <p:sldId id="262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2B4E4-4965-44FF-A093-BABB8BF645C7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5EB97-4B9B-49E5-B6CE-A9FB0E866AB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26316" y="283322"/>
            <a:ext cx="8568952" cy="6360266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ACCIDENT D’ INGESTION ET</a:t>
            </a:r>
            <a:br>
              <a:rPr lang="fr-FR" b="1" dirty="0"/>
            </a:br>
            <a:r>
              <a:rPr lang="fr-FR" b="1" dirty="0"/>
              <a:t> D’ INHALATION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59632" y="4653136"/>
            <a:ext cx="6400800" cy="744488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DR S.BELLAHDID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92280" y="283322"/>
            <a:ext cx="1625404" cy="1042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8229600" cy="100013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8641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dirty="0"/>
              <a:t>I-INTRODUCTION</a:t>
            </a:r>
          </a:p>
          <a:p>
            <a:pPr>
              <a:buNone/>
            </a:pPr>
            <a:r>
              <a:rPr lang="fr-FR" dirty="0"/>
              <a:t>II-ACCIDENT D’INGESTION</a:t>
            </a:r>
          </a:p>
          <a:p>
            <a:pPr>
              <a:buNone/>
            </a:pPr>
            <a:r>
              <a:rPr lang="fr-FR" dirty="0"/>
              <a:t>         1-définition</a:t>
            </a:r>
          </a:p>
          <a:p>
            <a:pPr>
              <a:buNone/>
            </a:pPr>
            <a:r>
              <a:rPr lang="fr-FR" dirty="0"/>
              <a:t>         2-conduite à tenir.</a:t>
            </a:r>
          </a:p>
          <a:p>
            <a:pPr>
              <a:buNone/>
            </a:pPr>
            <a:r>
              <a:rPr lang="fr-FR" dirty="0"/>
              <a:t>III-ACCIDENT D’ INHALATION.</a:t>
            </a:r>
          </a:p>
          <a:p>
            <a:pPr>
              <a:buNone/>
            </a:pPr>
            <a:r>
              <a:rPr lang="fr-FR" dirty="0"/>
              <a:t>        1-définition</a:t>
            </a:r>
          </a:p>
          <a:p>
            <a:pPr>
              <a:buNone/>
            </a:pPr>
            <a:r>
              <a:rPr lang="fr-FR" dirty="0"/>
              <a:t>        2-mécanisme </a:t>
            </a:r>
          </a:p>
          <a:p>
            <a:pPr>
              <a:buNone/>
            </a:pPr>
            <a:r>
              <a:rPr lang="fr-FR" dirty="0"/>
              <a:t>        3-conduite à tenir</a:t>
            </a:r>
          </a:p>
          <a:p>
            <a:pPr>
              <a:buNone/>
            </a:pPr>
            <a:r>
              <a:rPr lang="fr-FR" dirty="0"/>
              <a:t>        4-mecanisme d’ inhalation</a:t>
            </a:r>
          </a:p>
          <a:p>
            <a:pPr>
              <a:buNone/>
            </a:pPr>
            <a:r>
              <a:rPr lang="fr-FR" dirty="0"/>
              <a:t>        5-clinique</a:t>
            </a:r>
          </a:p>
          <a:p>
            <a:pPr>
              <a:buNone/>
            </a:pPr>
            <a:r>
              <a:rPr lang="fr-FR" dirty="0"/>
              <a:t>        6-complications de l’ inhalation</a:t>
            </a:r>
          </a:p>
          <a:p>
            <a:pPr>
              <a:buNone/>
            </a:pPr>
            <a:r>
              <a:rPr lang="fr-FR" dirty="0"/>
              <a:t>        7-diagnostic</a:t>
            </a:r>
          </a:p>
          <a:p>
            <a:pPr>
              <a:buNone/>
            </a:pPr>
            <a:r>
              <a:rPr lang="fr-FR" dirty="0"/>
              <a:t>        8-conduite à tenir</a:t>
            </a:r>
          </a:p>
          <a:p>
            <a:pPr>
              <a:buNone/>
            </a:pPr>
            <a:r>
              <a:rPr lang="fr-FR" dirty="0"/>
              <a:t>        9-prevention.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fr-FR" dirty="0"/>
              <a:t>L’inhalation ou l’ ingestion d’ un corps étranger est peu fréquente au cabinet dentaire mais reste un accident grave pouvant mettre en jeu le pronostic vital. </a:t>
            </a:r>
          </a:p>
          <a:p>
            <a:pPr>
              <a:buFont typeface="Wingdings" pitchFamily="2" charset="2"/>
              <a:buChar char="q"/>
            </a:pPr>
            <a:r>
              <a:rPr lang="fr-FR" dirty="0"/>
              <a:t>Le corps  étranger peut être une  racine dentaire, couronne prothétique ou naturelle, fragments d’un instrument dentaire,</a:t>
            </a:r>
          </a:p>
          <a:p>
            <a:pPr>
              <a:buFont typeface="Wingdings" pitchFamily="2" charset="2"/>
              <a:buChar char="q"/>
            </a:pPr>
            <a:r>
              <a:rPr lang="fr-FR" dirty="0"/>
              <a:t>En effet le passage d’ un corps étranger dans les voies respiratoires peut nécessiter une  endoscopie et parfois une  chirurgie.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ACCIDENT D’INGESTION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1/</a:t>
            </a:r>
            <a:r>
              <a:rPr lang="fr-FR" b="1" u="sng" dirty="0" err="1">
                <a:solidFill>
                  <a:srgbClr val="FF0000"/>
                </a:solidFill>
              </a:rPr>
              <a:t>Definition</a:t>
            </a:r>
            <a:r>
              <a:rPr lang="fr-FR" dirty="0"/>
              <a:t> :l’ingestion est l ’action d’ingérer un corps étranger dans le tube digestif ;La majorité des corps étrangers sont avalés et passent dans le tube digestif avec un faible risque de perforation sur leur passage.</a:t>
            </a:r>
          </a:p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2/Conduite à tenir:</a:t>
            </a:r>
            <a:endParaRPr lang="fr-FR" dirty="0"/>
          </a:p>
          <a:p>
            <a:pPr>
              <a:buFont typeface="Wingdings" pitchFamily="2" charset="2"/>
              <a:buChar char="Ø"/>
            </a:pPr>
            <a:r>
              <a:rPr lang="fr-FR" dirty="0"/>
              <a:t> s'assurer de la ventilation du patient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vérifier sa cavité buccal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examen radiologique afin de localiser le corps étranger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régime immédiat riche en fibres (asperges, poireaux)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La surveillance des selles.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L es corps étrangers sont expulsés dans 90% des cas par les voies naturelles.</a:t>
            </a:r>
          </a:p>
          <a:p>
            <a:pPr>
              <a:buFont typeface="Wingdings" pitchFamily="2" charset="2"/>
              <a:buChar char="Ø"/>
            </a:pPr>
            <a:r>
              <a:rPr lang="fr-FR" dirty="0" err="1"/>
              <a:t>Manoeuvre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de </a:t>
            </a:r>
            <a:r>
              <a:rPr lang="fr-FR" b="1" dirty="0">
                <a:solidFill>
                  <a:srgbClr val="FF0000"/>
                </a:solidFill>
              </a:rPr>
              <a:t>HEIMLICH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5536" y="548681"/>
            <a:ext cx="8424936" cy="1008111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MANŒUVRE DE HEIMLISCH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1556792"/>
            <a:ext cx="8496944" cy="4896544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 le praticien Placé derrière  le patient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 le ceinture avec les deux mains placées l’un au-dessus de l’autre, sur l’épigastre entre l’ombilic et les côtes.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 Puis, il exerce avec ses mains une pression ferme et brusque, en direction du diaphragme, donc du bas vers le haut, en suivant une trajectoire de 45° par rapport au sol</a:t>
            </a:r>
          </a:p>
        </p:txBody>
      </p:sp>
    </p:spTree>
    <p:extLst>
      <p:ext uri="{BB962C8B-B14F-4D97-AF65-F5344CB8AC3E}">
        <p14:creationId xmlns:p14="http://schemas.microsoft.com/office/powerpoint/2010/main" val="122730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MANŒUVRE DE HEIMLISCH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56456"/>
            <a:ext cx="4014188" cy="5143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8E97E0-E921-B475-3AEB-F84B40133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71388" y="1439568"/>
            <a:ext cx="4215412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843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fr-FR" dirty="0"/>
              <a:t>Manœuvre de </a:t>
            </a:r>
            <a:r>
              <a:rPr lang="fr-FR" dirty="0" err="1"/>
              <a:t>Heimlisch</a:t>
            </a:r>
            <a:r>
              <a:rPr lang="fr-FR" dirty="0"/>
              <a:t> chez l’ enfant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8358246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ACCIDENT D’INGESTION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 </a:t>
            </a:r>
            <a:r>
              <a:rPr lang="fr-FR" b="1" u="sng" dirty="0">
                <a:solidFill>
                  <a:srgbClr val="FF0000"/>
                </a:solidFill>
              </a:rPr>
              <a:t>Conduite à tenir</a:t>
            </a:r>
            <a:r>
              <a:rPr lang="fr-FR" u="sng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Pour les limes et les tire-nerfs faire une radiographie avec un contrôle régulier pour s'assurer de la mobilité de l'objet.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une fibroscopie sera nécessaire pour retirer le corps étranger sous anesthésie générale 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une prescription d'antibiotiques et d'anti-inflammatoires pour éviter tout risque infectieux.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Corps étrangers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4143404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03762" y="1500174"/>
            <a:ext cx="3924300" cy="3955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ACCIDENTS D’ 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1/Définition </a:t>
            </a:r>
            <a:r>
              <a:rPr lang="fr-FR" dirty="0"/>
              <a:t>: l’ inhalation est l’ absorption d’ un corps étranger par voie respiratoire.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L’inhalation d’un corps étranger pendant le traitement dentaire est du  aux  instruments utilisés et  la position du patient pendant les soins.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L’inhalation d’ un objet volumineux se loge souvent au-dessus des cordes vocales, tandis qu’un objet plus petit passe plus facilement dans les poumons.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ACCIDENTS D’ 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2/</a:t>
            </a:r>
            <a:r>
              <a:rPr lang="fr-FR" b="1" u="sng" dirty="0" err="1">
                <a:solidFill>
                  <a:srgbClr val="FF0000"/>
                </a:solidFill>
              </a:rPr>
              <a:t>Pathogénie:</a:t>
            </a:r>
            <a:r>
              <a:rPr lang="fr-FR" dirty="0" err="1"/>
              <a:t>Le</a:t>
            </a:r>
            <a:r>
              <a:rPr lang="fr-FR" dirty="0"/>
              <a:t> risque d’inhalation d’un corps étranger pendant les soins dentaires est dû à :</a:t>
            </a:r>
            <a:br>
              <a:rPr lang="fr-FR" dirty="0"/>
            </a:br>
            <a:r>
              <a:rPr lang="fr-FR" dirty="0"/>
              <a:t>– la proximité des voies aériennes et de la zone d’intervention du praticien </a:t>
            </a:r>
            <a:br>
              <a:rPr lang="fr-FR" dirty="0"/>
            </a:br>
            <a:r>
              <a:rPr lang="fr-FR" dirty="0"/>
              <a:t>– la petitesse des instruments utilisés en dentisterie. </a:t>
            </a:r>
            <a:br>
              <a:rPr lang="fr-FR" dirty="0"/>
            </a:br>
            <a:r>
              <a:rPr lang="fr-FR" dirty="0"/>
              <a:t>– la position allongée du patient .</a:t>
            </a:r>
            <a:br>
              <a:rPr lang="fr-FR" dirty="0"/>
            </a:br>
            <a:r>
              <a:rPr lang="fr-FR" dirty="0"/>
              <a:t>– la sédation entraînant une diminution du réflexe de protection des voies aériennes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ACCIDENTS  D’INHALATION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3/Mécanisme d’</a:t>
            </a:r>
            <a:r>
              <a:rPr lang="fr-FR" b="1" u="sng" dirty="0" err="1">
                <a:solidFill>
                  <a:srgbClr val="FF0000"/>
                </a:solidFill>
              </a:rPr>
              <a:t>inhalation</a:t>
            </a:r>
            <a:r>
              <a:rPr lang="fr-FR" dirty="0" err="1"/>
              <a:t>:La</a:t>
            </a:r>
            <a:r>
              <a:rPr lang="fr-FR" dirty="0"/>
              <a:t> plupart du temps, l’instrument passe directement du pharynx vers la bronche souche droite  et le lobe pulmonaire inférieur droit.</a:t>
            </a:r>
          </a:p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4/Clinique</a:t>
            </a:r>
            <a:r>
              <a:rPr lang="fr-FR" dirty="0">
                <a:solidFill>
                  <a:srgbClr val="FF0000"/>
                </a:solidFill>
              </a:rPr>
              <a:t>: -</a:t>
            </a:r>
            <a:r>
              <a:rPr lang="fr-FR" dirty="0"/>
              <a:t>toux sèche</a:t>
            </a:r>
          </a:p>
          <a:p>
            <a:pPr>
              <a:buNone/>
            </a:pPr>
            <a:r>
              <a:rPr lang="fr-FR" dirty="0"/>
              <a:t>                     -stridor</a:t>
            </a:r>
          </a:p>
          <a:p>
            <a:pPr>
              <a:buNone/>
            </a:pPr>
            <a:r>
              <a:rPr lang="fr-FR" dirty="0"/>
              <a:t>                     -un </a:t>
            </a:r>
            <a:r>
              <a:rPr lang="fr-FR" dirty="0" err="1"/>
              <a:t>wheezing</a:t>
            </a:r>
            <a:r>
              <a:rPr lang="fr-FR" dirty="0"/>
              <a:t> </a:t>
            </a:r>
          </a:p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5/Complications de l’inhalation</a:t>
            </a:r>
            <a:r>
              <a:rPr lang="fr-FR" u="sng" dirty="0">
                <a:solidFill>
                  <a:srgbClr val="FF0000"/>
                </a:solidFill>
              </a:rPr>
              <a:t>:</a:t>
            </a:r>
            <a:r>
              <a:rPr lang="fr-FR" dirty="0"/>
              <a:t> </a:t>
            </a:r>
          </a:p>
          <a:p>
            <a:pPr>
              <a:buNone/>
            </a:pPr>
            <a:r>
              <a:rPr lang="fr-FR" dirty="0"/>
              <a:t>                -abcès pulmonaire</a:t>
            </a:r>
          </a:p>
          <a:p>
            <a:pPr>
              <a:buNone/>
            </a:pPr>
            <a:r>
              <a:rPr lang="fr-FR" dirty="0"/>
              <a:t>                -Pneumonie.</a:t>
            </a:r>
          </a:p>
          <a:p>
            <a:pPr>
              <a:buNone/>
            </a:pPr>
            <a:r>
              <a:rPr lang="fr-FR" dirty="0"/>
              <a:t> Les objets bloqués peuvent irriter l’appareil respiratoire et empêcher le passage de l’air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ACCIDENT D’INHALATION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6/Diagnostic</a:t>
            </a:r>
            <a:r>
              <a:rPr lang="fr-FR" b="1" dirty="0"/>
              <a:t>: </a:t>
            </a:r>
          </a:p>
          <a:p>
            <a:pPr>
              <a:buNone/>
            </a:pPr>
            <a:r>
              <a:rPr lang="fr-FR" u="sng" dirty="0"/>
              <a:t>-Signes cliniques </a:t>
            </a:r>
            <a:r>
              <a:rPr lang="fr-FR" dirty="0"/>
              <a:t>:</a:t>
            </a:r>
          </a:p>
          <a:p>
            <a:r>
              <a:rPr lang="fr-FR" dirty="0"/>
              <a:t>Etouffement ou asphyxie </a:t>
            </a:r>
          </a:p>
          <a:p>
            <a:r>
              <a:rPr lang="fr-FR" dirty="0"/>
              <a:t>Obstruction partielle :-quinte de toux</a:t>
            </a:r>
          </a:p>
          <a:p>
            <a:pPr marL="0" indent="0">
              <a:buNone/>
            </a:pPr>
            <a:r>
              <a:rPr lang="fr-FR" dirty="0"/>
              <a:t>                                           -dysphonie </a:t>
            </a:r>
          </a:p>
          <a:p>
            <a:pPr marL="0" indent="0">
              <a:buNone/>
            </a:pPr>
            <a:r>
              <a:rPr lang="fr-FR" dirty="0"/>
              <a:t>                                           -</a:t>
            </a:r>
            <a:r>
              <a:rPr lang="fr-FR" dirty="0" err="1"/>
              <a:t>dyspnee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                                           -dysphagie </a:t>
            </a:r>
          </a:p>
          <a:p>
            <a:r>
              <a:rPr lang="fr-FR" dirty="0"/>
              <a:t>Obstruction totale :  -rougeur puis cyanose </a:t>
            </a:r>
          </a:p>
          <a:p>
            <a:pPr>
              <a:buNone/>
            </a:pPr>
            <a:r>
              <a:rPr lang="fr-FR" dirty="0"/>
              <a:t>                                          -asphyxie avec impossibilité de tousser ou de   parler </a:t>
            </a:r>
          </a:p>
          <a:p>
            <a:r>
              <a:rPr lang="fr-FR" dirty="0" err="1"/>
              <a:t>localisstion</a:t>
            </a:r>
            <a:r>
              <a:rPr lang="fr-FR" dirty="0"/>
              <a:t> de l’objet perdu</a:t>
            </a:r>
          </a:p>
          <a:p>
            <a:pPr>
              <a:buNone/>
            </a:pPr>
            <a:r>
              <a:rPr lang="fr-FR" dirty="0"/>
              <a:t>    </a:t>
            </a:r>
          </a:p>
          <a:p>
            <a:pPr>
              <a:buNone/>
            </a:pPr>
            <a:r>
              <a:rPr lang="fr-FR" dirty="0"/>
              <a:t>- </a:t>
            </a:r>
            <a:r>
              <a:rPr lang="fr-FR" u="sng" dirty="0"/>
              <a:t>Radiographie thoracique </a:t>
            </a:r>
            <a:r>
              <a:rPr lang="fr-FR" dirty="0"/>
              <a:t>:visualisation et siège de l’ objet perdu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ACCIDENT D’INHALATION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7/Conduite à tenir:</a:t>
            </a:r>
            <a:r>
              <a:rPr lang="fr-FR" b="1" dirty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Mettre le patient </a:t>
            </a:r>
            <a:r>
              <a:rPr lang="fr-FR" b="1" dirty="0">
                <a:solidFill>
                  <a:srgbClr val="0070C0"/>
                </a:solidFill>
              </a:rPr>
              <a:t>en position assise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Demandez au patient de tousser ou le faire tousser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tournez-lui la tête sur le côté pour faciliter la localisation de l’objet.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Utilisez  un bon éclairage pour </a:t>
            </a:r>
            <a:r>
              <a:rPr lang="fr-FR" dirty="0" err="1"/>
              <a:t>éxaminer</a:t>
            </a:r>
            <a:r>
              <a:rPr lang="fr-FR" dirty="0"/>
              <a:t> l’oropharynx.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Retirez  précautionneusement l’ objet à la pince</a:t>
            </a:r>
          </a:p>
          <a:p>
            <a:pPr>
              <a:buFont typeface="Wingdings" pitchFamily="2" charset="2"/>
              <a:buChar char="Ø"/>
            </a:pPr>
            <a:endParaRPr lang="fr-FR" dirty="0"/>
          </a:p>
          <a:p>
            <a:pPr>
              <a:buFont typeface="Wingdings" pitchFamily="2" charset="2"/>
              <a:buChar char="Ø"/>
            </a:pPr>
            <a:endParaRPr lang="fr-FR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176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ACCIDENT D’INHALATION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Si le patient est en détresse respiratoire: 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 Appeler le SAMU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 oxygénothérapie à haut débit 9 à 15 l/Min 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 Donnez-lui de  fortes tapes dans le dos en alternant 5 tapes vigoureuses dans le dos et 5 compressions abdominales selon la manœuvre de HEIMLISCH jusqu4 à la sortie de l’objet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Si le patient est inconscient débuter la  réanimation cardio-pulmonaire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b="1" dirty="0"/>
              <a:t>ACCIDENT D’INHALATION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sz="5100" b="1" u="sng" dirty="0">
                <a:solidFill>
                  <a:srgbClr val="FF0000"/>
                </a:solidFill>
              </a:rPr>
              <a:t>7/ prévention</a:t>
            </a:r>
            <a:r>
              <a:rPr lang="fr-FR" sz="5100" dirty="0"/>
              <a:t>: </a:t>
            </a:r>
          </a:p>
          <a:p>
            <a:pPr>
              <a:buFont typeface="Wingdings" pitchFamily="2" charset="2"/>
              <a:buChar char="Ø"/>
            </a:pPr>
            <a:r>
              <a:rPr lang="fr-FR" sz="5100" dirty="0"/>
              <a:t>l’entraînement à la manipulation des instruments</a:t>
            </a:r>
          </a:p>
          <a:p>
            <a:pPr>
              <a:buFont typeface="Wingdings" pitchFamily="2" charset="2"/>
              <a:buChar char="Ø"/>
            </a:pPr>
            <a:r>
              <a:rPr lang="fr-FR" sz="5100" dirty="0"/>
              <a:t>Eviter la sédation</a:t>
            </a:r>
          </a:p>
          <a:p>
            <a:pPr>
              <a:buFont typeface="Wingdings" pitchFamily="2" charset="2"/>
              <a:buChar char="Ø"/>
            </a:pPr>
            <a:r>
              <a:rPr lang="fr-FR" sz="5100" dirty="0"/>
              <a:t>Tamponnement </a:t>
            </a:r>
            <a:r>
              <a:rPr lang="fr-FR" sz="5100" dirty="0" err="1"/>
              <a:t>pharygien</a:t>
            </a:r>
            <a:r>
              <a:rPr lang="fr-FR" sz="5100" dirty="0"/>
              <a:t>.</a:t>
            </a:r>
            <a:r>
              <a:rPr lang="fr-FR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5100" dirty="0"/>
              <a:t> l’usage de la digue et d’un parachute sur l’instrument </a:t>
            </a:r>
          </a:p>
          <a:p>
            <a:pPr>
              <a:buFont typeface="Wingdings" pitchFamily="2" charset="2"/>
              <a:buChar char="Ø"/>
            </a:pPr>
            <a:r>
              <a:rPr lang="fr-FR" sz="5100" dirty="0"/>
              <a:t>un matériel en parfait état de marche, constituent la conduite idéal  de prévention des accidents d’ingestion et d’ inhalation.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96752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b="1" dirty="0">
                <a:solidFill>
                  <a:schemeClr val="bg1"/>
                </a:solidFill>
              </a:rPr>
              <a:t>Comment différencier l’inhalation de l’ingestion du corps étranger ?</a:t>
            </a:r>
            <a:br>
              <a:rPr lang="fr-FR" sz="3200" b="1" dirty="0">
                <a:solidFill>
                  <a:schemeClr val="bg1"/>
                </a:solidFill>
              </a:rPr>
            </a:b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L’inhalation entraine  une irritation bronchique et une gêne respiratoire immédiate.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L’ingestion dans les voies digestives ne se traduit pas toujours par des symptômes particuliers sauf si :</a:t>
            </a:r>
          </a:p>
          <a:p>
            <a:pPr marL="0" indent="0">
              <a:buNone/>
            </a:pPr>
            <a:r>
              <a:rPr lang="fr-FR" dirty="0"/>
              <a:t>     -le corps étranger est pointu, le patient signale une irritation à la gorge et on visualisera le haut du pharynx  avec un miroir et un abaisse-langue, en lui tractant la langue et lui faisant dire « </a:t>
            </a:r>
            <a:r>
              <a:rPr lang="fr-FR" dirty="0" err="1"/>
              <a:t>hééé</a:t>
            </a:r>
            <a:r>
              <a:rPr lang="fr-FR" dirty="0"/>
              <a:t> » </a:t>
            </a:r>
          </a:p>
          <a:p>
            <a:pPr marL="0" indent="0">
              <a:buNone/>
            </a:pPr>
            <a:r>
              <a:rPr lang="fr-FR" dirty="0"/>
              <a:t>    -ASP est nécessaire, pour contrôler l’appareil digestif le jour même ou le lendemain.</a:t>
            </a:r>
          </a:p>
        </p:txBody>
      </p:sp>
    </p:spTree>
    <p:extLst>
      <p:ext uri="{BB962C8B-B14F-4D97-AF65-F5344CB8AC3E}">
        <p14:creationId xmlns:p14="http://schemas.microsoft.com/office/powerpoint/2010/main" val="416602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fr-FR" dirty="0"/>
              <a:t>La prévention reste le meilleur moyen pour réduire les risques d’ingestion et d’inhalation.  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Le praticien doit être  vigilant avec les patients anxieux  et  les enfants qu'il convient de rassurer afin d'obtenir leur confiance et leur collaboration.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l'accident survient le plus souvent en raison d'un mouvement intempestif du malade qui redoute l'intervention. </a:t>
            </a:r>
          </a:p>
          <a:p>
            <a:pPr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963</Words>
  <Application>Microsoft Office PowerPoint</Application>
  <PresentationFormat>Affichage à l'écran (4:3)</PresentationFormat>
  <Paragraphs>103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Thème Office</vt:lpstr>
      <vt:lpstr>ACCIDENT D’ INGESTION ET  D’ INHALATION </vt:lpstr>
      <vt:lpstr>PLAN</vt:lpstr>
      <vt:lpstr>INTRODUCTION</vt:lpstr>
      <vt:lpstr>ACCIDENT D’INGESTION</vt:lpstr>
      <vt:lpstr>MANŒUVRE DE HEIMLISCH</vt:lpstr>
      <vt:lpstr>MANŒUVRE DE HEIMLISCH</vt:lpstr>
      <vt:lpstr>Manœuvre de Heimlisch chez l’ enfant</vt:lpstr>
      <vt:lpstr>ACCIDENT D’INGESTION</vt:lpstr>
      <vt:lpstr>Corps étrangers </vt:lpstr>
      <vt:lpstr>ACCIDENTS D’ INHALATION</vt:lpstr>
      <vt:lpstr>ACCIDENTS D’ INHALATION</vt:lpstr>
      <vt:lpstr>ACCIDENTS  D’INHALATION</vt:lpstr>
      <vt:lpstr>ACCIDENT D’INHALATION</vt:lpstr>
      <vt:lpstr>ACCIDENT D’INHALATION</vt:lpstr>
      <vt:lpstr>ACCIDENT D’INHALATION</vt:lpstr>
      <vt:lpstr>ACCIDENT D’INHALATION</vt:lpstr>
      <vt:lpstr> Comment différencier l’inhalation de l’ingestion du corps étranger ?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ACCIDENT D4 INGESTION ET D’ INHALATION</dc:title>
  <dc:creator>User</dc:creator>
  <cp:lastModifiedBy>lenovo</cp:lastModifiedBy>
  <cp:revision>25</cp:revision>
  <dcterms:created xsi:type="dcterms:W3CDTF">2017-03-07T05:20:20Z</dcterms:created>
  <dcterms:modified xsi:type="dcterms:W3CDTF">2025-01-05T10:10:47Z</dcterms:modified>
</cp:coreProperties>
</file>