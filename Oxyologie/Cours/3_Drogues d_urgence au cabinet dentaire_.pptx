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02" r:id="rId2"/>
    <p:sldId id="301" r:id="rId3"/>
    <p:sldId id="304" r:id="rId4"/>
    <p:sldId id="305" r:id="rId5"/>
    <p:sldId id="259" r:id="rId6"/>
    <p:sldId id="306" r:id="rId7"/>
    <p:sldId id="269" r:id="rId8"/>
    <p:sldId id="288" r:id="rId9"/>
    <p:sldId id="289" r:id="rId10"/>
    <p:sldId id="290" r:id="rId11"/>
    <p:sldId id="291" r:id="rId12"/>
    <p:sldId id="268" r:id="rId13"/>
    <p:sldId id="297" r:id="rId14"/>
    <p:sldId id="298"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E8A"/>
    <a:srgbClr val="FFC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Style foncé 1 - Accentuation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3" autoAdjust="0"/>
    <p:restoredTop sz="80575" autoAdjust="0"/>
  </p:normalViewPr>
  <p:slideViewPr>
    <p:cSldViewPr snapToGrid="0">
      <p:cViewPr varScale="1">
        <p:scale>
          <a:sx n="53" d="100"/>
          <a:sy n="53" d="100"/>
        </p:scale>
        <p:origin x="114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5F78C1-804B-4CEE-B3CA-9C6FF53E4298}" type="datetimeFigureOut">
              <a:rPr lang="fr-FR" smtClean="0"/>
              <a:t>29/12/2024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5FDA20-7471-4F95-B09C-43D2A1EABAC3}" type="slidenum">
              <a:rPr lang="fr-FR" smtClean="0"/>
              <a:t>‹N°›</a:t>
            </a:fld>
            <a:endParaRPr lang="fr-FR"/>
          </a:p>
        </p:txBody>
      </p:sp>
    </p:spTree>
    <p:extLst>
      <p:ext uri="{BB962C8B-B14F-4D97-AF65-F5344CB8AC3E}">
        <p14:creationId xmlns:p14="http://schemas.microsoft.com/office/powerpoint/2010/main" val="3731357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1</a:t>
            </a:fld>
            <a:endParaRPr lang="fr-FR"/>
          </a:p>
        </p:txBody>
      </p:sp>
    </p:spTree>
    <p:extLst>
      <p:ext uri="{BB962C8B-B14F-4D97-AF65-F5344CB8AC3E}">
        <p14:creationId xmlns:p14="http://schemas.microsoft.com/office/powerpoint/2010/main" val="1260258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2</a:t>
            </a:fld>
            <a:endParaRPr lang="fr-FR"/>
          </a:p>
        </p:txBody>
      </p:sp>
    </p:spTree>
    <p:extLst>
      <p:ext uri="{BB962C8B-B14F-4D97-AF65-F5344CB8AC3E}">
        <p14:creationId xmlns:p14="http://schemas.microsoft.com/office/powerpoint/2010/main" val="3499600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692B-4B47-0364-9D1D-7AC32E29ED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94966C-6E03-7BC7-36A3-7FDD33523C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3117AE-3C4A-4EF6-2604-4C4FF26A954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43B690B-217F-D8C3-012A-3C70CB3AAFD6}"/>
              </a:ext>
            </a:extLst>
          </p:cNvPr>
          <p:cNvSpPr>
            <a:spLocks noGrp="1"/>
          </p:cNvSpPr>
          <p:nvPr>
            <p:ph type="sldNum" sz="quarter" idx="5"/>
          </p:nvPr>
        </p:nvSpPr>
        <p:spPr/>
        <p:txBody>
          <a:bodyPr/>
          <a:lstStyle/>
          <a:p>
            <a:fld id="{4E5FDA20-7471-4F95-B09C-43D2A1EABAC3}" type="slidenum">
              <a:rPr lang="fr-FR" smtClean="0"/>
              <a:t>4</a:t>
            </a:fld>
            <a:endParaRPr lang="fr-FR"/>
          </a:p>
        </p:txBody>
      </p:sp>
    </p:spTree>
    <p:extLst>
      <p:ext uri="{BB962C8B-B14F-4D97-AF65-F5344CB8AC3E}">
        <p14:creationId xmlns:p14="http://schemas.microsoft.com/office/powerpoint/2010/main" val="1389684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a:t>
            </a:r>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5</a:t>
            </a:fld>
            <a:endParaRPr lang="fr-FR"/>
          </a:p>
        </p:txBody>
      </p:sp>
    </p:spTree>
    <p:extLst>
      <p:ext uri="{BB962C8B-B14F-4D97-AF65-F5344CB8AC3E}">
        <p14:creationId xmlns:p14="http://schemas.microsoft.com/office/powerpoint/2010/main" val="1184691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1B09D-3423-3943-7DBF-94F4EB9B02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3C8659-F46E-133C-93D2-6122AE63739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71B190-0211-87A4-7C1F-C599F60A8ECA}"/>
              </a:ext>
            </a:extLst>
          </p:cNvPr>
          <p:cNvSpPr>
            <a:spLocks noGrp="1"/>
          </p:cNvSpPr>
          <p:nvPr>
            <p:ph type="body" idx="1"/>
          </p:nvPr>
        </p:nvSpPr>
        <p:spPr/>
        <p:txBody>
          <a:bodyPr/>
          <a:lstStyle/>
          <a:p>
            <a:r>
              <a:rPr lang="fr-FR" dirty="0"/>
              <a:t>L</a:t>
            </a:r>
          </a:p>
        </p:txBody>
      </p:sp>
      <p:sp>
        <p:nvSpPr>
          <p:cNvPr id="4" name="Espace réservé du numéro de diapositive 3">
            <a:extLst>
              <a:ext uri="{FF2B5EF4-FFF2-40B4-BE49-F238E27FC236}">
                <a16:creationId xmlns:a16="http://schemas.microsoft.com/office/drawing/2014/main" id="{38F72A9B-FAA6-2214-4B05-4AE6B6786001}"/>
              </a:ext>
            </a:extLst>
          </p:cNvPr>
          <p:cNvSpPr>
            <a:spLocks noGrp="1"/>
          </p:cNvSpPr>
          <p:nvPr>
            <p:ph type="sldNum" sz="quarter" idx="5"/>
          </p:nvPr>
        </p:nvSpPr>
        <p:spPr/>
        <p:txBody>
          <a:bodyPr/>
          <a:lstStyle/>
          <a:p>
            <a:fld id="{4E5FDA20-7471-4F95-B09C-43D2A1EABAC3}" type="slidenum">
              <a:rPr lang="fr-FR" smtClean="0"/>
              <a:t>6</a:t>
            </a:fld>
            <a:endParaRPr lang="fr-FR"/>
          </a:p>
        </p:txBody>
      </p:sp>
    </p:spTree>
    <p:extLst>
      <p:ext uri="{BB962C8B-B14F-4D97-AF65-F5344CB8AC3E}">
        <p14:creationId xmlns:p14="http://schemas.microsoft.com/office/powerpoint/2010/main" val="537871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7</a:t>
            </a:fld>
            <a:endParaRPr lang="fr-FR"/>
          </a:p>
        </p:txBody>
      </p:sp>
    </p:spTree>
    <p:extLst>
      <p:ext uri="{BB962C8B-B14F-4D97-AF65-F5344CB8AC3E}">
        <p14:creationId xmlns:p14="http://schemas.microsoft.com/office/powerpoint/2010/main" val="82623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8</a:t>
            </a:fld>
            <a:endParaRPr lang="fr-FR"/>
          </a:p>
        </p:txBody>
      </p:sp>
    </p:spTree>
    <p:extLst>
      <p:ext uri="{BB962C8B-B14F-4D97-AF65-F5344CB8AC3E}">
        <p14:creationId xmlns:p14="http://schemas.microsoft.com/office/powerpoint/2010/main" val="842542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9</a:t>
            </a:fld>
            <a:endParaRPr lang="fr-FR"/>
          </a:p>
        </p:txBody>
      </p:sp>
    </p:spTree>
    <p:extLst>
      <p:ext uri="{BB962C8B-B14F-4D97-AF65-F5344CB8AC3E}">
        <p14:creationId xmlns:p14="http://schemas.microsoft.com/office/powerpoint/2010/main" val="519734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EB040-7AF8-4E81-A799-453B910504F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A3FBB89-0BF6-4BDC-9230-8071F467A4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75FC818-DFFF-4FB1-8489-253C394E648E}"/>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D37C3283-B0FB-4430-A07E-7ABAE2A8BFB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A92655-91ED-41EA-8ACE-CF8EAA8589C1}"/>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61357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251E8A-05CB-4CF2-9032-9B82A2C6F7B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B8F6539-EB45-421A-A3D8-F0AC307AC8D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BE6528-AD68-48A4-A99E-9D853CB6E215}"/>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C5E1A462-9691-493C-81CE-ECF8909ECF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C87790-7765-47E0-8665-723C474E14CA}"/>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1832860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A47F22-9C5C-405A-A58A-396BA6EA70D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1366128-7B28-45C0-8B7F-08C6D13C37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5DC9FCD-7750-4016-8996-403DEF8BCD70}"/>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C2DB435A-7662-4F80-94FC-DC16B4C0A7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6AA0FE-3DF5-48C1-B567-48ED270F8B4E}"/>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280772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3564EF-77EF-4CF1-A3F1-139F85C6311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D8DE7A-4323-4332-800D-C97B668EC76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7C3E5FB-F4E3-472F-AD99-7CFD0C37DAD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9E95266-4976-4A0C-80D7-5EE041C66708}"/>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6" name="Espace réservé du pied de page 5">
            <a:extLst>
              <a:ext uri="{FF2B5EF4-FFF2-40B4-BE49-F238E27FC236}">
                <a16:creationId xmlns:a16="http://schemas.microsoft.com/office/drawing/2014/main" id="{DBC53505-20EE-49E6-A3F8-7F8038787E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77E0179-D911-4E8E-B934-4B4E6FF7E076}"/>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1779745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AB1CD6-5D84-40D1-BF84-970AA7BFB7C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0DCD8CE-4D5A-4666-8113-EB98BB25B8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D1ACA86-82A2-4EFA-A4F3-7D40CFAD1E9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4C0FD67-00A9-473E-80D5-1AFCC87AE6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ED1DBF-EF45-463B-B969-7B6C81F6590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D9DABC9-FFF1-4B56-8C79-E86B6E9B1932}"/>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8" name="Espace réservé du pied de page 7">
            <a:extLst>
              <a:ext uri="{FF2B5EF4-FFF2-40B4-BE49-F238E27FC236}">
                <a16:creationId xmlns:a16="http://schemas.microsoft.com/office/drawing/2014/main" id="{59759230-DC54-4592-A48E-412DDBB34AD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23AD269-1A26-4749-A0F4-7AAEA22BAF18}"/>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53701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E65DFF-1845-4F13-A8E2-B477AA47BCB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0DB3A15-D3F6-478F-A9BD-90DCC55AD18F}"/>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4" name="Espace réservé du pied de page 3">
            <a:extLst>
              <a:ext uri="{FF2B5EF4-FFF2-40B4-BE49-F238E27FC236}">
                <a16:creationId xmlns:a16="http://schemas.microsoft.com/office/drawing/2014/main" id="{213A7B96-E290-4BAD-B0CC-7073890765E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8FEBB3C-7394-4422-9CDB-DF204EA2BEF2}"/>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2763902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41496B-3D22-45D3-8DA2-DBA7F90DC9C3}"/>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3" name="Espace réservé du pied de page 2">
            <a:extLst>
              <a:ext uri="{FF2B5EF4-FFF2-40B4-BE49-F238E27FC236}">
                <a16:creationId xmlns:a16="http://schemas.microsoft.com/office/drawing/2014/main" id="{8C9232A0-A717-4389-B111-6E593874941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D608025-CD3B-415F-A082-66533C21C22A}"/>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30915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C154D3-1AFB-449C-8665-EA6895C3156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35A019D-BC32-4F88-9AEC-9AEF2B902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8A00445-8053-4CFB-AB16-6E7268A6E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60191B3-FC96-480D-A16A-0EE88DDD4091}"/>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6" name="Espace réservé du pied de page 5">
            <a:extLst>
              <a:ext uri="{FF2B5EF4-FFF2-40B4-BE49-F238E27FC236}">
                <a16:creationId xmlns:a16="http://schemas.microsoft.com/office/drawing/2014/main" id="{2B354A9A-D895-4C68-BC57-1F89DCF5CCB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FB31F6A-00F9-4755-8C22-6C0415B92A9C}"/>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76402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8FD83C-E409-4062-AA69-758CE293C87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034E546-BD18-4D16-8802-819145542A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3684AEF-9182-47DE-886D-3BF2CC3CA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C929C88-BC86-47C1-B1E4-9502FF30115B}"/>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6" name="Espace réservé du pied de page 5">
            <a:extLst>
              <a:ext uri="{FF2B5EF4-FFF2-40B4-BE49-F238E27FC236}">
                <a16:creationId xmlns:a16="http://schemas.microsoft.com/office/drawing/2014/main" id="{C1B9CC81-407F-463F-8D66-5B21758665D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6F27F6E-12B5-41FB-A88A-7AFA184DDA15}"/>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991348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45F7C7-A537-4D08-A4C1-35EA5766794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7E5AA34-C173-4E23-BB42-CA38A10ADF6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046B4B-2B10-41FF-B961-BC1D4EF655F9}"/>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16F0709A-8EC9-49F2-B2F9-8459FA2B39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49F69B-C3BE-4196-9E1D-3A46B2863F9B}"/>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2097653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98BF992-A079-4111-B644-74754D63F68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0B6069B-A6A4-4F0D-BE22-DC7316D4D09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B2FD55-1837-4B4C-BDC9-1CED529A789D}"/>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F9ABAB62-A7B1-49DA-B0B8-FCBAC23286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D42A79-522B-4EFF-A1A2-7E80CD265152}"/>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769393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22B4854-F69C-4ECF-9841-D724707EA6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532A069-EB66-49EC-8787-BCA3A2598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D0CF57-245A-4454-840F-A3532AF71B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18EF20B0-2213-465D-814C-976113811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E4D8AB5-6C07-4A13-9DBA-3863C9B5D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96DD05-D4C2-493E-A9D4-C2B27B5DD7F8}" type="slidenum">
              <a:rPr lang="fr-FR" smtClean="0"/>
              <a:t>‹N°›</a:t>
            </a:fld>
            <a:endParaRPr lang="fr-FR"/>
          </a:p>
        </p:txBody>
      </p:sp>
    </p:spTree>
    <p:extLst>
      <p:ext uri="{BB962C8B-B14F-4D97-AF65-F5344CB8AC3E}">
        <p14:creationId xmlns:p14="http://schemas.microsoft.com/office/powerpoint/2010/main" val="2239687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CD797C-16E5-44AD-9172-A075A979125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EFAB1CA-622C-4BEE-8F4B-436E32BE6D49}"/>
              </a:ext>
            </a:extLst>
          </p:cNvPr>
          <p:cNvSpPr>
            <a:spLocks noGrp="1"/>
          </p:cNvSpPr>
          <p:nvPr>
            <p:ph idx="1"/>
          </p:nvPr>
        </p:nvSpPr>
        <p:spPr>
          <a:xfrm>
            <a:off x="0" y="0"/>
            <a:ext cx="12192000" cy="6857999"/>
          </a:xfrm>
          <a:blipFill dpi="0" rotWithShape="1">
            <a:blip r:embed="rId3">
              <a:extLst>
                <a:ext uri="{28A0092B-C50C-407E-A947-70E740481C1C}">
                  <a14:useLocalDpi xmlns:a14="http://schemas.microsoft.com/office/drawing/2010/main" val="0"/>
                </a:ext>
              </a:extLst>
            </a:blip>
            <a:srcRect/>
            <a:stretch>
              <a:fillRect/>
            </a:stretch>
          </a:blipFill>
        </p:spPr>
        <p:txBody>
          <a:bodyPr>
            <a:normAutofit/>
          </a:bodyPr>
          <a:lstStyle/>
          <a:p>
            <a:pPr marL="1698625" indent="0">
              <a:buNone/>
            </a:pPr>
            <a:endParaRPr lang="fr-FR" sz="4800" b="1" dirty="0">
              <a:solidFill>
                <a:srgbClr val="FFFF00"/>
              </a:solidFill>
            </a:endParaRPr>
          </a:p>
          <a:p>
            <a:pPr marL="709613" indent="-355600">
              <a:buNone/>
            </a:pPr>
            <a:r>
              <a:rPr lang="fr-FR" sz="4800" b="1" dirty="0">
                <a:solidFill>
                  <a:srgbClr val="FFFF00"/>
                </a:solidFill>
                <a:highlight>
                  <a:srgbClr val="FFFF00"/>
                </a:highlight>
              </a:rPr>
              <a:t>            </a:t>
            </a:r>
          </a:p>
          <a:p>
            <a:pPr marL="709613" indent="-355600">
              <a:buNone/>
            </a:pPr>
            <a:r>
              <a:rPr lang="fr-FR" sz="4800" b="1" dirty="0">
                <a:solidFill>
                  <a:srgbClr val="FF0000"/>
                </a:solidFill>
              </a:rPr>
              <a:t>            </a:t>
            </a:r>
            <a:r>
              <a:rPr lang="fr-FR" sz="4800" b="1" dirty="0">
                <a:solidFill>
                  <a:srgbClr val="FF0000"/>
                </a:solidFill>
                <a:highlight>
                  <a:srgbClr val="FFFF00"/>
                </a:highlight>
              </a:rPr>
              <a:t> DROGUES D’URGENCE</a:t>
            </a:r>
          </a:p>
          <a:p>
            <a:pPr marL="709613" indent="-355600">
              <a:buNone/>
            </a:pPr>
            <a:r>
              <a:rPr lang="fr-FR" sz="4800" b="1" dirty="0">
                <a:solidFill>
                  <a:schemeClr val="bg1"/>
                </a:solidFill>
              </a:rPr>
              <a:t>          </a:t>
            </a:r>
            <a:r>
              <a:rPr lang="fr-FR" sz="4800" b="1" dirty="0">
                <a:solidFill>
                  <a:srgbClr val="FF0000"/>
                </a:solidFill>
                <a:highlight>
                  <a:srgbClr val="FFFF00"/>
                </a:highlight>
              </a:rPr>
              <a:t>  AU  CABINET DENTAIRE </a:t>
            </a:r>
          </a:p>
        </p:txBody>
      </p:sp>
      <p:sp>
        <p:nvSpPr>
          <p:cNvPr id="6" name="Titre 1">
            <a:extLst>
              <a:ext uri="{FF2B5EF4-FFF2-40B4-BE49-F238E27FC236}">
                <a16:creationId xmlns:a16="http://schemas.microsoft.com/office/drawing/2014/main" id="{0AA45184-8553-4EDD-9EFA-9FC7A55DBC81}"/>
              </a:ext>
            </a:extLst>
          </p:cNvPr>
          <p:cNvSpPr txBox="1">
            <a:spLocks/>
          </p:cNvSpPr>
          <p:nvPr/>
        </p:nvSpPr>
        <p:spPr>
          <a:xfrm>
            <a:off x="354563" y="4629860"/>
            <a:ext cx="2438401" cy="204962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 </a:t>
            </a:r>
            <a:endParaRPr lang="fr-FR" dirty="0"/>
          </a:p>
        </p:txBody>
      </p:sp>
      <p:sp>
        <p:nvSpPr>
          <p:cNvPr id="7" name="Rectangle : coins arrondis 6">
            <a:extLst>
              <a:ext uri="{FF2B5EF4-FFF2-40B4-BE49-F238E27FC236}">
                <a16:creationId xmlns:a16="http://schemas.microsoft.com/office/drawing/2014/main" id="{58661FCB-B558-4C33-B6B3-9F1E3ADA3545}"/>
              </a:ext>
            </a:extLst>
          </p:cNvPr>
          <p:cNvSpPr/>
          <p:nvPr/>
        </p:nvSpPr>
        <p:spPr>
          <a:xfrm>
            <a:off x="5728996" y="5542385"/>
            <a:ext cx="6463004" cy="123678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rgbClr val="FF0000"/>
                </a:solidFill>
              </a:rPr>
              <a:t>Dr S.BELLAHDID</a:t>
            </a:r>
          </a:p>
          <a:p>
            <a:pPr algn="ctr"/>
            <a:r>
              <a:rPr lang="fr-FR" sz="2800" b="1" dirty="0">
                <a:solidFill>
                  <a:srgbClr val="FF0000"/>
                </a:solidFill>
              </a:rPr>
              <a:t>  </a:t>
            </a:r>
          </a:p>
        </p:txBody>
      </p:sp>
    </p:spTree>
    <p:extLst>
      <p:ext uri="{BB962C8B-B14F-4D97-AF65-F5344CB8AC3E}">
        <p14:creationId xmlns:p14="http://schemas.microsoft.com/office/powerpoint/2010/main" val="1355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8A4DC-E86D-426E-973D-B66474499724}"/>
              </a:ext>
            </a:extLst>
          </p:cNvPr>
          <p:cNvSpPr>
            <a:spLocks noGrp="1"/>
          </p:cNvSpPr>
          <p:nvPr>
            <p:ph type="title"/>
          </p:nvPr>
        </p:nvSpPr>
        <p:spPr>
          <a:xfrm>
            <a:off x="838200" y="365125"/>
            <a:ext cx="10515600" cy="847855"/>
          </a:xfrm>
        </p:spPr>
        <p:txBody>
          <a:bodyPr/>
          <a:lstStyle/>
          <a:p>
            <a:r>
              <a:rPr lang="fr-FR" dirty="0"/>
              <a:t>                  </a:t>
            </a:r>
            <a:r>
              <a:rPr lang="fr-FR" b="1" dirty="0">
                <a:solidFill>
                  <a:srgbClr val="FF0000"/>
                </a:solidFill>
                <a:latin typeface="+mn-lt"/>
              </a:rPr>
              <a:t>INTRODUCTION </a:t>
            </a:r>
          </a:p>
        </p:txBody>
      </p:sp>
      <p:sp>
        <p:nvSpPr>
          <p:cNvPr id="3" name="Espace réservé du contenu 2">
            <a:extLst>
              <a:ext uri="{FF2B5EF4-FFF2-40B4-BE49-F238E27FC236}">
                <a16:creationId xmlns:a16="http://schemas.microsoft.com/office/drawing/2014/main" id="{78062209-946A-41F9-9E82-35C29B47E52A}"/>
              </a:ext>
            </a:extLst>
          </p:cNvPr>
          <p:cNvSpPr>
            <a:spLocks noGrp="1"/>
          </p:cNvSpPr>
          <p:nvPr>
            <p:ph idx="1"/>
          </p:nvPr>
        </p:nvSpPr>
        <p:spPr>
          <a:xfrm>
            <a:off x="838200" y="1212980"/>
            <a:ext cx="10515600" cy="4963983"/>
          </a:xfrm>
        </p:spPr>
        <p:txBody>
          <a:bodyPr>
            <a:normAutofit/>
          </a:bodyPr>
          <a:lstStyle/>
          <a:p>
            <a:pPr marL="0" indent="0">
              <a:lnSpc>
                <a:spcPct val="100000"/>
              </a:lnSpc>
              <a:buNone/>
            </a:pPr>
            <a:endParaRPr lang="fr-FR" b="1" dirty="0"/>
          </a:p>
          <a:p>
            <a:pPr>
              <a:lnSpc>
                <a:spcPct val="100000"/>
              </a:lnSpc>
              <a:buFont typeface="Wingdings" panose="05000000000000000000" pitchFamily="2" charset="2"/>
              <a:buChar char="Ø"/>
            </a:pPr>
            <a:r>
              <a:rPr lang="fr-FR" b="1" dirty="0"/>
              <a:t>Chaque cabinet  dentaire  doit obligatoirement  disposer de matériels et de médicaments d’urgence nécessaire à  la sécurité des patients</a:t>
            </a:r>
          </a:p>
          <a:p>
            <a:pPr>
              <a:lnSpc>
                <a:spcPct val="100000"/>
              </a:lnSpc>
              <a:buFont typeface="Wingdings" panose="05000000000000000000" pitchFamily="2" charset="2"/>
              <a:buChar char="Ø"/>
            </a:pPr>
            <a:r>
              <a:rPr lang="fr-FR" b="1" dirty="0"/>
              <a:t>Chaque praticien doit être capable de mettre en place une thérapeutique médicamenteuse dans l’ attente des secours.</a:t>
            </a:r>
          </a:p>
          <a:p>
            <a:pPr>
              <a:buFont typeface="Wingdings" panose="05000000000000000000" pitchFamily="2" charset="2"/>
              <a:buChar char="Ø"/>
            </a:pPr>
            <a:r>
              <a:rPr lang="fr-FR" b="1" dirty="0"/>
              <a:t> Devant l’urgence la priorité pour un chirurgien dentiste est de mettre en œuvre les premiers gestes de secours permettant d’éviter l’ aggravation de l’état  général  de son patient et non pas de poser le diagnostic précis .</a:t>
            </a:r>
          </a:p>
          <a:p>
            <a:pPr marL="0" indent="0">
              <a:buNone/>
            </a:pPr>
            <a:endParaRPr lang="fr-FR" dirty="0"/>
          </a:p>
        </p:txBody>
      </p:sp>
    </p:spTree>
    <p:extLst>
      <p:ext uri="{BB962C8B-B14F-4D97-AF65-F5344CB8AC3E}">
        <p14:creationId xmlns:p14="http://schemas.microsoft.com/office/powerpoint/2010/main" val="1097089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620FFC-EB29-208D-4F9E-6C793FF4B160}"/>
              </a:ext>
            </a:extLst>
          </p:cNvPr>
          <p:cNvSpPr>
            <a:spLocks noGrp="1"/>
          </p:cNvSpPr>
          <p:nvPr>
            <p:ph type="title"/>
          </p:nvPr>
        </p:nvSpPr>
        <p:spPr/>
        <p:txBody>
          <a:bodyPr/>
          <a:lstStyle/>
          <a:p>
            <a:r>
              <a:rPr lang="fr-FR" b="1" dirty="0">
                <a:solidFill>
                  <a:srgbClr val="FF0000"/>
                </a:solidFill>
                <a:latin typeface="+mn-lt"/>
              </a:rPr>
              <a:t>                          INTRODUCTION</a:t>
            </a:r>
            <a:endParaRPr lang="fr-FR" dirty="0"/>
          </a:p>
        </p:txBody>
      </p:sp>
      <p:sp>
        <p:nvSpPr>
          <p:cNvPr id="3" name="Espace réservé du contenu 2">
            <a:extLst>
              <a:ext uri="{FF2B5EF4-FFF2-40B4-BE49-F238E27FC236}">
                <a16:creationId xmlns:a16="http://schemas.microsoft.com/office/drawing/2014/main" id="{47706DBB-38CC-69F6-D01A-8BC52D2B61B4}"/>
              </a:ext>
            </a:extLst>
          </p:cNvPr>
          <p:cNvSpPr>
            <a:spLocks noGrp="1"/>
          </p:cNvSpPr>
          <p:nvPr>
            <p:ph idx="1"/>
          </p:nvPr>
        </p:nvSpPr>
        <p:spPr/>
        <p:txBody>
          <a:bodyPr/>
          <a:lstStyle/>
          <a:p>
            <a:r>
              <a:rPr lang="fr-FR" dirty="0"/>
              <a:t>L’utilisation de la voie intraveineuse est  souvent  la plus utilisée en urgence  au cabinet dentaire alors que peu de chirurgiens-dentistes sont familiarisés avec ce type d’injection</a:t>
            </a:r>
          </a:p>
          <a:p>
            <a:r>
              <a:rPr lang="fr-FR" dirty="0"/>
              <a:t>Une autre voie d’administration</a:t>
            </a:r>
          </a:p>
          <a:p>
            <a:pPr>
              <a:buFont typeface="Wingdings" panose="05000000000000000000" pitchFamily="2" charset="2"/>
              <a:buChar char="Ø"/>
            </a:pPr>
            <a:r>
              <a:rPr lang="fr-FR" dirty="0"/>
              <a:t> orale</a:t>
            </a:r>
          </a:p>
          <a:p>
            <a:pPr>
              <a:buFont typeface="Wingdings" panose="05000000000000000000" pitchFamily="2" charset="2"/>
              <a:buChar char="Ø"/>
            </a:pPr>
            <a:r>
              <a:rPr lang="fr-FR" dirty="0"/>
              <a:t>sous cutanée    ou </a:t>
            </a:r>
          </a:p>
          <a:p>
            <a:pPr>
              <a:buFont typeface="Wingdings" panose="05000000000000000000" pitchFamily="2" charset="2"/>
              <a:buChar char="Ø"/>
            </a:pPr>
            <a:r>
              <a:rPr lang="fr-FR" dirty="0"/>
              <a:t> intramusculaire</a:t>
            </a:r>
          </a:p>
          <a:p>
            <a:pPr marL="0" indent="0">
              <a:buNone/>
            </a:pPr>
            <a:r>
              <a:rPr lang="fr-FR" dirty="0"/>
              <a:t>Sont  utilisable et efficace dans l’attente de moyens médicalisés.</a:t>
            </a:r>
          </a:p>
          <a:p>
            <a:endParaRPr lang="fr-FR" dirty="0"/>
          </a:p>
        </p:txBody>
      </p:sp>
    </p:spTree>
    <p:extLst>
      <p:ext uri="{BB962C8B-B14F-4D97-AF65-F5344CB8AC3E}">
        <p14:creationId xmlns:p14="http://schemas.microsoft.com/office/powerpoint/2010/main" val="3727241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CC4418-0A2A-412E-BE6F-5367E64B38B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A8DF7F8-BBC9-F038-E587-8706A0F2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E214BD-8EC3-DD58-0DDE-C0F9E329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4FE7CE-A6DF-5828-70BA-EC9991ABC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6A498C-4883-A350-8C70-CB7851DD5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9C226576-4C6A-6535-A0FD-60E59BEEC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26CA8074-2201-B7D8-B458-57175BD61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1B65DA1-37D7-198C-7226-259EB1308CE1}"/>
              </a:ext>
            </a:extLst>
          </p:cNvPr>
          <p:cNvSpPr>
            <a:spLocks noGrp="1"/>
          </p:cNvSpPr>
          <p:nvPr>
            <p:ph type="title"/>
          </p:nvPr>
        </p:nvSpPr>
        <p:spPr>
          <a:xfrm>
            <a:off x="84083" y="586855"/>
            <a:ext cx="3816889" cy="5877007"/>
          </a:xfrm>
        </p:spPr>
        <p:txBody>
          <a:bodyPr anchor="ctr">
            <a:normAutofit fontScale="90000"/>
          </a:bodyPr>
          <a:lstStyle/>
          <a:p>
            <a:r>
              <a:rPr lang="fr-FR" sz="3700" b="1" dirty="0">
                <a:solidFill>
                  <a:srgbClr val="FFFFFF"/>
                </a:solidFill>
                <a:latin typeface="+mn-lt"/>
              </a:rPr>
              <a:t>MEDICAMENT</a:t>
            </a:r>
            <a:br>
              <a:rPr lang="fr-FR" sz="3700" b="1" dirty="0">
                <a:solidFill>
                  <a:srgbClr val="FFFFFF"/>
                </a:solidFill>
                <a:latin typeface="+mn-lt"/>
              </a:rPr>
            </a:br>
            <a:r>
              <a:rPr lang="fr-FR" sz="3700" b="1" dirty="0">
                <a:solidFill>
                  <a:srgbClr val="FFFFFF"/>
                </a:solidFill>
                <a:latin typeface="+mn-lt"/>
              </a:rPr>
              <a:t>D’URGENCE</a:t>
            </a:r>
            <a:br>
              <a:rPr lang="fr-FR" sz="3700" b="1" dirty="0">
                <a:solidFill>
                  <a:srgbClr val="FFFFFF"/>
                </a:solidFill>
                <a:latin typeface="+mn-lt"/>
              </a:rPr>
            </a:br>
            <a:r>
              <a:rPr lang="fr-FR" sz="3700" b="1" dirty="0">
                <a:solidFill>
                  <a:srgbClr val="FFFFFF"/>
                </a:solidFill>
                <a:latin typeface="+mn-lt"/>
              </a:rPr>
              <a:t>-</a:t>
            </a:r>
            <a:r>
              <a:rPr lang="fr-FR" sz="2800" b="1" dirty="0">
                <a:solidFill>
                  <a:schemeClr val="bg1"/>
                </a:solidFill>
                <a:latin typeface="+mn-lt"/>
              </a:rPr>
              <a:t>Ampoule de 0,5  mg  à 1 mg</a:t>
            </a:r>
            <a:br>
              <a:rPr lang="fr-FR" sz="2800" b="1" dirty="0">
                <a:latin typeface="+mn-lt"/>
              </a:rPr>
            </a:br>
            <a:r>
              <a:rPr lang="fr-FR" sz="2800" b="1" dirty="0">
                <a:latin typeface="+mn-lt"/>
              </a:rPr>
              <a:t>-</a:t>
            </a:r>
            <a:r>
              <a:rPr lang="fr-FR" sz="2800" b="1" dirty="0">
                <a:solidFill>
                  <a:schemeClr val="bg1"/>
                </a:solidFill>
                <a:latin typeface="+mn-lt"/>
              </a:rPr>
              <a:t>Voie d’administration  :</a:t>
            </a:r>
            <a:br>
              <a:rPr lang="fr-FR" sz="2800" b="1" dirty="0">
                <a:solidFill>
                  <a:schemeClr val="bg1"/>
                </a:solidFill>
                <a:latin typeface="+mn-lt"/>
              </a:rPr>
            </a:br>
            <a:r>
              <a:rPr lang="fr-FR" sz="2800" b="1" dirty="0">
                <a:solidFill>
                  <a:schemeClr val="bg1"/>
                </a:solidFill>
                <a:latin typeface="+mn-lt"/>
              </a:rPr>
              <a:t>     -Sous cutanée</a:t>
            </a:r>
            <a:br>
              <a:rPr lang="fr-FR" sz="2800" b="1" dirty="0">
                <a:solidFill>
                  <a:schemeClr val="bg1"/>
                </a:solidFill>
                <a:latin typeface="+mn-lt"/>
              </a:rPr>
            </a:br>
            <a:r>
              <a:rPr lang="fr-FR" sz="2800" b="1" dirty="0">
                <a:solidFill>
                  <a:schemeClr val="bg1"/>
                </a:solidFill>
                <a:latin typeface="+mn-lt"/>
              </a:rPr>
              <a:t>Posologie =0,5 mg à 1 mg</a:t>
            </a:r>
            <a:br>
              <a:rPr lang="fr-FR" sz="2800" b="1" dirty="0">
                <a:solidFill>
                  <a:schemeClr val="bg1"/>
                </a:solidFill>
                <a:latin typeface="+mn-lt"/>
              </a:rPr>
            </a:br>
            <a:br>
              <a:rPr lang="fr-FR" sz="2800" b="1" dirty="0">
                <a:solidFill>
                  <a:schemeClr val="bg1"/>
                </a:solidFill>
                <a:latin typeface="+mn-lt"/>
              </a:rPr>
            </a:br>
            <a:r>
              <a:rPr lang="fr-FR" sz="2800" b="1" dirty="0">
                <a:solidFill>
                  <a:schemeClr val="bg1"/>
                </a:solidFill>
                <a:latin typeface="+mn-lt"/>
              </a:rPr>
              <a:t>-</a:t>
            </a:r>
            <a:r>
              <a:rPr lang="fr-FR" sz="3200" b="1" dirty="0">
                <a:solidFill>
                  <a:schemeClr val="bg1"/>
                </a:solidFill>
                <a:latin typeface="+mn-lt"/>
              </a:rPr>
              <a:t>En s/s cutané le délai </a:t>
            </a:r>
            <a:br>
              <a:rPr lang="fr-FR" sz="3200" b="1" dirty="0">
                <a:solidFill>
                  <a:schemeClr val="bg1"/>
                </a:solidFill>
                <a:latin typeface="+mn-lt"/>
              </a:rPr>
            </a:br>
            <a:r>
              <a:rPr lang="fr-FR" sz="3200" b="1" dirty="0">
                <a:solidFill>
                  <a:schemeClr val="bg1"/>
                </a:solidFill>
                <a:latin typeface="+mn-lt"/>
              </a:rPr>
              <a:t> d’action est de 15 à 30 minutes</a:t>
            </a:r>
            <a:br>
              <a:rPr lang="fr-FR" sz="3200" b="1" dirty="0">
                <a:solidFill>
                  <a:schemeClr val="bg1"/>
                </a:solidFill>
              </a:rPr>
            </a:br>
            <a:r>
              <a:rPr lang="fr-FR" sz="3700" b="1" dirty="0">
                <a:solidFill>
                  <a:schemeClr val="bg1"/>
                </a:solidFill>
                <a:latin typeface="+mn-lt"/>
              </a:rPr>
              <a:t> </a:t>
            </a:r>
            <a:br>
              <a:rPr lang="fr-FR" sz="3700" b="1" dirty="0">
                <a:solidFill>
                  <a:schemeClr val="bg1"/>
                </a:solidFill>
                <a:latin typeface="+mn-lt"/>
              </a:rPr>
            </a:br>
            <a:endParaRPr lang="fr-FR" sz="3700" b="1" dirty="0">
              <a:solidFill>
                <a:schemeClr val="bg1"/>
              </a:solidFill>
              <a:latin typeface="+mn-lt"/>
            </a:endParaRPr>
          </a:p>
        </p:txBody>
      </p:sp>
      <p:sp>
        <p:nvSpPr>
          <p:cNvPr id="4" name="Espace réservé du contenu 2">
            <a:extLst>
              <a:ext uri="{FF2B5EF4-FFF2-40B4-BE49-F238E27FC236}">
                <a16:creationId xmlns:a16="http://schemas.microsoft.com/office/drawing/2014/main" id="{A32EADE2-1966-A78A-782D-3B548AE70A11}"/>
              </a:ext>
            </a:extLst>
          </p:cNvPr>
          <p:cNvSpPr>
            <a:spLocks noGrp="1"/>
          </p:cNvSpPr>
          <p:nvPr>
            <p:ph idx="1"/>
          </p:nvPr>
        </p:nvSpPr>
        <p:spPr>
          <a:xfrm>
            <a:off x="4235669" y="649480"/>
            <a:ext cx="5255172" cy="6076173"/>
          </a:xfrm>
        </p:spPr>
        <p:txBody>
          <a:bodyPr anchor="ctr">
            <a:normAutofit fontScale="55000" lnSpcReduction="20000"/>
          </a:bodyPr>
          <a:lstStyle/>
          <a:p>
            <a:pPr marL="0" indent="0">
              <a:buNone/>
            </a:pPr>
            <a:endParaRPr lang="fr-FR" sz="1600" b="1" u="sng" dirty="0"/>
          </a:p>
          <a:p>
            <a:pPr>
              <a:buFont typeface="Wingdings" panose="05000000000000000000" pitchFamily="2" charset="2"/>
              <a:buChar char="Ø"/>
            </a:pPr>
            <a:endParaRPr lang="fr-FR" sz="1600" b="1" u="sng" dirty="0"/>
          </a:p>
          <a:p>
            <a:pPr>
              <a:buFont typeface="Wingdings" panose="05000000000000000000" pitchFamily="2" charset="2"/>
              <a:buChar char="Ø"/>
            </a:pPr>
            <a:endParaRPr lang="fr-FR" sz="1600" b="1" u="sng" dirty="0"/>
          </a:p>
          <a:p>
            <a:pPr>
              <a:buFont typeface="Wingdings" panose="05000000000000000000" pitchFamily="2" charset="2"/>
              <a:buChar char="Ø"/>
            </a:pPr>
            <a:endParaRPr lang="fr-FR" sz="1600" b="1" u="sng" dirty="0"/>
          </a:p>
          <a:p>
            <a:pPr marL="0" indent="0">
              <a:buNone/>
            </a:pPr>
            <a:endParaRPr lang="fr-FR" sz="5100" b="1" u="sng" dirty="0">
              <a:solidFill>
                <a:srgbClr val="FF0000"/>
              </a:solidFill>
            </a:endParaRPr>
          </a:p>
          <a:p>
            <a:pPr marL="0" indent="0">
              <a:buNone/>
            </a:pPr>
            <a:r>
              <a:rPr lang="fr-FR" sz="5100" b="1" u="sng" dirty="0">
                <a:solidFill>
                  <a:srgbClr val="FF0000"/>
                </a:solidFill>
              </a:rPr>
              <a:t>Atropine</a:t>
            </a:r>
            <a:r>
              <a:rPr lang="fr-FR" sz="5100" dirty="0">
                <a:solidFill>
                  <a:srgbClr val="FF0000"/>
                </a:solidFill>
              </a:rPr>
              <a:t>: </a:t>
            </a:r>
          </a:p>
          <a:p>
            <a:pPr marL="0" indent="0">
              <a:buNone/>
            </a:pPr>
            <a:r>
              <a:rPr lang="fr-FR" sz="4100" b="1" dirty="0">
                <a:solidFill>
                  <a:srgbClr val="FF0000"/>
                </a:solidFill>
              </a:rPr>
              <a:t>     Sulfate d’atropine </a:t>
            </a:r>
            <a:endParaRPr lang="fr-FR" b="1" dirty="0"/>
          </a:p>
          <a:p>
            <a:r>
              <a:rPr lang="fr-FR" sz="4400" b="1" dirty="0"/>
              <a:t>Molécule anticholinergique s’opposant aux effets bradycardisants de l’acétylcholine</a:t>
            </a:r>
          </a:p>
          <a:p>
            <a:r>
              <a:rPr lang="fr-FR" sz="4400" b="1" u="sng" dirty="0"/>
              <a:t>Action :</a:t>
            </a:r>
          </a:p>
          <a:p>
            <a:pPr marL="447675" indent="-447675">
              <a:buNone/>
            </a:pPr>
            <a:r>
              <a:rPr lang="fr-FR" sz="4400" b="1" dirty="0"/>
              <a:t>      -Augmente la fréquence cardiaque </a:t>
            </a:r>
          </a:p>
          <a:p>
            <a:pPr marL="447675" indent="-447675">
              <a:buNone/>
            </a:pPr>
            <a:endParaRPr lang="fr-FR" sz="4400" b="1" dirty="0"/>
          </a:p>
          <a:p>
            <a:pPr marL="0" indent="0">
              <a:buNone/>
            </a:pPr>
            <a:r>
              <a:rPr lang="fr-FR" sz="4400" b="1" dirty="0"/>
              <a:t>     - Antispasmodique</a:t>
            </a:r>
          </a:p>
          <a:p>
            <a:pPr marL="0" indent="0">
              <a:buNone/>
            </a:pPr>
            <a:endParaRPr lang="fr-FR" sz="4400" b="1" dirty="0"/>
          </a:p>
          <a:p>
            <a:pPr marL="709613" indent="-709613">
              <a:buNone/>
            </a:pPr>
            <a:r>
              <a:rPr lang="fr-FR" sz="4400" b="1" dirty="0"/>
              <a:t>     -Diminue les secrétions salivaires,</a:t>
            </a:r>
          </a:p>
          <a:p>
            <a:pPr marL="709613" indent="-709613">
              <a:buNone/>
            </a:pPr>
            <a:endParaRPr lang="fr-FR" sz="4400" b="1" dirty="0"/>
          </a:p>
          <a:p>
            <a:pPr marL="709613" indent="-709613">
              <a:buNone/>
            </a:pPr>
            <a:r>
              <a:rPr lang="fr-FR" sz="4400" b="1" dirty="0"/>
              <a:t>    lacrymales ,gastriques et sudorales</a:t>
            </a:r>
          </a:p>
          <a:p>
            <a:pPr marL="0" indent="0">
              <a:buNone/>
            </a:pPr>
            <a:endParaRPr lang="fr-FR" b="1" dirty="0"/>
          </a:p>
          <a:p>
            <a:pPr marL="0" indent="0">
              <a:buNone/>
            </a:pPr>
            <a:endParaRPr lang="fr-FR" dirty="0"/>
          </a:p>
          <a:p>
            <a:endParaRPr lang="fr-FR" b="1" dirty="0"/>
          </a:p>
          <a:p>
            <a:endParaRPr lang="fr-FR" b="1" dirty="0"/>
          </a:p>
          <a:p>
            <a:pPr marL="0" indent="0">
              <a:buNone/>
            </a:pPr>
            <a:endParaRPr lang="fr-FR" sz="1600" dirty="0"/>
          </a:p>
          <a:p>
            <a:pPr marL="0" indent="0">
              <a:buNone/>
            </a:pPr>
            <a:endParaRPr lang="fr-FR" sz="1600" dirty="0"/>
          </a:p>
          <a:p>
            <a:endParaRPr lang="fr-FR" sz="1600" dirty="0"/>
          </a:p>
          <a:p>
            <a:endParaRPr lang="fr-FR" sz="1600" dirty="0"/>
          </a:p>
          <a:p>
            <a:endParaRPr lang="fr-FR" sz="1600" dirty="0"/>
          </a:p>
        </p:txBody>
      </p:sp>
      <p:pic>
        <p:nvPicPr>
          <p:cNvPr id="6" name="Image 5">
            <a:extLst>
              <a:ext uri="{FF2B5EF4-FFF2-40B4-BE49-F238E27FC236}">
                <a16:creationId xmlns:a16="http://schemas.microsoft.com/office/drawing/2014/main" id="{3F41DE06-A83C-1B22-C271-D22623740537}"/>
              </a:ext>
            </a:extLst>
          </p:cNvPr>
          <p:cNvPicPr>
            <a:picLocks noChangeAspect="1"/>
          </p:cNvPicPr>
          <p:nvPr/>
        </p:nvPicPr>
        <p:blipFill>
          <a:blip r:embed="rId3"/>
          <a:stretch>
            <a:fillRect/>
          </a:stretch>
        </p:blipFill>
        <p:spPr>
          <a:xfrm>
            <a:off x="9585433" y="649480"/>
            <a:ext cx="2432395" cy="5546046"/>
          </a:xfrm>
          <a:prstGeom prst="rect">
            <a:avLst/>
          </a:prstGeom>
        </p:spPr>
      </p:pic>
    </p:spTree>
    <p:extLst>
      <p:ext uri="{BB962C8B-B14F-4D97-AF65-F5344CB8AC3E}">
        <p14:creationId xmlns:p14="http://schemas.microsoft.com/office/powerpoint/2010/main" val="3780315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433D942-1B62-4F26-84EC-6D2F78354CF9}"/>
              </a:ext>
            </a:extLst>
          </p:cNvPr>
          <p:cNvSpPr>
            <a:spLocks noGrp="1"/>
          </p:cNvSpPr>
          <p:nvPr>
            <p:ph type="title"/>
          </p:nvPr>
        </p:nvSpPr>
        <p:spPr>
          <a:xfrm>
            <a:off x="466721" y="586855"/>
            <a:ext cx="3434251" cy="4879667"/>
          </a:xfrm>
        </p:spPr>
        <p:txBody>
          <a:bodyPr anchor="ctr">
            <a:normAutofit/>
          </a:bodyPr>
          <a:lstStyle/>
          <a:p>
            <a:pPr algn="r"/>
            <a:r>
              <a:rPr lang="fr-FR" sz="3700" dirty="0">
                <a:solidFill>
                  <a:srgbClr val="FFFFFF"/>
                </a:solidFill>
              </a:rPr>
              <a:t>         </a:t>
            </a:r>
            <a:r>
              <a:rPr lang="fr-FR" sz="3700" b="1" dirty="0">
                <a:solidFill>
                  <a:srgbClr val="FFFFFF"/>
                </a:solidFill>
                <a:latin typeface="+mn-lt"/>
              </a:rPr>
              <a:t>MEDICAMENT</a:t>
            </a:r>
            <a:br>
              <a:rPr lang="fr-FR" sz="3700" b="1" dirty="0">
                <a:solidFill>
                  <a:srgbClr val="FFFFFF"/>
                </a:solidFill>
                <a:latin typeface="+mn-lt"/>
              </a:rPr>
            </a:br>
            <a:r>
              <a:rPr lang="fr-FR" sz="3700" b="1" dirty="0">
                <a:solidFill>
                  <a:srgbClr val="FFFFFF"/>
                </a:solidFill>
                <a:latin typeface="+mn-lt"/>
              </a:rPr>
              <a:t>D’URGENCE </a:t>
            </a:r>
          </a:p>
        </p:txBody>
      </p:sp>
      <p:sp>
        <p:nvSpPr>
          <p:cNvPr id="4" name="Espace réservé du contenu 2">
            <a:extLst>
              <a:ext uri="{FF2B5EF4-FFF2-40B4-BE49-F238E27FC236}">
                <a16:creationId xmlns:a16="http://schemas.microsoft.com/office/drawing/2014/main" id="{F800856B-3096-4061-8D19-5396FFF27274}"/>
              </a:ext>
            </a:extLst>
          </p:cNvPr>
          <p:cNvSpPr>
            <a:spLocks noGrp="1"/>
          </p:cNvSpPr>
          <p:nvPr>
            <p:ph idx="1"/>
          </p:nvPr>
        </p:nvSpPr>
        <p:spPr>
          <a:xfrm>
            <a:off x="4235668" y="147146"/>
            <a:ext cx="7651531" cy="6700716"/>
          </a:xfrm>
        </p:spPr>
        <p:txBody>
          <a:bodyPr anchor="ctr">
            <a:normAutofit fontScale="92500" lnSpcReduction="10000"/>
          </a:bodyPr>
          <a:lstStyle/>
          <a:p>
            <a:pPr marL="0" indent="0">
              <a:buNone/>
            </a:pPr>
            <a:endParaRPr lang="fr-FR" sz="5100" b="1" u="sng" dirty="0">
              <a:solidFill>
                <a:srgbClr val="FF0000"/>
              </a:solidFill>
            </a:endParaRPr>
          </a:p>
          <a:p>
            <a:pPr marL="0" indent="0">
              <a:buNone/>
            </a:pPr>
            <a:endParaRPr lang="fr-FR" sz="5100" b="1" u="sng" dirty="0">
              <a:solidFill>
                <a:srgbClr val="FF0000"/>
              </a:solidFill>
            </a:endParaRPr>
          </a:p>
          <a:p>
            <a:pPr marL="0" indent="0">
              <a:buNone/>
            </a:pPr>
            <a:endParaRPr lang="fr-FR" sz="5100" b="1" u="sng" dirty="0">
              <a:solidFill>
                <a:srgbClr val="FF0000"/>
              </a:solidFill>
            </a:endParaRPr>
          </a:p>
          <a:p>
            <a:pPr marL="0" indent="0">
              <a:buNone/>
            </a:pPr>
            <a:r>
              <a:rPr lang="fr-FR" sz="5100" b="1" u="sng" dirty="0">
                <a:solidFill>
                  <a:srgbClr val="FF0000"/>
                </a:solidFill>
              </a:rPr>
              <a:t>Atropine</a:t>
            </a:r>
            <a:r>
              <a:rPr lang="fr-FR" sz="5100" dirty="0">
                <a:solidFill>
                  <a:srgbClr val="FF0000"/>
                </a:solidFill>
              </a:rPr>
              <a:t>: </a:t>
            </a:r>
            <a:r>
              <a:rPr lang="fr-FR" sz="4100" b="1" dirty="0">
                <a:solidFill>
                  <a:srgbClr val="FF0000"/>
                </a:solidFill>
              </a:rPr>
              <a:t>Sulfate d’atropine </a:t>
            </a:r>
          </a:p>
          <a:p>
            <a:pPr marL="0" indent="0">
              <a:buNone/>
            </a:pPr>
            <a:r>
              <a:rPr lang="fr-FR" b="1" u="sng" dirty="0"/>
              <a:t>Indication</a:t>
            </a:r>
            <a:r>
              <a:rPr lang="fr-FR" b="1" dirty="0"/>
              <a:t> :Malaise vagal</a:t>
            </a:r>
          </a:p>
          <a:p>
            <a:pPr marL="0" indent="0">
              <a:lnSpc>
                <a:spcPct val="150000"/>
              </a:lnSpc>
              <a:buNone/>
            </a:pPr>
            <a:r>
              <a:rPr lang="fr-FR" sz="3200" dirty="0"/>
              <a:t>L’ atropine est utilisé en 2eme intention </a:t>
            </a:r>
          </a:p>
          <a:p>
            <a:pPr marL="0" indent="0">
              <a:lnSpc>
                <a:spcPct val="150000"/>
              </a:lnSpc>
              <a:buNone/>
            </a:pPr>
            <a:r>
              <a:rPr lang="fr-FR" sz="3200" dirty="0"/>
              <a:t>Devant un malaise vagal il faut  d ’abord   compenser la bradycardie et l’hypotension en mettant le patient en position de Trendelenburg (allongé, jambes surélevées).</a:t>
            </a:r>
          </a:p>
          <a:p>
            <a:pPr marL="0" indent="0">
              <a:lnSpc>
                <a:spcPct val="150000"/>
              </a:lnSpc>
              <a:buNone/>
            </a:pPr>
            <a:endParaRPr lang="fr-FR" sz="3200" b="1" dirty="0"/>
          </a:p>
          <a:p>
            <a:pPr marL="0" indent="0">
              <a:buNone/>
            </a:pPr>
            <a:endParaRPr lang="fr-FR" sz="1600" b="1" dirty="0"/>
          </a:p>
          <a:p>
            <a:pPr marL="0" indent="0">
              <a:buNone/>
            </a:pPr>
            <a:endParaRPr lang="fr-FR" sz="1600" dirty="0"/>
          </a:p>
          <a:p>
            <a:pPr marL="0" indent="0">
              <a:buNone/>
            </a:pPr>
            <a:endParaRPr lang="fr-FR" sz="1600" dirty="0"/>
          </a:p>
          <a:p>
            <a:endParaRPr lang="fr-FR" sz="1600" dirty="0"/>
          </a:p>
          <a:p>
            <a:endParaRPr lang="fr-FR" sz="1600" dirty="0"/>
          </a:p>
          <a:p>
            <a:endParaRPr lang="fr-FR" sz="1600" dirty="0"/>
          </a:p>
        </p:txBody>
      </p:sp>
      <p:pic>
        <p:nvPicPr>
          <p:cNvPr id="6" name="Image 5">
            <a:extLst>
              <a:ext uri="{FF2B5EF4-FFF2-40B4-BE49-F238E27FC236}">
                <a16:creationId xmlns:a16="http://schemas.microsoft.com/office/drawing/2014/main" id="{7B70B136-22CA-494F-A424-8942E4B9B1FB}"/>
              </a:ext>
            </a:extLst>
          </p:cNvPr>
          <p:cNvPicPr>
            <a:picLocks noChangeAspect="1"/>
          </p:cNvPicPr>
          <p:nvPr/>
        </p:nvPicPr>
        <p:blipFill>
          <a:blip r:embed="rId3"/>
          <a:stretch>
            <a:fillRect/>
          </a:stretch>
        </p:blipFill>
        <p:spPr>
          <a:xfrm>
            <a:off x="10653622" y="147146"/>
            <a:ext cx="1233577" cy="2458031"/>
          </a:xfrm>
          <a:prstGeom prst="rect">
            <a:avLst/>
          </a:prstGeom>
        </p:spPr>
      </p:pic>
    </p:spTree>
    <p:extLst>
      <p:ext uri="{BB962C8B-B14F-4D97-AF65-F5344CB8AC3E}">
        <p14:creationId xmlns:p14="http://schemas.microsoft.com/office/powerpoint/2010/main" val="3956618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F922FD-53FD-4A1E-AAF4-2EE322D18A6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82AA0E-63E7-496B-F643-72CFCEDA2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4B41C62-C57C-82AF-E596-8158EC35C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415782-1CC4-1E2E-1935-2A35BA418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0D2076B-A650-66D8-7D35-1B1F3923B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D5B4C3B2-8908-A2EC-15B6-D98D81FA3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F862F18A-BF9D-428D-7FEA-9AB381002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1DFC91B-4A93-2C49-894D-1D20CDC43E54}"/>
              </a:ext>
            </a:extLst>
          </p:cNvPr>
          <p:cNvSpPr>
            <a:spLocks noGrp="1"/>
          </p:cNvSpPr>
          <p:nvPr>
            <p:ph type="title"/>
          </p:nvPr>
        </p:nvSpPr>
        <p:spPr>
          <a:xfrm>
            <a:off x="466722" y="586855"/>
            <a:ext cx="3201366" cy="5521401"/>
          </a:xfrm>
        </p:spPr>
        <p:txBody>
          <a:bodyPr anchor="ctr">
            <a:normAutofit/>
          </a:bodyPr>
          <a:lstStyle/>
          <a:p>
            <a:r>
              <a:rPr lang="fr-FR" sz="3700" b="1" dirty="0">
                <a:solidFill>
                  <a:srgbClr val="FFFFFF"/>
                </a:solidFill>
              </a:rPr>
              <a:t>MEDICAMENTS </a:t>
            </a:r>
            <a:r>
              <a:rPr lang="fr-FR" sz="3700" b="1" dirty="0">
                <a:solidFill>
                  <a:schemeClr val="bg1"/>
                </a:solidFill>
              </a:rPr>
              <a:t>D’URGENCE</a:t>
            </a:r>
            <a:br>
              <a:rPr lang="fr-FR" sz="3700" b="1" dirty="0">
                <a:solidFill>
                  <a:schemeClr val="bg1"/>
                </a:solidFill>
              </a:rPr>
            </a:br>
            <a:r>
              <a:rPr lang="fr-FR" sz="2400" b="1" dirty="0">
                <a:solidFill>
                  <a:schemeClr val="bg1"/>
                </a:solidFill>
              </a:rPr>
              <a:t>Ampoule de 0,5 mg  </a:t>
            </a:r>
            <a:br>
              <a:rPr lang="fr-FR" sz="2400" b="1" dirty="0">
                <a:solidFill>
                  <a:schemeClr val="bg1"/>
                </a:solidFill>
              </a:rPr>
            </a:br>
            <a:r>
              <a:rPr lang="fr-FR" sz="2400" b="1" dirty="0">
                <a:solidFill>
                  <a:schemeClr val="bg1"/>
                </a:solidFill>
              </a:rPr>
              <a:t>ou 1 mg</a:t>
            </a:r>
            <a:br>
              <a:rPr lang="fr-FR" sz="2400" b="1" dirty="0">
                <a:solidFill>
                  <a:schemeClr val="bg1"/>
                </a:solidFill>
              </a:rPr>
            </a:br>
            <a:r>
              <a:rPr lang="fr-FR" sz="2400" b="1" u="sng" dirty="0">
                <a:solidFill>
                  <a:schemeClr val="bg1"/>
                </a:solidFill>
              </a:rPr>
              <a:t>Voie d’ administration</a:t>
            </a:r>
            <a:r>
              <a:rPr lang="fr-FR" sz="2400" b="1" dirty="0">
                <a:solidFill>
                  <a:schemeClr val="bg1"/>
                </a:solidFill>
              </a:rPr>
              <a:t>: IM,IV ou S/C </a:t>
            </a:r>
            <a:br>
              <a:rPr lang="fr-FR" sz="2400" b="1" dirty="0">
                <a:solidFill>
                  <a:schemeClr val="bg1"/>
                </a:solidFill>
              </a:rPr>
            </a:br>
            <a:endParaRPr lang="fr-FR" sz="3700" b="1" dirty="0">
              <a:solidFill>
                <a:schemeClr val="bg1"/>
              </a:solidFill>
            </a:endParaRPr>
          </a:p>
        </p:txBody>
      </p:sp>
      <p:sp>
        <p:nvSpPr>
          <p:cNvPr id="3" name="Espace réservé du contenu 2">
            <a:extLst>
              <a:ext uri="{FF2B5EF4-FFF2-40B4-BE49-F238E27FC236}">
                <a16:creationId xmlns:a16="http://schemas.microsoft.com/office/drawing/2014/main" id="{1789E731-930F-4287-296A-C17E0DF6FE83}"/>
              </a:ext>
            </a:extLst>
          </p:cNvPr>
          <p:cNvSpPr>
            <a:spLocks noGrp="1"/>
          </p:cNvSpPr>
          <p:nvPr>
            <p:ph idx="1"/>
          </p:nvPr>
        </p:nvSpPr>
        <p:spPr>
          <a:xfrm>
            <a:off x="4581727" y="649480"/>
            <a:ext cx="5271392" cy="5546047"/>
          </a:xfrm>
        </p:spPr>
        <p:txBody>
          <a:bodyPr anchor="ctr">
            <a:normAutofit/>
          </a:bodyPr>
          <a:lstStyle/>
          <a:p>
            <a:pPr marL="0" indent="0">
              <a:buNone/>
            </a:pPr>
            <a:r>
              <a:rPr lang="fr-FR" sz="3200" b="1" u="sng" dirty="0">
                <a:solidFill>
                  <a:srgbClr val="FF0000"/>
                </a:solidFill>
              </a:rPr>
              <a:t>Adrénaline</a:t>
            </a:r>
          </a:p>
          <a:p>
            <a:r>
              <a:rPr lang="fr-FR" b="1" dirty="0"/>
              <a:t>Molécule vasoconstrictrice</a:t>
            </a:r>
          </a:p>
          <a:p>
            <a:r>
              <a:rPr lang="fr-FR" b="1" dirty="0"/>
              <a:t>Augmente la fréquence cardiaque et la pression artérielle  </a:t>
            </a:r>
          </a:p>
          <a:p>
            <a:pPr marL="261938" indent="-169863"/>
            <a:r>
              <a:rPr lang="fr-FR" b="1" dirty="0"/>
              <a:t>Action bronchodilatatrice et inhibe la libération des médiateurs de l’inflammation et de l’allergie .</a:t>
            </a:r>
          </a:p>
          <a:p>
            <a:endParaRPr lang="fr-FR" sz="2000" dirty="0"/>
          </a:p>
        </p:txBody>
      </p:sp>
      <p:pic>
        <p:nvPicPr>
          <p:cNvPr id="4" name="Image 3">
            <a:extLst>
              <a:ext uri="{FF2B5EF4-FFF2-40B4-BE49-F238E27FC236}">
                <a16:creationId xmlns:a16="http://schemas.microsoft.com/office/drawing/2014/main" id="{901BCBAF-344A-E4EE-CE66-14C2349A7233}"/>
              </a:ext>
            </a:extLst>
          </p:cNvPr>
          <p:cNvPicPr>
            <a:picLocks noChangeAspect="1"/>
          </p:cNvPicPr>
          <p:nvPr/>
        </p:nvPicPr>
        <p:blipFill>
          <a:blip r:embed="rId3"/>
          <a:stretch>
            <a:fillRect/>
          </a:stretch>
        </p:blipFill>
        <p:spPr>
          <a:xfrm>
            <a:off x="9853127" y="653573"/>
            <a:ext cx="2108718" cy="5562732"/>
          </a:xfrm>
          <a:prstGeom prst="rect">
            <a:avLst/>
          </a:prstGeom>
        </p:spPr>
      </p:pic>
    </p:spTree>
    <p:extLst>
      <p:ext uri="{BB962C8B-B14F-4D97-AF65-F5344CB8AC3E}">
        <p14:creationId xmlns:p14="http://schemas.microsoft.com/office/powerpoint/2010/main" val="4147472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6B3D287-E308-4CC8-93DA-20CFE9DC1E67}"/>
              </a:ext>
            </a:extLst>
          </p:cNvPr>
          <p:cNvSpPr>
            <a:spLocks noGrp="1"/>
          </p:cNvSpPr>
          <p:nvPr>
            <p:ph type="title"/>
          </p:nvPr>
        </p:nvSpPr>
        <p:spPr>
          <a:xfrm>
            <a:off x="466722" y="586855"/>
            <a:ext cx="3201366" cy="5521401"/>
          </a:xfrm>
        </p:spPr>
        <p:txBody>
          <a:bodyPr anchor="b">
            <a:normAutofit/>
          </a:bodyPr>
          <a:lstStyle/>
          <a:p>
            <a:r>
              <a:rPr lang="fr-FR" sz="3700" b="1" dirty="0">
                <a:solidFill>
                  <a:srgbClr val="FFFFFF"/>
                </a:solidFill>
              </a:rPr>
              <a:t>MEDICAMENTS </a:t>
            </a:r>
            <a:r>
              <a:rPr lang="fr-FR" sz="3700" b="1" dirty="0">
                <a:solidFill>
                  <a:schemeClr val="bg1"/>
                </a:solidFill>
              </a:rPr>
              <a:t>D’URGENCE</a:t>
            </a:r>
            <a:br>
              <a:rPr lang="fr-FR" sz="3700" b="1" dirty="0">
                <a:solidFill>
                  <a:schemeClr val="bg1"/>
                </a:solidFill>
              </a:rPr>
            </a:br>
            <a:r>
              <a:rPr lang="fr-FR" sz="2400" b="1" dirty="0">
                <a:solidFill>
                  <a:schemeClr val="bg1"/>
                </a:solidFill>
              </a:rPr>
              <a:t>Ampoule de 0,5 mg  </a:t>
            </a:r>
            <a:br>
              <a:rPr lang="fr-FR" sz="2400" b="1" dirty="0">
                <a:solidFill>
                  <a:schemeClr val="bg1"/>
                </a:solidFill>
              </a:rPr>
            </a:br>
            <a:r>
              <a:rPr lang="fr-FR" sz="2400" b="1" dirty="0">
                <a:solidFill>
                  <a:schemeClr val="bg1"/>
                </a:solidFill>
              </a:rPr>
              <a:t>ou 1 mg</a:t>
            </a:r>
            <a:br>
              <a:rPr lang="fr-FR" sz="2400" b="1" dirty="0">
                <a:solidFill>
                  <a:schemeClr val="bg1"/>
                </a:solidFill>
              </a:rPr>
            </a:br>
            <a:r>
              <a:rPr lang="fr-FR" sz="2400" b="1" u="sng" dirty="0">
                <a:solidFill>
                  <a:schemeClr val="bg1"/>
                </a:solidFill>
              </a:rPr>
              <a:t>Voie d’ administration</a:t>
            </a:r>
            <a:r>
              <a:rPr lang="fr-FR" sz="2400" b="1" dirty="0">
                <a:solidFill>
                  <a:schemeClr val="bg1"/>
                </a:solidFill>
              </a:rPr>
              <a:t>: IM,IV ou S/C </a:t>
            </a:r>
            <a:br>
              <a:rPr lang="fr-FR" sz="2000" b="1" dirty="0">
                <a:solidFill>
                  <a:schemeClr val="bg1"/>
                </a:solidFill>
                <a:latin typeface="+mn-lt"/>
              </a:rPr>
            </a:br>
            <a:r>
              <a:rPr lang="fr-FR" sz="2000" b="1" dirty="0">
                <a:solidFill>
                  <a:schemeClr val="bg1"/>
                </a:solidFill>
                <a:latin typeface="+mn-lt"/>
              </a:rPr>
              <a:t>NB : La voie IM  est contre-indiquée chez les patients sous anticoagulant ou ayant des troubles de la coagulation. </a:t>
            </a:r>
            <a:br>
              <a:rPr lang="fr-FR" sz="2000" b="1" dirty="0">
                <a:solidFill>
                  <a:schemeClr val="bg1"/>
                </a:solidFill>
                <a:latin typeface="+mn-lt"/>
              </a:rPr>
            </a:br>
            <a:r>
              <a:rPr lang="fr-FR" sz="2000" b="1" dirty="0">
                <a:solidFill>
                  <a:schemeClr val="bg1"/>
                </a:solidFill>
                <a:latin typeface="+mn-lt"/>
              </a:rPr>
              <a:t>L’injection d’adrénaline sera alors réalisée en sous-cutané ,</a:t>
            </a:r>
            <a:br>
              <a:rPr lang="fr-FR" sz="2000" b="1" dirty="0">
                <a:solidFill>
                  <a:schemeClr val="bg1"/>
                </a:solidFill>
                <a:latin typeface="+mn-lt"/>
              </a:rPr>
            </a:br>
            <a:endParaRPr lang="fr-FR" sz="2000" b="1" dirty="0">
              <a:solidFill>
                <a:schemeClr val="bg1"/>
              </a:solidFill>
              <a:latin typeface="+mn-lt"/>
            </a:endParaRPr>
          </a:p>
        </p:txBody>
      </p:sp>
      <p:sp>
        <p:nvSpPr>
          <p:cNvPr id="3" name="Espace réservé du contenu 2">
            <a:extLst>
              <a:ext uri="{FF2B5EF4-FFF2-40B4-BE49-F238E27FC236}">
                <a16:creationId xmlns:a16="http://schemas.microsoft.com/office/drawing/2014/main" id="{3DD3F93A-A641-489B-9F4D-2F48DC6F5EDD}"/>
              </a:ext>
            </a:extLst>
          </p:cNvPr>
          <p:cNvSpPr>
            <a:spLocks noGrp="1"/>
          </p:cNvSpPr>
          <p:nvPr>
            <p:ph idx="1"/>
          </p:nvPr>
        </p:nvSpPr>
        <p:spPr>
          <a:xfrm>
            <a:off x="4581727" y="649480"/>
            <a:ext cx="5271392" cy="5846211"/>
          </a:xfrm>
        </p:spPr>
        <p:txBody>
          <a:bodyPr anchor="t">
            <a:normAutofit/>
          </a:bodyPr>
          <a:lstStyle/>
          <a:p>
            <a:pPr marL="0" indent="0">
              <a:buNone/>
            </a:pPr>
            <a:r>
              <a:rPr lang="fr-FR" sz="3200" b="1" u="sng" dirty="0">
                <a:solidFill>
                  <a:srgbClr val="FF0000"/>
                </a:solidFill>
              </a:rPr>
              <a:t>Adrénaline</a:t>
            </a:r>
          </a:p>
          <a:p>
            <a:pPr marL="0" indent="0">
              <a:buNone/>
            </a:pPr>
            <a:r>
              <a:rPr lang="fr-FR" b="1" dirty="0"/>
              <a:t>  </a:t>
            </a:r>
            <a:r>
              <a:rPr lang="fr-FR" b="1" u="sng" dirty="0"/>
              <a:t>Indication :</a:t>
            </a:r>
          </a:p>
          <a:p>
            <a:pPr marL="92075" indent="0">
              <a:buNone/>
            </a:pPr>
            <a:r>
              <a:rPr lang="fr-FR" b="1" dirty="0"/>
              <a:t>    -œdème de Quincke  </a:t>
            </a:r>
          </a:p>
          <a:p>
            <a:pPr marL="92075" indent="0">
              <a:buNone/>
            </a:pPr>
            <a:r>
              <a:rPr lang="fr-FR" b="1" dirty="0"/>
              <a:t>    -choc anaphylactique </a:t>
            </a:r>
          </a:p>
          <a:p>
            <a:pPr marL="92075" indent="0">
              <a:buNone/>
            </a:pPr>
            <a:r>
              <a:rPr lang="fr-FR" b="1" dirty="0"/>
              <a:t>    -arrêt </a:t>
            </a:r>
            <a:r>
              <a:rPr lang="fr-FR" b="1" dirty="0" err="1"/>
              <a:t>cardio-circulatoire</a:t>
            </a:r>
            <a:r>
              <a:rPr lang="fr-FR" b="1" dirty="0"/>
              <a:t> </a:t>
            </a:r>
          </a:p>
          <a:p>
            <a:endParaRPr lang="fr-FR" sz="2000" b="1" dirty="0"/>
          </a:p>
          <a:p>
            <a:endParaRPr lang="fr-FR" sz="2000" dirty="0"/>
          </a:p>
        </p:txBody>
      </p:sp>
      <p:pic>
        <p:nvPicPr>
          <p:cNvPr id="4" name="Image 3">
            <a:extLst>
              <a:ext uri="{FF2B5EF4-FFF2-40B4-BE49-F238E27FC236}">
                <a16:creationId xmlns:a16="http://schemas.microsoft.com/office/drawing/2014/main" id="{F444A701-7F8D-46AD-B526-84E479E2EBCA}"/>
              </a:ext>
            </a:extLst>
          </p:cNvPr>
          <p:cNvPicPr>
            <a:picLocks noChangeAspect="1"/>
          </p:cNvPicPr>
          <p:nvPr/>
        </p:nvPicPr>
        <p:blipFill>
          <a:blip r:embed="rId3"/>
          <a:stretch>
            <a:fillRect/>
          </a:stretch>
        </p:blipFill>
        <p:spPr>
          <a:xfrm>
            <a:off x="9017857" y="362309"/>
            <a:ext cx="2108718" cy="2762486"/>
          </a:xfrm>
          <a:prstGeom prst="rect">
            <a:avLst/>
          </a:prstGeom>
        </p:spPr>
      </p:pic>
      <p:pic>
        <p:nvPicPr>
          <p:cNvPr id="6" name="Image 5">
            <a:extLst>
              <a:ext uri="{FF2B5EF4-FFF2-40B4-BE49-F238E27FC236}">
                <a16:creationId xmlns:a16="http://schemas.microsoft.com/office/drawing/2014/main" id="{1FE4FB4B-BEDE-55B5-EBB3-1CD1888B4790}"/>
              </a:ext>
            </a:extLst>
          </p:cNvPr>
          <p:cNvPicPr>
            <a:picLocks noChangeAspect="1"/>
          </p:cNvPicPr>
          <p:nvPr/>
        </p:nvPicPr>
        <p:blipFill>
          <a:blip r:embed="rId4"/>
          <a:stretch>
            <a:fillRect/>
          </a:stretch>
        </p:blipFill>
        <p:spPr>
          <a:xfrm>
            <a:off x="4134810" y="3268473"/>
            <a:ext cx="7821401" cy="3123701"/>
          </a:xfrm>
          <a:prstGeom prst="rect">
            <a:avLst/>
          </a:prstGeom>
        </p:spPr>
      </p:pic>
    </p:spTree>
    <p:extLst>
      <p:ext uri="{BB962C8B-B14F-4D97-AF65-F5344CB8AC3E}">
        <p14:creationId xmlns:p14="http://schemas.microsoft.com/office/powerpoint/2010/main" val="194953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81DE1B1-6375-4F0F-B328-70DA18B255C1}"/>
              </a:ext>
            </a:extLst>
          </p:cNvPr>
          <p:cNvSpPr>
            <a:spLocks noGrp="1"/>
          </p:cNvSpPr>
          <p:nvPr>
            <p:ph type="title"/>
          </p:nvPr>
        </p:nvSpPr>
        <p:spPr>
          <a:xfrm>
            <a:off x="466722" y="586855"/>
            <a:ext cx="3201366" cy="5907251"/>
          </a:xfrm>
        </p:spPr>
        <p:txBody>
          <a:bodyPr anchor="ctr">
            <a:normAutofit/>
          </a:bodyPr>
          <a:lstStyle/>
          <a:p>
            <a:r>
              <a:rPr lang="fr-FR" sz="3600" b="1" dirty="0">
                <a:solidFill>
                  <a:srgbClr val="FFFFFF"/>
                </a:solidFill>
                <a:latin typeface="+mn-lt"/>
              </a:rPr>
              <a:t>MEDICAMENTSD’URGENCE </a:t>
            </a:r>
            <a:br>
              <a:rPr lang="fr-FR" sz="3600" b="1" dirty="0">
                <a:solidFill>
                  <a:srgbClr val="FFFFFF"/>
                </a:solidFill>
                <a:latin typeface="+mn-lt"/>
              </a:rPr>
            </a:br>
            <a:r>
              <a:rPr lang="fr-FR" sz="2400" b="1" u="sng" dirty="0">
                <a:solidFill>
                  <a:schemeClr val="bg1"/>
                </a:solidFill>
                <a:latin typeface="+mn-lt"/>
              </a:rPr>
              <a:t>Voie d’administration </a:t>
            </a:r>
            <a:r>
              <a:rPr lang="fr-FR" sz="2400" b="1" dirty="0">
                <a:solidFill>
                  <a:schemeClr val="bg1"/>
                </a:solidFill>
                <a:latin typeface="+mn-lt"/>
              </a:rPr>
              <a:t>: </a:t>
            </a:r>
            <a:br>
              <a:rPr lang="fr-FR" sz="2400" b="1" dirty="0">
                <a:solidFill>
                  <a:schemeClr val="bg1"/>
                </a:solidFill>
                <a:latin typeface="+mn-lt"/>
              </a:rPr>
            </a:br>
            <a:r>
              <a:rPr lang="fr-FR" sz="2400" b="1" dirty="0">
                <a:solidFill>
                  <a:schemeClr val="bg1"/>
                </a:solidFill>
                <a:latin typeface="+mn-lt"/>
              </a:rPr>
              <a:t>             IM</a:t>
            </a:r>
            <a:br>
              <a:rPr lang="fr-FR" sz="2400" b="1" dirty="0">
                <a:solidFill>
                  <a:schemeClr val="bg1"/>
                </a:solidFill>
                <a:latin typeface="+mn-lt"/>
              </a:rPr>
            </a:br>
            <a:r>
              <a:rPr lang="fr-FR" sz="2800" b="1" u="sng" dirty="0">
                <a:solidFill>
                  <a:schemeClr val="bg1"/>
                </a:solidFill>
                <a:latin typeface="+mn-lt"/>
              </a:rPr>
              <a:t>Posologie</a:t>
            </a:r>
            <a:r>
              <a:rPr lang="fr-FR" sz="2800" b="1" dirty="0">
                <a:solidFill>
                  <a:schemeClr val="bg1"/>
                </a:solidFill>
                <a:latin typeface="+mn-lt"/>
              </a:rPr>
              <a:t> :</a:t>
            </a:r>
            <a:br>
              <a:rPr lang="fr-FR" sz="2800" b="1" dirty="0">
                <a:solidFill>
                  <a:schemeClr val="bg1"/>
                </a:solidFill>
                <a:latin typeface="+mn-lt"/>
              </a:rPr>
            </a:br>
            <a:r>
              <a:rPr lang="fr-FR" sz="2800" b="1" dirty="0">
                <a:solidFill>
                  <a:schemeClr val="bg1"/>
                </a:solidFill>
                <a:latin typeface="+mn-lt"/>
              </a:rPr>
              <a:t>1 mg en 1 injection unique </a:t>
            </a:r>
            <a:br>
              <a:rPr lang="fr-FR" sz="2800" b="1" dirty="0">
                <a:solidFill>
                  <a:schemeClr val="bg1"/>
                </a:solidFill>
                <a:latin typeface="+mn-lt"/>
              </a:rPr>
            </a:br>
            <a:br>
              <a:rPr lang="fr-FR" sz="2400" b="1" dirty="0">
                <a:solidFill>
                  <a:schemeClr val="bg1"/>
                </a:solidFill>
                <a:latin typeface="+mn-lt"/>
              </a:rPr>
            </a:br>
            <a:endParaRPr lang="fr-FR" sz="2400" b="1" dirty="0">
              <a:solidFill>
                <a:schemeClr val="bg1"/>
              </a:solidFill>
              <a:latin typeface="+mn-lt"/>
            </a:endParaRPr>
          </a:p>
        </p:txBody>
      </p:sp>
      <p:sp>
        <p:nvSpPr>
          <p:cNvPr id="3" name="Espace réservé du contenu 2">
            <a:extLst>
              <a:ext uri="{FF2B5EF4-FFF2-40B4-BE49-F238E27FC236}">
                <a16:creationId xmlns:a16="http://schemas.microsoft.com/office/drawing/2014/main" id="{26CEE7CB-5C31-40B0-BB0F-0E45692B77C3}"/>
              </a:ext>
            </a:extLst>
          </p:cNvPr>
          <p:cNvSpPr>
            <a:spLocks noGrp="1"/>
          </p:cNvSpPr>
          <p:nvPr>
            <p:ph idx="1"/>
          </p:nvPr>
        </p:nvSpPr>
        <p:spPr>
          <a:xfrm>
            <a:off x="4581727" y="511388"/>
            <a:ext cx="4114395" cy="5982718"/>
          </a:xfrm>
        </p:spPr>
        <p:txBody>
          <a:bodyPr anchor="t">
            <a:normAutofit fontScale="92500" lnSpcReduction="10000"/>
          </a:bodyPr>
          <a:lstStyle/>
          <a:p>
            <a:pPr marL="0" indent="0">
              <a:buNone/>
            </a:pPr>
            <a:endParaRPr lang="fr-FR" sz="2400" b="1" dirty="0">
              <a:solidFill>
                <a:srgbClr val="FF0000"/>
              </a:solidFill>
            </a:endParaRPr>
          </a:p>
          <a:p>
            <a:pPr marL="0" indent="0">
              <a:buNone/>
            </a:pPr>
            <a:r>
              <a:rPr lang="fr-FR" sz="3200" b="1" dirty="0">
                <a:solidFill>
                  <a:srgbClr val="FF0000"/>
                </a:solidFill>
              </a:rPr>
              <a:t>GLUCAGON</a:t>
            </a:r>
            <a:r>
              <a:rPr lang="fr-FR" sz="3200" b="1" dirty="0"/>
              <a:t> </a:t>
            </a:r>
            <a:r>
              <a:rPr lang="fr-FR" sz="3200" dirty="0"/>
              <a:t>:</a:t>
            </a:r>
          </a:p>
          <a:p>
            <a:r>
              <a:rPr lang="fr-FR" b="1" dirty="0"/>
              <a:t>Hormone hyperglycémiante</a:t>
            </a:r>
          </a:p>
          <a:p>
            <a:r>
              <a:rPr lang="fr-FR" b="1" dirty="0"/>
              <a:t>Stimule  la glycogénolyse </a:t>
            </a:r>
          </a:p>
          <a:p>
            <a:pPr marL="0" indent="0">
              <a:buNone/>
            </a:pPr>
            <a:r>
              <a:rPr lang="fr-FR" b="1" u="sng" dirty="0"/>
              <a:t>Indication :</a:t>
            </a:r>
          </a:p>
          <a:p>
            <a:pPr>
              <a:buFont typeface="Wingdings" panose="05000000000000000000" pitchFamily="2" charset="2"/>
              <a:buChar char="§"/>
            </a:pPr>
            <a:r>
              <a:rPr lang="fr-FR" b="1" dirty="0"/>
              <a:t>Coma hypoglycémique  </a:t>
            </a:r>
          </a:p>
          <a:p>
            <a:pPr marL="0" indent="0">
              <a:buNone/>
            </a:pPr>
            <a:r>
              <a:rPr lang="fr-FR" b="1" dirty="0"/>
              <a:t>Chez un patient conscient, le resucrage se fera par voie orale à l’aide de sucre en morceau croqué par le patient.</a:t>
            </a:r>
          </a:p>
          <a:p>
            <a:pPr marL="0" indent="0">
              <a:buNone/>
            </a:pPr>
            <a:endParaRPr lang="fr-FR" b="1" dirty="0"/>
          </a:p>
          <a:p>
            <a:pPr marL="0" indent="0">
              <a:buNone/>
            </a:pPr>
            <a:r>
              <a:rPr lang="fr-FR" b="1" dirty="0"/>
              <a:t> </a:t>
            </a:r>
          </a:p>
        </p:txBody>
      </p:sp>
      <p:pic>
        <p:nvPicPr>
          <p:cNvPr id="4" name="Image 3">
            <a:extLst>
              <a:ext uri="{FF2B5EF4-FFF2-40B4-BE49-F238E27FC236}">
                <a16:creationId xmlns:a16="http://schemas.microsoft.com/office/drawing/2014/main" id="{A42A3835-4D37-4930-9B80-ABBDD90545B8}"/>
              </a:ext>
            </a:extLst>
          </p:cNvPr>
          <p:cNvPicPr>
            <a:picLocks noChangeAspect="1"/>
          </p:cNvPicPr>
          <p:nvPr/>
        </p:nvPicPr>
        <p:blipFill>
          <a:blip r:embed="rId3"/>
          <a:stretch>
            <a:fillRect/>
          </a:stretch>
        </p:blipFill>
        <p:spPr>
          <a:xfrm flipV="1">
            <a:off x="8696130" y="10136"/>
            <a:ext cx="3492821" cy="6195532"/>
          </a:xfrm>
          <a:prstGeom prst="rect">
            <a:avLst/>
          </a:prstGeom>
        </p:spPr>
      </p:pic>
    </p:spTree>
    <p:extLst>
      <p:ext uri="{BB962C8B-B14F-4D97-AF65-F5344CB8AC3E}">
        <p14:creationId xmlns:p14="http://schemas.microsoft.com/office/powerpoint/2010/main" val="53871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2485B3D-2CD3-4557-8298-D76E4A709CBB}"/>
              </a:ext>
            </a:extLst>
          </p:cNvPr>
          <p:cNvSpPr>
            <a:spLocks noGrp="1"/>
          </p:cNvSpPr>
          <p:nvPr>
            <p:ph type="title"/>
          </p:nvPr>
        </p:nvSpPr>
        <p:spPr>
          <a:xfrm>
            <a:off x="466722" y="586855"/>
            <a:ext cx="3201366" cy="3387497"/>
          </a:xfrm>
        </p:spPr>
        <p:txBody>
          <a:bodyPr anchor="b">
            <a:normAutofit/>
          </a:bodyPr>
          <a:lstStyle/>
          <a:p>
            <a:r>
              <a:rPr lang="fr-FR" sz="3700" b="1" dirty="0">
                <a:solidFill>
                  <a:srgbClr val="FFFFFF"/>
                </a:solidFill>
                <a:latin typeface="+mn-lt"/>
              </a:rPr>
              <a:t>MEDICAMENTS D’URGENCE (4) </a:t>
            </a:r>
          </a:p>
        </p:txBody>
      </p:sp>
      <p:sp>
        <p:nvSpPr>
          <p:cNvPr id="3" name="Espace réservé du contenu 2">
            <a:extLst>
              <a:ext uri="{FF2B5EF4-FFF2-40B4-BE49-F238E27FC236}">
                <a16:creationId xmlns:a16="http://schemas.microsoft.com/office/drawing/2014/main" id="{01C783AA-F331-49C5-9975-7688AF2CD1AA}"/>
              </a:ext>
            </a:extLst>
          </p:cNvPr>
          <p:cNvSpPr>
            <a:spLocks noGrp="1"/>
          </p:cNvSpPr>
          <p:nvPr>
            <p:ph idx="1"/>
          </p:nvPr>
        </p:nvSpPr>
        <p:spPr>
          <a:xfrm>
            <a:off x="4581727" y="649480"/>
            <a:ext cx="4450306" cy="5546047"/>
          </a:xfrm>
        </p:spPr>
        <p:txBody>
          <a:bodyPr anchor="t">
            <a:normAutofit/>
          </a:bodyPr>
          <a:lstStyle/>
          <a:p>
            <a:pPr>
              <a:buFont typeface="Wingdings" panose="05000000000000000000" pitchFamily="2" charset="2"/>
              <a:buChar char="Ø"/>
            </a:pPr>
            <a:endParaRPr lang="fr-FR" b="1" dirty="0">
              <a:solidFill>
                <a:srgbClr val="FF0000"/>
              </a:solidFill>
            </a:endParaRPr>
          </a:p>
          <a:p>
            <a:pPr marL="0" indent="0">
              <a:buNone/>
            </a:pPr>
            <a:r>
              <a:rPr lang="fr-FR" b="1" dirty="0">
                <a:solidFill>
                  <a:srgbClr val="FF0000"/>
                </a:solidFill>
              </a:rPr>
              <a:t>SALBUTAMOL (Ventoline®)</a:t>
            </a:r>
          </a:p>
          <a:p>
            <a:r>
              <a:rPr lang="fr-FR" b="1" u="sng" dirty="0"/>
              <a:t>Action </a:t>
            </a:r>
            <a:r>
              <a:rPr lang="fr-FR" b="1" dirty="0"/>
              <a:t>: bronchodilatation</a:t>
            </a:r>
          </a:p>
          <a:p>
            <a:r>
              <a:rPr lang="fr-FR" b="1" u="sng" dirty="0"/>
              <a:t>Voie d’</a:t>
            </a:r>
            <a:r>
              <a:rPr lang="fr-FR" b="1" u="sng" dirty="0" err="1"/>
              <a:t>aministration</a:t>
            </a:r>
            <a:r>
              <a:rPr lang="fr-FR" b="1" u="sng" dirty="0"/>
              <a:t> </a:t>
            </a:r>
            <a:r>
              <a:rPr lang="fr-FR" b="1" dirty="0"/>
              <a:t>:sous forme d’aérosol doseur délivre la molécule par bouffée. </a:t>
            </a:r>
          </a:p>
          <a:p>
            <a:r>
              <a:rPr lang="fr-FR" b="1" u="sng" dirty="0"/>
              <a:t>Indication </a:t>
            </a:r>
            <a:r>
              <a:rPr lang="fr-FR" b="1" dirty="0"/>
              <a:t>:crise d’asthme </a:t>
            </a:r>
          </a:p>
        </p:txBody>
      </p:sp>
      <p:pic>
        <p:nvPicPr>
          <p:cNvPr id="4" name="Image 3">
            <a:extLst>
              <a:ext uri="{FF2B5EF4-FFF2-40B4-BE49-F238E27FC236}">
                <a16:creationId xmlns:a16="http://schemas.microsoft.com/office/drawing/2014/main" id="{DF0DDCDE-0CB1-4E0D-8AC5-FE42A2042CE8}"/>
              </a:ext>
            </a:extLst>
          </p:cNvPr>
          <p:cNvPicPr>
            <a:picLocks noChangeAspect="1"/>
          </p:cNvPicPr>
          <p:nvPr/>
        </p:nvPicPr>
        <p:blipFill>
          <a:blip r:embed="rId3"/>
          <a:stretch>
            <a:fillRect/>
          </a:stretch>
        </p:blipFill>
        <p:spPr>
          <a:xfrm>
            <a:off x="8826758" y="649480"/>
            <a:ext cx="2898519" cy="5546046"/>
          </a:xfrm>
          <a:prstGeom prst="rect">
            <a:avLst/>
          </a:prstGeom>
        </p:spPr>
      </p:pic>
    </p:spTree>
    <p:extLst>
      <p:ext uri="{BB962C8B-B14F-4D97-AF65-F5344CB8AC3E}">
        <p14:creationId xmlns:p14="http://schemas.microsoft.com/office/powerpoint/2010/main" val="1000112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349F432-D515-431C-9294-652655FC6342}"/>
              </a:ext>
            </a:extLst>
          </p:cNvPr>
          <p:cNvSpPr>
            <a:spLocks noGrp="1"/>
          </p:cNvSpPr>
          <p:nvPr>
            <p:ph type="title"/>
          </p:nvPr>
        </p:nvSpPr>
        <p:spPr>
          <a:xfrm>
            <a:off x="80211" y="586855"/>
            <a:ext cx="4037841" cy="5893470"/>
          </a:xfrm>
        </p:spPr>
        <p:txBody>
          <a:bodyPr anchor="ctr">
            <a:normAutofit/>
          </a:bodyPr>
          <a:lstStyle/>
          <a:p>
            <a:r>
              <a:rPr lang="fr-FR" sz="4000" b="1" dirty="0">
                <a:solidFill>
                  <a:srgbClr val="FFFFFF"/>
                </a:solidFill>
                <a:latin typeface="+mn-lt"/>
              </a:rPr>
              <a:t>MEDICAMENTS D’URGENCE(5) </a:t>
            </a:r>
          </a:p>
        </p:txBody>
      </p:sp>
      <p:sp>
        <p:nvSpPr>
          <p:cNvPr id="3" name="Espace réservé du contenu 2">
            <a:extLst>
              <a:ext uri="{FF2B5EF4-FFF2-40B4-BE49-F238E27FC236}">
                <a16:creationId xmlns:a16="http://schemas.microsoft.com/office/drawing/2014/main" id="{C966F023-B04B-4548-83D0-4DC0F15F685A}"/>
              </a:ext>
            </a:extLst>
          </p:cNvPr>
          <p:cNvSpPr>
            <a:spLocks noGrp="1"/>
          </p:cNvSpPr>
          <p:nvPr>
            <p:ph idx="1"/>
          </p:nvPr>
        </p:nvSpPr>
        <p:spPr>
          <a:xfrm>
            <a:off x="4581727" y="649480"/>
            <a:ext cx="4145494" cy="5546047"/>
          </a:xfrm>
        </p:spPr>
        <p:txBody>
          <a:bodyPr anchor="t">
            <a:normAutofit/>
          </a:bodyPr>
          <a:lstStyle/>
          <a:p>
            <a:pPr marL="0" indent="0">
              <a:buNone/>
            </a:pPr>
            <a:endParaRPr lang="fr-FR" sz="3200" b="1" dirty="0">
              <a:solidFill>
                <a:srgbClr val="FF0000"/>
              </a:solidFill>
            </a:endParaRPr>
          </a:p>
          <a:p>
            <a:pPr marL="0" indent="0">
              <a:buNone/>
            </a:pPr>
            <a:r>
              <a:rPr lang="fr-FR" sz="3200" b="1" dirty="0">
                <a:solidFill>
                  <a:srgbClr val="FF0000"/>
                </a:solidFill>
              </a:rPr>
              <a:t>TERBUTALINE (Bricanyl®)</a:t>
            </a:r>
          </a:p>
          <a:p>
            <a:pPr marL="0" indent="0">
              <a:buNone/>
            </a:pPr>
            <a:r>
              <a:rPr lang="fr-FR" sz="2000" dirty="0"/>
              <a:t> </a:t>
            </a:r>
            <a:r>
              <a:rPr lang="fr-FR" b="1" u="sng" dirty="0"/>
              <a:t>Action</a:t>
            </a:r>
            <a:r>
              <a:rPr lang="fr-FR" b="1" dirty="0"/>
              <a:t> :bronchodilatation </a:t>
            </a:r>
          </a:p>
          <a:p>
            <a:pPr marL="0" indent="0">
              <a:buNone/>
            </a:pPr>
            <a:r>
              <a:rPr lang="fr-FR" b="1" u="sng" dirty="0"/>
              <a:t>Voie d’administration </a:t>
            </a:r>
            <a:r>
              <a:rPr lang="fr-FR" b="1" dirty="0"/>
              <a:t>au cabinet dentaire  :</a:t>
            </a:r>
          </a:p>
          <a:p>
            <a:pPr marL="0" indent="0">
              <a:buNone/>
            </a:pPr>
            <a:r>
              <a:rPr lang="fr-FR" b="1" dirty="0"/>
              <a:t> sous-cutanée(SC),IV ,IM</a:t>
            </a:r>
          </a:p>
          <a:p>
            <a:pPr marL="0" indent="0">
              <a:buNone/>
            </a:pPr>
            <a:r>
              <a:rPr lang="fr-FR" b="1" u="sng" dirty="0"/>
              <a:t>Posologie :</a:t>
            </a:r>
            <a:r>
              <a:rPr lang="fr-FR" b="1" dirty="0"/>
              <a:t>0,5 mg en s/c</a:t>
            </a:r>
          </a:p>
        </p:txBody>
      </p:sp>
      <p:pic>
        <p:nvPicPr>
          <p:cNvPr id="4" name="Image 3">
            <a:extLst>
              <a:ext uri="{FF2B5EF4-FFF2-40B4-BE49-F238E27FC236}">
                <a16:creationId xmlns:a16="http://schemas.microsoft.com/office/drawing/2014/main" id="{AA7365BA-3257-422F-BC7F-ECB0B4EF8DBB}"/>
              </a:ext>
            </a:extLst>
          </p:cNvPr>
          <p:cNvPicPr>
            <a:picLocks noChangeAspect="1"/>
          </p:cNvPicPr>
          <p:nvPr/>
        </p:nvPicPr>
        <p:blipFill>
          <a:blip r:embed="rId2"/>
          <a:stretch>
            <a:fillRect/>
          </a:stretch>
        </p:blipFill>
        <p:spPr>
          <a:xfrm>
            <a:off x="8864082" y="934278"/>
            <a:ext cx="2861196" cy="5546047"/>
          </a:xfrm>
          <a:prstGeom prst="rect">
            <a:avLst/>
          </a:prstGeom>
        </p:spPr>
      </p:pic>
    </p:spTree>
    <p:extLst>
      <p:ext uri="{BB962C8B-B14F-4D97-AF65-F5344CB8AC3E}">
        <p14:creationId xmlns:p14="http://schemas.microsoft.com/office/powerpoint/2010/main" val="3373673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7761EF2-EA38-4F39-A934-1BAE7BACFF6A}"/>
              </a:ext>
            </a:extLst>
          </p:cNvPr>
          <p:cNvSpPr>
            <a:spLocks noGrp="1"/>
          </p:cNvSpPr>
          <p:nvPr>
            <p:ph type="title"/>
          </p:nvPr>
        </p:nvSpPr>
        <p:spPr>
          <a:xfrm>
            <a:off x="57563" y="457200"/>
            <a:ext cx="3594062" cy="6036906"/>
          </a:xfrm>
        </p:spPr>
        <p:txBody>
          <a:bodyPr anchor="ctr">
            <a:normAutofit/>
          </a:bodyPr>
          <a:lstStyle/>
          <a:p>
            <a:r>
              <a:rPr lang="fr-FR" sz="4000" b="1" dirty="0">
                <a:solidFill>
                  <a:srgbClr val="FFFFFF"/>
                </a:solidFill>
                <a:latin typeface="+mn-lt"/>
              </a:rPr>
              <a:t>MEDICAMENTS D’URGENCE(6) </a:t>
            </a:r>
          </a:p>
        </p:txBody>
      </p:sp>
      <p:sp>
        <p:nvSpPr>
          <p:cNvPr id="3" name="Espace réservé du contenu 2">
            <a:extLst>
              <a:ext uri="{FF2B5EF4-FFF2-40B4-BE49-F238E27FC236}">
                <a16:creationId xmlns:a16="http://schemas.microsoft.com/office/drawing/2014/main" id="{EF908017-B801-4B38-9D9A-A39299D14D6F}"/>
              </a:ext>
            </a:extLst>
          </p:cNvPr>
          <p:cNvSpPr>
            <a:spLocks noGrp="1"/>
          </p:cNvSpPr>
          <p:nvPr>
            <p:ph idx="1"/>
          </p:nvPr>
        </p:nvSpPr>
        <p:spPr>
          <a:xfrm>
            <a:off x="4649245" y="669363"/>
            <a:ext cx="5753005" cy="5534211"/>
          </a:xfrm>
        </p:spPr>
        <p:txBody>
          <a:bodyPr anchor="ctr">
            <a:normAutofit/>
          </a:bodyPr>
          <a:lstStyle/>
          <a:p>
            <a:pPr marL="0" indent="0">
              <a:buNone/>
            </a:pPr>
            <a:r>
              <a:rPr lang="fr-FR" sz="3200" b="1" dirty="0">
                <a:solidFill>
                  <a:srgbClr val="FF0000"/>
                </a:solidFill>
              </a:rPr>
              <a:t>TRINITRINE (</a:t>
            </a:r>
            <a:r>
              <a:rPr lang="fr-FR" sz="3200" b="1" dirty="0" err="1">
                <a:solidFill>
                  <a:srgbClr val="FF0000"/>
                </a:solidFill>
              </a:rPr>
              <a:t>Natyspray</a:t>
            </a:r>
            <a:r>
              <a:rPr lang="fr-FR" sz="3200" b="1" dirty="0">
                <a:solidFill>
                  <a:srgbClr val="FF0000"/>
                </a:solidFill>
              </a:rPr>
              <a:t>®)</a:t>
            </a:r>
          </a:p>
          <a:p>
            <a:r>
              <a:rPr lang="fr-FR" sz="2400" b="1" u="sng" dirty="0"/>
              <a:t>Action : </a:t>
            </a:r>
          </a:p>
          <a:p>
            <a:pPr marL="447675" indent="-447675">
              <a:buNone/>
            </a:pPr>
            <a:r>
              <a:rPr lang="fr-FR" sz="2400" b="1" dirty="0"/>
              <a:t>   -Vasodilatateur veineux et coronarien.</a:t>
            </a:r>
          </a:p>
          <a:p>
            <a:pPr marL="447675" indent="-447675">
              <a:buNone/>
            </a:pPr>
            <a:r>
              <a:rPr lang="fr-FR" sz="2400" b="1" dirty="0"/>
              <a:t>   -Réduit les besoins en oxygène du myocarde</a:t>
            </a:r>
          </a:p>
          <a:p>
            <a:pPr marL="0" indent="0">
              <a:buNone/>
            </a:pPr>
            <a:r>
              <a:rPr lang="fr-FR" sz="2400" b="1" dirty="0"/>
              <a:t>    - Hypotenseur </a:t>
            </a:r>
          </a:p>
          <a:p>
            <a:r>
              <a:rPr lang="fr-FR" sz="2400" b="1" u="sng" dirty="0"/>
              <a:t>Voie d’administration :</a:t>
            </a:r>
          </a:p>
          <a:p>
            <a:pPr marL="0" indent="0">
              <a:buNone/>
            </a:pPr>
            <a:r>
              <a:rPr lang="fr-FR" sz="2400" b="1" dirty="0"/>
              <a:t>    -Pulvérisation sublinguale </a:t>
            </a:r>
          </a:p>
          <a:p>
            <a:r>
              <a:rPr lang="fr-FR" sz="2400" b="1" u="sng" dirty="0"/>
              <a:t>Indication </a:t>
            </a:r>
            <a:r>
              <a:rPr lang="fr-FR" sz="2400" b="1" dirty="0"/>
              <a:t>:</a:t>
            </a:r>
          </a:p>
          <a:p>
            <a:pPr marL="0" indent="0">
              <a:buNone/>
            </a:pPr>
            <a:r>
              <a:rPr lang="fr-FR" sz="2400" b="1" dirty="0"/>
              <a:t>    -Douleur thoracique</a:t>
            </a:r>
          </a:p>
          <a:p>
            <a:pPr marL="0" indent="0">
              <a:buNone/>
            </a:pPr>
            <a:r>
              <a:rPr lang="fr-FR" sz="2400" b="1" dirty="0"/>
              <a:t>    - Infarctus du myocarde  </a:t>
            </a:r>
          </a:p>
          <a:p>
            <a:pPr marL="0" indent="0">
              <a:buNone/>
            </a:pPr>
            <a:r>
              <a:rPr lang="fr-FR" sz="2400" b="1" dirty="0"/>
              <a:t>    -Poussée hypertensive </a:t>
            </a:r>
          </a:p>
          <a:p>
            <a:pPr marL="0" indent="0">
              <a:buNone/>
            </a:pPr>
            <a:endParaRPr lang="fr-FR" sz="2000" dirty="0"/>
          </a:p>
        </p:txBody>
      </p:sp>
      <p:pic>
        <p:nvPicPr>
          <p:cNvPr id="5" name="Image 4" descr="Une image contenant texte&#10;&#10;Description générée automatiquement">
            <a:extLst>
              <a:ext uri="{FF2B5EF4-FFF2-40B4-BE49-F238E27FC236}">
                <a16:creationId xmlns:a16="http://schemas.microsoft.com/office/drawing/2014/main" id="{CCE2069C-116A-4DD0-88B5-07850CB568D7}"/>
              </a:ext>
            </a:extLst>
          </p:cNvPr>
          <p:cNvPicPr>
            <a:picLocks noChangeAspect="1"/>
          </p:cNvPicPr>
          <p:nvPr/>
        </p:nvPicPr>
        <p:blipFill>
          <a:blip r:embed="rId2"/>
          <a:stretch>
            <a:fillRect/>
          </a:stretch>
        </p:blipFill>
        <p:spPr>
          <a:xfrm rot="16200000">
            <a:off x="9924981" y="1476198"/>
            <a:ext cx="2823586" cy="1595326"/>
          </a:xfrm>
          <a:prstGeom prst="rect">
            <a:avLst/>
          </a:prstGeom>
        </p:spPr>
      </p:pic>
      <p:pic>
        <p:nvPicPr>
          <p:cNvPr id="4" name="Image 3" descr="Une image contenant texte&#10;&#10;Description générée automatiquement">
            <a:extLst>
              <a:ext uri="{FF2B5EF4-FFF2-40B4-BE49-F238E27FC236}">
                <a16:creationId xmlns:a16="http://schemas.microsoft.com/office/drawing/2014/main" id="{DB2B9B9C-ACF7-4EEB-8F88-37ABA355A6F0}"/>
              </a:ext>
            </a:extLst>
          </p:cNvPr>
          <p:cNvPicPr>
            <a:picLocks noChangeAspect="1"/>
          </p:cNvPicPr>
          <p:nvPr/>
        </p:nvPicPr>
        <p:blipFill>
          <a:blip r:embed="rId3"/>
          <a:stretch>
            <a:fillRect/>
          </a:stretch>
        </p:blipFill>
        <p:spPr>
          <a:xfrm>
            <a:off x="10570299" y="3808339"/>
            <a:ext cx="1532950" cy="2395235"/>
          </a:xfrm>
          <a:prstGeom prst="rect">
            <a:avLst/>
          </a:prstGeom>
        </p:spPr>
      </p:pic>
    </p:spTree>
    <p:extLst>
      <p:ext uri="{BB962C8B-B14F-4D97-AF65-F5344CB8AC3E}">
        <p14:creationId xmlns:p14="http://schemas.microsoft.com/office/powerpoint/2010/main" val="2967374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68A503-1121-4B65-8CF6-585473C33E39}"/>
              </a:ext>
            </a:extLst>
          </p:cNvPr>
          <p:cNvSpPr>
            <a:spLocks noGrp="1"/>
          </p:cNvSpPr>
          <p:nvPr>
            <p:ph idx="1"/>
          </p:nvPr>
        </p:nvSpPr>
        <p:spPr>
          <a:xfrm>
            <a:off x="762000" y="1328058"/>
            <a:ext cx="10515600" cy="4848905"/>
          </a:xfrm>
        </p:spPr>
        <p:txBody>
          <a:bodyPr>
            <a:normAutofit fontScale="92500" lnSpcReduction="10000"/>
          </a:bodyPr>
          <a:lstStyle/>
          <a:p>
            <a:pPr marL="0" indent="0">
              <a:buNone/>
            </a:pPr>
            <a:endParaRPr lang="fr-FR" sz="7200" b="1" dirty="0"/>
          </a:p>
          <a:p>
            <a:pPr marL="0" indent="0">
              <a:buNone/>
            </a:pPr>
            <a:endParaRPr lang="fr-FR" sz="7200" b="1" dirty="0"/>
          </a:p>
          <a:p>
            <a:pPr marL="0" indent="0">
              <a:buNone/>
            </a:pPr>
            <a:endParaRPr lang="fr-FR" sz="7200" b="1" dirty="0"/>
          </a:p>
          <a:p>
            <a:pPr marL="0" indent="0">
              <a:buNone/>
            </a:pPr>
            <a:r>
              <a:rPr lang="fr-FR" dirty="0"/>
              <a:t> </a:t>
            </a:r>
          </a:p>
          <a:p>
            <a:pPr marL="0" indent="0">
              <a:buNone/>
            </a:pPr>
            <a:r>
              <a:rPr lang="fr-FR" dirty="0"/>
              <a:t> </a:t>
            </a:r>
          </a:p>
          <a:p>
            <a:pPr marL="0" indent="0">
              <a:buNone/>
            </a:pPr>
            <a:endParaRPr lang="fr-FR" dirty="0"/>
          </a:p>
          <a:p>
            <a:pPr marL="0" indent="0">
              <a:buNone/>
            </a:pPr>
            <a:r>
              <a:rPr lang="fr-FR" dirty="0"/>
              <a:t> </a:t>
            </a:r>
          </a:p>
        </p:txBody>
      </p:sp>
      <p:sp>
        <p:nvSpPr>
          <p:cNvPr id="5" name="Rectangle 4">
            <a:extLst>
              <a:ext uri="{FF2B5EF4-FFF2-40B4-BE49-F238E27FC236}">
                <a16:creationId xmlns:a16="http://schemas.microsoft.com/office/drawing/2014/main" id="{ED6B3013-F9FE-47F0-950E-634414265C3C}"/>
              </a:ext>
            </a:extLst>
          </p:cNvPr>
          <p:cNvSpPr/>
          <p:nvPr/>
        </p:nvSpPr>
        <p:spPr>
          <a:xfrm>
            <a:off x="3681963" y="485192"/>
            <a:ext cx="5822279" cy="60076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u="sng" dirty="0">
                <a:solidFill>
                  <a:srgbClr val="FF0000"/>
                </a:solidFill>
              </a:rPr>
              <a:t>HEMISUCCINATE D’HYDROCORTISONE</a:t>
            </a:r>
          </a:p>
          <a:p>
            <a:r>
              <a:rPr lang="fr-FR" sz="2400" b="1" dirty="0">
                <a:solidFill>
                  <a:schemeClr val="tx1"/>
                </a:solidFill>
              </a:rPr>
              <a:t>Hormone </a:t>
            </a:r>
            <a:r>
              <a:rPr lang="fr-FR" sz="2400" b="1" dirty="0" err="1">
                <a:solidFill>
                  <a:schemeClr val="tx1"/>
                </a:solidFill>
              </a:rPr>
              <a:t>Glucorticoïde</a:t>
            </a:r>
            <a:r>
              <a:rPr lang="fr-FR" sz="2400" b="1" dirty="0">
                <a:solidFill>
                  <a:schemeClr val="tx1"/>
                </a:solidFill>
              </a:rPr>
              <a:t> </a:t>
            </a:r>
          </a:p>
          <a:p>
            <a:r>
              <a:rPr lang="fr-FR" sz="2400" b="1" u="sng" dirty="0">
                <a:solidFill>
                  <a:schemeClr val="tx1"/>
                </a:solidFill>
              </a:rPr>
              <a:t>Action </a:t>
            </a:r>
            <a:r>
              <a:rPr lang="fr-FR" sz="2400" b="1" dirty="0">
                <a:solidFill>
                  <a:schemeClr val="tx1"/>
                </a:solidFill>
              </a:rPr>
              <a:t>: Antiallergique </a:t>
            </a:r>
          </a:p>
          <a:p>
            <a:r>
              <a:rPr lang="fr-FR" sz="2400" b="1" dirty="0">
                <a:solidFill>
                  <a:schemeClr val="tx1"/>
                </a:solidFill>
              </a:rPr>
              <a:t>               Anti-inflammatoire </a:t>
            </a:r>
          </a:p>
          <a:p>
            <a:r>
              <a:rPr lang="fr-FR" sz="2400" b="1" dirty="0">
                <a:solidFill>
                  <a:schemeClr val="tx1"/>
                </a:solidFill>
              </a:rPr>
              <a:t>               Antipyrétique</a:t>
            </a:r>
          </a:p>
          <a:p>
            <a:r>
              <a:rPr lang="fr-FR" sz="2400" b="1" dirty="0">
                <a:solidFill>
                  <a:schemeClr val="tx1"/>
                </a:solidFill>
              </a:rPr>
              <a:t>               Antalgique</a:t>
            </a:r>
          </a:p>
          <a:p>
            <a:r>
              <a:rPr lang="fr-FR" sz="2400" b="1" u="sng" dirty="0">
                <a:solidFill>
                  <a:schemeClr val="tx1"/>
                </a:solidFill>
              </a:rPr>
              <a:t>Mode d’administration</a:t>
            </a:r>
            <a:r>
              <a:rPr lang="fr-FR" sz="2400" b="1" dirty="0">
                <a:solidFill>
                  <a:schemeClr val="tx1"/>
                </a:solidFill>
              </a:rPr>
              <a:t>:</a:t>
            </a:r>
          </a:p>
          <a:p>
            <a:r>
              <a:rPr lang="fr-FR" sz="2400" b="1" dirty="0">
                <a:solidFill>
                  <a:schemeClr val="tx1"/>
                </a:solidFill>
              </a:rPr>
              <a:t> diluer avec du SSI 9%° OU SG5%</a:t>
            </a:r>
          </a:p>
          <a:p>
            <a:r>
              <a:rPr lang="fr-FR" sz="2400" b="1" u="sng" dirty="0">
                <a:solidFill>
                  <a:schemeClr val="tx1"/>
                </a:solidFill>
              </a:rPr>
              <a:t>Posologie</a:t>
            </a:r>
            <a:r>
              <a:rPr lang="fr-FR" sz="2400" b="1" dirty="0">
                <a:solidFill>
                  <a:schemeClr val="tx1"/>
                </a:solidFill>
              </a:rPr>
              <a:t>:100 à 200 mg IVD </a:t>
            </a:r>
          </a:p>
          <a:p>
            <a:r>
              <a:rPr lang="fr-FR" sz="2400" b="1" u="sng" dirty="0">
                <a:solidFill>
                  <a:schemeClr val="tx1"/>
                </a:solidFill>
              </a:rPr>
              <a:t>Indication</a:t>
            </a:r>
            <a:r>
              <a:rPr lang="fr-FR" sz="2400" b="1" dirty="0">
                <a:solidFill>
                  <a:schemeClr val="tx1"/>
                </a:solidFill>
              </a:rPr>
              <a:t> :asthme ,œdème laryngé </a:t>
            </a:r>
          </a:p>
          <a:p>
            <a:r>
              <a:rPr lang="fr-FR" sz="2400" b="1" dirty="0">
                <a:solidFill>
                  <a:schemeClr val="tx1"/>
                </a:solidFill>
              </a:rPr>
              <a:t>                     Choc anaphylactique </a:t>
            </a:r>
          </a:p>
          <a:p>
            <a:r>
              <a:rPr lang="fr-FR" sz="2400" b="1" dirty="0">
                <a:solidFill>
                  <a:schemeClr val="tx1"/>
                </a:solidFill>
              </a:rPr>
              <a:t>                      inflammation sévère  </a:t>
            </a:r>
          </a:p>
          <a:p>
            <a:endParaRPr lang="fr-FR" sz="2400" b="1" dirty="0"/>
          </a:p>
        </p:txBody>
      </p:sp>
      <p:sp>
        <p:nvSpPr>
          <p:cNvPr id="7" name="Rectangle 6">
            <a:extLst>
              <a:ext uri="{FF2B5EF4-FFF2-40B4-BE49-F238E27FC236}">
                <a16:creationId xmlns:a16="http://schemas.microsoft.com/office/drawing/2014/main" id="{44662D7F-1954-43F2-8231-5FAE8681F9CE}"/>
              </a:ext>
            </a:extLst>
          </p:cNvPr>
          <p:cNvSpPr/>
          <p:nvPr/>
        </p:nvSpPr>
        <p:spPr>
          <a:xfrm>
            <a:off x="185532" y="485192"/>
            <a:ext cx="3326926" cy="6007681"/>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t>MEDICAMENTS D’URGENCE(7) </a:t>
            </a:r>
          </a:p>
        </p:txBody>
      </p:sp>
      <p:pic>
        <p:nvPicPr>
          <p:cNvPr id="8" name="Image 7">
            <a:extLst>
              <a:ext uri="{FF2B5EF4-FFF2-40B4-BE49-F238E27FC236}">
                <a16:creationId xmlns:a16="http://schemas.microsoft.com/office/drawing/2014/main" id="{5762BAEA-DC1B-48AE-8DF0-7B4C322F058D}"/>
              </a:ext>
            </a:extLst>
          </p:cNvPr>
          <p:cNvPicPr>
            <a:picLocks noChangeAspect="1"/>
          </p:cNvPicPr>
          <p:nvPr/>
        </p:nvPicPr>
        <p:blipFill>
          <a:blip r:embed="rId2"/>
          <a:stretch>
            <a:fillRect/>
          </a:stretch>
        </p:blipFill>
        <p:spPr>
          <a:xfrm>
            <a:off x="9673746" y="485192"/>
            <a:ext cx="2332721" cy="6007681"/>
          </a:xfrm>
          <a:prstGeom prst="rect">
            <a:avLst/>
          </a:prstGeom>
        </p:spPr>
      </p:pic>
    </p:spTree>
    <p:extLst>
      <p:ext uri="{BB962C8B-B14F-4D97-AF65-F5344CB8AC3E}">
        <p14:creationId xmlns:p14="http://schemas.microsoft.com/office/powerpoint/2010/main" val="570402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E1D941-7693-4264-8242-08C51FC45D4B}"/>
              </a:ext>
            </a:extLst>
          </p:cNvPr>
          <p:cNvSpPr>
            <a:spLocks noGrp="1"/>
          </p:cNvSpPr>
          <p:nvPr>
            <p:ph type="title"/>
          </p:nvPr>
        </p:nvSpPr>
        <p:spPr/>
        <p:txBody>
          <a:bodyPr/>
          <a:lstStyle/>
          <a:p>
            <a:r>
              <a:rPr lang="fr-FR" dirty="0"/>
              <a:t>  </a:t>
            </a:r>
          </a:p>
        </p:txBody>
      </p:sp>
      <p:sp>
        <p:nvSpPr>
          <p:cNvPr id="3" name="Espace réservé du contenu 2">
            <a:extLst>
              <a:ext uri="{FF2B5EF4-FFF2-40B4-BE49-F238E27FC236}">
                <a16:creationId xmlns:a16="http://schemas.microsoft.com/office/drawing/2014/main" id="{0AA520FD-30E1-4B96-BF12-8B21816E9E42}"/>
              </a:ext>
            </a:extLst>
          </p:cNvPr>
          <p:cNvSpPr>
            <a:spLocks noGrp="1"/>
          </p:cNvSpPr>
          <p:nvPr>
            <p:ph idx="1"/>
          </p:nvPr>
        </p:nvSpPr>
        <p:spPr/>
        <p:txBody>
          <a:bodyPr>
            <a:normAutofit/>
          </a:bodyPr>
          <a:lstStyle/>
          <a:p>
            <a:pPr marL="0" indent="0">
              <a:buNone/>
            </a:pPr>
            <a:endParaRPr lang="fr-FR" dirty="0">
              <a:solidFill>
                <a:srgbClr val="00B0F0"/>
              </a:solidFill>
            </a:endParaRPr>
          </a:p>
          <a:p>
            <a:pPr marL="0" indent="0">
              <a:buNone/>
            </a:pPr>
            <a:r>
              <a:rPr lang="fr-FR" dirty="0"/>
              <a:t>                           </a:t>
            </a:r>
          </a:p>
        </p:txBody>
      </p:sp>
      <p:pic>
        <p:nvPicPr>
          <p:cNvPr id="4" name="Image 3">
            <a:extLst>
              <a:ext uri="{FF2B5EF4-FFF2-40B4-BE49-F238E27FC236}">
                <a16:creationId xmlns:a16="http://schemas.microsoft.com/office/drawing/2014/main" id="{9A3504D7-FDDE-49FC-841C-CF1EE8B5852F}"/>
              </a:ext>
            </a:extLst>
          </p:cNvPr>
          <p:cNvPicPr>
            <a:picLocks noChangeAspect="1"/>
          </p:cNvPicPr>
          <p:nvPr/>
        </p:nvPicPr>
        <p:blipFill>
          <a:blip r:embed="rId2"/>
          <a:stretch>
            <a:fillRect/>
          </a:stretch>
        </p:blipFill>
        <p:spPr>
          <a:xfrm>
            <a:off x="9100457" y="1219200"/>
            <a:ext cx="2593522" cy="4957763"/>
          </a:xfrm>
          <a:prstGeom prst="rect">
            <a:avLst/>
          </a:prstGeom>
        </p:spPr>
      </p:pic>
      <p:sp>
        <p:nvSpPr>
          <p:cNvPr id="5" name="Titre 1">
            <a:extLst>
              <a:ext uri="{FF2B5EF4-FFF2-40B4-BE49-F238E27FC236}">
                <a16:creationId xmlns:a16="http://schemas.microsoft.com/office/drawing/2014/main" id="{9828498A-2171-44A3-864E-1D9A3B71FADF}"/>
              </a:ext>
            </a:extLst>
          </p:cNvPr>
          <p:cNvSpPr txBox="1">
            <a:spLocks/>
          </p:cNvSpPr>
          <p:nvPr/>
        </p:nvSpPr>
        <p:spPr>
          <a:xfrm>
            <a:off x="498021" y="457200"/>
            <a:ext cx="2593522" cy="60369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3200" b="1" dirty="0">
                <a:solidFill>
                  <a:srgbClr val="FFFFFF"/>
                </a:solidFill>
                <a:latin typeface="+mn-lt"/>
              </a:rPr>
              <a:t>MEDICAMENTS D’URGENCE </a:t>
            </a:r>
          </a:p>
        </p:txBody>
      </p:sp>
      <p:sp>
        <p:nvSpPr>
          <p:cNvPr id="6" name="Rectangle 5">
            <a:extLst>
              <a:ext uri="{FF2B5EF4-FFF2-40B4-BE49-F238E27FC236}">
                <a16:creationId xmlns:a16="http://schemas.microsoft.com/office/drawing/2014/main" id="{ADA10D53-0964-469F-A815-0DAA34C42FF4}"/>
              </a:ext>
            </a:extLst>
          </p:cNvPr>
          <p:cNvSpPr/>
          <p:nvPr/>
        </p:nvSpPr>
        <p:spPr>
          <a:xfrm>
            <a:off x="4139294" y="1311442"/>
            <a:ext cx="4923064" cy="48405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3200" b="1" dirty="0">
                <a:solidFill>
                  <a:srgbClr val="FF0000"/>
                </a:solidFill>
              </a:rPr>
              <a:t>MIDAZOLAM(HYPNOVEL) </a:t>
            </a:r>
          </a:p>
          <a:p>
            <a:pPr marL="812800" indent="-812800"/>
            <a:r>
              <a:rPr lang="fr-FR" sz="2000" b="1" u="sng" dirty="0">
                <a:solidFill>
                  <a:schemeClr val="tx1"/>
                </a:solidFill>
              </a:rPr>
              <a:t>Action :-</a:t>
            </a:r>
            <a:r>
              <a:rPr lang="fr-FR" sz="2000" b="1" dirty="0">
                <a:solidFill>
                  <a:schemeClr val="tx1"/>
                </a:solidFill>
              </a:rPr>
              <a:t>Anticonvulsivant   </a:t>
            </a:r>
          </a:p>
          <a:p>
            <a:pPr marL="812800" indent="-812800"/>
            <a:r>
              <a:rPr lang="fr-FR" sz="2000" b="1" dirty="0">
                <a:solidFill>
                  <a:schemeClr val="tx1"/>
                </a:solidFill>
              </a:rPr>
              <a:t>               -Hypnotique</a:t>
            </a:r>
          </a:p>
          <a:p>
            <a:pPr marL="812800" indent="-812800"/>
            <a:r>
              <a:rPr lang="fr-FR" sz="2000" b="1" dirty="0">
                <a:solidFill>
                  <a:schemeClr val="tx1"/>
                </a:solidFill>
              </a:rPr>
              <a:t>                -Myorelaxant </a:t>
            </a:r>
          </a:p>
          <a:p>
            <a:pPr marL="812800" indent="-812800"/>
            <a:r>
              <a:rPr lang="fr-FR" sz="2000" b="1" dirty="0">
                <a:solidFill>
                  <a:schemeClr val="tx1"/>
                </a:solidFill>
              </a:rPr>
              <a:t>                -Amnésiant </a:t>
            </a:r>
          </a:p>
          <a:p>
            <a:r>
              <a:rPr lang="fr-FR" sz="2000" b="1" u="sng" dirty="0">
                <a:solidFill>
                  <a:schemeClr val="tx1"/>
                </a:solidFill>
              </a:rPr>
              <a:t>Indication</a:t>
            </a:r>
            <a:r>
              <a:rPr lang="fr-FR" sz="2000" b="1" dirty="0">
                <a:solidFill>
                  <a:schemeClr val="tx1"/>
                </a:solidFill>
              </a:rPr>
              <a:t> :</a:t>
            </a:r>
          </a:p>
          <a:p>
            <a:r>
              <a:rPr lang="fr-FR" sz="2000" b="1" dirty="0">
                <a:solidFill>
                  <a:schemeClr val="tx1"/>
                </a:solidFill>
              </a:rPr>
              <a:t>       - Crise convulsive </a:t>
            </a:r>
          </a:p>
          <a:p>
            <a:r>
              <a:rPr lang="fr-FR" sz="2000" b="1" dirty="0">
                <a:solidFill>
                  <a:schemeClr val="tx1"/>
                </a:solidFill>
              </a:rPr>
              <a:t>        -Agitation paroxystique</a:t>
            </a:r>
          </a:p>
          <a:p>
            <a:r>
              <a:rPr lang="fr-FR" sz="2000" b="1" dirty="0">
                <a:solidFill>
                  <a:schemeClr val="tx1"/>
                </a:solidFill>
              </a:rPr>
              <a:t> </a:t>
            </a:r>
            <a:r>
              <a:rPr lang="fr-FR" sz="2000" b="1" u="sng" dirty="0">
                <a:solidFill>
                  <a:schemeClr val="tx1"/>
                </a:solidFill>
              </a:rPr>
              <a:t>Administration</a:t>
            </a:r>
            <a:r>
              <a:rPr lang="fr-FR" sz="2000" b="1" dirty="0">
                <a:solidFill>
                  <a:schemeClr val="tx1"/>
                </a:solidFill>
              </a:rPr>
              <a:t>: – </a:t>
            </a:r>
            <a:r>
              <a:rPr lang="fr-FR" sz="2000" b="1" dirty="0" err="1">
                <a:solidFill>
                  <a:schemeClr val="tx1"/>
                </a:solidFill>
              </a:rPr>
              <a:t>Amp</a:t>
            </a:r>
            <a:r>
              <a:rPr lang="fr-FR" sz="2000" b="1" dirty="0">
                <a:solidFill>
                  <a:schemeClr val="tx1"/>
                </a:solidFill>
              </a:rPr>
              <a:t> de 10 mg/2ml</a:t>
            </a:r>
          </a:p>
          <a:p>
            <a:r>
              <a:rPr lang="fr-FR" sz="2000" b="1" dirty="0">
                <a:solidFill>
                  <a:schemeClr val="tx1"/>
                </a:solidFill>
              </a:rPr>
              <a:t>                             – Perfusion en IVD lente</a:t>
            </a:r>
          </a:p>
          <a:p>
            <a:r>
              <a:rPr lang="fr-FR" sz="2000" b="1" dirty="0">
                <a:solidFill>
                  <a:schemeClr val="tx1"/>
                </a:solidFill>
              </a:rPr>
              <a:t>                                dans SG5% ou SSI  0.9%:</a:t>
            </a:r>
          </a:p>
          <a:p>
            <a:r>
              <a:rPr lang="fr-FR" sz="2000" b="1" dirty="0">
                <a:solidFill>
                  <a:schemeClr val="tx1"/>
                </a:solidFill>
              </a:rPr>
              <a:t>                                0,2à    0,4 MG/kg</a:t>
            </a:r>
          </a:p>
        </p:txBody>
      </p:sp>
      <p:sp>
        <p:nvSpPr>
          <p:cNvPr id="9" name="Rectangle 8">
            <a:extLst>
              <a:ext uri="{FF2B5EF4-FFF2-40B4-BE49-F238E27FC236}">
                <a16:creationId xmlns:a16="http://schemas.microsoft.com/office/drawing/2014/main" id="{DAE0D5FC-F33E-4FDE-84C7-9DE2E9E58925}"/>
              </a:ext>
            </a:extLst>
          </p:cNvPr>
          <p:cNvSpPr/>
          <p:nvPr/>
        </p:nvSpPr>
        <p:spPr>
          <a:xfrm>
            <a:off x="498021" y="1219200"/>
            <a:ext cx="3546930" cy="493281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t>MEDICAMENTS D’URGENCE(8) </a:t>
            </a:r>
          </a:p>
        </p:txBody>
      </p:sp>
    </p:spTree>
    <p:extLst>
      <p:ext uri="{BB962C8B-B14F-4D97-AF65-F5344CB8AC3E}">
        <p14:creationId xmlns:p14="http://schemas.microsoft.com/office/powerpoint/2010/main" val="856658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A205F-2AE2-4992-B852-8E077BDFF39B}"/>
              </a:ext>
            </a:extLst>
          </p:cNvPr>
          <p:cNvSpPr>
            <a:spLocks noGrp="1"/>
          </p:cNvSpPr>
          <p:nvPr>
            <p:ph type="title"/>
          </p:nvPr>
        </p:nvSpPr>
        <p:spPr>
          <a:xfrm>
            <a:off x="838200" y="365125"/>
            <a:ext cx="10515600" cy="737961"/>
          </a:xfrm>
        </p:spPr>
        <p:txBody>
          <a:bodyPr/>
          <a:lstStyle/>
          <a:p>
            <a:r>
              <a:rPr lang="fr-FR" dirty="0">
                <a:solidFill>
                  <a:srgbClr val="FF0000"/>
                </a:solidFill>
                <a:latin typeface="+mn-lt"/>
              </a:rPr>
              <a:t>                         </a:t>
            </a:r>
            <a:r>
              <a:rPr lang="fr-FR" b="1" dirty="0">
                <a:solidFill>
                  <a:srgbClr val="FF0000"/>
                </a:solidFill>
                <a:latin typeface="+mn-lt"/>
              </a:rPr>
              <a:t>CONCLUSION </a:t>
            </a:r>
          </a:p>
        </p:txBody>
      </p:sp>
      <p:sp>
        <p:nvSpPr>
          <p:cNvPr id="3" name="Espace réservé du contenu 2">
            <a:extLst>
              <a:ext uri="{FF2B5EF4-FFF2-40B4-BE49-F238E27FC236}">
                <a16:creationId xmlns:a16="http://schemas.microsoft.com/office/drawing/2014/main" id="{7C768997-D052-4718-AFC6-194F2D77606B}"/>
              </a:ext>
            </a:extLst>
          </p:cNvPr>
          <p:cNvSpPr>
            <a:spLocks noGrp="1"/>
          </p:cNvSpPr>
          <p:nvPr>
            <p:ph idx="1"/>
          </p:nvPr>
        </p:nvSpPr>
        <p:spPr>
          <a:xfrm>
            <a:off x="838200" y="1103086"/>
            <a:ext cx="10515600" cy="5073877"/>
          </a:xfrm>
        </p:spPr>
        <p:txBody>
          <a:bodyPr/>
          <a:lstStyle/>
          <a:p>
            <a:pPr>
              <a:buFont typeface="Wingdings" panose="05000000000000000000" pitchFamily="2" charset="2"/>
              <a:buChar char="Ø"/>
            </a:pPr>
            <a:endParaRPr lang="fr-FR" b="1" dirty="0"/>
          </a:p>
          <a:p>
            <a:pPr>
              <a:buFont typeface="Wingdings" panose="05000000000000000000" pitchFamily="2" charset="2"/>
              <a:buChar char="Ø"/>
            </a:pPr>
            <a:r>
              <a:rPr lang="fr-FR" b="1" dirty="0"/>
              <a:t>La fréquence des urgences médicales au cabinet dentaire est faible mais certaines peuvent mettre en jeu le pronostic vital du patient .</a:t>
            </a:r>
          </a:p>
          <a:p>
            <a:pPr>
              <a:buFont typeface="Wingdings" panose="05000000000000000000" pitchFamily="2" charset="2"/>
              <a:buChar char="Ø"/>
            </a:pPr>
            <a:r>
              <a:rPr lang="fr-FR" b="1" dirty="0"/>
              <a:t>Dans la plus part des cas ces urgences sont  le résultat de  décompensation d’une pathologie chronique .</a:t>
            </a:r>
          </a:p>
          <a:p>
            <a:pPr>
              <a:buFont typeface="Wingdings" panose="05000000000000000000" pitchFamily="2" charset="2"/>
              <a:buChar char="Ø"/>
            </a:pPr>
            <a:r>
              <a:rPr lang="fr-FR" b="1" dirty="0"/>
              <a:t>Le stress qui accompagne une situation d’ urgence impose l’utilisation de techniques simples ,facilement réalisables par le chirurgien dentiste ne les pratiquant pas régulièrement </a:t>
            </a:r>
          </a:p>
          <a:p>
            <a:pPr>
              <a:buFont typeface="Wingdings" panose="05000000000000000000" pitchFamily="2" charset="2"/>
              <a:buChar char="Ø"/>
            </a:pPr>
            <a:r>
              <a:rPr lang="fr-FR" b="1" dirty="0"/>
              <a:t>Plus qu’une obligation légale c’est une obligation morale d’avoir tout le matériel de réanimation dans un cabinet dentaire </a:t>
            </a:r>
          </a:p>
          <a:p>
            <a:pPr>
              <a:buFont typeface="Wingdings" panose="05000000000000000000" pitchFamily="2" charset="2"/>
              <a:buChar char="Ø"/>
            </a:pPr>
            <a:endParaRPr lang="fr-FR" b="1"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64180705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1741</TotalTime>
  <Words>783</Words>
  <Application>Microsoft Office PowerPoint</Application>
  <PresentationFormat>Grand écran</PresentationFormat>
  <Paragraphs>156</Paragraphs>
  <Slides>14</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Calibri Light</vt:lpstr>
      <vt:lpstr>Wingdings</vt:lpstr>
      <vt:lpstr>Thème Office</vt:lpstr>
      <vt:lpstr>Présentation PowerPoint</vt:lpstr>
      <vt:lpstr>                  INTRODUCTION </vt:lpstr>
      <vt:lpstr>                          INTRODUCTION</vt:lpstr>
      <vt:lpstr>MEDICAMENT D’URGENCE -Ampoule de 0,5  mg  à 1 mg -Voie d’administration  :      -Sous cutanée Posologie =0,5 mg à 1 mg  -En s/s cutané le délai   d’action est de 15 à 30 minutes   </vt:lpstr>
      <vt:lpstr>         MEDICAMENT D’URGENCE </vt:lpstr>
      <vt:lpstr>MEDICAMENTS D’URGENCE Ampoule de 0,5 mg   ou 1 mg Voie d’ administration: IM,IV ou S/C  </vt:lpstr>
      <vt:lpstr>MEDICAMENTS D’URGENCE Ampoule de 0,5 mg   ou 1 mg Voie d’ administration: IM,IV ou S/C  NB : La voie IM  est contre-indiquée chez les patients sous anticoagulant ou ayant des troubles de la coagulation.  L’injection d’adrénaline sera alors réalisée en sous-cutané , </vt:lpstr>
      <vt:lpstr>MEDICAMENTSD’URGENCE  Voie d’administration :               IM Posologie : 1 mg en 1 injection unique   </vt:lpstr>
      <vt:lpstr>MEDICAMENTS D’URGENCE (4) </vt:lpstr>
      <vt:lpstr>MEDICAMENTS D’URGENCE(5) </vt:lpstr>
      <vt:lpstr>MEDICAMENTS D’URGENCE(6) </vt:lpstr>
      <vt:lpstr>Présentation PowerPoint</vt:lpstr>
      <vt:lpstr>  </vt:lpstr>
      <vt:lpstr>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92969</dc:creator>
  <cp:lastModifiedBy>lenovo</cp:lastModifiedBy>
  <cp:revision>30</cp:revision>
  <dcterms:created xsi:type="dcterms:W3CDTF">2021-02-04T04:21:03Z</dcterms:created>
  <dcterms:modified xsi:type="dcterms:W3CDTF">2024-12-29T17:37:28Z</dcterms:modified>
</cp:coreProperties>
</file>