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76" r:id="rId4"/>
    <p:sldId id="272" r:id="rId5"/>
    <p:sldId id="271" r:id="rId6"/>
    <p:sldId id="274" r:id="rId7"/>
    <p:sldId id="268" r:id="rId8"/>
    <p:sldId id="277" r:id="rId9"/>
    <p:sldId id="263" r:id="rId10"/>
    <p:sldId id="270" r:id="rId11"/>
    <p:sldId id="261" r:id="rId12"/>
    <p:sldId id="278" r:id="rId13"/>
    <p:sldId id="279" r:id="rId14"/>
    <p:sldId id="2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948"/>
    <p:restoredTop sz="94407"/>
  </p:normalViewPr>
  <p:slideViewPr>
    <p:cSldViewPr snapToGrid="0" snapToObjects="1" showGuides="1">
      <p:cViewPr varScale="1">
        <p:scale>
          <a:sx n="105" d="100"/>
          <a:sy n="105" d="100"/>
        </p:scale>
        <p:origin x="208" y="440"/>
      </p:cViewPr>
      <p:guideLst>
        <p:guide orient="horz" pos="284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fr-FR"/>
              <a:t>Modifiez le style du titre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1402251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2871947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fr-FR"/>
              <a:t>Modifiez le style du titre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1336776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82126A9-6E9D-334D-BE72-87B391BB0FBA}" type="datetimeFigureOut">
              <a:rPr lang="fr-ES" smtClean="0"/>
              <a:t>24/04/2025</a:t>
            </a:fld>
            <a:endParaRPr lang="fr-ES"/>
          </a:p>
        </p:txBody>
      </p:sp>
      <p:sp>
        <p:nvSpPr>
          <p:cNvPr id="6" name="Footer Placeholder 5"/>
          <p:cNvSpPr>
            <a:spLocks noGrp="1"/>
          </p:cNvSpPr>
          <p:nvPr>
            <p:ph type="ftr" sz="quarter" idx="11"/>
          </p:nvPr>
        </p:nvSpPr>
        <p:spPr/>
        <p:txBody>
          <a:bodyPr/>
          <a:lstStyle/>
          <a:p>
            <a:endParaRPr lang="fr-ES"/>
          </a:p>
        </p:txBody>
      </p:sp>
      <p:sp>
        <p:nvSpPr>
          <p:cNvPr id="7" name="Slide Number Placeholder 6"/>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3784486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82126A9-6E9D-334D-BE72-87B391BB0FBA}" type="datetimeFigureOut">
              <a:rPr lang="fr-ES" smtClean="0"/>
              <a:t>24/04/2025</a:t>
            </a:fld>
            <a:endParaRPr lang="fr-ES"/>
          </a:p>
        </p:txBody>
      </p:sp>
      <p:sp>
        <p:nvSpPr>
          <p:cNvPr id="8" name="Footer Placeholder 7"/>
          <p:cNvSpPr>
            <a:spLocks noGrp="1"/>
          </p:cNvSpPr>
          <p:nvPr>
            <p:ph type="ftr" sz="quarter" idx="11"/>
          </p:nvPr>
        </p:nvSpPr>
        <p:spPr/>
        <p:txBody>
          <a:bodyPr/>
          <a:lstStyle/>
          <a:p>
            <a:endParaRPr lang="fr-ES"/>
          </a:p>
        </p:txBody>
      </p:sp>
      <p:sp>
        <p:nvSpPr>
          <p:cNvPr id="9" name="Slide Number Placeholder 8"/>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2317693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82126A9-6E9D-334D-BE72-87B391BB0FBA}" type="datetimeFigureOut">
              <a:rPr lang="fr-ES" smtClean="0"/>
              <a:t>24/04/2025</a:t>
            </a:fld>
            <a:endParaRPr lang="fr-ES"/>
          </a:p>
        </p:txBody>
      </p:sp>
      <p:sp>
        <p:nvSpPr>
          <p:cNvPr id="4" name="Footer Placeholder 3"/>
          <p:cNvSpPr>
            <a:spLocks noGrp="1"/>
          </p:cNvSpPr>
          <p:nvPr>
            <p:ph type="ftr" sz="quarter" idx="11"/>
          </p:nvPr>
        </p:nvSpPr>
        <p:spPr/>
        <p:txBody>
          <a:bodyPr/>
          <a:lstStyle/>
          <a:p>
            <a:endParaRPr lang="fr-ES"/>
          </a:p>
        </p:txBody>
      </p:sp>
      <p:sp>
        <p:nvSpPr>
          <p:cNvPr id="5" name="Slide Number Placeholder 4"/>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213293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2126A9-6E9D-334D-BE72-87B391BB0FBA}" type="datetimeFigureOut">
              <a:rPr lang="fr-ES" smtClean="0"/>
              <a:t>24/04/2025</a:t>
            </a:fld>
            <a:endParaRPr lang="fr-ES"/>
          </a:p>
        </p:txBody>
      </p:sp>
      <p:sp>
        <p:nvSpPr>
          <p:cNvPr id="3" name="Footer Placeholder 2"/>
          <p:cNvSpPr>
            <a:spLocks noGrp="1"/>
          </p:cNvSpPr>
          <p:nvPr>
            <p:ph type="ftr" sz="quarter" idx="11"/>
          </p:nvPr>
        </p:nvSpPr>
        <p:spPr/>
        <p:txBody>
          <a:bodyPr/>
          <a:lstStyle/>
          <a:p>
            <a:endParaRPr lang="fr-ES"/>
          </a:p>
        </p:txBody>
      </p:sp>
      <p:sp>
        <p:nvSpPr>
          <p:cNvPr id="4" name="Slide Number Placeholder 3"/>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1308564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82126A9-6E9D-334D-BE72-87B391BB0FBA}" type="datetimeFigureOut">
              <a:rPr lang="fr-ES" smtClean="0"/>
              <a:t>24/04/2025</a:t>
            </a:fld>
            <a:endParaRPr lang="fr-ES"/>
          </a:p>
        </p:txBody>
      </p:sp>
      <p:sp>
        <p:nvSpPr>
          <p:cNvPr id="6" name="Footer Placeholder 5"/>
          <p:cNvSpPr>
            <a:spLocks noGrp="1"/>
          </p:cNvSpPr>
          <p:nvPr>
            <p:ph type="ftr" sz="quarter" idx="11"/>
          </p:nvPr>
        </p:nvSpPr>
        <p:spPr/>
        <p:txBody>
          <a:bodyPr/>
          <a:lstStyle/>
          <a:p>
            <a:endParaRPr lang="fr-ES"/>
          </a:p>
        </p:txBody>
      </p:sp>
      <p:sp>
        <p:nvSpPr>
          <p:cNvPr id="7" name="Slide Number Placeholder 6"/>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3209190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fr-FR"/>
              <a:t>Modifiez le style du titre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6399212" y="5883275"/>
            <a:ext cx="914400" cy="365125"/>
          </a:xfrm>
        </p:spPr>
        <p:txBody>
          <a:bodyPr/>
          <a:lstStyle/>
          <a:p>
            <a:fld id="{B82126A9-6E9D-334D-BE72-87B391BB0FBA}" type="datetimeFigureOut">
              <a:rPr lang="fr-ES" smtClean="0"/>
              <a:t>24/04/2025</a:t>
            </a:fld>
            <a:endParaRPr lang="fr-ES"/>
          </a:p>
        </p:txBody>
      </p:sp>
      <p:sp>
        <p:nvSpPr>
          <p:cNvPr id="6" name="Footer Placeholder 5"/>
          <p:cNvSpPr>
            <a:spLocks noGrp="1"/>
          </p:cNvSpPr>
          <p:nvPr>
            <p:ph type="ftr" sz="quarter" idx="11"/>
          </p:nvPr>
        </p:nvSpPr>
        <p:spPr>
          <a:xfrm>
            <a:off x="1141412" y="5883275"/>
            <a:ext cx="5105400" cy="365125"/>
          </a:xfrm>
        </p:spPr>
        <p:txBody>
          <a:bodyPr/>
          <a:lstStyle/>
          <a:p>
            <a:endParaRPr lang="fr-ES"/>
          </a:p>
        </p:txBody>
      </p:sp>
      <p:sp>
        <p:nvSpPr>
          <p:cNvPr id="7" name="Slide Number Placeholder 6"/>
          <p:cNvSpPr>
            <a:spLocks noGrp="1"/>
          </p:cNvSpPr>
          <p:nvPr>
            <p:ph type="sldNum" sz="quarter" idx="12"/>
          </p:nvPr>
        </p:nvSpPr>
        <p:spPr>
          <a:xfrm>
            <a:off x="10742612" y="5883275"/>
            <a:ext cx="322567" cy="365125"/>
          </a:xfrm>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1001077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82126A9-6E9D-334D-BE72-87B391BB0FBA}" type="datetimeFigureOut">
              <a:rPr lang="fr-ES" smtClean="0"/>
              <a:t>24/04/2025</a:t>
            </a:fld>
            <a:endParaRPr lang="fr-ES"/>
          </a:p>
        </p:txBody>
      </p:sp>
      <p:sp>
        <p:nvSpPr>
          <p:cNvPr id="6" name="Footer Placeholder 5"/>
          <p:cNvSpPr>
            <a:spLocks noGrp="1"/>
          </p:cNvSpPr>
          <p:nvPr>
            <p:ph type="ftr" sz="quarter" idx="11"/>
          </p:nvPr>
        </p:nvSpPr>
        <p:spPr/>
        <p:txBody>
          <a:bodyPr/>
          <a:lstStyle/>
          <a:p>
            <a:endParaRPr lang="fr-ES"/>
          </a:p>
        </p:txBody>
      </p:sp>
      <p:sp>
        <p:nvSpPr>
          <p:cNvPr id="7" name="Slide Number Placeholder 6"/>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3285670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fr-FR"/>
              <a:t>Modifiez le style du titre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1830645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fr-FR"/>
              <a:t>Cliquez pour modifier les styles du texte du masque</a:t>
            </a:r>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35670693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fr-FR"/>
              <a:t>Modifiez le style du titre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fr-FR"/>
              <a:t>Cliquez pour modifier les styles du texte du masque</a:t>
            </a:r>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38786834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fr-FR"/>
              <a:t>Modifiez le style du titre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2610156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fr-FR"/>
              <a:t>Cliquez pour modifier les styles du texte du masque</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1648692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25572398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82126A9-6E9D-334D-BE72-87B391BB0FBA}" type="datetimeFigureOut">
              <a:rPr lang="fr-ES" smtClean="0"/>
              <a:t>24/04/2025</a:t>
            </a:fld>
            <a:endParaRPr lang="fr-ES"/>
          </a:p>
        </p:txBody>
      </p:sp>
      <p:sp>
        <p:nvSpPr>
          <p:cNvPr id="5" name="Footer Placeholder 4"/>
          <p:cNvSpPr>
            <a:spLocks noGrp="1"/>
          </p:cNvSpPr>
          <p:nvPr>
            <p:ph type="ftr" sz="quarter" idx="11"/>
          </p:nvPr>
        </p:nvSpPr>
        <p:spPr/>
        <p:txBody>
          <a:bodyPr/>
          <a:lstStyle/>
          <a:p>
            <a:endParaRPr lang="fr-ES"/>
          </a:p>
        </p:txBody>
      </p:sp>
      <p:sp>
        <p:nvSpPr>
          <p:cNvPr id="6" name="Slide Number Placeholder 5"/>
          <p:cNvSpPr>
            <a:spLocks noGrp="1"/>
          </p:cNvSpPr>
          <p:nvPr>
            <p:ph type="sldNum" sz="quarter" idx="12"/>
          </p:nvPr>
        </p:nvSpPr>
        <p:spPr/>
        <p:txBody>
          <a:bodyPr/>
          <a:lstStyle/>
          <a:p>
            <a:fld id="{47C86A85-386B-7A40-AA6D-949D68AF3CF9}" type="slidenum">
              <a:rPr lang="fr-ES" smtClean="0"/>
              <a:t>‹N°›</a:t>
            </a:fld>
            <a:endParaRPr lang="fr-ES"/>
          </a:p>
        </p:txBody>
      </p:sp>
    </p:spTree>
    <p:extLst>
      <p:ext uri="{BB962C8B-B14F-4D97-AF65-F5344CB8AC3E}">
        <p14:creationId xmlns:p14="http://schemas.microsoft.com/office/powerpoint/2010/main" val="1140841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82126A9-6E9D-334D-BE72-87B391BB0FBA}" type="datetimeFigureOut">
              <a:rPr lang="fr-ES" smtClean="0"/>
              <a:t>24/04/2025</a:t>
            </a:fld>
            <a:endParaRPr lang="fr-E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fr-E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47C86A85-386B-7A40-AA6D-949D68AF3CF9}" type="slidenum">
              <a:rPr lang="fr-ES" smtClean="0"/>
              <a:t>‹N°›</a:t>
            </a:fld>
            <a:endParaRPr lang="fr-ES"/>
          </a:p>
        </p:txBody>
      </p:sp>
    </p:spTree>
    <p:extLst>
      <p:ext uri="{BB962C8B-B14F-4D97-AF65-F5344CB8AC3E}">
        <p14:creationId xmlns:p14="http://schemas.microsoft.com/office/powerpoint/2010/main" val="68450587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vidal.fr/sante/examens-tests-analyses-medicales/sante/examens-tests-analyses-medicales/echographie-doppler.html" TargetMode="External"/><Relationship Id="rId2" Type="http://schemas.openxmlformats.org/officeDocument/2006/relationships/hyperlink" Target="https://www.vidal.fr/sante/examens-tests-analyses-medicales/sante/examens-tests-analyses-medicales/radiographie.html" TargetMode="External"/><Relationship Id="rId1" Type="http://schemas.openxmlformats.org/officeDocument/2006/relationships/slideLayout" Target="../slideLayouts/slideLayout2.xml"/><Relationship Id="rId4" Type="http://schemas.openxmlformats.org/officeDocument/2006/relationships/hyperlink" Target="https://www.vidal.fr/sante/examens-tests-analyses-medicales/sante/examens-tests-analyses-medicales/scanner-tomodensitometrie.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BE46F7-F7AB-8842-AA26-CBB4670BAED9}"/>
              </a:ext>
            </a:extLst>
          </p:cNvPr>
          <p:cNvSpPr>
            <a:spLocks noGrp="1"/>
          </p:cNvSpPr>
          <p:nvPr>
            <p:ph type="ctrTitle"/>
          </p:nvPr>
        </p:nvSpPr>
        <p:spPr>
          <a:xfrm>
            <a:off x="2316480" y="2913888"/>
            <a:ext cx="7668768" cy="1706880"/>
          </a:xfrm>
        </p:spPr>
        <p:txBody>
          <a:bodyPr>
            <a:normAutofit fontScale="90000"/>
          </a:bodyPr>
          <a:lstStyle/>
          <a:p>
            <a:r>
              <a:rPr lang="fr-ES" sz="3200" b="1" dirty="0">
                <a:solidFill>
                  <a:srgbClr val="FFFF00"/>
                </a:solidFill>
                <a:latin typeface="Times New Roman" panose="02020603050405020304" pitchFamily="18" charset="0"/>
                <a:cs typeface="Times New Roman" panose="02020603050405020304" pitchFamily="18" charset="0"/>
              </a:rPr>
              <a:t>Imagerie par resonnance magnétique:</a:t>
            </a:r>
            <a:br>
              <a:rPr lang="fr-ES" sz="3200" b="1" dirty="0">
                <a:solidFill>
                  <a:srgbClr val="FFFF00"/>
                </a:solidFill>
                <a:latin typeface="Times New Roman" panose="02020603050405020304" pitchFamily="18" charset="0"/>
                <a:cs typeface="Times New Roman" panose="02020603050405020304" pitchFamily="18" charset="0"/>
              </a:rPr>
            </a:br>
            <a:r>
              <a:rPr lang="fr-ES" sz="2700" dirty="0">
                <a:latin typeface="Times New Roman" panose="02020603050405020304" pitchFamily="18" charset="0"/>
                <a:cs typeface="Times New Roman" panose="02020603050405020304" pitchFamily="18" charset="0"/>
              </a:rPr>
              <a:t>-Principes</a:t>
            </a:r>
            <a:br>
              <a:rPr lang="fr-ES" sz="2700" dirty="0">
                <a:latin typeface="Times New Roman" panose="02020603050405020304" pitchFamily="18" charset="0"/>
                <a:cs typeface="Times New Roman" panose="02020603050405020304" pitchFamily="18" charset="0"/>
              </a:rPr>
            </a:br>
            <a:r>
              <a:rPr lang="fr-ES" sz="2700" dirty="0">
                <a:latin typeface="Times New Roman" panose="02020603050405020304" pitchFamily="18" charset="0"/>
                <a:cs typeface="Times New Roman" panose="02020603050405020304" pitchFamily="18" charset="0"/>
              </a:rPr>
              <a:t>-Acquisition </a:t>
            </a:r>
            <a:br>
              <a:rPr lang="fr-ES" sz="2700" dirty="0">
                <a:latin typeface="Times New Roman" panose="02020603050405020304" pitchFamily="18" charset="0"/>
                <a:cs typeface="Times New Roman" panose="02020603050405020304" pitchFamily="18" charset="0"/>
              </a:rPr>
            </a:br>
            <a:r>
              <a:rPr lang="fr-ES" sz="2700" dirty="0">
                <a:latin typeface="Times New Roman" panose="02020603050405020304" pitchFamily="18" charset="0"/>
                <a:cs typeface="Times New Roman" panose="02020603050405020304" pitchFamily="18" charset="0"/>
              </a:rPr>
              <a:t>-Traitement et archivage</a:t>
            </a:r>
            <a:endParaRPr lang="fr-ES" sz="2000" dirty="0">
              <a:latin typeface="Times New Roman" panose="02020603050405020304" pitchFamily="18" charset="0"/>
              <a:cs typeface="Times New Roman" panose="02020603050405020304" pitchFamily="18" charset="0"/>
            </a:endParaRPr>
          </a:p>
        </p:txBody>
      </p:sp>
      <p:sp>
        <p:nvSpPr>
          <p:cNvPr id="3" name="Sous-titre 2">
            <a:extLst>
              <a:ext uri="{FF2B5EF4-FFF2-40B4-BE49-F238E27FC236}">
                <a16:creationId xmlns:a16="http://schemas.microsoft.com/office/drawing/2014/main" id="{8FBDF80E-3D81-9C4E-9E27-8F0E37F2C377}"/>
              </a:ext>
            </a:extLst>
          </p:cNvPr>
          <p:cNvSpPr>
            <a:spLocks noGrp="1"/>
          </p:cNvSpPr>
          <p:nvPr>
            <p:ph type="subTitle" idx="1"/>
          </p:nvPr>
        </p:nvSpPr>
        <p:spPr>
          <a:xfrm>
            <a:off x="9221275" y="6299915"/>
            <a:ext cx="2944608" cy="543060"/>
          </a:xfrm>
        </p:spPr>
        <p:txBody>
          <a:bodyPr>
            <a:normAutofit/>
          </a:bodyPr>
          <a:lstStyle/>
          <a:p>
            <a:r>
              <a:rPr lang="fr-ES" sz="2400" dirty="0">
                <a:latin typeface="Brush Script MT" panose="03060802040406070304" pitchFamily="66" charset="-122"/>
                <a:ea typeface="Brush Script MT" panose="03060802040406070304" pitchFamily="66" charset="-122"/>
                <a:cs typeface="Brush Script MT" panose="03060802040406070304" pitchFamily="66" charset="-122"/>
              </a:rPr>
              <a:t>Dr L.Abrous</a:t>
            </a:r>
          </a:p>
        </p:txBody>
      </p:sp>
      <p:sp>
        <p:nvSpPr>
          <p:cNvPr id="4" name="ZoneTexte 3">
            <a:extLst>
              <a:ext uri="{FF2B5EF4-FFF2-40B4-BE49-F238E27FC236}">
                <a16:creationId xmlns:a16="http://schemas.microsoft.com/office/drawing/2014/main" id="{1C556DBD-E2BD-5544-BD92-384FD7E123E2}"/>
              </a:ext>
            </a:extLst>
          </p:cNvPr>
          <p:cNvSpPr txBox="1"/>
          <p:nvPr/>
        </p:nvSpPr>
        <p:spPr>
          <a:xfrm>
            <a:off x="2627376" y="1812705"/>
            <a:ext cx="6937248" cy="523220"/>
          </a:xfrm>
          <a:prstGeom prst="rect">
            <a:avLst/>
          </a:prstGeom>
          <a:noFill/>
        </p:spPr>
        <p:txBody>
          <a:bodyPr wrap="square" rtlCol="0">
            <a:spAutoFit/>
          </a:bodyPr>
          <a:lstStyle/>
          <a:p>
            <a:r>
              <a:rPr lang="fr-ES" sz="2800" b="1" dirty="0">
                <a:latin typeface="Times New Roman" panose="02020603050405020304" pitchFamily="18" charset="0"/>
                <a:cs typeface="Times New Roman" panose="02020603050405020304" pitchFamily="18" charset="0"/>
              </a:rPr>
              <a:t>Cours </a:t>
            </a:r>
            <a:r>
              <a:rPr lang="fr-ES" sz="2800" b="1">
                <a:latin typeface="Times New Roman" panose="02020603050405020304" pitchFamily="18" charset="0"/>
                <a:cs typeface="Times New Roman" panose="02020603050405020304" pitchFamily="18" charset="0"/>
              </a:rPr>
              <a:t>de 3ème  </a:t>
            </a:r>
            <a:r>
              <a:rPr lang="fr-ES" sz="2800" b="1" dirty="0">
                <a:latin typeface="Times New Roman" panose="02020603050405020304" pitchFamily="18" charset="0"/>
                <a:cs typeface="Times New Roman" panose="02020603050405020304" pitchFamily="18" charset="0"/>
              </a:rPr>
              <a:t>année médecine dentaire</a:t>
            </a:r>
          </a:p>
        </p:txBody>
      </p:sp>
    </p:spTree>
    <p:extLst>
      <p:ext uri="{BB962C8B-B14F-4D97-AF65-F5344CB8AC3E}">
        <p14:creationId xmlns:p14="http://schemas.microsoft.com/office/powerpoint/2010/main" val="2091139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6F4A10-44B1-CC46-98C1-19F2C1014E2B}"/>
              </a:ext>
            </a:extLst>
          </p:cNvPr>
          <p:cNvSpPr>
            <a:spLocks noGrp="1"/>
          </p:cNvSpPr>
          <p:nvPr>
            <p:ph type="title"/>
          </p:nvPr>
        </p:nvSpPr>
        <p:spPr>
          <a:xfrm>
            <a:off x="1143001" y="0"/>
            <a:ext cx="9905998" cy="1905000"/>
          </a:xfrm>
        </p:spPr>
        <p:txBody>
          <a:bodyPr/>
          <a:lstStyle/>
          <a:p>
            <a:r>
              <a:rPr lang="fr-ES" b="1" cap="none" dirty="0">
                <a:solidFill>
                  <a:srgbClr val="FFFF00"/>
                </a:solidFill>
                <a:latin typeface="Times New Roman" panose="02020603050405020304" pitchFamily="18" charset="0"/>
                <a:cs typeface="Times New Roman" panose="02020603050405020304" pitchFamily="18" charset="0"/>
              </a:rPr>
              <a:t>PLAN</a:t>
            </a:r>
          </a:p>
        </p:txBody>
      </p:sp>
      <p:sp>
        <p:nvSpPr>
          <p:cNvPr id="4" name="ZoneTexte 3">
            <a:extLst>
              <a:ext uri="{FF2B5EF4-FFF2-40B4-BE49-F238E27FC236}">
                <a16:creationId xmlns:a16="http://schemas.microsoft.com/office/drawing/2014/main" id="{BC08A2EF-1AE8-894F-94A7-C3B44019720D}"/>
              </a:ext>
            </a:extLst>
          </p:cNvPr>
          <p:cNvSpPr txBox="1"/>
          <p:nvPr/>
        </p:nvSpPr>
        <p:spPr>
          <a:xfrm>
            <a:off x="637012" y="1905000"/>
            <a:ext cx="9753600" cy="4524315"/>
          </a:xfrm>
          <a:prstGeom prst="rect">
            <a:avLst/>
          </a:prstGeom>
          <a:noFill/>
        </p:spPr>
        <p:txBody>
          <a:bodyPr wrap="square" rtlCol="0">
            <a:spAutoFit/>
          </a:bodyPr>
          <a:lstStyle/>
          <a:p>
            <a:r>
              <a:rPr lang="fr-ES" sz="3200" b="1" dirty="0">
                <a:latin typeface="Times New Roman" panose="02020603050405020304" pitchFamily="18" charset="0"/>
                <a:cs typeface="Times New Roman" panose="02020603050405020304" pitchFamily="18" charset="0"/>
              </a:rPr>
              <a:t> Introduction </a:t>
            </a:r>
          </a:p>
          <a:p>
            <a:r>
              <a:rPr lang="fr-ES" sz="3200" b="1" dirty="0">
                <a:latin typeface="Times New Roman" panose="02020603050405020304" pitchFamily="18" charset="0"/>
                <a:cs typeface="Times New Roman" panose="02020603050405020304" pitchFamily="18" charset="0"/>
              </a:rPr>
              <a:t>I. Définition </a:t>
            </a:r>
          </a:p>
          <a:p>
            <a:r>
              <a:rPr lang="fr-ES" sz="3200" b="1" dirty="0">
                <a:latin typeface="Times New Roman" panose="02020603050405020304" pitchFamily="18" charset="0"/>
                <a:cs typeface="Times New Roman" panose="02020603050405020304" pitchFamily="18" charset="0"/>
              </a:rPr>
              <a:t>II. Principes</a:t>
            </a:r>
          </a:p>
          <a:p>
            <a:r>
              <a:rPr lang="fr-ES" sz="3200" b="1" dirty="0">
                <a:latin typeface="Times New Roman" panose="02020603050405020304" pitchFamily="18" charset="0"/>
                <a:cs typeface="Times New Roman" panose="02020603050405020304" pitchFamily="18" charset="0"/>
              </a:rPr>
              <a:t>III. Procédure et appareillage</a:t>
            </a:r>
          </a:p>
          <a:p>
            <a:r>
              <a:rPr lang="fr-ES" sz="3200" b="1" dirty="0">
                <a:latin typeface="Times New Roman" panose="02020603050405020304" pitchFamily="18" charset="0"/>
                <a:cs typeface="Times New Roman" panose="02020603050405020304" pitchFamily="18" charset="0"/>
              </a:rPr>
              <a:t>IV. Acquisition</a:t>
            </a:r>
          </a:p>
          <a:p>
            <a:r>
              <a:rPr lang="fr-ES" sz="3200" b="1" dirty="0">
                <a:latin typeface="Times New Roman" panose="02020603050405020304" pitchFamily="18" charset="0"/>
                <a:cs typeface="Times New Roman" panose="02020603050405020304" pitchFamily="18" charset="0"/>
              </a:rPr>
              <a:t>V. Utilisation en médecine dentaire</a:t>
            </a:r>
          </a:p>
          <a:p>
            <a:r>
              <a:rPr lang="fr-ES" sz="3200" b="1" dirty="0">
                <a:latin typeface="Times New Roman" panose="02020603050405020304" pitchFamily="18" charset="0"/>
                <a:cs typeface="Times New Roman" panose="02020603050405020304" pitchFamily="18" charset="0"/>
              </a:rPr>
              <a:t>VI. Contre indications</a:t>
            </a:r>
          </a:p>
          <a:p>
            <a:r>
              <a:rPr lang="fr-ES" sz="3200" b="1" dirty="0">
                <a:latin typeface="Times New Roman" panose="02020603050405020304" pitchFamily="18" charset="0"/>
                <a:cs typeface="Times New Roman" panose="02020603050405020304" pitchFamily="18" charset="0"/>
              </a:rPr>
              <a:t>VII. Effets du champs magnétique</a:t>
            </a:r>
          </a:p>
          <a:p>
            <a:r>
              <a:rPr lang="fr-ES" sz="3200" b="1" dirty="0">
                <a:latin typeface="Times New Roman" panose="02020603050405020304" pitchFamily="18" charset="0"/>
                <a:cs typeface="Times New Roman" panose="02020603050405020304" pitchFamily="18" charset="0"/>
              </a:rPr>
              <a:t> Conclusion</a:t>
            </a:r>
          </a:p>
        </p:txBody>
      </p:sp>
    </p:spTree>
    <p:extLst>
      <p:ext uri="{BB962C8B-B14F-4D97-AF65-F5344CB8AC3E}">
        <p14:creationId xmlns:p14="http://schemas.microsoft.com/office/powerpoint/2010/main" val="3963804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0F863-B348-9743-B876-581DC968D85A}"/>
              </a:ext>
            </a:extLst>
          </p:cNvPr>
          <p:cNvSpPr>
            <a:spLocks noGrp="1"/>
          </p:cNvSpPr>
          <p:nvPr>
            <p:ph type="title"/>
          </p:nvPr>
        </p:nvSpPr>
        <p:spPr/>
        <p:txBody>
          <a:bodyPr/>
          <a:lstStyle/>
          <a:p>
            <a:r>
              <a:rPr lang="fr-ES" b="1" dirty="0">
                <a:solidFill>
                  <a:srgbClr val="FFFF00"/>
                </a:solidFill>
                <a:latin typeface="Times New Roman" panose="02020603050405020304" pitchFamily="18" charset="0"/>
                <a:cs typeface="Times New Roman" panose="02020603050405020304" pitchFamily="18" charset="0"/>
              </a:rPr>
              <a:t>Introduction</a:t>
            </a:r>
          </a:p>
        </p:txBody>
      </p:sp>
      <p:sp>
        <p:nvSpPr>
          <p:cNvPr id="4" name="ZoneTexte 3">
            <a:extLst>
              <a:ext uri="{FF2B5EF4-FFF2-40B4-BE49-F238E27FC236}">
                <a16:creationId xmlns:a16="http://schemas.microsoft.com/office/drawing/2014/main" id="{E2D46EC4-1B40-3640-A406-5595B1B3C450}"/>
              </a:ext>
            </a:extLst>
          </p:cNvPr>
          <p:cNvSpPr txBox="1"/>
          <p:nvPr/>
        </p:nvSpPr>
        <p:spPr>
          <a:xfrm>
            <a:off x="1037967" y="2514600"/>
            <a:ext cx="10268465" cy="2308324"/>
          </a:xfrm>
          <a:prstGeom prst="rect">
            <a:avLst/>
          </a:prstGeom>
          <a:noFill/>
        </p:spPr>
        <p:txBody>
          <a:bodyPr wrap="square" rtlCol="0">
            <a:spAutoFit/>
          </a:bodyPr>
          <a:lstStyle/>
          <a:p>
            <a:r>
              <a:rPr lang="fr-ES" sz="2400" dirty="0">
                <a:latin typeface="Times New Roman" panose="02020603050405020304" pitchFamily="18" charset="0"/>
                <a:cs typeface="Times New Roman" panose="02020603050405020304" pitchFamily="18" charset="0"/>
              </a:rPr>
              <a:t>L’imagerie par résonnance magnétique, contrairement à la radiographie ou au scanner n’utilise pas de rayons X, aucune radiation ionisante n’est émise.</a:t>
            </a:r>
          </a:p>
          <a:p>
            <a:endParaRPr lang="fr-ES" sz="2400" dirty="0">
              <a:latin typeface="Times New Roman" panose="02020603050405020304" pitchFamily="18" charset="0"/>
              <a:cs typeface="Times New Roman" panose="02020603050405020304" pitchFamily="18" charset="0"/>
            </a:endParaRPr>
          </a:p>
          <a:p>
            <a:r>
              <a:rPr lang="fr-ES" sz="2400" dirty="0">
                <a:latin typeface="Times New Roman" panose="02020603050405020304" pitchFamily="18" charset="0"/>
                <a:cs typeface="Times New Roman" panose="02020603050405020304" pitchFamily="18" charset="0"/>
              </a:rPr>
              <a:t>L’appareil d’IRM utilise un champ magnétique (un aimant) et des ondes radio afin de créer des images détaillées des organes</a:t>
            </a:r>
          </a:p>
          <a:p>
            <a:endParaRPr lang="fr-E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0108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63E07D-ABB5-3E49-98E8-1E51DCD35ABF}"/>
              </a:ext>
            </a:extLst>
          </p:cNvPr>
          <p:cNvSpPr>
            <a:spLocks noGrp="1"/>
          </p:cNvSpPr>
          <p:nvPr>
            <p:ph type="title"/>
          </p:nvPr>
        </p:nvSpPr>
        <p:spPr/>
        <p:txBody>
          <a:bodyPr/>
          <a:lstStyle/>
          <a:p>
            <a:r>
              <a:rPr lang="fr-ES" b="1" dirty="0">
                <a:solidFill>
                  <a:srgbClr val="FFFF00"/>
                </a:solidFill>
                <a:latin typeface="Times New Roman" panose="02020603050405020304" pitchFamily="18" charset="0"/>
                <a:cs typeface="Times New Roman" panose="02020603050405020304" pitchFamily="18" charset="0"/>
              </a:rPr>
              <a:t>Définition</a:t>
            </a:r>
          </a:p>
        </p:txBody>
      </p:sp>
      <p:sp>
        <p:nvSpPr>
          <p:cNvPr id="5" name="ZoneTexte 4">
            <a:extLst>
              <a:ext uri="{FF2B5EF4-FFF2-40B4-BE49-F238E27FC236}">
                <a16:creationId xmlns:a16="http://schemas.microsoft.com/office/drawing/2014/main" id="{56875E36-3FE9-3B4C-AA51-A605AD693E72}"/>
              </a:ext>
            </a:extLst>
          </p:cNvPr>
          <p:cNvSpPr txBox="1"/>
          <p:nvPr/>
        </p:nvSpPr>
        <p:spPr>
          <a:xfrm>
            <a:off x="1141413" y="2093416"/>
            <a:ext cx="9905997" cy="4154984"/>
          </a:xfrm>
          <a:prstGeom prst="rect">
            <a:avLst/>
          </a:prstGeom>
          <a:noFill/>
        </p:spPr>
        <p:txBody>
          <a:bodyPr wrap="square">
            <a:spAutoFit/>
          </a:bodyPr>
          <a:lstStyle/>
          <a:p>
            <a:pPr algn="just"/>
            <a:r>
              <a:rPr lang="fr-FR" sz="2400" b="0" i="0" u="none" strike="noStrike" dirty="0">
                <a:solidFill>
                  <a:schemeClr val="tx1"/>
                </a:solidFill>
                <a:effectLst/>
                <a:latin typeface="Times New Roman" panose="02020603050405020304" pitchFamily="18" charset="0"/>
                <a:cs typeface="Times New Roman" panose="02020603050405020304" pitchFamily="18" charset="0"/>
              </a:rPr>
              <a:t>L’imagerie par résonnance magnétique (IRM) et une technique d’imagerie médicale particulièrement utile pour visualiser les organes « mous » tels que </a:t>
            </a:r>
            <a:r>
              <a:rPr lang="fr-FR" sz="2400" b="1" i="0" u="none" strike="noStrike" dirty="0">
                <a:solidFill>
                  <a:schemeClr val="tx1"/>
                </a:solidFill>
                <a:effectLst/>
                <a:latin typeface="Times New Roman" panose="02020603050405020304" pitchFamily="18" charset="0"/>
                <a:cs typeface="Times New Roman" panose="02020603050405020304" pitchFamily="18" charset="0"/>
              </a:rPr>
              <a:t>le cerveau, la moelle épinière, les viscères, les muscles ou les tendons</a:t>
            </a:r>
            <a:r>
              <a:rPr lang="fr-FR" sz="2400" b="0" i="0" u="none" strike="noStrike" dirty="0">
                <a:solidFill>
                  <a:schemeClr val="tx1"/>
                </a:solidFill>
                <a:effectLst/>
                <a:latin typeface="Times New Roman" panose="02020603050405020304" pitchFamily="18" charset="0"/>
                <a:cs typeface="Times New Roman" panose="02020603050405020304" pitchFamily="18" charset="0"/>
              </a:rPr>
              <a:t>. </a:t>
            </a:r>
          </a:p>
          <a:p>
            <a:pPr algn="just"/>
            <a:endParaRPr lang="fr-FR" sz="2400" dirty="0">
              <a:latin typeface="Times New Roman" panose="02020603050405020304" pitchFamily="18" charset="0"/>
              <a:cs typeface="Times New Roman" panose="02020603050405020304" pitchFamily="18" charset="0"/>
            </a:endParaRPr>
          </a:p>
          <a:p>
            <a:pPr algn="just"/>
            <a:r>
              <a:rPr lang="fr-FR" sz="2400" b="0" i="0" u="none" strike="noStrike" dirty="0">
                <a:solidFill>
                  <a:schemeClr val="tx1"/>
                </a:solidFill>
                <a:effectLst/>
                <a:latin typeface="Times New Roman" panose="02020603050405020304" pitchFamily="18" charset="0"/>
                <a:cs typeface="Times New Roman" panose="02020603050405020304" pitchFamily="18" charset="0"/>
              </a:rPr>
              <a:t>Pour ces organes, elle donne une qualité d’image supérieure aux autres techniques d’imagerie médicale.</a:t>
            </a:r>
          </a:p>
          <a:p>
            <a:pPr algn="just"/>
            <a:endParaRPr lang="fr-FR" sz="2400" b="0" i="0" u="none" strike="noStrike" dirty="0">
              <a:solidFill>
                <a:schemeClr val="tx1"/>
              </a:solidFill>
              <a:effectLst/>
              <a:latin typeface="Times New Roman" panose="02020603050405020304" pitchFamily="18" charset="0"/>
              <a:cs typeface="Times New Roman" panose="02020603050405020304" pitchFamily="18" charset="0"/>
            </a:endParaRPr>
          </a:p>
          <a:p>
            <a:pPr algn="just"/>
            <a:r>
              <a:rPr lang="fr-FR" sz="2400" b="0" i="0" u="none" strike="noStrike" dirty="0">
                <a:solidFill>
                  <a:schemeClr val="tx1"/>
                </a:solidFill>
                <a:effectLst/>
                <a:latin typeface="Times New Roman" panose="02020603050405020304" pitchFamily="18" charset="0"/>
                <a:cs typeface="Times New Roman" panose="02020603050405020304" pitchFamily="18" charset="0"/>
              </a:rPr>
              <a:t>Parce que l’IRM demande un équipement sophistiqué et extrêmement coûteux, elle tend à être utilisée uniquement lorsqu’un examen moins coûteux (</a:t>
            </a:r>
            <a:r>
              <a:rPr lang="fr-FR" sz="2400" b="1" i="0" u="none" strike="noStrike" dirty="0">
                <a:solidFill>
                  <a:schemeClr val="tx1"/>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radiographie</a:t>
            </a:r>
            <a:r>
              <a:rPr lang="fr-FR" sz="2400" b="0" i="0" u="none" strike="noStrike" dirty="0">
                <a:solidFill>
                  <a:schemeClr val="tx1"/>
                </a:solidFill>
                <a:effectLst/>
                <a:latin typeface="Times New Roman" panose="02020603050405020304" pitchFamily="18" charset="0"/>
                <a:cs typeface="Times New Roman" panose="02020603050405020304" pitchFamily="18" charset="0"/>
              </a:rPr>
              <a:t>, </a:t>
            </a:r>
            <a:r>
              <a:rPr lang="fr-FR" sz="2400" b="1" i="0" u="none"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échographie</a:t>
            </a:r>
            <a:r>
              <a:rPr lang="fr-FR" sz="2400" b="0" i="0" u="none" strike="noStrike" dirty="0">
                <a:solidFill>
                  <a:schemeClr val="tx1"/>
                </a:solidFill>
                <a:effectLst/>
                <a:latin typeface="Times New Roman" panose="02020603050405020304" pitchFamily="18" charset="0"/>
                <a:cs typeface="Times New Roman" panose="02020603050405020304" pitchFamily="18" charset="0"/>
              </a:rPr>
              <a:t>, </a:t>
            </a:r>
            <a:r>
              <a:rPr lang="fr-FR" sz="2400" b="1" i="0" u="none" strike="noStrike"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scanner</a:t>
            </a:r>
            <a:r>
              <a:rPr lang="fr-FR" sz="2400" b="0" i="0" u="none" strike="noStrike" dirty="0">
                <a:solidFill>
                  <a:schemeClr val="tx1"/>
                </a:solidFill>
                <a:effectLst/>
                <a:latin typeface="Times New Roman" panose="02020603050405020304" pitchFamily="18" charset="0"/>
                <a:cs typeface="Times New Roman" panose="02020603050405020304" pitchFamily="18" charset="0"/>
              </a:rPr>
              <a:t>) ne parviendrait pas à donner des images d’une finesse suffisante.</a:t>
            </a:r>
          </a:p>
        </p:txBody>
      </p:sp>
    </p:spTree>
    <p:extLst>
      <p:ext uri="{BB962C8B-B14F-4D97-AF65-F5344CB8AC3E}">
        <p14:creationId xmlns:p14="http://schemas.microsoft.com/office/powerpoint/2010/main" val="3626056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24430E-26EA-3F4E-930B-113230D93086}"/>
              </a:ext>
            </a:extLst>
          </p:cNvPr>
          <p:cNvSpPr>
            <a:spLocks noGrp="1"/>
          </p:cNvSpPr>
          <p:nvPr>
            <p:ph type="title"/>
          </p:nvPr>
        </p:nvSpPr>
        <p:spPr>
          <a:xfrm>
            <a:off x="1141412" y="67776"/>
            <a:ext cx="9905998" cy="1905000"/>
          </a:xfrm>
        </p:spPr>
        <p:txBody>
          <a:bodyPr/>
          <a:lstStyle/>
          <a:p>
            <a:r>
              <a:rPr lang="fr-ES" b="1" dirty="0">
                <a:solidFill>
                  <a:srgbClr val="FFFF00"/>
                </a:solidFill>
                <a:latin typeface="Times New Roman" panose="02020603050405020304" pitchFamily="18" charset="0"/>
                <a:cs typeface="Times New Roman" panose="02020603050405020304" pitchFamily="18" charset="0"/>
              </a:rPr>
              <a:t>Principes</a:t>
            </a:r>
          </a:p>
        </p:txBody>
      </p:sp>
      <p:sp>
        <p:nvSpPr>
          <p:cNvPr id="5" name="ZoneTexte 4">
            <a:extLst>
              <a:ext uri="{FF2B5EF4-FFF2-40B4-BE49-F238E27FC236}">
                <a16:creationId xmlns:a16="http://schemas.microsoft.com/office/drawing/2014/main" id="{81A613B8-4428-9E47-A096-DCB34964BFC1}"/>
              </a:ext>
            </a:extLst>
          </p:cNvPr>
          <p:cNvSpPr txBox="1"/>
          <p:nvPr/>
        </p:nvSpPr>
        <p:spPr>
          <a:xfrm>
            <a:off x="683417" y="1961902"/>
            <a:ext cx="10821987" cy="3785652"/>
          </a:xfrm>
          <a:prstGeom prst="rect">
            <a:avLst/>
          </a:prstGeom>
          <a:noFill/>
        </p:spPr>
        <p:txBody>
          <a:bodyPr wrap="square">
            <a:spAutoFit/>
          </a:bodyPr>
          <a:lstStyle/>
          <a:p>
            <a:pPr algn="just"/>
            <a:r>
              <a:rPr lang="fr-ES" sz="2400" dirty="0">
                <a:latin typeface="Times New Roman" panose="02020603050405020304" pitchFamily="18" charset="0"/>
                <a:cs typeface="Times New Roman" panose="02020603050405020304" pitchFamily="18" charset="0"/>
              </a:rPr>
              <a:t>L’imagerie par résonnance magnétique nucléaire (IRM) repose sur le fait que soumis à un champ magnétique (de 1,5 à 3 Tesla) </a:t>
            </a:r>
            <a:r>
              <a:rPr lang="fr-FR" sz="2400" b="0" dirty="0">
                <a:effectLst/>
                <a:latin typeface="Times New Roman" panose="02020603050405020304" pitchFamily="18" charset="0"/>
                <a:cs typeface="Times New Roman" panose="02020603050405020304" pitchFamily="18" charset="0"/>
              </a:rPr>
              <a:t>produit par une bobine supraconductrice refroidie à l’</a:t>
            </a:r>
            <a:r>
              <a:rPr lang="fr-FR" sz="2400" b="0" dirty="0" err="1">
                <a:effectLst/>
                <a:latin typeface="Times New Roman" panose="02020603050405020304" pitchFamily="18" charset="0"/>
                <a:cs typeface="Times New Roman" panose="02020603050405020304" pitchFamily="18" charset="0"/>
              </a:rPr>
              <a:t>hélium</a:t>
            </a:r>
            <a:r>
              <a:rPr lang="fr-FR" sz="2400" b="0" dirty="0">
                <a:effectLst/>
                <a:latin typeface="Times New Roman" panose="02020603050405020304" pitchFamily="18" charset="0"/>
                <a:cs typeface="Times New Roman" panose="02020603050405020304" pitchFamily="18" charset="0"/>
              </a:rPr>
              <a:t> liquide, </a:t>
            </a:r>
            <a:r>
              <a:rPr lang="fr-ES" sz="2400" dirty="0">
                <a:latin typeface="Times New Roman" panose="02020603050405020304" pitchFamily="18" charset="0"/>
                <a:cs typeface="Times New Roman" panose="02020603050405020304" pitchFamily="18" charset="0"/>
              </a:rPr>
              <a:t>les atômes d’hydrogène contenus dans les molécules d’eau de notre corps changent d’orientation (ils sont mis en résonnance).</a:t>
            </a:r>
          </a:p>
          <a:p>
            <a:pPr algn="just"/>
            <a:endParaRPr lang="fr-ES" sz="2400" dirty="0">
              <a:latin typeface="Times New Roman" panose="02020603050405020304" pitchFamily="18" charset="0"/>
              <a:cs typeface="Times New Roman" panose="02020603050405020304" pitchFamily="18" charset="0"/>
            </a:endParaRPr>
          </a:p>
          <a:p>
            <a:pPr algn="just"/>
            <a:r>
              <a:rPr lang="fr-ES" sz="2400" dirty="0">
                <a:latin typeface="Times New Roman" panose="02020603050405020304" pitchFamily="18" charset="0"/>
                <a:cs typeface="Times New Roman" panose="02020603050405020304" pitchFamily="18" charset="0"/>
              </a:rPr>
              <a:t>A l’arrêt de la stimulation,  ils  reviennent à  leur position initiale en émettant un signal électrique.</a:t>
            </a:r>
          </a:p>
          <a:p>
            <a:pPr algn="just"/>
            <a:endParaRPr lang="fr-ES" sz="2400" dirty="0">
              <a:latin typeface="Times New Roman" panose="02020603050405020304" pitchFamily="18" charset="0"/>
              <a:cs typeface="Times New Roman" panose="02020603050405020304" pitchFamily="18" charset="0"/>
            </a:endParaRPr>
          </a:p>
          <a:p>
            <a:pPr algn="just"/>
            <a:r>
              <a:rPr lang="fr-ES" sz="2400" dirty="0">
                <a:latin typeface="Times New Roman" panose="02020603050405020304" pitchFamily="18" charset="0"/>
                <a:cs typeface="Times New Roman" panose="02020603050405020304" pitchFamily="18" charset="0"/>
              </a:rPr>
              <a:t>La vitesse avec laquelle ils reviennent à leur orientation naturelle est fonction de la densité des organes.</a:t>
            </a:r>
          </a:p>
        </p:txBody>
      </p:sp>
    </p:spTree>
    <p:extLst>
      <p:ext uri="{BB962C8B-B14F-4D97-AF65-F5344CB8AC3E}">
        <p14:creationId xmlns:p14="http://schemas.microsoft.com/office/powerpoint/2010/main" val="1203159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05745DA-4700-E94F-A83A-C53310F70AC0}"/>
              </a:ext>
            </a:extLst>
          </p:cNvPr>
          <p:cNvSpPr txBox="1"/>
          <p:nvPr/>
        </p:nvSpPr>
        <p:spPr>
          <a:xfrm>
            <a:off x="1141412" y="2579901"/>
            <a:ext cx="10440987" cy="3416320"/>
          </a:xfrm>
          <a:prstGeom prst="rect">
            <a:avLst/>
          </a:prstGeom>
          <a:noFill/>
        </p:spPr>
        <p:txBody>
          <a:bodyPr wrap="square">
            <a:spAutoFit/>
          </a:bodyPr>
          <a:lstStyle/>
          <a:p>
            <a:pPr algn="just"/>
            <a:r>
              <a:rPr lang="fr-ES" sz="2400" dirty="0">
                <a:latin typeface="Times New Roman" panose="02020603050405020304" pitchFamily="18" charset="0"/>
                <a:cs typeface="Times New Roman" panose="02020603050405020304" pitchFamily="18" charset="0"/>
              </a:rPr>
              <a:t>Des detecteurs analysent les infimes champs magnétiques crées par ces atomes d’H2 et les utilisent pour recréer une image en 2D  (Tranche) ou 3D( en compilant les tranches).</a:t>
            </a:r>
          </a:p>
          <a:p>
            <a:pPr algn="just"/>
            <a:endParaRPr lang="fr-ES" sz="2400" dirty="0">
              <a:latin typeface="Times New Roman" panose="02020603050405020304" pitchFamily="18" charset="0"/>
              <a:cs typeface="Times New Roman" panose="02020603050405020304" pitchFamily="18" charset="0"/>
            </a:endParaRPr>
          </a:p>
          <a:p>
            <a:pPr algn="just"/>
            <a:r>
              <a:rPr lang="fr-FR" sz="2400" i="0" u="none" strike="noStrike" dirty="0">
                <a:solidFill>
                  <a:schemeClr val="tx1"/>
                </a:solidFill>
                <a:effectLst/>
                <a:latin typeface="Times New Roman" panose="02020603050405020304" pitchFamily="18" charset="0"/>
                <a:cs typeface="Times New Roman" panose="02020603050405020304" pitchFamily="18" charset="0"/>
              </a:rPr>
              <a:t>La définition des images obtenues par </a:t>
            </a:r>
            <a:r>
              <a:rPr lang="fr-FR" sz="2400" dirty="0">
                <a:latin typeface="Times New Roman" panose="02020603050405020304" pitchFamily="18" charset="0"/>
                <a:cs typeface="Times New Roman" panose="02020603050405020304" pitchFamily="18" charset="0"/>
              </a:rPr>
              <a:t>IRM</a:t>
            </a:r>
            <a:r>
              <a:rPr lang="fr-FR" sz="2400" i="0" u="none" strike="noStrike" dirty="0">
                <a:solidFill>
                  <a:schemeClr val="tx1"/>
                </a:solidFill>
                <a:effectLst/>
                <a:latin typeface="Times New Roman" panose="02020603050405020304" pitchFamily="18" charset="0"/>
                <a:cs typeface="Times New Roman" panose="02020603050405020304" pitchFamily="18" charset="0"/>
              </a:rPr>
              <a:t> peut être améliorée par l’usage d’un produit de contraste. </a:t>
            </a:r>
          </a:p>
          <a:p>
            <a:pPr algn="just"/>
            <a:endParaRPr lang="fr-FR" sz="2400" i="0" u="none" strike="noStrike" dirty="0">
              <a:solidFill>
                <a:schemeClr val="tx1"/>
              </a:solidFill>
              <a:effectLst/>
              <a:latin typeface="Times New Roman" panose="02020603050405020304" pitchFamily="18" charset="0"/>
              <a:cs typeface="Times New Roman" panose="02020603050405020304" pitchFamily="18" charset="0"/>
            </a:endParaRPr>
          </a:p>
          <a:p>
            <a:pPr algn="just"/>
            <a:r>
              <a:rPr lang="fr-FR" sz="2400" i="0" u="none" strike="noStrike" dirty="0">
                <a:solidFill>
                  <a:schemeClr val="tx1"/>
                </a:solidFill>
                <a:effectLst/>
                <a:latin typeface="Times New Roman" panose="02020603050405020304" pitchFamily="18" charset="0"/>
                <a:cs typeface="Times New Roman" panose="02020603050405020304" pitchFamily="18" charset="0"/>
              </a:rPr>
              <a:t>Ce produit de contraste, à base d’une substance appelée </a:t>
            </a:r>
            <a:r>
              <a:rPr lang="fr-FR" sz="2400" b="1" i="0" u="none" strike="noStrike" dirty="0">
                <a:solidFill>
                  <a:srgbClr val="FFFF00"/>
                </a:solidFill>
                <a:effectLst/>
                <a:latin typeface="Times New Roman" panose="02020603050405020304" pitchFamily="18" charset="0"/>
                <a:cs typeface="Times New Roman" panose="02020603050405020304" pitchFamily="18" charset="0"/>
              </a:rPr>
              <a:t>gadolinium</a:t>
            </a:r>
            <a:r>
              <a:rPr lang="fr-FR" sz="2400" i="0" u="none" strike="noStrike" dirty="0">
                <a:solidFill>
                  <a:schemeClr val="tx1"/>
                </a:solidFill>
                <a:effectLst/>
                <a:latin typeface="Times New Roman" panose="02020603050405020304" pitchFamily="18" charset="0"/>
                <a:cs typeface="Times New Roman" panose="02020603050405020304" pitchFamily="18" charset="0"/>
              </a:rPr>
              <a:t>, est différent de ceux utilisés pour la radiographie ou le scanner.</a:t>
            </a:r>
          </a:p>
        </p:txBody>
      </p:sp>
      <p:sp>
        <p:nvSpPr>
          <p:cNvPr id="6" name="Titre 1">
            <a:extLst>
              <a:ext uri="{FF2B5EF4-FFF2-40B4-BE49-F238E27FC236}">
                <a16:creationId xmlns:a16="http://schemas.microsoft.com/office/drawing/2014/main" id="{D4CF166C-1A72-8843-8D58-55E4271789C0}"/>
              </a:ext>
            </a:extLst>
          </p:cNvPr>
          <p:cNvSpPr>
            <a:spLocks noGrp="1"/>
          </p:cNvSpPr>
          <p:nvPr>
            <p:ph type="title"/>
          </p:nvPr>
        </p:nvSpPr>
        <p:spPr/>
        <p:txBody>
          <a:bodyPr/>
          <a:lstStyle/>
          <a:p>
            <a:r>
              <a:rPr lang="fr-ES" b="1" dirty="0">
                <a:solidFill>
                  <a:srgbClr val="FFFF00"/>
                </a:solidFill>
                <a:latin typeface="Times New Roman" panose="02020603050405020304" pitchFamily="18" charset="0"/>
                <a:cs typeface="Times New Roman" panose="02020603050405020304" pitchFamily="18" charset="0"/>
              </a:rPr>
              <a:t>Principes</a:t>
            </a:r>
          </a:p>
        </p:txBody>
      </p:sp>
    </p:spTree>
    <p:extLst>
      <p:ext uri="{BB962C8B-B14F-4D97-AF65-F5344CB8AC3E}">
        <p14:creationId xmlns:p14="http://schemas.microsoft.com/office/powerpoint/2010/main" val="2616651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CE71F3-E6BF-134C-A864-9D71E2ED3947}"/>
              </a:ext>
            </a:extLst>
          </p:cNvPr>
          <p:cNvSpPr>
            <a:spLocks noGrp="1"/>
          </p:cNvSpPr>
          <p:nvPr>
            <p:ph type="title"/>
          </p:nvPr>
        </p:nvSpPr>
        <p:spPr>
          <a:xfrm>
            <a:off x="1141413" y="127175"/>
            <a:ext cx="9905998" cy="1905000"/>
          </a:xfrm>
        </p:spPr>
        <p:txBody>
          <a:bodyPr/>
          <a:lstStyle/>
          <a:p>
            <a:r>
              <a:rPr lang="fr-ES" b="1" dirty="0">
                <a:solidFill>
                  <a:srgbClr val="FFFF00"/>
                </a:solidFill>
                <a:latin typeface="Times New Roman" panose="02020603050405020304" pitchFamily="18" charset="0"/>
                <a:cs typeface="Times New Roman" panose="02020603050405020304" pitchFamily="18" charset="0"/>
              </a:rPr>
              <a:t>Procédure et Appareillage</a:t>
            </a:r>
          </a:p>
        </p:txBody>
      </p:sp>
      <p:sp>
        <p:nvSpPr>
          <p:cNvPr id="5" name="ZoneTexte 4">
            <a:extLst>
              <a:ext uri="{FF2B5EF4-FFF2-40B4-BE49-F238E27FC236}">
                <a16:creationId xmlns:a16="http://schemas.microsoft.com/office/drawing/2014/main" id="{474C032A-AFAD-7F4E-AA16-26D1D0498FFD}"/>
              </a:ext>
            </a:extLst>
          </p:cNvPr>
          <p:cNvSpPr txBox="1"/>
          <p:nvPr/>
        </p:nvSpPr>
        <p:spPr>
          <a:xfrm>
            <a:off x="315686" y="1760196"/>
            <a:ext cx="6097471" cy="4154984"/>
          </a:xfrm>
          <a:prstGeom prst="rect">
            <a:avLst/>
          </a:prstGeom>
          <a:noFill/>
        </p:spPr>
        <p:txBody>
          <a:bodyPr wrap="square">
            <a:spAutoFit/>
          </a:bodyPr>
          <a:lstStyle/>
          <a:p>
            <a:pPr marL="0" indent="0">
              <a:buNone/>
            </a:pPr>
            <a:r>
              <a:rPr lang="fr-ES" sz="2400" dirty="0">
                <a:latin typeface="Times New Roman" panose="02020603050405020304" pitchFamily="18" charset="0"/>
                <a:cs typeface="Times New Roman" panose="02020603050405020304" pitchFamily="18" charset="0"/>
              </a:rPr>
              <a:t>L’appareil se compose:</a:t>
            </a:r>
          </a:p>
          <a:p>
            <a:pPr marL="0" indent="0">
              <a:buNone/>
            </a:pPr>
            <a:endParaRPr lang="fr-ES" sz="2400" dirty="0">
              <a:latin typeface="Times New Roman" panose="02020603050405020304" pitchFamily="18" charset="0"/>
              <a:cs typeface="Times New Roman" panose="02020603050405020304" pitchFamily="18" charset="0"/>
            </a:endParaRPr>
          </a:p>
          <a:p>
            <a:r>
              <a:rPr lang="fr-ES" sz="2400" b="1" dirty="0">
                <a:solidFill>
                  <a:srgbClr val="FFFF00"/>
                </a:solidFill>
                <a:latin typeface="Times New Roman" panose="02020603050405020304" pitchFamily="18" charset="0"/>
                <a:cs typeface="Times New Roman" panose="02020603050405020304" pitchFamily="18" charset="0"/>
              </a:rPr>
              <a:t>D’un tunnel </a:t>
            </a:r>
            <a:r>
              <a:rPr lang="fr-ES" sz="2400" dirty="0">
                <a:latin typeface="Times New Roman" panose="02020603050405020304" pitchFamily="18" charset="0"/>
                <a:cs typeface="Times New Roman" panose="02020603050405020304" pitchFamily="18" charset="0"/>
              </a:rPr>
              <a:t>(1,6 ou 2m ) de long formé d’un aimant à l’interieur duquel le lit d’examen va entrer ainsi que d’antennes adaptées à la partie du corps à explorer.</a:t>
            </a:r>
          </a:p>
          <a:p>
            <a:endParaRPr lang="fr-ES" sz="2400" dirty="0">
              <a:latin typeface="Times New Roman" panose="02020603050405020304" pitchFamily="18" charset="0"/>
              <a:cs typeface="Times New Roman" panose="02020603050405020304" pitchFamily="18" charset="0"/>
            </a:endParaRPr>
          </a:p>
          <a:p>
            <a:r>
              <a:rPr lang="fr-FR" sz="2400" b="1" dirty="0">
                <a:solidFill>
                  <a:srgbClr val="FFFF00"/>
                </a:solidFill>
                <a:latin typeface="Times New Roman" panose="02020603050405020304" pitchFamily="18" charset="0"/>
                <a:cs typeface="Times New Roman" panose="02020603050405020304" pitchFamily="18" charset="0"/>
              </a:rPr>
              <a:t>L</a:t>
            </a:r>
            <a:r>
              <a:rPr lang="fr-ES" sz="2400" b="1" dirty="0">
                <a:solidFill>
                  <a:srgbClr val="FFFF00"/>
                </a:solidFill>
                <a:latin typeface="Times New Roman" panose="02020603050405020304" pitchFamily="18" charset="0"/>
                <a:cs typeface="Times New Roman" panose="02020603050405020304" pitchFamily="18" charset="0"/>
              </a:rPr>
              <a:t>e pupitre de commande </a:t>
            </a:r>
            <a:r>
              <a:rPr lang="fr-ES" sz="2400" dirty="0">
                <a:latin typeface="Times New Roman" panose="02020603050405020304" pitchFamily="18" charset="0"/>
                <a:cs typeface="Times New Roman" panose="02020603050405020304" pitchFamily="18" charset="0"/>
              </a:rPr>
              <a:t>derrière lequel se trouve le manipulateur, séparé de la machine par une vitre protectrice.</a:t>
            </a:r>
          </a:p>
          <a:p>
            <a:pPr algn="just"/>
            <a:endParaRPr lang="fr-ES" sz="2400" dirty="0">
              <a:latin typeface="Times New Roman" panose="02020603050405020304" pitchFamily="18" charset="0"/>
              <a:cs typeface="Times New Roman" panose="02020603050405020304" pitchFamily="18" charset="0"/>
            </a:endParaRPr>
          </a:p>
        </p:txBody>
      </p:sp>
      <p:pic>
        <p:nvPicPr>
          <p:cNvPr id="1025" name="Picture 1" descr="page2image3820800">
            <a:extLst>
              <a:ext uri="{FF2B5EF4-FFF2-40B4-BE49-F238E27FC236}">
                <a16:creationId xmlns:a16="http://schemas.microsoft.com/office/drawing/2014/main" id="{461134EF-C2CA-7C4E-8EB6-BA1C9B6DE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089" y="1858663"/>
            <a:ext cx="5301049" cy="3722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5110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773749E-2C10-5B46-956E-2095D45D5A3F}"/>
              </a:ext>
            </a:extLst>
          </p:cNvPr>
          <p:cNvSpPr txBox="1"/>
          <p:nvPr/>
        </p:nvSpPr>
        <p:spPr>
          <a:xfrm>
            <a:off x="716691" y="2310714"/>
            <a:ext cx="10330249" cy="2677656"/>
          </a:xfrm>
          <a:prstGeom prst="rect">
            <a:avLst/>
          </a:prstGeom>
          <a:noFill/>
        </p:spPr>
        <p:txBody>
          <a:bodyPr wrap="square">
            <a:spAutoFit/>
          </a:bodyPr>
          <a:lstStyle/>
          <a:p>
            <a:r>
              <a:rPr lang="fr-ES" sz="2400" dirty="0">
                <a:latin typeface="Times New Roman" panose="02020603050405020304" pitchFamily="18" charset="0"/>
                <a:cs typeface="Times New Roman" panose="02020603050405020304" pitchFamily="18" charset="0"/>
              </a:rPr>
              <a:t>Cette procédure :</a:t>
            </a:r>
          </a:p>
          <a:p>
            <a:endParaRPr lang="fr-ES" sz="2400" dirty="0">
              <a:latin typeface="Times New Roman" panose="02020603050405020304" pitchFamily="18" charset="0"/>
              <a:cs typeface="Times New Roman" panose="02020603050405020304" pitchFamily="18" charset="0"/>
            </a:endParaRPr>
          </a:p>
          <a:p>
            <a:r>
              <a:rPr lang="fr-ES" sz="2400" dirty="0">
                <a:latin typeface="Times New Roman" panose="02020603050405020304" pitchFamily="18" charset="0"/>
                <a:cs typeface="Times New Roman" panose="02020603050405020304" pitchFamily="18" charset="0"/>
              </a:rPr>
              <a:t>-Ne nécessite pas d’anesthésie</a:t>
            </a:r>
          </a:p>
          <a:p>
            <a:endParaRPr lang="fr-ES" sz="2400" dirty="0">
              <a:latin typeface="Times New Roman" panose="02020603050405020304" pitchFamily="18" charset="0"/>
              <a:cs typeface="Times New Roman" panose="02020603050405020304" pitchFamily="18" charset="0"/>
            </a:endParaRPr>
          </a:p>
          <a:p>
            <a:r>
              <a:rPr lang="fr-ES" sz="2400" dirty="0">
                <a:latin typeface="Times New Roman" panose="02020603050405020304" pitchFamily="18" charset="0"/>
                <a:cs typeface="Times New Roman" panose="02020603050405020304" pitchFamily="18" charset="0"/>
              </a:rPr>
              <a:t>-Dure entre 15 et 30 mn</a:t>
            </a:r>
          </a:p>
          <a:p>
            <a:endParaRPr lang="fr-ES" sz="2400" dirty="0">
              <a:latin typeface="Times New Roman" panose="02020603050405020304" pitchFamily="18" charset="0"/>
              <a:cs typeface="Times New Roman" panose="02020603050405020304" pitchFamily="18" charset="0"/>
            </a:endParaRPr>
          </a:p>
          <a:p>
            <a:r>
              <a:rPr lang="fr-ES" sz="2400" dirty="0">
                <a:latin typeface="Times New Roman" panose="02020603050405020304" pitchFamily="18" charset="0"/>
                <a:cs typeface="Times New Roman" panose="02020603050405020304" pitchFamily="18" charset="0"/>
              </a:rPr>
              <a:t>-Nécessite de retirer tout objet ferromagnétique (Bijoux, carte magnétique…)</a:t>
            </a:r>
          </a:p>
        </p:txBody>
      </p:sp>
      <p:sp>
        <p:nvSpPr>
          <p:cNvPr id="6" name="Titre 1">
            <a:extLst>
              <a:ext uri="{FF2B5EF4-FFF2-40B4-BE49-F238E27FC236}">
                <a16:creationId xmlns:a16="http://schemas.microsoft.com/office/drawing/2014/main" id="{7F94032F-43B8-EB46-BD22-327E9010B583}"/>
              </a:ext>
            </a:extLst>
          </p:cNvPr>
          <p:cNvSpPr>
            <a:spLocks noGrp="1"/>
          </p:cNvSpPr>
          <p:nvPr>
            <p:ph type="title"/>
          </p:nvPr>
        </p:nvSpPr>
        <p:spPr>
          <a:xfrm>
            <a:off x="1141413" y="127175"/>
            <a:ext cx="9905998" cy="1905000"/>
          </a:xfrm>
        </p:spPr>
        <p:txBody>
          <a:bodyPr/>
          <a:lstStyle/>
          <a:p>
            <a:r>
              <a:rPr lang="fr-ES" b="1" dirty="0">
                <a:solidFill>
                  <a:srgbClr val="FFFF00"/>
                </a:solidFill>
                <a:latin typeface="Times New Roman" panose="02020603050405020304" pitchFamily="18" charset="0"/>
                <a:cs typeface="Times New Roman" panose="02020603050405020304" pitchFamily="18" charset="0"/>
              </a:rPr>
              <a:t>Procédure et Appareillage</a:t>
            </a:r>
          </a:p>
        </p:txBody>
      </p:sp>
    </p:spTree>
    <p:extLst>
      <p:ext uri="{BB962C8B-B14F-4D97-AF65-F5344CB8AC3E}">
        <p14:creationId xmlns:p14="http://schemas.microsoft.com/office/powerpoint/2010/main" val="3217332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27F549-5C94-A944-B8FA-EEE84D169AF0}"/>
              </a:ext>
            </a:extLst>
          </p:cNvPr>
          <p:cNvSpPr>
            <a:spLocks noGrp="1"/>
          </p:cNvSpPr>
          <p:nvPr>
            <p:ph type="title"/>
          </p:nvPr>
        </p:nvSpPr>
        <p:spPr/>
        <p:txBody>
          <a:bodyPr/>
          <a:lstStyle/>
          <a:p>
            <a:r>
              <a:rPr lang="fr-ES" b="1" cap="none" dirty="0">
                <a:solidFill>
                  <a:srgbClr val="FFFF00"/>
                </a:solidFill>
                <a:latin typeface="Times New Roman" panose="02020603050405020304" pitchFamily="18" charset="0"/>
                <a:cs typeface="Times New Roman" panose="02020603050405020304" pitchFamily="18" charset="0"/>
              </a:rPr>
              <a:t>ACQUISITION</a:t>
            </a:r>
          </a:p>
        </p:txBody>
      </p:sp>
      <p:sp>
        <p:nvSpPr>
          <p:cNvPr id="5" name="ZoneTexte 4">
            <a:extLst>
              <a:ext uri="{FF2B5EF4-FFF2-40B4-BE49-F238E27FC236}">
                <a16:creationId xmlns:a16="http://schemas.microsoft.com/office/drawing/2014/main" id="{5DAB5254-AA16-6A4C-BADE-835C479FB37A}"/>
              </a:ext>
            </a:extLst>
          </p:cNvPr>
          <p:cNvSpPr txBox="1"/>
          <p:nvPr/>
        </p:nvSpPr>
        <p:spPr>
          <a:xfrm>
            <a:off x="1141413" y="2645229"/>
            <a:ext cx="10147073" cy="2308324"/>
          </a:xfrm>
          <a:prstGeom prst="rect">
            <a:avLst/>
          </a:prstGeom>
          <a:noFill/>
        </p:spPr>
        <p:txBody>
          <a:bodyPr wrap="square">
            <a:spAutoFit/>
          </a:bodyPr>
          <a:lstStyle/>
          <a:p>
            <a:pPr algn="just"/>
            <a:r>
              <a:rPr lang="fr-FR" sz="2400" dirty="0">
                <a:solidFill>
                  <a:schemeClr val="tx1"/>
                </a:solidFill>
                <a:effectLst/>
                <a:latin typeface="Times New Roman" panose="02020603050405020304" pitchFamily="18" charset="0"/>
                <a:cs typeface="Times New Roman" panose="02020603050405020304" pitchFamily="18" charset="0"/>
              </a:rPr>
              <a:t>Formation de l’image </a:t>
            </a:r>
            <a:r>
              <a:rPr lang="fr-FR" sz="2400" dirty="0">
                <a:latin typeface="Times New Roman" panose="02020603050405020304" pitchFamily="18" charset="0"/>
                <a:cs typeface="Times New Roman" panose="02020603050405020304" pitchFamily="18" charset="0"/>
              </a:rPr>
              <a:t>IRM</a:t>
            </a:r>
            <a:r>
              <a:rPr lang="fr-FR" sz="2400" dirty="0">
                <a:solidFill>
                  <a:schemeClr val="tx1"/>
                </a:solidFill>
                <a:effectLst/>
                <a:latin typeface="Times New Roman" panose="02020603050405020304" pitchFamily="18" charset="0"/>
                <a:cs typeface="Times New Roman" panose="02020603050405020304" pitchFamily="18" charset="0"/>
              </a:rPr>
              <a:t> : </a:t>
            </a:r>
            <a:endParaRPr lang="fr-FR" sz="2400" dirty="0">
              <a:solidFill>
                <a:schemeClr val="tx1"/>
              </a:solidFill>
              <a:latin typeface="Times New Roman" panose="02020603050405020304" pitchFamily="18" charset="0"/>
              <a:cs typeface="Times New Roman" panose="02020603050405020304" pitchFamily="18" charset="0"/>
            </a:endParaRPr>
          </a:p>
          <a:p>
            <a:pPr algn="just"/>
            <a:r>
              <a:rPr lang="fr-FR" sz="2400" dirty="0">
                <a:solidFill>
                  <a:schemeClr val="tx1"/>
                </a:solidFill>
                <a:effectLst/>
                <a:latin typeface="Times New Roman" panose="02020603050405020304" pitchFamily="18" charset="0"/>
                <a:cs typeface="Times New Roman" panose="02020603050405020304" pitchFamily="18" charset="0"/>
              </a:rPr>
              <a:t>Le signal </a:t>
            </a:r>
            <a:r>
              <a:rPr lang="fr-FR" sz="2400" dirty="0">
                <a:latin typeface="Times New Roman" panose="02020603050405020304" pitchFamily="18" charset="0"/>
                <a:cs typeface="Times New Roman" panose="02020603050405020304" pitchFamily="18" charset="0"/>
              </a:rPr>
              <a:t>(RMN)</a:t>
            </a:r>
            <a:r>
              <a:rPr lang="fr-FR" sz="2400" dirty="0">
                <a:solidFill>
                  <a:schemeClr val="tx1"/>
                </a:solidFill>
                <a:effectLst/>
                <a:latin typeface="Times New Roman" panose="02020603050405020304" pitchFamily="18" charset="0"/>
                <a:cs typeface="Times New Roman" panose="02020603050405020304" pitchFamily="18" charset="0"/>
              </a:rPr>
              <a:t> est enregistré </a:t>
            </a:r>
            <a:r>
              <a:rPr lang="fr-FR" sz="2400" dirty="0" err="1">
                <a:solidFill>
                  <a:schemeClr val="tx1"/>
                </a:solidFill>
                <a:effectLst/>
                <a:latin typeface="Times New Roman" panose="02020603050405020304" pitchFamily="18" charset="0"/>
                <a:cs typeface="Times New Roman" panose="02020603050405020304" pitchFamily="18" charset="0"/>
              </a:rPr>
              <a:t>après</a:t>
            </a:r>
            <a:r>
              <a:rPr lang="fr-FR" sz="2400" dirty="0">
                <a:solidFill>
                  <a:schemeClr val="tx1"/>
                </a:solidFill>
                <a:effectLst/>
                <a:latin typeface="Times New Roman" panose="02020603050405020304" pitchFamily="18" charset="0"/>
                <a:cs typeface="Times New Roman" panose="02020603050405020304" pitchFamily="18" charset="0"/>
              </a:rPr>
              <a:t> les </a:t>
            </a:r>
            <a:r>
              <a:rPr lang="fr-FR" sz="2400" dirty="0" err="1">
                <a:solidFill>
                  <a:schemeClr val="tx1"/>
                </a:solidFill>
                <a:effectLst/>
                <a:latin typeface="Times New Roman" panose="02020603050405020304" pitchFamily="18" charset="0"/>
                <a:cs typeface="Times New Roman" panose="02020603050405020304" pitchFamily="18" charset="0"/>
              </a:rPr>
              <a:t>différentes</a:t>
            </a:r>
            <a:r>
              <a:rPr lang="fr-FR" sz="2400" dirty="0">
                <a:solidFill>
                  <a:schemeClr val="tx1"/>
                </a:solidFill>
                <a:effectLst/>
                <a:latin typeface="Times New Roman" panose="02020603050405020304" pitchFamily="18" charset="0"/>
                <a:cs typeface="Times New Roman" panose="02020603050405020304" pitchFamily="18" charset="0"/>
              </a:rPr>
              <a:t> </a:t>
            </a:r>
            <a:r>
              <a:rPr lang="fr-FR" sz="2400" dirty="0" err="1">
                <a:solidFill>
                  <a:schemeClr val="tx1"/>
                </a:solidFill>
                <a:effectLst/>
                <a:latin typeface="Times New Roman" panose="02020603050405020304" pitchFamily="18" charset="0"/>
                <a:cs typeface="Times New Roman" panose="02020603050405020304" pitchFamily="18" charset="0"/>
              </a:rPr>
              <a:t>étapes</a:t>
            </a:r>
            <a:r>
              <a:rPr lang="fr-FR" sz="2400" dirty="0">
                <a:solidFill>
                  <a:schemeClr val="tx1"/>
                </a:solidFill>
                <a:effectLst/>
                <a:latin typeface="Times New Roman" panose="02020603050405020304" pitchFamily="18" charset="0"/>
                <a:cs typeface="Times New Roman" panose="02020603050405020304" pitchFamily="18" charset="0"/>
              </a:rPr>
              <a:t> de la </a:t>
            </a:r>
            <a:r>
              <a:rPr lang="fr-FR" sz="2400" dirty="0" err="1">
                <a:solidFill>
                  <a:schemeClr val="tx1"/>
                </a:solidFill>
                <a:effectLst/>
                <a:latin typeface="Times New Roman" panose="02020603050405020304" pitchFamily="18" charset="0"/>
                <a:cs typeface="Times New Roman" panose="02020603050405020304" pitchFamily="18" charset="0"/>
              </a:rPr>
              <a:t>séquence</a:t>
            </a:r>
            <a:r>
              <a:rPr lang="fr-FR" sz="2400" dirty="0">
                <a:solidFill>
                  <a:schemeClr val="tx1"/>
                </a:solidFill>
                <a:effectLst/>
                <a:latin typeface="Times New Roman" panose="02020603050405020304" pitchFamily="18" charset="0"/>
                <a:cs typeface="Times New Roman" panose="02020603050405020304" pitchFamily="18" charset="0"/>
              </a:rPr>
              <a:t> </a:t>
            </a:r>
            <a:r>
              <a:rPr lang="fr-FR" sz="2400" dirty="0" err="1">
                <a:solidFill>
                  <a:schemeClr val="tx1"/>
                </a:solidFill>
                <a:effectLst/>
                <a:latin typeface="Times New Roman" panose="02020603050405020304" pitchFamily="18" charset="0"/>
                <a:cs typeface="Times New Roman" panose="02020603050405020304" pitchFamily="18" charset="0"/>
              </a:rPr>
              <a:t>employée</a:t>
            </a:r>
            <a:r>
              <a:rPr lang="fr-FR" sz="2400" dirty="0">
                <a:solidFill>
                  <a:schemeClr val="tx1"/>
                </a:solidFill>
                <a:effectLst/>
                <a:latin typeface="Times New Roman" panose="02020603050405020304" pitchFamily="18" charset="0"/>
                <a:cs typeface="Times New Roman" panose="02020603050405020304" pitchFamily="18" charset="0"/>
              </a:rPr>
              <a:t>, y compris le codage spatial. </a:t>
            </a:r>
          </a:p>
          <a:p>
            <a:pPr algn="just"/>
            <a:endParaRPr lang="fr-FR" sz="2400" dirty="0">
              <a:latin typeface="Times New Roman" panose="02020603050405020304" pitchFamily="18" charset="0"/>
              <a:cs typeface="Times New Roman" panose="02020603050405020304" pitchFamily="18" charset="0"/>
            </a:endParaRPr>
          </a:p>
          <a:p>
            <a:pPr algn="just"/>
            <a:r>
              <a:rPr lang="fr-FR" sz="2400" dirty="0">
                <a:solidFill>
                  <a:schemeClr val="tx1"/>
                </a:solidFill>
                <a:effectLst/>
                <a:latin typeface="Times New Roman" panose="02020603050405020304" pitchFamily="18" charset="0"/>
                <a:cs typeface="Times New Roman" panose="02020603050405020304" pitchFamily="18" charset="0"/>
              </a:rPr>
              <a:t>Ce signal doit </a:t>
            </a:r>
            <a:r>
              <a:rPr lang="fr-FR" sz="2400" dirty="0" err="1">
                <a:solidFill>
                  <a:schemeClr val="tx1"/>
                </a:solidFill>
                <a:effectLst/>
                <a:latin typeface="Times New Roman" panose="02020603050405020304" pitchFamily="18" charset="0"/>
                <a:cs typeface="Times New Roman" panose="02020603050405020304" pitchFamily="18" charset="0"/>
              </a:rPr>
              <a:t>être</a:t>
            </a:r>
            <a:r>
              <a:rPr lang="fr-FR" sz="2400" dirty="0">
                <a:solidFill>
                  <a:schemeClr val="tx1"/>
                </a:solidFill>
                <a:effectLst/>
                <a:latin typeface="Times New Roman" panose="02020603050405020304" pitchFamily="18" charset="0"/>
                <a:cs typeface="Times New Roman" panose="02020603050405020304" pitchFamily="18" charset="0"/>
              </a:rPr>
              <a:t> </a:t>
            </a:r>
            <a:r>
              <a:rPr lang="fr-FR" sz="2400" dirty="0" err="1">
                <a:solidFill>
                  <a:schemeClr val="tx1"/>
                </a:solidFill>
                <a:effectLst/>
                <a:latin typeface="Times New Roman" panose="02020603050405020304" pitchFamily="18" charset="0"/>
                <a:cs typeface="Times New Roman" panose="02020603050405020304" pitchFamily="18" charset="0"/>
              </a:rPr>
              <a:t>numérise</a:t>
            </a:r>
            <a:r>
              <a:rPr lang="fr-FR" sz="2400" dirty="0">
                <a:solidFill>
                  <a:schemeClr val="tx1"/>
                </a:solidFill>
                <a:effectLst/>
                <a:latin typeface="Times New Roman" panose="02020603050405020304" pitchFamily="18" charset="0"/>
                <a:cs typeface="Times New Roman" panose="02020603050405020304" pitchFamily="18" charset="0"/>
              </a:rPr>
              <a:t>́ (convertisseurs </a:t>
            </a:r>
            <a:r>
              <a:rPr lang="fr-FR" sz="2400" dirty="0" err="1">
                <a:solidFill>
                  <a:schemeClr val="tx1"/>
                </a:solidFill>
                <a:effectLst/>
                <a:latin typeface="Times New Roman" panose="02020603050405020304" pitchFamily="18" charset="0"/>
                <a:cs typeface="Times New Roman" panose="02020603050405020304" pitchFamily="18" charset="0"/>
              </a:rPr>
              <a:t>analogique-numérique</a:t>
            </a:r>
            <a:r>
              <a:rPr lang="fr-FR" sz="2400" dirty="0">
                <a:solidFill>
                  <a:schemeClr val="tx1"/>
                </a:solidFill>
                <a:effectLst/>
                <a:latin typeface="Times New Roman" panose="02020603050405020304" pitchFamily="18" charset="0"/>
                <a:cs typeface="Times New Roman" panose="02020603050405020304" pitchFamily="18" charset="0"/>
              </a:rPr>
              <a:t>) puis </a:t>
            </a:r>
            <a:r>
              <a:rPr lang="fr-FR" sz="2400" dirty="0" err="1">
                <a:solidFill>
                  <a:schemeClr val="tx1"/>
                </a:solidFill>
                <a:effectLst/>
                <a:latin typeface="Times New Roman" panose="02020603050405020304" pitchFamily="18" charset="0"/>
                <a:cs typeface="Times New Roman" panose="02020603050405020304" pitchFamily="18" charset="0"/>
              </a:rPr>
              <a:t>être</a:t>
            </a:r>
            <a:r>
              <a:rPr lang="fr-FR" sz="2400" dirty="0">
                <a:solidFill>
                  <a:schemeClr val="tx1"/>
                </a:solidFill>
                <a:effectLst/>
                <a:latin typeface="Times New Roman" panose="02020603050405020304" pitchFamily="18" charset="0"/>
                <a:cs typeface="Times New Roman" panose="02020603050405020304" pitchFamily="18" charset="0"/>
              </a:rPr>
              <a:t> traité de </a:t>
            </a:r>
            <a:r>
              <a:rPr lang="fr-FR" sz="2400" dirty="0" err="1">
                <a:solidFill>
                  <a:schemeClr val="tx1"/>
                </a:solidFill>
                <a:effectLst/>
                <a:latin typeface="Times New Roman" panose="02020603050405020304" pitchFamily="18" charset="0"/>
                <a:cs typeface="Times New Roman" panose="02020603050405020304" pitchFamily="18" charset="0"/>
              </a:rPr>
              <a:t>façon</a:t>
            </a:r>
            <a:r>
              <a:rPr lang="fr-FR" sz="2400" dirty="0">
                <a:solidFill>
                  <a:schemeClr val="tx1"/>
                </a:solidFill>
                <a:effectLst/>
                <a:latin typeface="Times New Roman" panose="02020603050405020304" pitchFamily="18" charset="0"/>
                <a:cs typeface="Times New Roman" panose="02020603050405020304" pitchFamily="18" charset="0"/>
              </a:rPr>
              <a:t> </a:t>
            </a:r>
            <a:r>
              <a:rPr lang="fr-FR" sz="2400" dirty="0" err="1">
                <a:solidFill>
                  <a:schemeClr val="tx1"/>
                </a:solidFill>
                <a:effectLst/>
                <a:latin typeface="Times New Roman" panose="02020603050405020304" pitchFamily="18" charset="0"/>
                <a:cs typeface="Times New Roman" panose="02020603050405020304" pitchFamily="18" charset="0"/>
              </a:rPr>
              <a:t>numérique</a:t>
            </a:r>
            <a:r>
              <a:rPr lang="fr-FR" sz="2400" dirty="0">
                <a:solidFill>
                  <a:schemeClr val="tx1"/>
                </a:solidFill>
                <a:effectLst/>
                <a:latin typeface="Times New Roman" panose="02020603050405020304" pitchFamily="18" charset="0"/>
                <a:cs typeface="Times New Roman" panose="02020603050405020304" pitchFamily="18" charset="0"/>
              </a:rPr>
              <a:t> pour former l’image. </a:t>
            </a:r>
            <a:endParaRPr lang="fr-FR"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4463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F56A9C-9F8A-2B43-98B0-CA4631BE62AD}"/>
              </a:ext>
            </a:extLst>
          </p:cNvPr>
          <p:cNvSpPr>
            <a:spLocks noGrp="1"/>
          </p:cNvSpPr>
          <p:nvPr>
            <p:ph type="title"/>
          </p:nvPr>
        </p:nvSpPr>
        <p:spPr/>
        <p:txBody>
          <a:bodyPr/>
          <a:lstStyle/>
          <a:p>
            <a:r>
              <a:rPr lang="fr-ES" b="1" dirty="0">
                <a:solidFill>
                  <a:srgbClr val="FFFF00"/>
                </a:solidFill>
                <a:latin typeface="Times New Roman" panose="02020603050405020304" pitchFamily="18" charset="0"/>
                <a:cs typeface="Times New Roman" panose="02020603050405020304" pitchFamily="18" charset="0"/>
              </a:rPr>
              <a:t>Utilisations en médecine dentaire</a:t>
            </a:r>
          </a:p>
        </p:txBody>
      </p:sp>
      <p:sp>
        <p:nvSpPr>
          <p:cNvPr id="7" name="ZoneTexte 6">
            <a:extLst>
              <a:ext uri="{FF2B5EF4-FFF2-40B4-BE49-F238E27FC236}">
                <a16:creationId xmlns:a16="http://schemas.microsoft.com/office/drawing/2014/main" id="{4A1B9EB6-056C-D04C-B5C6-D4FEAE45031A}"/>
              </a:ext>
            </a:extLst>
          </p:cNvPr>
          <p:cNvSpPr txBox="1"/>
          <p:nvPr/>
        </p:nvSpPr>
        <p:spPr>
          <a:xfrm>
            <a:off x="1141413" y="2161032"/>
            <a:ext cx="9905998" cy="3416320"/>
          </a:xfrm>
          <a:prstGeom prst="rect">
            <a:avLst/>
          </a:prstGeom>
          <a:noFill/>
        </p:spPr>
        <p:txBody>
          <a:bodyPr wrap="square">
            <a:spAutoFit/>
          </a:bodyPr>
          <a:lstStyle/>
          <a:p>
            <a:r>
              <a:rPr lang="fr-ES" sz="2400" dirty="0">
                <a:latin typeface="Times New Roman" panose="02020603050405020304" pitchFamily="18" charset="0"/>
                <a:cs typeface="Times New Roman" panose="02020603050405020304" pitchFamily="18" charset="0"/>
              </a:rPr>
              <a:t>La littérature actuelle sur l’IRM dentaire montre qu’elle est le gold standard dans la visualisation des</a:t>
            </a:r>
            <a:r>
              <a:rPr lang="fr-FR" sz="2400" dirty="0">
                <a:effectLst/>
                <a:latin typeface="Times New Roman" panose="02020603050405020304" pitchFamily="18" charset="0"/>
                <a:cs typeface="Times New Roman" panose="02020603050405020304" pitchFamily="18" charset="0"/>
              </a:rPr>
              <a:t> </a:t>
            </a:r>
            <a:r>
              <a:rPr lang="fr-FR" sz="2400" dirty="0">
                <a:solidFill>
                  <a:srgbClr val="FFFF00"/>
                </a:solidFill>
                <a:effectLst/>
                <a:latin typeface="Times New Roman" panose="02020603050405020304" pitchFamily="18" charset="0"/>
                <a:cs typeface="Times New Roman" panose="02020603050405020304" pitchFamily="18" charset="0"/>
              </a:rPr>
              <a:t>pathologies de l'articulation temporo mandibulaire</a:t>
            </a:r>
            <a:r>
              <a:rPr lang="fr-ES" sz="2400" dirty="0">
                <a:solidFill>
                  <a:srgbClr val="FFFF00"/>
                </a:solidFill>
                <a:effectLst/>
                <a:latin typeface="Times New Roman" panose="02020603050405020304" pitchFamily="18" charset="0"/>
                <a:cs typeface="Times New Roman" panose="02020603050405020304" pitchFamily="18" charset="0"/>
              </a:rPr>
              <a:t>, </a:t>
            </a:r>
            <a:r>
              <a:rPr lang="fr-ES" sz="2400" dirty="0">
                <a:effectLst/>
                <a:latin typeface="Times New Roman" panose="02020603050405020304" pitchFamily="18" charset="0"/>
                <a:cs typeface="Times New Roman" panose="02020603050405020304" pitchFamily="18" charset="0"/>
              </a:rPr>
              <a:t>c</a:t>
            </a:r>
            <a:r>
              <a:rPr lang="fr-ES" sz="2400" dirty="0">
                <a:latin typeface="Times New Roman" panose="02020603050405020304" pitchFamily="18" charset="0"/>
                <a:cs typeface="Times New Roman" panose="02020603050405020304" pitchFamily="18" charset="0"/>
              </a:rPr>
              <a:t>ependant elle est aussi utilisée pour visualiser :</a:t>
            </a:r>
          </a:p>
          <a:p>
            <a:endParaRPr lang="fr-ES" sz="2400" dirty="0">
              <a:latin typeface="Times New Roman" panose="02020603050405020304" pitchFamily="18" charset="0"/>
              <a:cs typeface="Times New Roman" panose="02020603050405020304" pitchFamily="18" charset="0"/>
            </a:endParaRPr>
          </a:p>
          <a:p>
            <a:pPr>
              <a:buFontTx/>
              <a:buChar char="-"/>
            </a:pPr>
            <a:r>
              <a:rPr lang="fr-ES" sz="2400" dirty="0">
                <a:latin typeface="Times New Roman" panose="02020603050405020304" pitchFamily="18" charset="0"/>
                <a:cs typeface="Times New Roman" panose="02020603050405020304" pitchFamily="18" charset="0"/>
              </a:rPr>
              <a:t> Les pathologies parodontales, périapicales et marginales</a:t>
            </a:r>
          </a:p>
          <a:p>
            <a:r>
              <a:rPr lang="fr-ES" sz="2400" dirty="0">
                <a:latin typeface="Times New Roman" panose="02020603050405020304" pitchFamily="18" charset="0"/>
                <a:cs typeface="Times New Roman" panose="02020603050405020304" pitchFamily="18" charset="0"/>
              </a:rPr>
              <a:t>- Un site  préimplantaire</a:t>
            </a:r>
            <a:br>
              <a:rPr lang="fr-FR" sz="2400" dirty="0">
                <a:effectLst/>
                <a:latin typeface="Times New Roman" panose="02020603050405020304" pitchFamily="18" charset="0"/>
                <a:cs typeface="Times New Roman" panose="02020603050405020304" pitchFamily="18" charset="0"/>
              </a:rPr>
            </a:br>
            <a:r>
              <a:rPr lang="fr-FR" sz="2400" dirty="0">
                <a:effectLst/>
                <a:latin typeface="Times New Roman" panose="02020603050405020304" pitchFamily="18" charset="0"/>
                <a:cs typeface="Times New Roman" panose="02020603050405020304" pitchFamily="18" charset="0"/>
              </a:rPr>
              <a:t>- Les pathologies infectieuses </a:t>
            </a:r>
            <a:r>
              <a:rPr lang="fr-FR" sz="2400" dirty="0" err="1">
                <a:effectLst/>
                <a:latin typeface="Times New Roman" panose="02020603050405020304" pitchFamily="18" charset="0"/>
                <a:cs typeface="Times New Roman" panose="02020603050405020304" pitchFamily="18" charset="0"/>
              </a:rPr>
              <a:t>péri</a:t>
            </a:r>
            <a:r>
              <a:rPr lang="fr-FR" sz="2400" dirty="0">
                <a:effectLst/>
                <a:latin typeface="Times New Roman" panose="02020603050405020304" pitchFamily="18" charset="0"/>
                <a:cs typeface="Times New Roman" panose="02020603050405020304" pitchFamily="18" charset="0"/>
              </a:rPr>
              <a:t> dentaires et sinusiennes </a:t>
            </a:r>
            <a:endParaRPr lang="fr-FR" sz="2400" dirty="0">
              <a:latin typeface="Times New Roman" panose="02020603050405020304" pitchFamily="18" charset="0"/>
              <a:cs typeface="Times New Roman" panose="02020603050405020304" pitchFamily="18" charset="0"/>
            </a:endParaRPr>
          </a:p>
          <a:p>
            <a:r>
              <a:rPr lang="fr-FR" sz="2400" dirty="0">
                <a:effectLst/>
                <a:latin typeface="Times New Roman" panose="02020603050405020304" pitchFamily="18" charset="0"/>
                <a:cs typeface="Times New Roman" panose="02020603050405020304" pitchFamily="18" charset="0"/>
              </a:rPr>
              <a:t>- Les pathologies tumorales </a:t>
            </a:r>
            <a:endParaRPr lang="fr-FR" sz="2400" dirty="0">
              <a:latin typeface="Times New Roman" panose="02020603050405020304" pitchFamily="18" charset="0"/>
              <a:cs typeface="Times New Roman" panose="02020603050405020304" pitchFamily="18" charset="0"/>
            </a:endParaRPr>
          </a:p>
          <a:p>
            <a:endParaRPr lang="fr-E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907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807E08-45B6-6A46-9BEC-B94BCDDB152A}"/>
              </a:ext>
            </a:extLst>
          </p:cNvPr>
          <p:cNvSpPr>
            <a:spLocks noGrp="1"/>
          </p:cNvSpPr>
          <p:nvPr>
            <p:ph type="title"/>
          </p:nvPr>
        </p:nvSpPr>
        <p:spPr>
          <a:xfrm>
            <a:off x="1141413" y="7646"/>
            <a:ext cx="9905998" cy="1905000"/>
          </a:xfrm>
        </p:spPr>
        <p:txBody>
          <a:bodyPr/>
          <a:lstStyle/>
          <a:p>
            <a:r>
              <a:rPr lang="fr-ES" b="1" cap="none" dirty="0">
                <a:solidFill>
                  <a:srgbClr val="FFFF00"/>
                </a:solidFill>
                <a:latin typeface="Times New Roman" panose="02020603050405020304" pitchFamily="18" charset="0"/>
                <a:cs typeface="Times New Roman" panose="02020603050405020304" pitchFamily="18" charset="0"/>
              </a:rPr>
              <a:t>CONTRE INDICATIONS</a:t>
            </a:r>
          </a:p>
        </p:txBody>
      </p:sp>
      <p:sp>
        <p:nvSpPr>
          <p:cNvPr id="7" name="ZoneTexte 6">
            <a:extLst>
              <a:ext uri="{FF2B5EF4-FFF2-40B4-BE49-F238E27FC236}">
                <a16:creationId xmlns:a16="http://schemas.microsoft.com/office/drawing/2014/main" id="{07538BD9-41C8-384B-B18E-044EEB5F5DB9}"/>
              </a:ext>
            </a:extLst>
          </p:cNvPr>
          <p:cNvSpPr txBox="1"/>
          <p:nvPr/>
        </p:nvSpPr>
        <p:spPr>
          <a:xfrm>
            <a:off x="489861" y="1290118"/>
            <a:ext cx="11234057" cy="5632311"/>
          </a:xfrm>
          <a:prstGeom prst="rect">
            <a:avLst/>
          </a:prstGeom>
          <a:noFill/>
        </p:spPr>
        <p:txBody>
          <a:bodyPr wrap="square">
            <a:spAutoFit/>
          </a:bodyPr>
          <a:lstStyle/>
          <a:p>
            <a:pPr algn="just"/>
            <a:r>
              <a:rPr lang="fr-FR" sz="2400" b="1" i="0" u="none" strike="noStrike" dirty="0">
                <a:solidFill>
                  <a:srgbClr val="FFFF00"/>
                </a:solidFill>
                <a:effectLst/>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fr-FR" sz="2400" b="0" i="0" u="none" strike="noStrike" dirty="0">
                <a:solidFill>
                  <a:schemeClr val="tx1"/>
                </a:solidFill>
                <a:effectLst/>
                <a:latin typeface="Times New Roman" panose="02020603050405020304" pitchFamily="18" charset="0"/>
                <a:cs typeface="Times New Roman" panose="02020603050405020304" pitchFamily="18" charset="0"/>
              </a:rPr>
              <a:t> Allergie au produit de contraste;</a:t>
            </a:r>
          </a:p>
          <a:p>
            <a:pPr algn="just">
              <a:buFont typeface="Arial" panose="020B0604020202020204" pitchFamily="34" charset="0"/>
              <a:buChar char="•"/>
            </a:pPr>
            <a:r>
              <a:rPr lang="fr-FR" sz="2400" b="0" i="0" u="none" strike="noStrike" dirty="0">
                <a:solidFill>
                  <a:schemeClr val="tx1"/>
                </a:solidFill>
                <a:effectLst/>
                <a:latin typeface="Times New Roman" panose="02020603050405020304" pitchFamily="18" charset="0"/>
                <a:cs typeface="Times New Roman" panose="02020603050405020304" pitchFamily="18" charset="0"/>
              </a:rPr>
              <a:t>Tatouage, si la zone analysée correspond à l'emplacement du tatouage, la peau peut être brûlée;</a:t>
            </a:r>
          </a:p>
          <a:p>
            <a:pPr algn="just">
              <a:buFont typeface="Arial" panose="020B0604020202020204" pitchFamily="34" charset="0"/>
              <a:buChar char="•"/>
            </a:pPr>
            <a:r>
              <a:rPr lang="fr-FR" sz="2400" b="0" i="0" u="none" strike="noStrike" dirty="0">
                <a:solidFill>
                  <a:schemeClr val="tx1"/>
                </a:solidFill>
                <a:effectLst/>
                <a:latin typeface="Times New Roman" panose="02020603050405020304" pitchFamily="18" charset="0"/>
                <a:cs typeface="Times New Roman" panose="02020603050405020304" pitchFamily="18" charset="0"/>
              </a:rPr>
              <a:t>Porteur(-se) d'un stimulateur cardiaque ou de tout système électronique implantable (</a:t>
            </a:r>
            <a:r>
              <a:rPr lang="fr-FR" sz="2400" b="0" i="0" u="none" strike="noStrike" dirty="0" err="1">
                <a:solidFill>
                  <a:schemeClr val="tx1"/>
                </a:solidFill>
                <a:effectLst/>
                <a:latin typeface="Times New Roman" panose="02020603050405020304" pitchFamily="18" charset="0"/>
                <a:cs typeface="Times New Roman" panose="02020603050405020304" pitchFamily="18" charset="0"/>
              </a:rPr>
              <a:t>neurostimulateur</a:t>
            </a:r>
            <a:r>
              <a:rPr lang="fr-FR" sz="2400" b="0" i="0" u="none" strike="noStrike" dirty="0">
                <a:solidFill>
                  <a:schemeClr val="tx1"/>
                </a:solidFill>
                <a:effectLst/>
                <a:latin typeface="Times New Roman" panose="02020603050405020304" pitchFamily="18" charset="0"/>
                <a:cs typeface="Times New Roman" panose="02020603050405020304" pitchFamily="18" charset="0"/>
              </a:rPr>
              <a:t> envoyant des impulsions électriques). </a:t>
            </a:r>
          </a:p>
          <a:p>
            <a:pPr algn="just">
              <a:buFont typeface="Arial" panose="020B0604020202020204" pitchFamily="34" charset="0"/>
              <a:buChar char="•"/>
            </a:pPr>
            <a:r>
              <a:rPr lang="fr-FR" sz="2400" dirty="0">
                <a:solidFill>
                  <a:schemeClr val="tx1"/>
                </a:solidFill>
                <a:effectLst/>
                <a:latin typeface="Times New Roman" panose="02020603050405020304" pitchFamily="18" charset="0"/>
                <a:cs typeface="Times New Roman" panose="02020603050405020304" pitchFamily="18" charset="0"/>
              </a:rPr>
              <a:t>C</a:t>
            </a:r>
            <a:r>
              <a:rPr lang="fr-FR" sz="2400" b="0" i="0" u="none" strike="noStrike" dirty="0">
                <a:solidFill>
                  <a:schemeClr val="tx1"/>
                </a:solidFill>
                <a:effectLst/>
                <a:latin typeface="Times New Roman" panose="02020603050405020304" pitchFamily="18" charset="0"/>
                <a:cs typeface="Times New Roman" panose="02020603050405020304" pitchFamily="18" charset="0"/>
              </a:rPr>
              <a:t>orps étranger métallique quel qu'il soit (implant oculaire, prothèse, clips chirurgicaux utilisés pour fermer des vaisseaux sanguins, éclat de métal dans les yeux, pompe implantable…). Ils contre-indiquent l'examen car ils pourraient se déplacer à cause de l'aimant;</a:t>
            </a:r>
          </a:p>
          <a:p>
            <a:pPr algn="just">
              <a:buFont typeface="Arial" panose="020B0604020202020204" pitchFamily="34" charset="0"/>
              <a:buChar char="•"/>
            </a:pPr>
            <a:endParaRPr lang="fr-FR" sz="2400" b="0" i="0" u="none" strike="noStrike" dirty="0">
              <a:solidFill>
                <a:schemeClr val="tx1"/>
              </a:solidFill>
              <a:effectLst/>
              <a:latin typeface="Times New Roman" panose="02020603050405020304" pitchFamily="18" charset="0"/>
              <a:cs typeface="Times New Roman" panose="02020603050405020304" pitchFamily="18" charset="0"/>
            </a:endParaRPr>
          </a:p>
          <a:p>
            <a:pPr algn="just"/>
            <a:r>
              <a:rPr lang="fr-FR" sz="2400" b="1" dirty="0">
                <a:solidFill>
                  <a:srgbClr val="FFFF00"/>
                </a:solidFill>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fr-FR" sz="2400" dirty="0">
                <a:solidFill>
                  <a:schemeClr val="tx1"/>
                </a:solidFill>
                <a:effectLst/>
                <a:latin typeface="Times New Roman" panose="02020603050405020304" pitchFamily="18" charset="0"/>
                <a:cs typeface="Times New Roman" panose="02020603050405020304" pitchFamily="18" charset="0"/>
              </a:rPr>
              <a:t>Grossesse </a:t>
            </a:r>
            <a:r>
              <a:rPr lang="fr-FR" sz="2400" b="0" i="0" u="none" strike="noStrike" dirty="0">
                <a:solidFill>
                  <a:schemeClr val="tx1"/>
                </a:solidFill>
                <a:effectLst/>
                <a:latin typeface="Times New Roman" panose="02020603050405020304" pitchFamily="18" charset="0"/>
                <a:cs typeface="Times New Roman" panose="02020603050405020304" pitchFamily="18" charset="0"/>
              </a:rPr>
              <a:t>afin que des précautions soient prises;</a:t>
            </a:r>
          </a:p>
          <a:p>
            <a:pPr algn="just">
              <a:buFont typeface="Arial" panose="020B0604020202020204" pitchFamily="34" charset="0"/>
              <a:buChar char="•"/>
            </a:pPr>
            <a:r>
              <a:rPr lang="fr-FR" sz="2400" dirty="0">
                <a:solidFill>
                  <a:schemeClr val="tx1"/>
                </a:solidFill>
                <a:effectLst/>
                <a:latin typeface="Times New Roman" panose="02020603050405020304" pitchFamily="18" charset="0"/>
                <a:cs typeface="Times New Roman" panose="02020603050405020304" pitchFamily="18" charset="0"/>
              </a:rPr>
              <a:t>C</a:t>
            </a:r>
            <a:r>
              <a:rPr lang="fr-FR" sz="2400" b="0" i="0" u="none" strike="noStrike" dirty="0">
                <a:solidFill>
                  <a:schemeClr val="tx1"/>
                </a:solidFill>
                <a:effectLst/>
                <a:latin typeface="Times New Roman" panose="02020603050405020304" pitchFamily="18" charset="0"/>
                <a:cs typeface="Times New Roman" panose="02020603050405020304" pitchFamily="18" charset="0"/>
              </a:rPr>
              <a:t>laustrophobie.</a:t>
            </a:r>
          </a:p>
          <a:p>
            <a:pPr algn="just">
              <a:buFont typeface="Arial" panose="020B0604020202020204" pitchFamily="34" charset="0"/>
              <a:buChar char="•"/>
            </a:pPr>
            <a:r>
              <a:rPr lang="fr-FR" sz="2400" dirty="0">
                <a:latin typeface="Times New Roman" panose="02020603050405020304" pitchFamily="18" charset="0"/>
                <a:cs typeface="Times New Roman" panose="02020603050405020304" pitchFamily="18" charset="0"/>
              </a:rPr>
              <a:t>Obésité</a:t>
            </a:r>
            <a:endParaRPr lang="fr-FR" sz="2400" b="0" i="0" u="none" strike="noStrike"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617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B3411C-F718-4E49-9487-AD770523E970}"/>
              </a:ext>
            </a:extLst>
          </p:cNvPr>
          <p:cNvSpPr>
            <a:spLocks noGrp="1"/>
          </p:cNvSpPr>
          <p:nvPr>
            <p:ph type="title"/>
          </p:nvPr>
        </p:nvSpPr>
        <p:spPr>
          <a:xfrm>
            <a:off x="1143001" y="461320"/>
            <a:ext cx="9905998" cy="1905000"/>
          </a:xfrm>
        </p:spPr>
        <p:txBody>
          <a:bodyPr/>
          <a:lstStyle/>
          <a:p>
            <a:br>
              <a:rPr lang="fr-FR" b="1" dirty="0">
                <a:solidFill>
                  <a:srgbClr val="FFFF00"/>
                </a:solidFill>
                <a:latin typeface="Times New Roman" panose="02020603050405020304" pitchFamily="18" charset="0"/>
                <a:cs typeface="Times New Roman" panose="02020603050405020304" pitchFamily="18" charset="0"/>
              </a:rPr>
            </a:br>
            <a:endParaRPr lang="fr-ES" b="1" dirty="0">
              <a:solidFill>
                <a:srgbClr val="FFFF00"/>
              </a:solidFill>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BC557232-EA0D-F342-9ECA-7B3255586CAA}"/>
              </a:ext>
            </a:extLst>
          </p:cNvPr>
          <p:cNvSpPr txBox="1"/>
          <p:nvPr/>
        </p:nvSpPr>
        <p:spPr>
          <a:xfrm>
            <a:off x="284205" y="1225689"/>
            <a:ext cx="11492636" cy="4524315"/>
          </a:xfrm>
          <a:prstGeom prst="rect">
            <a:avLst/>
          </a:prstGeom>
          <a:noFill/>
        </p:spPr>
        <p:txBody>
          <a:bodyPr wrap="square">
            <a:spAutoFit/>
          </a:bodyPr>
          <a:lstStyle/>
          <a:p>
            <a:pPr algn="just"/>
            <a:r>
              <a:rPr lang="fr-FR" sz="2400" b="0" dirty="0">
                <a:effectLst/>
                <a:latin typeface="Times New Roman" panose="02020603050405020304" pitchFamily="18" charset="0"/>
                <a:cs typeface="Times New Roman" panose="02020603050405020304" pitchFamily="18" charset="0"/>
              </a:rPr>
              <a:t>Les effets </a:t>
            </a:r>
            <a:r>
              <a:rPr lang="fr-FR" sz="2400" b="0" dirty="0" err="1">
                <a:effectLst/>
                <a:latin typeface="Times New Roman" panose="02020603050405020304" pitchFamily="18" charset="0"/>
                <a:cs typeface="Times New Roman" panose="02020603050405020304" pitchFamily="18" charset="0"/>
              </a:rPr>
              <a:t>avérés</a:t>
            </a:r>
            <a:r>
              <a:rPr lang="fr-FR" sz="2400" b="0" dirty="0">
                <a:effectLst/>
                <a:latin typeface="Times New Roman" panose="02020603050405020304" pitchFamily="18" charset="0"/>
                <a:cs typeface="Times New Roman" panose="02020603050405020304" pitchFamily="18" charset="0"/>
              </a:rPr>
              <a:t> </a:t>
            </a:r>
            <a:r>
              <a:rPr lang="fr-FR" sz="2400" b="0" dirty="0" err="1">
                <a:effectLst/>
                <a:latin typeface="Times New Roman" panose="02020603050405020304" pitchFamily="18" charset="0"/>
                <a:cs typeface="Times New Roman" panose="02020603050405020304" pitchFamily="18" charset="0"/>
              </a:rPr>
              <a:t>liés</a:t>
            </a:r>
            <a:r>
              <a:rPr lang="fr-FR" sz="2400" b="0" dirty="0">
                <a:effectLst/>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à </a:t>
            </a:r>
            <a:r>
              <a:rPr lang="fr-FR" sz="2400" b="0" dirty="0">
                <a:effectLst/>
                <a:latin typeface="Times New Roman" panose="02020603050405020304" pitchFamily="18" charset="0"/>
                <a:cs typeface="Times New Roman" panose="02020603050405020304" pitchFamily="18" charset="0"/>
              </a:rPr>
              <a:t>un champ </a:t>
            </a:r>
            <a:r>
              <a:rPr lang="fr-FR" sz="2400" b="0" dirty="0" err="1">
                <a:effectLst/>
                <a:latin typeface="Times New Roman" panose="02020603050405020304" pitchFamily="18" charset="0"/>
                <a:cs typeface="Times New Roman" panose="02020603050405020304" pitchFamily="18" charset="0"/>
              </a:rPr>
              <a:t>magnétique</a:t>
            </a:r>
            <a:r>
              <a:rPr lang="fr-FR" sz="2400" b="0" dirty="0">
                <a:effectLst/>
                <a:latin typeface="Times New Roman" panose="02020603050405020304" pitchFamily="18" charset="0"/>
                <a:cs typeface="Times New Roman" panose="02020603050405020304" pitchFamily="18" charset="0"/>
              </a:rPr>
              <a:t> sont principalement des effets sensoriels</a:t>
            </a:r>
          </a:p>
          <a:p>
            <a:pPr algn="just"/>
            <a:endParaRPr lang="fr-FR" sz="2400" dirty="0">
              <a:latin typeface="Times New Roman" panose="02020603050405020304" pitchFamily="18" charset="0"/>
              <a:cs typeface="Times New Roman" panose="02020603050405020304" pitchFamily="18" charset="0"/>
            </a:endParaRPr>
          </a:p>
          <a:p>
            <a:pPr algn="just"/>
            <a:r>
              <a:rPr lang="fr-FR" sz="2400" dirty="0">
                <a:latin typeface="Times New Roman" panose="02020603050405020304" pitchFamily="18" charset="0"/>
                <a:cs typeface="Times New Roman" panose="02020603050405020304" pitchFamily="18" charset="0"/>
              </a:rPr>
              <a:t>- V</a:t>
            </a:r>
            <a:r>
              <a:rPr lang="fr-FR" sz="2400" b="0" dirty="0">
                <a:effectLst/>
                <a:latin typeface="Times New Roman" panose="02020603050405020304" pitchFamily="18" charset="0"/>
                <a:cs typeface="Times New Roman" panose="02020603050405020304" pitchFamily="18" charset="0"/>
              </a:rPr>
              <a:t>ertiges, </a:t>
            </a:r>
          </a:p>
          <a:p>
            <a:pPr algn="just"/>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N</a:t>
            </a:r>
            <a:r>
              <a:rPr lang="fr-FR" sz="2400" b="0" dirty="0" err="1">
                <a:effectLst/>
                <a:latin typeface="Times New Roman" panose="02020603050405020304" pitchFamily="18" charset="0"/>
                <a:cs typeface="Times New Roman" panose="02020603050405020304" pitchFamily="18" charset="0"/>
              </a:rPr>
              <a:t>ausées</a:t>
            </a:r>
            <a:r>
              <a:rPr lang="fr-FR" sz="2400" b="0" dirty="0">
                <a:effectLst/>
                <a:latin typeface="Times New Roman" panose="02020603050405020304" pitchFamily="18" charset="0"/>
                <a:cs typeface="Times New Roman" panose="02020603050405020304" pitchFamily="18" charset="0"/>
              </a:rPr>
              <a:t>,</a:t>
            </a:r>
            <a:endParaRPr lang="fr-FR" sz="2400" dirty="0">
              <a:latin typeface="Times New Roman" panose="02020603050405020304" pitchFamily="18" charset="0"/>
              <a:cs typeface="Times New Roman" panose="02020603050405020304" pitchFamily="18" charset="0"/>
            </a:endParaRPr>
          </a:p>
          <a:p>
            <a:pPr algn="just"/>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G</a:t>
            </a:r>
            <a:r>
              <a:rPr lang="fr-FR" sz="2400" b="0" dirty="0" err="1">
                <a:effectLst/>
                <a:latin typeface="Times New Roman" panose="02020603050405020304" pitchFamily="18" charset="0"/>
                <a:cs typeface="Times New Roman" panose="02020603050405020304" pitchFamily="18" charset="0"/>
              </a:rPr>
              <a:t>oût</a:t>
            </a:r>
            <a:r>
              <a:rPr lang="fr-FR" sz="2400" b="0" dirty="0">
                <a:effectLst/>
                <a:latin typeface="Times New Roman" panose="02020603050405020304" pitchFamily="18" charset="0"/>
                <a:cs typeface="Times New Roman" panose="02020603050405020304" pitchFamily="18" charset="0"/>
              </a:rPr>
              <a:t> </a:t>
            </a:r>
            <a:r>
              <a:rPr lang="fr-FR" sz="2400" b="0" dirty="0" err="1">
                <a:effectLst/>
                <a:latin typeface="Times New Roman" panose="02020603050405020304" pitchFamily="18" charset="0"/>
                <a:cs typeface="Times New Roman" panose="02020603050405020304" pitchFamily="18" charset="0"/>
              </a:rPr>
              <a:t>métallique</a:t>
            </a:r>
            <a:r>
              <a:rPr lang="fr-FR" sz="2400" b="0" dirty="0">
                <a:effectLst/>
                <a:latin typeface="Times New Roman" panose="02020603050405020304" pitchFamily="18" charset="0"/>
                <a:cs typeface="Times New Roman" panose="02020603050405020304" pitchFamily="18" charset="0"/>
              </a:rPr>
              <a:t> en bouche</a:t>
            </a:r>
          </a:p>
          <a:p>
            <a:pPr algn="just"/>
            <a:endParaRPr lang="fr-FR" sz="2400" dirty="0">
              <a:latin typeface="Times New Roman" panose="02020603050405020304" pitchFamily="18" charset="0"/>
              <a:cs typeface="Times New Roman" panose="02020603050405020304" pitchFamily="18" charset="0"/>
            </a:endParaRPr>
          </a:p>
          <a:p>
            <a:pPr algn="just"/>
            <a:endParaRPr lang="fr-FR" sz="2400" dirty="0">
              <a:latin typeface="Times New Roman" panose="02020603050405020304" pitchFamily="18" charset="0"/>
              <a:cs typeface="Times New Roman" panose="02020603050405020304" pitchFamily="18" charset="0"/>
            </a:endParaRPr>
          </a:p>
          <a:p>
            <a:pPr algn="just"/>
            <a:r>
              <a:rPr lang="fr-FR" sz="2400" b="0" dirty="0">
                <a:effectLst/>
                <a:latin typeface="Times New Roman" panose="02020603050405020304" pitchFamily="18" charset="0"/>
                <a:cs typeface="Times New Roman" panose="02020603050405020304" pitchFamily="18" charset="0"/>
              </a:rPr>
              <a:t>Le risque principal en IRM concerne l’attraction, par le champ magnétique statique intense, d’</a:t>
            </a:r>
            <a:r>
              <a:rPr lang="fr-FR" sz="2400" b="0" dirty="0" err="1">
                <a:effectLst/>
                <a:latin typeface="Times New Roman" panose="02020603050405020304" pitchFamily="18" charset="0"/>
                <a:cs typeface="Times New Roman" panose="02020603050405020304" pitchFamily="18" charset="0"/>
              </a:rPr>
              <a:t>éléments</a:t>
            </a:r>
            <a:r>
              <a:rPr lang="fr-FR" sz="2400" b="0" dirty="0">
                <a:effectLst/>
                <a:latin typeface="Times New Roman" panose="02020603050405020304" pitchFamily="18" charset="0"/>
                <a:cs typeface="Times New Roman" panose="02020603050405020304" pitchFamily="18" charset="0"/>
              </a:rPr>
              <a:t> </a:t>
            </a:r>
            <a:r>
              <a:rPr lang="fr-FR" sz="2400" b="0" dirty="0" err="1">
                <a:effectLst/>
                <a:latin typeface="Times New Roman" panose="02020603050405020304" pitchFamily="18" charset="0"/>
                <a:cs typeface="Times New Roman" panose="02020603050405020304" pitchFamily="18" charset="0"/>
              </a:rPr>
              <a:t>ferromagnétiques</a:t>
            </a:r>
            <a:r>
              <a:rPr lang="fr-FR" sz="2400" b="0" dirty="0">
                <a:effectLst/>
                <a:latin typeface="Times New Roman" panose="02020603050405020304" pitchFamily="18" charset="0"/>
                <a:cs typeface="Times New Roman" panose="02020603050405020304" pitchFamily="18" charset="0"/>
              </a:rPr>
              <a:t> se transformant ainsi en projectiles. </a:t>
            </a:r>
          </a:p>
          <a:p>
            <a:pPr algn="just"/>
            <a:r>
              <a:rPr lang="fr-FR" sz="2400" b="0" dirty="0">
                <a:effectLst/>
                <a:latin typeface="Times New Roman" panose="02020603050405020304" pitchFamily="18" charset="0"/>
                <a:cs typeface="Times New Roman" panose="02020603050405020304" pitchFamily="18" charset="0"/>
              </a:rPr>
              <a:t>Tous les </a:t>
            </a:r>
            <a:r>
              <a:rPr lang="fr-FR" sz="2400" b="0" dirty="0" err="1">
                <a:effectLst/>
                <a:latin typeface="Times New Roman" panose="02020603050405020304" pitchFamily="18" charset="0"/>
                <a:cs typeface="Times New Roman" panose="02020603050405020304" pitchFamily="18" charset="0"/>
              </a:rPr>
              <a:t>métaux</a:t>
            </a:r>
            <a:r>
              <a:rPr lang="fr-FR" sz="2400" b="0" dirty="0">
                <a:effectLst/>
                <a:latin typeface="Times New Roman" panose="02020603050405020304" pitchFamily="18" charset="0"/>
                <a:cs typeface="Times New Roman" panose="02020603050405020304" pitchFamily="18" charset="0"/>
              </a:rPr>
              <a:t> ne sont pas </a:t>
            </a:r>
            <a:r>
              <a:rPr lang="fr-FR" sz="2400" b="0" dirty="0" err="1">
                <a:effectLst/>
                <a:latin typeface="Times New Roman" panose="02020603050405020304" pitchFamily="18" charset="0"/>
                <a:cs typeface="Times New Roman" panose="02020603050405020304" pitchFamily="18" charset="0"/>
              </a:rPr>
              <a:t>ferromagnétiques</a:t>
            </a:r>
            <a:r>
              <a:rPr lang="fr-FR" sz="2400" b="0" dirty="0">
                <a:effectLst/>
                <a:latin typeface="Times New Roman" panose="02020603050405020304" pitchFamily="18" charset="0"/>
                <a:cs typeface="Times New Roman" panose="02020603050405020304" pitchFamily="18" charset="0"/>
              </a:rPr>
              <a:t>, par exemple le cuivre et l’aluminium ne le sont pas. À l’inverse le fer et l’acier subissent une force d’attraction importante. </a:t>
            </a:r>
            <a:endParaRPr lang="fr-FR" sz="2400" dirty="0">
              <a:latin typeface="Times New Roman" panose="02020603050405020304" pitchFamily="18" charset="0"/>
              <a:cs typeface="Times New Roman" panose="02020603050405020304" pitchFamily="18" charset="0"/>
            </a:endParaRPr>
          </a:p>
          <a:p>
            <a:pPr algn="just"/>
            <a:endParaRPr lang="fr-FR" sz="2400" dirty="0">
              <a:latin typeface="Times New Roman" panose="02020603050405020304" pitchFamily="18" charset="0"/>
              <a:cs typeface="Times New Roman" panose="02020603050405020304" pitchFamily="18" charset="0"/>
            </a:endParaRPr>
          </a:p>
        </p:txBody>
      </p:sp>
      <p:sp>
        <p:nvSpPr>
          <p:cNvPr id="8" name="Titre 1">
            <a:extLst>
              <a:ext uri="{FF2B5EF4-FFF2-40B4-BE49-F238E27FC236}">
                <a16:creationId xmlns:a16="http://schemas.microsoft.com/office/drawing/2014/main" id="{C810A880-FB67-874F-9605-920EA2327D8D}"/>
              </a:ext>
            </a:extLst>
          </p:cNvPr>
          <p:cNvSpPr txBox="1">
            <a:spLocks/>
          </p:cNvSpPr>
          <p:nvPr/>
        </p:nvSpPr>
        <p:spPr>
          <a:xfrm>
            <a:off x="1141413" y="7646"/>
            <a:ext cx="9905998" cy="1905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ES" b="1" cap="none" dirty="0">
                <a:solidFill>
                  <a:srgbClr val="FFFF00"/>
                </a:solidFill>
                <a:latin typeface="Times New Roman" panose="02020603050405020304" pitchFamily="18" charset="0"/>
                <a:cs typeface="Times New Roman" panose="02020603050405020304" pitchFamily="18" charset="0"/>
              </a:rPr>
              <a:t>EFFETS DU CHAMP MAGNÉTIQUE</a:t>
            </a:r>
          </a:p>
        </p:txBody>
      </p:sp>
    </p:spTree>
    <p:extLst>
      <p:ext uri="{BB962C8B-B14F-4D97-AF65-F5344CB8AC3E}">
        <p14:creationId xmlns:p14="http://schemas.microsoft.com/office/powerpoint/2010/main" val="3218239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88E7A7-62AF-9D45-B5C7-D6A42D0BD6D9}"/>
              </a:ext>
            </a:extLst>
          </p:cNvPr>
          <p:cNvSpPr>
            <a:spLocks noGrp="1"/>
          </p:cNvSpPr>
          <p:nvPr>
            <p:ph type="title"/>
          </p:nvPr>
        </p:nvSpPr>
        <p:spPr/>
        <p:txBody>
          <a:bodyPr>
            <a:normAutofit/>
          </a:bodyPr>
          <a:lstStyle/>
          <a:p>
            <a:r>
              <a:rPr lang="fr-FR" b="1" dirty="0">
                <a:solidFill>
                  <a:srgbClr val="FFFF00"/>
                </a:solidFill>
                <a:effectLst/>
                <a:latin typeface="Times New Roman" panose="02020603050405020304" pitchFamily="18" charset="0"/>
                <a:cs typeface="Times New Roman" panose="02020603050405020304" pitchFamily="18" charset="0"/>
              </a:rPr>
              <a:t>Exemple de </a:t>
            </a:r>
            <a:r>
              <a:rPr lang="fr-FR" b="1" dirty="0" err="1">
                <a:solidFill>
                  <a:srgbClr val="FFFF00"/>
                </a:solidFill>
                <a:effectLst/>
                <a:latin typeface="Times New Roman" panose="02020603050405020304" pitchFamily="18" charset="0"/>
                <a:cs typeface="Times New Roman" panose="02020603050405020304" pitchFamily="18" charset="0"/>
              </a:rPr>
              <a:t>signalétiques</a:t>
            </a:r>
            <a:r>
              <a:rPr lang="fr-FR" b="1" dirty="0">
                <a:solidFill>
                  <a:srgbClr val="FFFF00"/>
                </a:solidFill>
                <a:effectLst/>
                <a:latin typeface="Times New Roman" panose="02020603050405020304" pitchFamily="18" charset="0"/>
                <a:cs typeface="Times New Roman" panose="02020603050405020304" pitchFamily="18" charset="0"/>
              </a:rPr>
              <a:t> au niveau de l’</a:t>
            </a:r>
            <a:r>
              <a:rPr lang="fr-FR" b="1" dirty="0" err="1">
                <a:solidFill>
                  <a:srgbClr val="FFFF00"/>
                </a:solidFill>
                <a:effectLst/>
                <a:latin typeface="Times New Roman" panose="02020603050405020304" pitchFamily="18" charset="0"/>
                <a:cs typeface="Times New Roman" panose="02020603050405020304" pitchFamily="18" charset="0"/>
              </a:rPr>
              <a:t>accès</a:t>
            </a:r>
            <a:r>
              <a:rPr lang="fr-FR" b="1" dirty="0">
                <a:solidFill>
                  <a:srgbClr val="FFFF00"/>
                </a:solidFill>
                <a:effectLst/>
                <a:latin typeface="Times New Roman" panose="02020603050405020304" pitchFamily="18" charset="0"/>
                <a:cs typeface="Times New Roman" panose="02020603050405020304" pitchFamily="18" charset="0"/>
              </a:rPr>
              <a:t> à la salle d’examen </a:t>
            </a:r>
            <a:br>
              <a:rPr lang="fr-FR" b="1" dirty="0">
                <a:solidFill>
                  <a:srgbClr val="FFFF00"/>
                </a:solidFill>
                <a:latin typeface="Times New Roman" panose="02020603050405020304" pitchFamily="18" charset="0"/>
                <a:cs typeface="Times New Roman" panose="02020603050405020304" pitchFamily="18" charset="0"/>
              </a:rPr>
            </a:br>
            <a:endParaRPr lang="fr-ES" b="1" dirty="0">
              <a:solidFill>
                <a:srgbClr val="FFFF00"/>
              </a:solidFill>
              <a:latin typeface="Times New Roman" panose="02020603050405020304" pitchFamily="18" charset="0"/>
              <a:cs typeface="Times New Roman" panose="02020603050405020304" pitchFamily="18" charset="0"/>
            </a:endParaRPr>
          </a:p>
        </p:txBody>
      </p:sp>
      <p:pic>
        <p:nvPicPr>
          <p:cNvPr id="4" name="Picture 1" descr="page4image3720560">
            <a:extLst>
              <a:ext uri="{FF2B5EF4-FFF2-40B4-BE49-F238E27FC236}">
                <a16:creationId xmlns:a16="http://schemas.microsoft.com/office/drawing/2014/main" id="{811E1F7B-7B6D-3D46-946B-531251791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4324" y="2166990"/>
            <a:ext cx="7323352" cy="43126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7" descr="page4image9243920">
            <a:extLst>
              <a:ext uri="{FF2B5EF4-FFF2-40B4-BE49-F238E27FC236}">
                <a16:creationId xmlns:a16="http://schemas.microsoft.com/office/drawing/2014/main" id="{EE3B358F-4551-9E42-B343-D6134BA5C7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5704" y="5169512"/>
            <a:ext cx="1147011" cy="11470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page4image9244368">
            <a:extLst>
              <a:ext uri="{FF2B5EF4-FFF2-40B4-BE49-F238E27FC236}">
                <a16:creationId xmlns:a16="http://schemas.microsoft.com/office/drawing/2014/main" id="{59FBBF13-2067-C049-82BF-1DCB4BE99D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5704" y="3815296"/>
            <a:ext cx="1147010" cy="114701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9" descr="page4image9245376">
            <a:extLst>
              <a:ext uri="{FF2B5EF4-FFF2-40B4-BE49-F238E27FC236}">
                <a16:creationId xmlns:a16="http://schemas.microsoft.com/office/drawing/2014/main" id="{5D01300B-7E8A-B54C-88BA-86C67E5DD9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42214" y="3565974"/>
            <a:ext cx="1615462" cy="147855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page4image9245152">
            <a:extLst>
              <a:ext uri="{FF2B5EF4-FFF2-40B4-BE49-F238E27FC236}">
                <a16:creationId xmlns:a16="http://schemas.microsoft.com/office/drawing/2014/main" id="{0D584086-AE4B-BC4E-ABF1-04F4683E4D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625" y="3565972"/>
            <a:ext cx="1615463" cy="147855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page4image9248848">
            <a:extLst>
              <a:ext uri="{FF2B5EF4-FFF2-40B4-BE49-F238E27FC236}">
                <a16:creationId xmlns:a16="http://schemas.microsoft.com/office/drawing/2014/main" id="{5EA02CB1-85D5-034D-A5C5-C664887DA7E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45703" y="2477126"/>
            <a:ext cx="1147011" cy="114701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page4image9248288">
            <a:extLst>
              <a:ext uri="{FF2B5EF4-FFF2-40B4-BE49-F238E27FC236}">
                <a16:creationId xmlns:a16="http://schemas.microsoft.com/office/drawing/2014/main" id="{F80CCDF5-8CAE-704F-A4DC-888A8C8878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93577" y="4689576"/>
            <a:ext cx="1147011" cy="114701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page4image9244928">
            <a:extLst>
              <a:ext uri="{FF2B5EF4-FFF2-40B4-BE49-F238E27FC236}">
                <a16:creationId xmlns:a16="http://schemas.microsoft.com/office/drawing/2014/main" id="{3B4730BE-560C-3843-9B91-E124F77F2FC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3577" y="3053596"/>
            <a:ext cx="1147011" cy="1147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434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489EE2-6DD3-6240-9991-0FC71809A12D}"/>
              </a:ext>
            </a:extLst>
          </p:cNvPr>
          <p:cNvSpPr>
            <a:spLocks noGrp="1"/>
          </p:cNvSpPr>
          <p:nvPr>
            <p:ph type="title"/>
          </p:nvPr>
        </p:nvSpPr>
        <p:spPr/>
        <p:txBody>
          <a:bodyPr/>
          <a:lstStyle/>
          <a:p>
            <a:r>
              <a:rPr lang="fr-ES" b="1" dirty="0">
                <a:solidFill>
                  <a:srgbClr val="FFFF00"/>
                </a:solidFill>
                <a:latin typeface="Times New Roman" panose="02020603050405020304" pitchFamily="18" charset="0"/>
                <a:cs typeface="Times New Roman" panose="02020603050405020304" pitchFamily="18" charset="0"/>
              </a:rPr>
              <a:t>Conclusion</a:t>
            </a:r>
          </a:p>
        </p:txBody>
      </p:sp>
      <p:sp>
        <p:nvSpPr>
          <p:cNvPr id="3" name="ZoneTexte 2">
            <a:extLst>
              <a:ext uri="{FF2B5EF4-FFF2-40B4-BE49-F238E27FC236}">
                <a16:creationId xmlns:a16="http://schemas.microsoft.com/office/drawing/2014/main" id="{164D322C-BA1B-9B44-8ADD-FD145C140908}"/>
              </a:ext>
            </a:extLst>
          </p:cNvPr>
          <p:cNvSpPr txBox="1"/>
          <p:nvPr/>
        </p:nvSpPr>
        <p:spPr>
          <a:xfrm>
            <a:off x="904346" y="2404409"/>
            <a:ext cx="10350676" cy="1569660"/>
          </a:xfrm>
          <a:prstGeom prst="rect">
            <a:avLst/>
          </a:prstGeom>
          <a:noFill/>
        </p:spPr>
        <p:txBody>
          <a:bodyPr wrap="square" rtlCol="0">
            <a:spAutoFit/>
          </a:bodyPr>
          <a:lstStyle/>
          <a:p>
            <a:pPr algn="just"/>
            <a:r>
              <a:rPr lang="fr-ES" sz="2400" dirty="0">
                <a:latin typeface="Times New Roman" panose="02020603050405020304" pitchFamily="18" charset="0"/>
                <a:cs typeface="Times New Roman" panose="02020603050405020304" pitchFamily="18" charset="0"/>
              </a:rPr>
              <a:t>Bien qu’elle permette de diagnostiquer un grand nombre de pathologies en procurant des informations interessantes pour confirmer un diagnostic et planifier un traitement, néanmois en raison de son coût et contraintes, l’IRM reste peu utilisée en médecine dentaire comparée à d’autre techniques d’imagerie médicale.</a:t>
            </a:r>
          </a:p>
        </p:txBody>
      </p:sp>
    </p:spTree>
    <p:extLst>
      <p:ext uri="{BB962C8B-B14F-4D97-AF65-F5344CB8AC3E}">
        <p14:creationId xmlns:p14="http://schemas.microsoft.com/office/powerpoint/2010/main" val="33895125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illage">
  <a:themeElements>
    <a:clrScheme name="Maillage">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aillag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illage">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{25AC201C-5641-924B-AF5E-4E022483B296}tf10001063</Template>
  <TotalTime>306</TotalTime>
  <Words>821</Words>
  <Application>Microsoft Macintosh PowerPoint</Application>
  <PresentationFormat>Grand écran</PresentationFormat>
  <Paragraphs>85</Paragraphs>
  <Slides>14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Brush Script MT</vt:lpstr>
      <vt:lpstr>Arial</vt:lpstr>
      <vt:lpstr>Century Gothic</vt:lpstr>
      <vt:lpstr>Times New Roman</vt:lpstr>
      <vt:lpstr>Maillage</vt:lpstr>
      <vt:lpstr>Imagerie par resonnance magnétique: -Principes -Acquisition  -Traitement et archivage</vt:lpstr>
      <vt:lpstr>PLAN</vt:lpstr>
      <vt:lpstr>Introduction</vt:lpstr>
      <vt:lpstr>Définition</vt:lpstr>
      <vt:lpstr>Principes</vt:lpstr>
      <vt:lpstr>Principes</vt:lpstr>
      <vt:lpstr>Procédure et Appareillage</vt:lpstr>
      <vt:lpstr>Procédure et Appareillage</vt:lpstr>
      <vt:lpstr>ACQUISITION</vt:lpstr>
      <vt:lpstr>Utilisations en médecine dentaire</vt:lpstr>
      <vt:lpstr>CONTRE INDICATIONS</vt:lpstr>
      <vt:lpstr> </vt:lpstr>
      <vt:lpstr>Exemple de signalétiques au niveau de l’accès à la salle d’examen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Imagerie par resonnance magnétique: -Principes -Acquisition  -Traitement et archivage</dc:title>
  <dc:creator>abrouslylia@gmail.com</dc:creator>
  <cp:lastModifiedBy>abrouslylia@gmail.com</cp:lastModifiedBy>
  <cp:revision>18</cp:revision>
  <dcterms:created xsi:type="dcterms:W3CDTF">2025-03-31T18:06:55Z</dcterms:created>
  <dcterms:modified xsi:type="dcterms:W3CDTF">2025-04-24T08:55:45Z</dcterms:modified>
</cp:coreProperties>
</file>