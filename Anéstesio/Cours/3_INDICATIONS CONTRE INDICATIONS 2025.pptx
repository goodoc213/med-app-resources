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7"/>
  </p:notesMasterIdLst>
  <p:sldIdLst>
    <p:sldId id="256" r:id="rId2"/>
    <p:sldId id="267" r:id="rId3"/>
    <p:sldId id="278" r:id="rId4"/>
    <p:sldId id="274" r:id="rId5"/>
    <p:sldId id="258" r:id="rId6"/>
    <p:sldId id="264" r:id="rId7"/>
    <p:sldId id="265" r:id="rId8"/>
    <p:sldId id="277" r:id="rId9"/>
    <p:sldId id="269" r:id="rId10"/>
    <p:sldId id="275" r:id="rId11"/>
    <p:sldId id="260" r:id="rId12"/>
    <p:sldId id="276" r:id="rId13"/>
    <p:sldId id="261" r:id="rId14"/>
    <p:sldId id="262" r:id="rId15"/>
    <p:sldId id="279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4" autoAdjust="0"/>
    <p:restoredTop sz="75510" autoAdjust="0"/>
  </p:normalViewPr>
  <p:slideViewPr>
    <p:cSldViewPr snapToGrid="0">
      <p:cViewPr varScale="1">
        <p:scale>
          <a:sx n="50" d="100"/>
          <a:sy n="50" d="100"/>
        </p:scale>
        <p:origin x="118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94EC3-76A6-4C73-8B91-0B4A1C96CCB6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C8A9EA-8AA5-43B9-AEC9-83C1B4AC23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584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C8A9EA-8AA5-43B9-AEC9-83C1B4AC23F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4525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C8A9EA-8AA5-43B9-AEC9-83C1B4AC23F6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359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34AD28-66C2-4DCB-A574-8BEF785F7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E4730F-34A2-4786-AC9D-85E240FA5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186E84-17DB-4DFB-8B5C-693F0FBBA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CCAC-C0E2-47A9-A073-0CE27E4DD326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9130EC-8414-4A33-BD1C-DAF310127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8A3429-2F0B-4410-8475-7AB0C4672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B4E1-E7F8-4F14-A610-09A06A92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9901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7070D3-E0AB-4519-AB7E-F81EC7E91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52EB50-C7D0-4CE7-931A-7DE72C794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6BC19F-C651-48E0-B299-DF8E10E8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CCAC-C0E2-47A9-A073-0CE27E4DD326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E26867-742E-4869-8F5C-FE4C8038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D174B5-1DF3-4EA2-AB6B-EE5482F9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B4E1-E7F8-4F14-A610-09A06A92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2306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2AD645-EE45-486D-8BF6-2A03632CD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6958C9-8E2C-4AF3-93CB-7E57B8AEE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9542BD-DBF7-4DB4-B950-13B01D8D4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CCAC-C0E2-47A9-A073-0CE27E4DD326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29C7C6-5C9E-4E79-8F6C-615B41442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E56B60-4F4B-4815-9D27-5D98D885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B4E1-E7F8-4F14-A610-09A06A92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2429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E18A6-3EF8-452D-BB50-9FD2F8E6F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AF1B47-5EB0-4702-9894-1D2341E0C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A60C5E-6E18-41C9-99C1-A3C109325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EE9E498-71F3-4D1B-84E4-F46CCA112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CCAC-C0E2-47A9-A073-0CE27E4DD326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8189F9-3AFC-4F94-8D39-F86A42CF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5B00F6-CCB2-4119-A447-EA8EAC29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B4E1-E7F8-4F14-A610-09A06A92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86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A5616D-8F76-4559-B281-7F9DBA687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60C472-80BB-4529-950D-F74FAAEDE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0BB841-84FA-4891-8C30-3362D3753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F1701B1-1117-4F67-A7FF-088A70AC27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CB63EFE-37EC-47EF-8C06-2FF6CD652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DBBA837-4DE0-4244-8520-787554C2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CCAC-C0E2-47A9-A073-0CE27E4DD326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D46B8E6-D0CE-451F-A021-A0DDE3AC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93AA5AA-CC0F-4D2B-804B-AC8C68B0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B4E1-E7F8-4F14-A610-09A06A92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8319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861240-8E9D-4BDA-A578-14798170B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9C3E8C0-26D3-495B-A085-ACC648F7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CCAC-C0E2-47A9-A073-0CE27E4DD326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C585D13-7FFB-419D-8334-8B1DA056A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62A25F-4E43-4A05-8A38-8F73094A1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B4E1-E7F8-4F14-A610-09A06A92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681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C40937D-9B1A-47FE-8FA0-E49464C79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CCAC-C0E2-47A9-A073-0CE27E4DD326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5480E59-3F79-401D-80DE-BA39617B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B30C20-4FE7-41AB-83B7-F743345F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B4E1-E7F8-4F14-A610-09A06A92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665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447847-15FA-4B26-8A02-05DE54B9B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125ABB-660E-40CB-9454-E12001858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B9BEA8-6A09-44EA-8F93-ACE2452A0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D8F92F-A2BE-4614-A207-BE33625B6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CCAC-C0E2-47A9-A073-0CE27E4DD326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349C8A-425D-4C9A-B14D-401FA1D4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415919-FC7D-476B-A242-AC1DABFC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B4E1-E7F8-4F14-A610-09A06A92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4320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7B3F3F-A556-4389-8693-BF77248B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461C368-4BBB-4B88-BEF3-01E12B418D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1A5A10-0366-44E8-BE6C-E12ECF974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4CA43C-1E8A-4320-A578-3B073BEB1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CCAC-C0E2-47A9-A073-0CE27E4DD326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17B9F5-604E-4A7F-98C4-6D7229A53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689973-D22C-470D-AA4C-A2BED843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B4E1-E7F8-4F14-A610-09A06A92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580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3C4E2E-99FF-4B9B-A07F-D234C812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987FEBB-0A91-48DB-8066-37B9B7013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C9831C-7A49-4165-9D57-8EE48D813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CCAC-C0E2-47A9-A073-0CE27E4DD326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8A69DC-0BD5-424C-8442-B0DFCC81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3D4673-D263-4821-8703-F3D871C6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B4E1-E7F8-4F14-A610-09A06A92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075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7EE9C4D-6E4A-4E83-8642-AE8EA4CC58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A082908-09D8-49BF-8F4C-78FDB7C84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246D1C-67A5-4C7B-9735-41008219E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CCAC-C0E2-47A9-A073-0CE27E4DD326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EC6B37-DCA9-44A3-AAD6-79F8E913D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376C3B-FB30-4999-B0DE-7C1A9D9D6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3B4E1-E7F8-4F14-A610-09A06A92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300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1F521C-11F7-41FF-A9D8-90BBBBA2D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3FE268-8B75-42E0-9251-AE876E7DE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B34E53-4856-4753-949D-97A1413A8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5CCAC-C0E2-47A9-A073-0CE27E4DD326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189260-EBF5-45A1-B89C-D15D33F82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9C95BF-6017-4F3E-B157-00CE91FB4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3B4E1-E7F8-4F14-A610-09A06A9285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664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AE818B7-F733-BD15-C42B-4696350519DF}"/>
              </a:ext>
            </a:extLst>
          </p:cNvPr>
          <p:cNvSpPr/>
          <p:nvPr/>
        </p:nvSpPr>
        <p:spPr>
          <a:xfrm>
            <a:off x="88900" y="1384300"/>
            <a:ext cx="12103100" cy="521969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L’ANESTHESIE GENERALE</a:t>
            </a:r>
          </a:p>
          <a:p>
            <a:pPr algn="ctr"/>
            <a:r>
              <a:rPr lang="fr-FR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EN ODONTOSTOMATOLOGIE</a:t>
            </a:r>
          </a:p>
          <a:p>
            <a:pPr algn="ctr"/>
            <a:r>
              <a:rPr lang="fr-FR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INDICATIONS-CONTRE-INDICATIONS </a:t>
            </a:r>
          </a:p>
          <a:p>
            <a:pPr algn="ctr"/>
            <a:r>
              <a:rPr lang="fr-FR" sz="3200" dirty="0"/>
              <a:t>Cours de 3ème année Médecine Dentaire </a:t>
            </a:r>
          </a:p>
          <a:p>
            <a:pPr algn="ctr"/>
            <a:r>
              <a:rPr lang="fr-FR" sz="3200" dirty="0">
                <a:solidFill>
                  <a:schemeClr val="bg1"/>
                </a:solidFill>
              </a:rPr>
              <a:t>2024-2025</a:t>
            </a:r>
          </a:p>
          <a:p>
            <a:pPr algn="ctr"/>
            <a:r>
              <a:rPr lang="fr-FR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                                                 </a:t>
            </a:r>
            <a:r>
              <a:rPr lang="fr-FR" sz="3600" dirty="0">
                <a:solidFill>
                  <a:schemeClr val="bg1"/>
                </a:solidFill>
              </a:rPr>
              <a:t>Dr S.BELLAHDID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16C81E-BDBC-E61F-C96B-B624F7722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93587"/>
            <a:ext cx="12103100" cy="212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875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7B75F25-C597-4179-8C95-A9568A1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2" y="800392"/>
            <a:ext cx="10583121" cy="1212102"/>
          </a:xfrm>
        </p:spPr>
        <p:txBody>
          <a:bodyPr>
            <a:normAutofit/>
          </a:bodyPr>
          <a:lstStyle/>
          <a:p>
            <a:pPr algn="ctr"/>
            <a:r>
              <a:rPr lang="fr-FR" sz="5400" b="1" dirty="0">
                <a:solidFill>
                  <a:srgbClr val="FFFFFF"/>
                </a:solidFill>
                <a:latin typeface="Arial Black" panose="020B0A04020102020204" pitchFamily="34" charset="0"/>
              </a:rPr>
              <a:t>  PLAN </a:t>
            </a:r>
            <a:r>
              <a:rPr lang="fr-FR" sz="5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F6EC9E-ED73-4C49-86FA-D9A848AE1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2" y="2177170"/>
            <a:ext cx="10907258" cy="4504984"/>
          </a:xfrm>
        </p:spPr>
        <p:txBody>
          <a:bodyPr anchor="t">
            <a:normAutofit fontScale="62500" lnSpcReduction="20000"/>
          </a:bodyPr>
          <a:lstStyle/>
          <a:p>
            <a:pPr marL="0" indent="0">
              <a:buNone/>
            </a:pPr>
            <a:r>
              <a:rPr lang="fr-FR" sz="2400" b="1" dirty="0">
                <a:solidFill>
                  <a:srgbClr val="0070C0"/>
                </a:solidFill>
              </a:rPr>
              <a:t>      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fr-FR" sz="3800" b="1"/>
              <a:t>     </a:t>
            </a:r>
            <a:r>
              <a:rPr lang="fr-FR" sz="3800" b="1" dirty="0"/>
              <a:t>I/ INTRODUCTION-   HISTORIQUE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fr-FR" sz="3800" b="1" dirty="0"/>
              <a:t>     II/PROTOCOLE ET SECURITE DE L’ANESTHESIE GENERALE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fr-FR" sz="3800" b="1" dirty="0"/>
              <a:t>     III/  /INICATIONS DE L’AG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fr-FR" sz="3800" b="1" dirty="0"/>
              <a:t>      IV/ CONTRE INDICATIONS DE L’AG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fr-FR" sz="3800" b="1" dirty="0"/>
              <a:t>      V/CRITÈRES  DE L’ ANESTHESIE GÉNÉRALE V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fr-FR" sz="3800" b="1" dirty="0"/>
              <a:t>      VI/SPECIFICITE DE L’ANESTHESIE GENERALE EN ODONTOSTOMATOLOGIE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fr-FR" sz="3800" b="1" dirty="0"/>
              <a:t>    VII/LES CONDITIONS REQUISES POUR UNE ANESTHESIE GÉNÉRALE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fr-FR" sz="3800" b="1" dirty="0"/>
              <a:t>    VIII/CONCUSSION </a:t>
            </a:r>
            <a:br>
              <a:rPr lang="fr-FR" sz="2700" b="1" dirty="0">
                <a:solidFill>
                  <a:srgbClr val="0070C0"/>
                </a:solidFill>
              </a:rPr>
            </a:br>
            <a:endParaRPr lang="fr-FR" sz="2700" b="1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fr-FR" sz="2700" b="1" dirty="0">
                <a:solidFill>
                  <a:srgbClr val="0070C0"/>
                </a:solidFill>
                <a:latin typeface="Arial Black" panose="020B0A04020102020204" pitchFamily="34" charset="0"/>
              </a:rPr>
              <a:t>    </a:t>
            </a:r>
            <a:br>
              <a:rPr lang="fr-FR" sz="27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fr-FR" sz="2700" b="1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300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8012DF-F798-CA60-9A12-BC8D52B9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51DE6DD-9F97-7EB5-B49A-CA06AF14D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45">
            <a:extLst>
              <a:ext uri="{FF2B5EF4-FFF2-40B4-BE49-F238E27FC236}">
                <a16:creationId xmlns:a16="http://schemas.microsoft.com/office/drawing/2014/main" id="{8C994586-74F1-56FC-BC8D-20B79F2FC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46">
            <a:extLst>
              <a:ext uri="{FF2B5EF4-FFF2-40B4-BE49-F238E27FC236}">
                <a16:creationId xmlns:a16="http://schemas.microsoft.com/office/drawing/2014/main" id="{88041965-CED5-8910-089E-E804E066A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55A8B322-799B-E1F0-344E-89ABF8FC3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DA1333AD-9661-952B-0C18-43DCBF83A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A1D07D-2C53-062D-D93C-6A1D55D5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046071C-4ECC-3C67-B763-35FCE9572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2" y="800392"/>
            <a:ext cx="10583121" cy="1212102"/>
          </a:xfrm>
        </p:spPr>
        <p:txBody>
          <a:bodyPr>
            <a:normAutofit/>
          </a:bodyPr>
          <a:lstStyle/>
          <a:p>
            <a:pPr algn="ctr"/>
            <a:r>
              <a:rPr lang="fr-FR" sz="5400" dirty="0">
                <a:solidFill>
                  <a:srgbClr val="FFFFFF"/>
                </a:solidFill>
              </a:rPr>
              <a:t>  </a:t>
            </a:r>
            <a:r>
              <a:rPr lang="fr-FR" sz="3600" b="1" dirty="0">
                <a:solidFill>
                  <a:srgbClr val="FFFFFF"/>
                </a:solidFill>
                <a:latin typeface="+mn-lt"/>
              </a:rPr>
              <a:t>I/</a:t>
            </a:r>
            <a:r>
              <a:rPr lang="fr-FR" sz="3600" b="1" dirty="0">
                <a:solidFill>
                  <a:schemeClr val="bg1"/>
                </a:solidFill>
                <a:latin typeface="+mn-lt"/>
              </a:rPr>
              <a:t>INTRODUCTION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3200F1-E238-445B-30BF-22E0449F8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922" y="2177170"/>
            <a:ext cx="10735418" cy="4504984"/>
          </a:xfrm>
        </p:spPr>
        <p:txBody>
          <a:bodyPr anchor="ctr">
            <a:normAutofit fontScale="62500" lnSpcReduction="20000"/>
          </a:bodyPr>
          <a:lstStyle/>
          <a:p>
            <a:pPr marL="0" indent="0">
              <a:buNone/>
            </a:pPr>
            <a:r>
              <a:rPr lang="fr-FR" sz="5800" b="1" u="sng" dirty="0">
                <a:solidFill>
                  <a:srgbClr val="FF0000"/>
                </a:solidFill>
              </a:rPr>
              <a:t>   DEFINITION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6000" dirty="0"/>
              <a:t>L’anesthésie générale est un acte médicale qui vise  à procurer au patient un sommeil profond.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6000" dirty="0"/>
              <a:t> Celui ci permettra  la réalisation d’un acte chirurgical en supprimant ou en atténuant les sensations douloureuses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6000" dirty="0"/>
              <a:t>Par décret, elle ne peut être pratiquée que par un médecin anesthésiste-réanimateur.</a:t>
            </a:r>
          </a:p>
          <a:p>
            <a:pPr marL="0" indent="0">
              <a:buNone/>
            </a:pPr>
            <a:r>
              <a:rPr lang="fr-FR" sz="6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6382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AC899A-7F33-FD42-DA58-EF846114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A9EA1100-2B91-4D70-C7F9-A7BDEB8E6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45">
            <a:extLst>
              <a:ext uri="{FF2B5EF4-FFF2-40B4-BE49-F238E27FC236}">
                <a16:creationId xmlns:a16="http://schemas.microsoft.com/office/drawing/2014/main" id="{32F6F2FF-08C6-77F7-F6CA-A0054BE6C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46">
            <a:extLst>
              <a:ext uri="{FF2B5EF4-FFF2-40B4-BE49-F238E27FC236}">
                <a16:creationId xmlns:a16="http://schemas.microsoft.com/office/drawing/2014/main" id="{026BA081-4A0A-8534-DC1F-572809252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52663E9-5298-2304-BEEF-507199ABE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5B73521A-05ED-7AF7-B3F4-6174E7289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0D1259-2E09-FAF1-A0C4-4742BCE0E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6E4994-DF69-6710-ACB2-4C5DA6721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177170"/>
            <a:ext cx="9708995" cy="4504984"/>
          </a:xfrm>
        </p:spPr>
        <p:txBody>
          <a:bodyPr anchor="ctr">
            <a:normAutofit fontScale="55000" lnSpcReduction="20000"/>
          </a:bodyPr>
          <a:lstStyle/>
          <a:p>
            <a:pPr marL="0" indent="0">
              <a:buNone/>
            </a:pPr>
            <a:r>
              <a:rPr lang="fr-FR" sz="6000" dirty="0">
                <a:solidFill>
                  <a:srgbClr val="FF0000"/>
                </a:solidFill>
                <a:latin typeface="Arial Black" panose="020B0A04020102020204" pitchFamily="34" charset="0"/>
              </a:rPr>
              <a:t>HISTORIQUE</a:t>
            </a:r>
            <a:r>
              <a:rPr lang="fr-FR" sz="60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fr-FR" sz="6000" u="sng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571500" indent="61913">
              <a:buFont typeface="Wingdings" panose="05000000000000000000" pitchFamily="2" charset="2"/>
              <a:buChar char="§"/>
            </a:pPr>
            <a:r>
              <a:rPr lang="fr-FR" sz="6000" dirty="0"/>
              <a:t> Docteur Wells(dentiste) était le premier à réaliser une anesthésie générale</a:t>
            </a:r>
          </a:p>
          <a:p>
            <a:pPr marL="633413" indent="0">
              <a:buFont typeface="Wingdings" panose="05000000000000000000" pitchFamily="2" charset="2"/>
              <a:buChar char="§"/>
            </a:pPr>
            <a:r>
              <a:rPr lang="fr-FR" sz="6000" dirty="0"/>
              <a:t>  IL découvrit les vertus analgésiantes du protoxyde d’azote qu’il utilisa pour les   extractions dentaires. </a:t>
            </a:r>
          </a:p>
          <a:p>
            <a:pPr marL="633413" indent="0">
              <a:buFont typeface="Wingdings" panose="05000000000000000000" pitchFamily="2" charset="2"/>
              <a:buChar char="§"/>
            </a:pPr>
            <a:r>
              <a:rPr lang="fr-FR" sz="6000" dirty="0"/>
              <a:t>Le premier acte chirurgical concernait l’exérèse d’ une tumeur bénigne du plancher buccal  et a été  effectué par Morton sous anesthésie générale </a:t>
            </a:r>
          </a:p>
          <a:p>
            <a:pPr marL="0" indent="0">
              <a:buNone/>
            </a:pPr>
            <a:r>
              <a:rPr lang="fr-FR" sz="6000" dirty="0"/>
              <a:t> 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9CAF0C8-1BD2-B9F8-B5F9-B38A3D07F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800100"/>
            <a:ext cx="10264775" cy="1212850"/>
          </a:xfrm>
        </p:spPr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FF"/>
                </a:solidFill>
              </a:rPr>
              <a:t>  </a:t>
            </a:r>
            <a:r>
              <a:rPr lang="fr-FR" sz="3600" dirty="0">
                <a:solidFill>
                  <a:srgbClr val="FFFFFF"/>
                </a:solidFill>
                <a:latin typeface="+mn-lt"/>
              </a:rPr>
              <a:t>I/</a:t>
            </a:r>
            <a:r>
              <a:rPr lang="fr-FR" sz="3600" dirty="0">
                <a:solidFill>
                  <a:schemeClr val="bg1"/>
                </a:solidFill>
                <a:latin typeface="+mn-lt"/>
              </a:rPr>
              <a:t>I</a:t>
            </a:r>
            <a:r>
              <a:rPr lang="fr-FR" sz="3600" b="1" dirty="0">
                <a:solidFill>
                  <a:schemeClr val="bg1"/>
                </a:solidFill>
                <a:latin typeface="+mn-lt"/>
              </a:rPr>
              <a:t>NTRODUCTION </a:t>
            </a:r>
          </a:p>
        </p:txBody>
      </p:sp>
    </p:spTree>
    <p:extLst>
      <p:ext uri="{BB962C8B-B14F-4D97-AF65-F5344CB8AC3E}">
        <p14:creationId xmlns:p14="http://schemas.microsoft.com/office/powerpoint/2010/main" val="3625938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pPr algn="ctr"/>
            <a:r>
              <a:rPr lang="fr-FR" sz="3600" b="1" dirty="0">
                <a:solidFill>
                  <a:srgbClr val="FFFFFF"/>
                </a:solidFill>
                <a:latin typeface="+mn-lt"/>
              </a:rPr>
              <a:t>II/PROTOCOLE ET SECURITE DE L’ANESTHESIE GENERALE      </a:t>
            </a:r>
            <a:r>
              <a:rPr lang="fr-FR" sz="3600" b="1" dirty="0">
                <a:solidFill>
                  <a:schemeClr val="bg1"/>
                </a:solidFill>
                <a:latin typeface="+mn-lt"/>
              </a:rPr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19322" y="2177170"/>
            <a:ext cx="10103881" cy="4378375"/>
          </a:xfrm>
        </p:spPr>
        <p:txBody>
          <a:bodyPr anchor="t">
            <a:normAutofit lnSpcReduction="10000"/>
          </a:bodyPr>
          <a:lstStyle/>
          <a:p>
            <a:pPr marL="0" lvl="1" indent="457200">
              <a:lnSpc>
                <a:spcPct val="100000"/>
              </a:lnSpc>
              <a:buNone/>
            </a:pPr>
            <a:endParaRPr lang="fr-FR" sz="1100" dirty="0"/>
          </a:p>
          <a:p>
            <a:pPr marL="342900" lvl="1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dirty="0"/>
              <a:t>Les produits anesthésiants peuvent être inhalés ou directement injectés  en intra-veineux . </a:t>
            </a:r>
          </a:p>
          <a:p>
            <a:pPr marL="342900" lvl="1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dirty="0"/>
              <a:t>Les  patients  doivent être à jeun  pour éviter que le contenu gastrique  </a:t>
            </a:r>
            <a:r>
              <a:rPr lang="fr-FR" u="sng" dirty="0"/>
              <a:t> </a:t>
            </a:r>
            <a:r>
              <a:rPr lang="fr-FR" dirty="0"/>
              <a:t>ne s'écoule dans les voies respiratoires.</a:t>
            </a:r>
          </a:p>
          <a:p>
            <a:pPr marL="342900" lvl="1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dirty="0"/>
              <a:t>Sous anesthésie générale  le  patient n'a plus les réflexes de protection de ses voies aériennes .</a:t>
            </a:r>
            <a:endParaRPr lang="fr-FR" sz="1100" dirty="0"/>
          </a:p>
          <a:p>
            <a:pPr marL="342900" lvl="1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600" dirty="0"/>
              <a:t>Le patient doit être surveillé en permanence .  </a:t>
            </a:r>
          </a:p>
          <a:p>
            <a:pPr marL="342900" lvl="1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600" dirty="0"/>
              <a:t> L</a:t>
            </a:r>
            <a:r>
              <a:rPr lang="fr-FR" dirty="0"/>
              <a:t>es fonctions vitales du patient  sont  maintenues artificiellement : respiration, hémodynamique (circulation du sang), thermorégulation, </a:t>
            </a:r>
            <a:r>
              <a:rPr lang="fr-FR" sz="1500" dirty="0"/>
              <a:t>   </a:t>
            </a:r>
          </a:p>
          <a:p>
            <a:pPr marL="0" indent="0">
              <a:buNone/>
            </a:pPr>
            <a:r>
              <a:rPr lang="fr-FR" sz="1500" dirty="0"/>
              <a:t>               </a:t>
            </a:r>
          </a:p>
          <a:p>
            <a:pPr marL="0" indent="0">
              <a:buNone/>
            </a:pPr>
            <a:r>
              <a:rPr lang="fr-FR" sz="1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4002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098746"/>
          </a:xfrm>
        </p:spPr>
        <p:txBody>
          <a:bodyPr>
            <a:normAutofit/>
          </a:bodyPr>
          <a:lstStyle/>
          <a:p>
            <a:pPr algn="ctr"/>
            <a:br>
              <a:rPr lang="fr-FR" sz="2500" dirty="0">
                <a:solidFill>
                  <a:srgbClr val="FFFFFF"/>
                </a:solidFill>
              </a:rPr>
            </a:br>
            <a:r>
              <a:rPr lang="fr-FR" sz="3600" b="1" dirty="0">
                <a:solidFill>
                  <a:srgbClr val="FFFFFF"/>
                </a:solidFill>
                <a:latin typeface="+mn-lt"/>
              </a:rPr>
              <a:t>III-INDICATION DE L’ANESTHESIE GENERALE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19322" y="2177172"/>
            <a:ext cx="9708995" cy="435023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FR" sz="3600" b="1" u="sng" dirty="0">
                <a:solidFill>
                  <a:srgbClr val="FF0000"/>
                </a:solidFill>
              </a:rPr>
              <a:t>1/Indications Liées à l’état général du patient:</a:t>
            </a:r>
          </a:p>
          <a:p>
            <a:r>
              <a:rPr lang="fr-FR" dirty="0"/>
              <a:t>Conditions comportementales empêchant tout   traitement  bucco-dentaire à l’état vigil  ou  après échec du traitement sous </a:t>
            </a:r>
            <a:r>
              <a:rPr lang="fr-FR" dirty="0" err="1"/>
              <a:t>anésthésie</a:t>
            </a:r>
            <a:r>
              <a:rPr lang="fr-FR" dirty="0"/>
              <a:t> loco-régionale .</a:t>
            </a:r>
          </a:p>
          <a:p>
            <a:r>
              <a:rPr lang="fr-FR" dirty="0"/>
              <a:t>Chirurgie lourde  en  carcinologie </a:t>
            </a:r>
          </a:p>
          <a:p>
            <a:r>
              <a:rPr lang="fr-FR" dirty="0"/>
              <a:t>Limitation d’ouverture buccale interdisant tout traitement immédiat </a:t>
            </a:r>
          </a:p>
          <a:p>
            <a:r>
              <a:rPr lang="fr-FR" dirty="0"/>
              <a:t>Reflexes nauséeux prononcés </a:t>
            </a:r>
          </a:p>
          <a:p>
            <a:r>
              <a:rPr lang="fr-FR" dirty="0"/>
              <a:t>Patient immature ou handicapé 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endParaRPr lang="fr-FR" sz="1700" dirty="0"/>
          </a:p>
        </p:txBody>
      </p:sp>
    </p:spTree>
    <p:extLst>
      <p:ext uri="{BB962C8B-B14F-4D97-AF65-F5344CB8AC3E}">
        <p14:creationId xmlns:p14="http://schemas.microsoft.com/office/powerpoint/2010/main" val="44637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67624" y="2177170"/>
            <a:ext cx="9708995" cy="3880439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b="1" u="sng" dirty="0">
                <a:solidFill>
                  <a:srgbClr val="FF0000"/>
                </a:solidFill>
              </a:rPr>
              <a:t>2/INDICATIONS LIES A L’INTERVENTION :</a:t>
            </a:r>
          </a:p>
          <a:p>
            <a:r>
              <a:rPr lang="fr-FR" dirty="0"/>
              <a:t>Interventions longues, complexes, regroupement de plusieurs actes en une même séance.</a:t>
            </a:r>
          </a:p>
          <a:p>
            <a:r>
              <a:rPr lang="fr-FR" dirty="0"/>
              <a:t>Etat infectieux locorégional nécessitant d’intervenir en urgence   </a:t>
            </a:r>
          </a:p>
          <a:p>
            <a:r>
              <a:rPr lang="fr-FR" dirty="0"/>
              <a:t>      (par exemple: geste associé de drainage et/ou débridement-extractions dans le cadre d’une ostéo-radionécrose)</a:t>
            </a:r>
          </a:p>
          <a:p>
            <a:endParaRPr lang="fr-FR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endParaRPr lang="fr-FR" sz="20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2E8EEB1-4060-811C-3207-786DBFBB1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800100"/>
            <a:ext cx="10264775" cy="1212850"/>
          </a:xfrm>
        </p:spPr>
        <p:txBody>
          <a:bodyPr>
            <a:normAutofit/>
          </a:bodyPr>
          <a:lstStyle/>
          <a:p>
            <a:pPr algn="ctr"/>
            <a:br>
              <a:rPr lang="fr-FR" sz="2500" dirty="0">
                <a:solidFill>
                  <a:srgbClr val="FFFFFF"/>
                </a:solidFill>
              </a:rPr>
            </a:br>
            <a:endParaRPr lang="fr-FR" sz="2500" dirty="0">
              <a:solidFill>
                <a:srgbClr val="FFFFFF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55B1B42-0B85-35BA-F7AC-0372313708CF}"/>
              </a:ext>
            </a:extLst>
          </p:cNvPr>
          <p:cNvSpPr txBox="1">
            <a:spLocks/>
          </p:cNvSpPr>
          <p:nvPr/>
        </p:nvSpPr>
        <p:spPr>
          <a:xfrm>
            <a:off x="958506" y="800392"/>
            <a:ext cx="10264697" cy="1098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fr-FR" sz="2500" dirty="0">
                <a:solidFill>
                  <a:srgbClr val="FFFFFF"/>
                </a:solidFill>
              </a:rPr>
            </a:br>
            <a:r>
              <a:rPr lang="fr-FR" sz="3600" b="1" dirty="0">
                <a:solidFill>
                  <a:srgbClr val="FFFFFF"/>
                </a:solidFill>
                <a:latin typeface="+mn-lt"/>
              </a:rPr>
              <a:t>III-INDICATION DE L’ANESTHESIE GENERALE </a:t>
            </a:r>
          </a:p>
        </p:txBody>
      </p:sp>
    </p:spTree>
    <p:extLst>
      <p:ext uri="{BB962C8B-B14F-4D97-AF65-F5344CB8AC3E}">
        <p14:creationId xmlns:p14="http://schemas.microsoft.com/office/powerpoint/2010/main" val="2463484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4BCB7F-8C12-AF57-156D-A7103E877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40B987-63FB-7708-8CDD-F8F263005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6B05B337-2183-0539-F659-D7EC0EC37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4336024B-95E3-FEB1-F7D6-A1262B2A1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B3B74372-8533-8E21-6CC2-2DC8A095C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8F7036B1-76B3-7BED-89EE-9F4B8D752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BA5107-5CB3-FC68-D5C9-93628B259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CB927C-ABB3-819D-EDF9-96FD691C6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177170"/>
            <a:ext cx="9708995" cy="388043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2600" b="1" u="sng" dirty="0">
                <a:solidFill>
                  <a:srgbClr val="FF0000"/>
                </a:solidFill>
              </a:rPr>
              <a:t>3/INDICATIONS LIEES  A L’ANESTHESIE LOCALE </a:t>
            </a:r>
            <a:r>
              <a:rPr lang="fr-FR" sz="2000" dirty="0"/>
              <a:t>:</a:t>
            </a:r>
          </a:p>
          <a:p>
            <a:r>
              <a:rPr lang="fr-FR" sz="3000" dirty="0"/>
              <a:t>Impossibilité d’atteindre un niveau d’anesthésie locale suffisant âpres des tentatives au cours de plusieurs séances.</a:t>
            </a:r>
          </a:p>
          <a:p>
            <a:r>
              <a:rPr lang="fr-FR" sz="3000" dirty="0"/>
              <a:t>Contre indication à l’ anesthésie locale 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endParaRPr lang="fr-FR" sz="20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E659473-2DEB-BC01-4F50-DED9D5473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800100"/>
            <a:ext cx="10264775" cy="1212850"/>
          </a:xfrm>
        </p:spPr>
        <p:txBody>
          <a:bodyPr>
            <a:normAutofit/>
          </a:bodyPr>
          <a:lstStyle/>
          <a:p>
            <a:pPr algn="ctr"/>
            <a:br>
              <a:rPr lang="fr-FR" sz="2500" dirty="0">
                <a:solidFill>
                  <a:srgbClr val="FFFFFF"/>
                </a:solidFill>
              </a:rPr>
            </a:br>
            <a:endParaRPr lang="fr-FR" sz="2500" dirty="0">
              <a:solidFill>
                <a:srgbClr val="FFFFFF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6E1977-501F-9E65-E0DF-D2004FD98F13}"/>
              </a:ext>
            </a:extLst>
          </p:cNvPr>
          <p:cNvSpPr txBox="1">
            <a:spLocks/>
          </p:cNvSpPr>
          <p:nvPr/>
        </p:nvSpPr>
        <p:spPr>
          <a:xfrm>
            <a:off x="958506" y="800392"/>
            <a:ext cx="10264697" cy="1098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fr-FR" sz="2500" dirty="0">
                <a:solidFill>
                  <a:srgbClr val="FFFFFF"/>
                </a:solidFill>
              </a:rPr>
            </a:br>
            <a:r>
              <a:rPr lang="fr-FR" sz="3600" b="1" dirty="0">
                <a:solidFill>
                  <a:srgbClr val="FFFFFF"/>
                </a:solidFill>
                <a:latin typeface="+mn-lt"/>
              </a:rPr>
              <a:t>III-INDICATION DE L’ANESTHESIE GENERALE </a:t>
            </a:r>
          </a:p>
        </p:txBody>
      </p:sp>
    </p:spTree>
    <p:extLst>
      <p:ext uri="{BB962C8B-B14F-4D97-AF65-F5344CB8AC3E}">
        <p14:creationId xmlns:p14="http://schemas.microsoft.com/office/powerpoint/2010/main" val="1923699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027034-D1B0-408D-85BA-7377CEBB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fr-FR" sz="3600" b="1" dirty="0">
                <a:solidFill>
                  <a:srgbClr val="FFFFFF"/>
                </a:solidFill>
                <a:latin typeface="+mn-lt"/>
              </a:rPr>
              <a:t>IV- </a:t>
            </a:r>
            <a:r>
              <a:rPr lang="fr-FR" sz="3600" b="1" dirty="0">
                <a:solidFill>
                  <a:schemeClr val="bg1"/>
                </a:solidFill>
                <a:latin typeface="+mn-lt"/>
              </a:rPr>
              <a:t>CONTRE INDICATION  A L’ANESTHESIE GENERALE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BB2BE4-078E-4634-B8E8-46191A057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506" y="2197100"/>
            <a:ext cx="10264697" cy="431800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fr-FR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Risque anesthésique  majeur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Refus du patient et/ou des parents ou de son représentant légal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D’où recommandations pour toute anesthésie générale: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-Dans la mesure du possible l’anesthésie locale doit être privilégiée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-Le rapport bénéfice risque doit être évalué pour l’anesthésie générale avant d’en poser l’indication: consultation pré anesthésique et information du patient.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094076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B93AF3-02EB-563F-C03B-6F2BC30E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5F0C69-5877-4A43-8D3E-3A9CE6686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BC1928B2-5E5A-42F9-C920-902DA52AC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12305D35-D1E2-3AE1-F952-723B4636A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AEF1AC8E-C697-E7A8-5A9A-19F31B6CD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05330F75-0354-A84C-BE93-581FFA638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1BE990-0711-36BF-A81C-EC1F3D09A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8FCF33-5676-00E5-002B-89435FEA1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Autofit/>
          </a:bodyPr>
          <a:lstStyle/>
          <a:p>
            <a:pPr algn="ctr"/>
            <a:br>
              <a:rPr lang="fr-FR" b="1" dirty="0">
                <a:highlight>
                  <a:srgbClr val="FFFF00"/>
                </a:highlight>
                <a:latin typeface="+mn-lt"/>
              </a:rPr>
            </a:br>
            <a:r>
              <a:rPr lang="fr-FR" sz="3600" b="1" dirty="0">
                <a:solidFill>
                  <a:schemeClr val="bg1"/>
                </a:solidFill>
                <a:latin typeface="+mn-lt"/>
              </a:rPr>
              <a:t>V/CRITÈRES  DE L’ ANESTHESIE GÉNÉRALE </a:t>
            </a:r>
            <a:br>
              <a:rPr lang="fr-FR" sz="3600" dirty="0">
                <a:solidFill>
                  <a:schemeClr val="bg1"/>
                </a:solidFill>
                <a:latin typeface="+mn-lt"/>
              </a:rPr>
            </a:br>
            <a:endParaRPr lang="fr-FR" sz="3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E1B876-1BC8-9769-11AA-D4CEABC40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935" y="2177170"/>
            <a:ext cx="10969355" cy="451573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3600" b="1" u="sng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fr-FR" sz="2900" dirty="0"/>
              <a:t> l’ AG comporte  4  composantes:</a:t>
            </a:r>
          </a:p>
          <a:p>
            <a:pPr marL="0" indent="0">
              <a:buNone/>
            </a:pPr>
            <a:r>
              <a:rPr lang="fr-FR" sz="2900" dirty="0">
                <a:solidFill>
                  <a:srgbClr val="FF0000"/>
                </a:solidFill>
              </a:rPr>
              <a:t>    </a:t>
            </a:r>
            <a:r>
              <a:rPr lang="fr-FR" sz="2900" dirty="0">
                <a:solidFill>
                  <a:srgbClr val="0070C0"/>
                </a:solidFill>
              </a:rPr>
              <a:t>1- </a:t>
            </a:r>
            <a:r>
              <a:rPr lang="fr-FR" sz="2900" b="1" dirty="0">
                <a:solidFill>
                  <a:srgbClr val="0070C0"/>
                </a:solidFill>
              </a:rPr>
              <a:t>Narcose ou Ataraxie</a:t>
            </a:r>
            <a:r>
              <a:rPr lang="fr-FR" sz="2900" dirty="0"/>
              <a:t>: Perte de conscience profonde nécessitant </a:t>
            </a:r>
          </a:p>
          <a:p>
            <a:pPr marL="0" indent="0">
              <a:buNone/>
            </a:pPr>
            <a:r>
              <a:rPr lang="fr-FR" sz="2900" dirty="0"/>
              <a:t>         une  intubation endotrachéale</a:t>
            </a:r>
          </a:p>
          <a:p>
            <a:pPr marL="0" indent="0">
              <a:buNone/>
            </a:pPr>
            <a:r>
              <a:rPr lang="fr-FR" sz="2900" b="1" dirty="0">
                <a:solidFill>
                  <a:srgbClr val="FF0000"/>
                </a:solidFill>
              </a:rPr>
              <a:t>   </a:t>
            </a:r>
            <a:r>
              <a:rPr lang="fr-FR" sz="2900" b="1" dirty="0">
                <a:solidFill>
                  <a:srgbClr val="0070C0"/>
                </a:solidFill>
              </a:rPr>
              <a:t>2-Analgésie centrale</a:t>
            </a:r>
            <a:r>
              <a:rPr lang="fr-FR" sz="2900" dirty="0"/>
              <a:t>: Perte de la sensibilité</a:t>
            </a:r>
          </a:p>
          <a:p>
            <a:pPr marL="0" indent="0">
              <a:buNone/>
            </a:pPr>
            <a:r>
              <a:rPr lang="fr-FR" sz="2900" dirty="0"/>
              <a:t>   </a:t>
            </a:r>
            <a:r>
              <a:rPr lang="fr-FR" sz="2900" b="1" dirty="0">
                <a:solidFill>
                  <a:srgbClr val="0070C0"/>
                </a:solidFill>
              </a:rPr>
              <a:t>3-Relâchement musculaire</a:t>
            </a:r>
            <a:r>
              <a:rPr lang="fr-FR" sz="2900" dirty="0"/>
              <a:t>: myorelaxation</a:t>
            </a:r>
          </a:p>
          <a:p>
            <a:pPr marL="0" indent="0">
              <a:buNone/>
            </a:pPr>
            <a:r>
              <a:rPr lang="fr-FR" sz="2900" dirty="0"/>
              <a:t>   </a:t>
            </a:r>
            <a:r>
              <a:rPr lang="fr-FR" sz="2900" b="1" dirty="0">
                <a:solidFill>
                  <a:srgbClr val="0070C0"/>
                </a:solidFill>
              </a:rPr>
              <a:t>4-Protection neurovégétative</a:t>
            </a:r>
          </a:p>
          <a:p>
            <a:endParaRPr lang="fr-FR" sz="170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7C7E751A-4F65-C0AA-ECEC-7EBFC0B1A1A8}"/>
              </a:ext>
            </a:extLst>
          </p:cNvPr>
          <p:cNvSpPr txBox="1">
            <a:spLocks/>
          </p:cNvSpPr>
          <p:nvPr/>
        </p:nvSpPr>
        <p:spPr>
          <a:xfrm>
            <a:off x="640082" y="800392"/>
            <a:ext cx="10889507" cy="12121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fr-FR" b="1" dirty="0">
                <a:highlight>
                  <a:srgbClr val="FFFF00"/>
                </a:highlight>
                <a:latin typeface="+mn-lt"/>
              </a:rPr>
            </a:br>
            <a:endParaRPr lang="fr-FR" dirty="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7111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58506" y="800391"/>
            <a:ext cx="10264697" cy="1541457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4000" dirty="0">
                <a:highlight>
                  <a:srgbClr val="FFFF00"/>
                </a:highlight>
                <a:latin typeface="+mn-lt"/>
              </a:rPr>
            </a:br>
            <a:r>
              <a:rPr lang="fr-FR" sz="4000" dirty="0">
                <a:latin typeface="+mn-lt"/>
              </a:rPr>
              <a:t> </a:t>
            </a:r>
            <a:r>
              <a:rPr lang="fr-FR" sz="4000" b="1" dirty="0">
                <a:solidFill>
                  <a:schemeClr val="bg1"/>
                </a:solidFill>
                <a:latin typeface="+mn-lt"/>
              </a:rPr>
              <a:t>VI/SPECIFICITE DE L’ANESTHESIE GENERALE EN ODONTOSTOMATOLOGIE</a:t>
            </a:r>
            <a:br>
              <a:rPr lang="fr-FR" sz="4000" dirty="0">
                <a:solidFill>
                  <a:srgbClr val="FFFFFF"/>
                </a:solidFill>
              </a:rPr>
            </a:br>
            <a:endParaRPr lang="fr-FR" sz="4000" dirty="0">
              <a:solidFill>
                <a:srgbClr val="FFFFFF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0082" y="2177172"/>
            <a:ext cx="10907258" cy="468082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2400" b="1" u="sng" dirty="0">
                <a:solidFill>
                  <a:srgbClr val="FF0000"/>
                </a:solidFill>
              </a:rPr>
              <a:t>1/Le territoire d’intervention </a:t>
            </a:r>
            <a:r>
              <a:rPr lang="fr-FR" sz="1500" dirty="0"/>
              <a:t>:</a:t>
            </a:r>
          </a:p>
          <a:p>
            <a:pPr marL="717550" indent="0">
              <a:buFont typeface="Wingdings" panose="05000000000000000000" pitchFamily="2" charset="2"/>
              <a:buChar char="§"/>
            </a:pPr>
            <a:r>
              <a:rPr lang="fr-FR" sz="2400" dirty="0"/>
              <a:t>  </a:t>
            </a:r>
            <a:r>
              <a:rPr lang="fr-FR" sz="2400" b="1" dirty="0"/>
              <a:t>Le siège céphalique d’une intervention en odontostomatologie est commun à l’anesthésiste ,à l’odontologiste et au stomatologue.</a:t>
            </a:r>
          </a:p>
          <a:p>
            <a:pPr marL="717550" indent="0">
              <a:buFont typeface="Wingdings" panose="05000000000000000000" pitchFamily="2" charset="2"/>
              <a:buChar char="§"/>
            </a:pPr>
            <a:r>
              <a:rPr lang="fr-FR" sz="2400" b="1" dirty="0"/>
              <a:t>  Les impératifs de la chirurgie céphalique :  </a:t>
            </a:r>
          </a:p>
          <a:p>
            <a:pPr marL="0" indent="0">
              <a:buNone/>
            </a:pPr>
            <a:r>
              <a:rPr lang="fr-FR" sz="2400" b="1" dirty="0"/>
              <a:t>                     -Le contrôle des voies aériennes supérieures</a:t>
            </a:r>
          </a:p>
          <a:p>
            <a:pPr marL="0" indent="0">
              <a:buNone/>
            </a:pPr>
            <a:r>
              <a:rPr lang="fr-FR" sz="2400" b="1" dirty="0"/>
              <a:t>                     -Le contrôle de la fiabilité de la sonde d’intubation</a:t>
            </a:r>
          </a:p>
          <a:p>
            <a:pPr marL="0" indent="0">
              <a:buNone/>
            </a:pPr>
            <a:r>
              <a:rPr lang="fr-FR" sz="2400" b="1" dirty="0"/>
              <a:t>                     -L’installation ergonomique du matériel et du monitorage </a:t>
            </a:r>
          </a:p>
          <a:p>
            <a:pPr marL="0" indent="0">
              <a:buNone/>
            </a:pPr>
            <a:r>
              <a:rPr lang="fr-FR" sz="2400" b="1" dirty="0"/>
              <a:t>                      -La protection oculaire</a:t>
            </a:r>
          </a:p>
          <a:p>
            <a:pPr marL="0" indent="0">
              <a:buNone/>
            </a:pPr>
            <a:r>
              <a:rPr lang="fr-FR" sz="2400" b="1" dirty="0"/>
              <a:t>                       -La coopération  entre l’anesthésiste et l’opérateur. </a:t>
            </a:r>
          </a:p>
        </p:txBody>
      </p:sp>
    </p:spTree>
    <p:extLst>
      <p:ext uri="{BB962C8B-B14F-4D97-AF65-F5344CB8AC3E}">
        <p14:creationId xmlns:p14="http://schemas.microsoft.com/office/powerpoint/2010/main" val="1158735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4E06B-C133-1243-56FD-7CB1790EB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09D7CD-754D-7C1E-746F-D265E9823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A7F7E19C-9EDF-3940-595F-899E79907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B503CE51-592C-D766-0C32-4D8EB992C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023BACCB-F02D-FF2C-7F48-F18CE7EF5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328C6F2C-0055-C3F4-189D-E453AEED6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876B88-FA99-FA3F-F14C-B1D9B85D2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C4977CD-3069-0CD4-4B08-6692C7458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br>
              <a:rPr lang="fr-FR" sz="4000" b="1" dirty="0">
                <a:solidFill>
                  <a:srgbClr val="FFFFFF"/>
                </a:solidFill>
                <a:latin typeface="+mn-lt"/>
              </a:rPr>
            </a:br>
            <a:endParaRPr lang="fr-FR" sz="4000" b="1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E57DA3-29F7-7860-843B-6E38DCC89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341848"/>
            <a:ext cx="9708995" cy="451615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700" dirty="0"/>
          </a:p>
          <a:p>
            <a:pPr marL="0" indent="0">
              <a:buNone/>
            </a:pPr>
            <a:r>
              <a:rPr lang="fr-FR" sz="3200" b="1" u="sng" dirty="0">
                <a:solidFill>
                  <a:srgbClr val="FF0000"/>
                </a:solidFill>
              </a:rPr>
              <a:t>2/Les modalités d’intubation</a:t>
            </a:r>
          </a:p>
          <a:p>
            <a:r>
              <a:rPr lang="fr-FR" sz="3200" b="1" dirty="0"/>
              <a:t>L’intubation nasotrachéale présente l’avantage de libérer la cavité buccale et de diminuer le risque d’extubation accidentelle.</a:t>
            </a:r>
          </a:p>
          <a:p>
            <a:r>
              <a:rPr lang="fr-FR" sz="3200" b="1" dirty="0"/>
              <a:t>L’intubation orotrachéale .</a:t>
            </a:r>
          </a:p>
          <a:p>
            <a:r>
              <a:rPr lang="fr-FR" sz="3200" b="1" dirty="0"/>
              <a:t>La mise en place d’ un packing bucco-pharyngé </a:t>
            </a:r>
            <a:r>
              <a:rPr lang="fr-FR" sz="3200" b="1" dirty="0" err="1"/>
              <a:t>evite</a:t>
            </a:r>
            <a:r>
              <a:rPr lang="fr-FR" sz="3200" b="1" dirty="0"/>
              <a:t> le passage d’ eau ou de projection vers les voies aériennes et digestives </a:t>
            </a:r>
          </a:p>
          <a:p>
            <a:pPr marL="0" indent="0">
              <a:buNone/>
            </a:pPr>
            <a:endParaRPr lang="fr-FR" sz="3200" b="1" dirty="0"/>
          </a:p>
          <a:p>
            <a:pPr marL="0" indent="0">
              <a:buNone/>
            </a:pPr>
            <a:endParaRPr lang="fr-FR" sz="17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F28874B-1B77-01E5-373D-2CD71DCDBF53}"/>
              </a:ext>
            </a:extLst>
          </p:cNvPr>
          <p:cNvSpPr txBox="1">
            <a:spLocks/>
          </p:cNvSpPr>
          <p:nvPr/>
        </p:nvSpPr>
        <p:spPr>
          <a:xfrm>
            <a:off x="958506" y="800391"/>
            <a:ext cx="10264697" cy="1541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fr-FR" sz="4000" dirty="0">
                <a:highlight>
                  <a:srgbClr val="FFFF00"/>
                </a:highlight>
                <a:latin typeface="+mn-lt"/>
              </a:rPr>
            </a:br>
            <a:r>
              <a:rPr lang="fr-FR" sz="4000" dirty="0">
                <a:latin typeface="+mn-lt"/>
              </a:rPr>
              <a:t> </a:t>
            </a:r>
            <a:r>
              <a:rPr lang="fr-FR" sz="4000" b="1" dirty="0">
                <a:solidFill>
                  <a:schemeClr val="bg1"/>
                </a:solidFill>
                <a:latin typeface="+mn-lt"/>
              </a:rPr>
              <a:t>VI/SPECIFICITE DE L’ANESTHESIE GENERALE </a:t>
            </a:r>
            <a:br>
              <a:rPr lang="fr-FR" sz="4000" dirty="0">
                <a:solidFill>
                  <a:srgbClr val="FFFFFF"/>
                </a:solidFill>
              </a:rPr>
            </a:br>
            <a:endParaRPr lang="fr-FR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25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br>
              <a:rPr lang="fr-FR" sz="4000" b="1" dirty="0">
                <a:solidFill>
                  <a:srgbClr val="FFFFFF"/>
                </a:solidFill>
                <a:latin typeface="+mn-lt"/>
              </a:rPr>
            </a:br>
            <a:endParaRPr lang="fr-FR" sz="4000" b="1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12936" y="2341848"/>
            <a:ext cx="10885534" cy="4516152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fr-FR" sz="3600" u="sng" dirty="0">
                <a:solidFill>
                  <a:srgbClr val="FF0000"/>
                </a:solidFill>
              </a:rPr>
              <a:t>3/Le masque laryngé:</a:t>
            </a:r>
          </a:p>
          <a:p>
            <a:r>
              <a:rPr lang="fr-FR" sz="3600" dirty="0"/>
              <a:t> Plus </a:t>
            </a:r>
            <a:r>
              <a:rPr lang="fr-FR" sz="3600" dirty="0" err="1"/>
              <a:t>simple,plus</a:t>
            </a:r>
            <a:r>
              <a:rPr lang="fr-FR" sz="3600" dirty="0"/>
              <a:t> performant que le masque</a:t>
            </a:r>
          </a:p>
          <a:p>
            <a:pPr marL="0" indent="0">
              <a:buNone/>
            </a:pPr>
            <a:r>
              <a:rPr lang="fr-FR" sz="3600" dirty="0"/>
              <a:t> facial</a:t>
            </a:r>
          </a:p>
          <a:p>
            <a:r>
              <a:rPr lang="fr-FR" sz="3600" dirty="0"/>
              <a:t>  Permet une anesthésie en ventilation </a:t>
            </a:r>
          </a:p>
          <a:p>
            <a:pPr marL="0" indent="0">
              <a:buNone/>
            </a:pPr>
            <a:r>
              <a:rPr lang="fr-FR" sz="3600" dirty="0"/>
              <a:t>spontanée ou assistée</a:t>
            </a:r>
          </a:p>
          <a:p>
            <a:r>
              <a:rPr lang="fr-FR" sz="3600" dirty="0"/>
              <a:t> Le  masque laryngé ne protège pas les voies </a:t>
            </a:r>
          </a:p>
          <a:p>
            <a:pPr marL="0" indent="0">
              <a:buNone/>
            </a:pPr>
            <a:r>
              <a:rPr lang="fr-FR" sz="3600" dirty="0"/>
              <a:t>aériennes supérieures en cas de vomissements ou de régurgitations .</a:t>
            </a:r>
          </a:p>
          <a:p>
            <a:endParaRPr lang="fr-FR" sz="3600" dirty="0"/>
          </a:p>
          <a:p>
            <a:pPr marL="0" indent="0">
              <a:buNone/>
            </a:pPr>
            <a:endParaRPr lang="fr-FR" sz="17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77A53EF-42FF-7415-4DEF-092CE77943D8}"/>
              </a:ext>
            </a:extLst>
          </p:cNvPr>
          <p:cNvSpPr txBox="1">
            <a:spLocks/>
          </p:cNvSpPr>
          <p:nvPr/>
        </p:nvSpPr>
        <p:spPr>
          <a:xfrm>
            <a:off x="958506" y="800391"/>
            <a:ext cx="10264697" cy="15414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b="1" dirty="0">
                <a:solidFill>
                  <a:schemeClr val="bg1"/>
                </a:solidFill>
                <a:latin typeface="+mn-lt"/>
              </a:rPr>
              <a:t>VI/SPECIFICITE </a:t>
            </a:r>
            <a:br>
              <a:rPr lang="fr-FR" sz="3600" dirty="0">
                <a:highlight>
                  <a:srgbClr val="FFFF00"/>
                </a:highlight>
                <a:latin typeface="+mn-lt"/>
              </a:rPr>
            </a:br>
            <a:r>
              <a:rPr lang="fr-FR" sz="3600" b="1" dirty="0">
                <a:solidFill>
                  <a:schemeClr val="bg1"/>
                </a:solidFill>
                <a:latin typeface="+mn-lt"/>
              </a:rPr>
              <a:t>DE L’ANESTHESIE GENERALE </a:t>
            </a:r>
            <a:br>
              <a:rPr lang="fr-FR" sz="3600" dirty="0">
                <a:solidFill>
                  <a:srgbClr val="FFFFFF"/>
                </a:solidFill>
                <a:latin typeface="+mn-lt"/>
              </a:rPr>
            </a:br>
            <a:endParaRPr lang="fr-FR" sz="36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0A5676B-E2FE-3B58-2E7F-CE3AD7AE4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990" y="635714"/>
            <a:ext cx="2273300" cy="320225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37D9E00-C39B-1CD2-B9B9-D14E47073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351687" y="4026900"/>
            <a:ext cx="2609984" cy="242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10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010775"/>
          </a:xfrm>
        </p:spPr>
        <p:txBody>
          <a:bodyPr>
            <a:noAutofit/>
          </a:bodyPr>
          <a:lstStyle/>
          <a:p>
            <a:br>
              <a:rPr lang="fr-FR" sz="4000" b="1" dirty="0">
                <a:highlight>
                  <a:srgbClr val="FFFF00"/>
                </a:highlight>
              </a:rPr>
            </a:br>
            <a:r>
              <a:rPr lang="fr-FR" sz="3600" b="1" dirty="0">
                <a:solidFill>
                  <a:schemeClr val="bg1"/>
                </a:solidFill>
                <a:latin typeface="+mn-lt"/>
              </a:rPr>
              <a:t>VII/LES CONDITIONS REQUISES POUR UNE ANESTHESIE GÉNÉRALE </a:t>
            </a:r>
            <a:br>
              <a:rPr lang="fr-FR" sz="3600" b="1" dirty="0">
                <a:solidFill>
                  <a:schemeClr val="bg1"/>
                </a:solidFill>
                <a:latin typeface="+mn-lt"/>
              </a:rPr>
            </a:br>
            <a:endParaRPr lang="fr-FR" sz="3600" b="1" dirty="0">
              <a:solidFill>
                <a:schemeClr val="bg1"/>
              </a:solidFill>
              <a:highlight>
                <a:srgbClr val="FFFF00"/>
              </a:highlight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67624" y="2177172"/>
            <a:ext cx="9708995" cy="428077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3200" b="1" u="sng" dirty="0">
              <a:solidFill>
                <a:srgbClr val="FF0000"/>
              </a:solidFill>
            </a:endParaRPr>
          </a:p>
          <a:p>
            <a:r>
              <a:rPr lang="fr-FR" dirty="0"/>
              <a:t>Consultation pré-</a:t>
            </a:r>
            <a:r>
              <a:rPr lang="fr-FR" dirty="0" err="1"/>
              <a:t>anésthésique</a:t>
            </a:r>
            <a:r>
              <a:rPr lang="fr-FR" dirty="0"/>
              <a:t>(classification ASA)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Equipements spécifiques :sonde d’ intubation ,respirateur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r>
              <a:rPr lang="fr-FR" dirty="0"/>
              <a:t>Surveillance per et postopératoire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r>
              <a:rPr lang="fr-FR" dirty="0"/>
              <a:t>Moyens de gestion des complications postopératoires.</a:t>
            </a:r>
          </a:p>
          <a:p>
            <a:endParaRPr lang="fr-FR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1CE8928-357B-3E88-E380-4EAA2AA70727}"/>
              </a:ext>
            </a:extLst>
          </p:cNvPr>
          <p:cNvSpPr txBox="1">
            <a:spLocks/>
          </p:cNvSpPr>
          <p:nvPr/>
        </p:nvSpPr>
        <p:spPr>
          <a:xfrm>
            <a:off x="958506" y="800391"/>
            <a:ext cx="10264697" cy="1541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fr-FR" sz="4000" dirty="0">
                <a:highlight>
                  <a:srgbClr val="FFFF00"/>
                </a:highlight>
                <a:latin typeface="+mn-lt"/>
              </a:rPr>
            </a:br>
            <a:r>
              <a:rPr lang="fr-FR" sz="4900" b="1" dirty="0">
                <a:solidFill>
                  <a:schemeClr val="bg1"/>
                </a:solidFill>
                <a:latin typeface="+mn-lt"/>
              </a:rPr>
              <a:t> </a:t>
            </a:r>
            <a:br>
              <a:rPr lang="fr-FR" sz="4000" dirty="0">
                <a:solidFill>
                  <a:srgbClr val="FFFFFF"/>
                </a:solidFill>
              </a:rPr>
            </a:br>
            <a:endParaRPr lang="fr-FR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109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E955C-534D-F6D2-EFF7-E7ACE2B5A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9CC876-A5DC-2C4E-706A-CF4ABB00C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998A73D0-516C-6037-90AE-4D337A9BF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E48A43E0-7B4E-A5C7-959B-2B26E099E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FDF64DF9-F31D-C231-EFE4-24098FFD7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ADEA92D3-29F7-11C9-41C9-909826D42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35CCF9-0777-3053-3C7E-77CADDE90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4C05F6A-C385-3F29-223C-C14B415BF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010775"/>
          </a:xfrm>
        </p:spPr>
        <p:txBody>
          <a:bodyPr>
            <a:noAutofit/>
          </a:bodyPr>
          <a:lstStyle/>
          <a:p>
            <a:pPr algn="ctr"/>
            <a:r>
              <a:rPr lang="fr-FR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VIII/CONCLUSION </a:t>
            </a:r>
            <a:br>
              <a:rPr lang="fr-FR" sz="32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fr-FR" sz="3200" b="1" dirty="0">
              <a:solidFill>
                <a:schemeClr val="bg1"/>
              </a:solidFill>
              <a:highlight>
                <a:srgbClr val="FFFF00"/>
              </a:highlight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DEA7E6-A18F-076F-E5F4-25FF7709D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177172"/>
            <a:ext cx="9708995" cy="428077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3200" b="1" u="sng" dirty="0">
              <a:solidFill>
                <a:srgbClr val="FF0000"/>
              </a:solidFill>
            </a:endParaRPr>
          </a:p>
          <a:p>
            <a:r>
              <a:rPr lang="fr-FR" dirty="0"/>
              <a:t>Consultation pré-</a:t>
            </a:r>
            <a:r>
              <a:rPr lang="fr-FR" dirty="0" err="1"/>
              <a:t>anésthésique</a:t>
            </a:r>
            <a:r>
              <a:rPr lang="fr-FR" dirty="0"/>
              <a:t>(ASA)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Equipements spécifiques :sonde d’ intubation ,respirateur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r>
              <a:rPr lang="fr-FR" dirty="0"/>
              <a:t>Surveillance per et postopératoire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dirty="0"/>
          </a:p>
          <a:p>
            <a:r>
              <a:rPr lang="fr-FR" dirty="0"/>
              <a:t>Moyens de gestion des complications postopératoires.</a:t>
            </a:r>
          </a:p>
          <a:p>
            <a:endParaRPr lang="fr-FR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1A4CEC8-A8E3-8C7F-8326-D4FD0A18A4F1}"/>
              </a:ext>
            </a:extLst>
          </p:cNvPr>
          <p:cNvSpPr txBox="1">
            <a:spLocks/>
          </p:cNvSpPr>
          <p:nvPr/>
        </p:nvSpPr>
        <p:spPr>
          <a:xfrm>
            <a:off x="958506" y="800391"/>
            <a:ext cx="10264697" cy="1541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fr-FR" sz="4000" dirty="0">
                <a:highlight>
                  <a:srgbClr val="FFFF00"/>
                </a:highlight>
                <a:latin typeface="+mn-lt"/>
              </a:rPr>
            </a:br>
            <a:r>
              <a:rPr lang="fr-FR" sz="4900" b="1" dirty="0">
                <a:solidFill>
                  <a:schemeClr val="bg1"/>
                </a:solidFill>
                <a:latin typeface="+mn-lt"/>
              </a:rPr>
              <a:t> </a:t>
            </a:r>
            <a:br>
              <a:rPr lang="fr-FR" sz="4000" dirty="0">
                <a:solidFill>
                  <a:srgbClr val="FFFFFF"/>
                </a:solidFill>
              </a:rPr>
            </a:br>
            <a:endParaRPr lang="fr-FR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368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816</Words>
  <Application>Microsoft Office PowerPoint</Application>
  <PresentationFormat>Grand écran</PresentationFormat>
  <Paragraphs>127</Paragraphs>
  <Slides>15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Wingdings</vt:lpstr>
      <vt:lpstr>Thème Office</vt:lpstr>
      <vt:lpstr>Présentation PowerPoint</vt:lpstr>
      <vt:lpstr>  PLAN  </vt:lpstr>
      <vt:lpstr>  I/INTRODUCTION </vt:lpstr>
      <vt:lpstr>  I/INTRODUCTION </vt:lpstr>
      <vt:lpstr>II/PROTOCOLE ET SECURITE DE L’ANESTHESIE GENERALE       </vt:lpstr>
      <vt:lpstr> III-INDICATION DE L’ANESTHESIE GENERALE </vt:lpstr>
      <vt:lpstr> </vt:lpstr>
      <vt:lpstr> </vt:lpstr>
      <vt:lpstr>IV- CONTRE INDICATION  A L’ANESTHESIE GENERALE </vt:lpstr>
      <vt:lpstr> V/CRITÈRES  DE L’ ANESTHESIE GÉNÉRALE  </vt:lpstr>
      <vt:lpstr>  VI/SPECIFICITE DE L’ANESTHESIE GENERALE EN ODONTOSTOMATOLOGIE </vt:lpstr>
      <vt:lpstr> </vt:lpstr>
      <vt:lpstr> </vt:lpstr>
      <vt:lpstr> VII/LES CONDITIONS REQUISES POUR UNE ANESTHESIE GÉNÉRALE  </vt:lpstr>
      <vt:lpstr>VIII/CONCLUSION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Anesthésie générale en odonto stomatologie indications et contre indications</dc:title>
  <dc:creator>FEKIR NADJET</dc:creator>
  <cp:lastModifiedBy>lenovo</cp:lastModifiedBy>
  <cp:revision>38</cp:revision>
  <dcterms:created xsi:type="dcterms:W3CDTF">2017-06-05T02:21:26Z</dcterms:created>
  <dcterms:modified xsi:type="dcterms:W3CDTF">2025-06-09T04:33:44Z</dcterms:modified>
</cp:coreProperties>
</file>