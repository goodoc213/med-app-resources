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3" r:id="rId16"/>
    <p:sldId id="274" r:id="rId17"/>
    <p:sldId id="275" r:id="rId18"/>
    <p:sldId id="276" r:id="rId19"/>
    <p:sldId id="270" r:id="rId20"/>
    <p:sldId id="271" r:id="rId21"/>
    <p:sldId id="282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541E0-F1BF-52C5-68D8-88F55BB63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D0FEE35-6DC2-2A1A-BFDD-9401B757A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2FC891-A020-8151-59C8-FCEB03FB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0C2FF9-7283-8345-E7BB-C618501FD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0AD2BC-DE3B-E1FC-1F04-DABF203D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806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E01380-8710-4107-CADE-74163C64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863FD8-0204-7085-1228-344CD6600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236558-B9F7-BDF4-FD55-64509CD6C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9F7D60-6ACE-DEC3-9613-A63DD1E2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2EAA45-50C5-247B-C89E-26FD80A3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1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F1B1B-65FE-5A2F-6B1B-0BB8CA62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E4D23A-A8E3-9C31-7EB5-55BBACB2E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C054A5-1A4E-0FF0-473C-09BF7469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037055-40CB-7179-462A-3D629B25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D02EA2-AE2A-8B9F-FFEB-043A9F55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082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AFEAF4-8769-BD36-90DD-6CD5D546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1C24DB-FA19-0CBA-C767-EEF4DBE40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3FDAC5-0337-0C68-20AB-9D65780B2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99345B-28A5-821B-C2E5-6A512B6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AAD6ED-DA6C-46DD-9D9E-CE8514AE5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2DA80D-081D-8110-E9CD-2A26C1FB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843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84EE23-61F7-98BB-3A6C-135730CF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EAC0F4-9FAF-7E77-FA02-2E9F591D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FEBDC4-8A9A-49DC-220D-9F46802F7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4487585-3ECF-1459-1892-A392E71E52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AC7C154-5F10-3194-BB5A-31CFE3E30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A119978-30D4-725E-4672-1B4C2B2B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2734F8-3600-6353-05E5-2C782DAB7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F12E85-5235-FD1E-8CAE-265DB046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85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56A27-0530-5A5B-C0C2-ADB4B643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96F1D9-D75D-D4D9-80CF-DFCF4619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509338-D593-91DD-256A-8CC3303D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53C65E-9FB4-FE55-9234-053442F1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85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073DB57-AB9C-6803-5AAA-C869E63E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100F8A-DA0B-EDBA-93FC-F7EA0C30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941F0B-4506-9D69-FBE9-8351A736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40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AC0A67-CC0D-7AE5-7A29-D0B26673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835F28-18A8-CDE2-1D71-1DA06451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39918B-120B-7D9E-5B8E-07927DA00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F7DE27-07D5-E752-20EC-4E355696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73F4BA-7182-A713-53C4-7EACCFBE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5B75E4-EBF7-ABCE-8184-7733A37B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41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0BCB5-374A-4099-BB87-66522B62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2B7AF0B-2857-1D9A-F746-1BA845076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AAFB6D-A2AC-66FB-1244-665E72D1F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73F5E7-1466-BF80-E37E-27FAD16F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51038B-A41F-9086-5F3A-C2EBEC1E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C5D798-D572-CF90-A9DF-AB6DA483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28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B5C3CE-0679-6E09-7364-1B093A7C0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A8EED6-265C-C1A8-9107-9E3DB4C23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A4745B-22D6-8919-9496-6FFE0DA56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67766A-418C-829A-78DE-E899B577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27AA0E-8F75-F437-B96C-45883818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42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ACA67F4-F3DA-0A12-B403-4952CD959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A6689C-A642-141E-1517-E18BD9A7E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65EDF7-60F1-4CB0-8BC0-621701FE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4B3B35-423C-4806-086B-AA7F0FA6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4FC544-C2E2-ED02-C3FC-400753BE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11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2CDDF4D-5FFA-8D33-9BD3-AF4E9690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21742F-EAF7-2120-D3CD-5FF9EAB4C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94465-A53F-BAD4-CF9C-CF3C5847E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D0F40-ADAA-4D21-A45A-14C0EBCCEF72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83F67B-7E14-9E47-9426-E4072238D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6D93AE-1AB1-4AB1-5D79-4FE5D4C0A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14DE2-760B-42B3-9044-C41696E36C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4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792E77-85E5-BB58-F158-FBB250A63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88" y="2619910"/>
            <a:ext cx="11654248" cy="2856216"/>
          </a:xfrm>
        </p:spPr>
        <p:txBody>
          <a:bodyPr anchor="t">
            <a:normAutofit fontScale="90000"/>
          </a:bodyPr>
          <a:lstStyle/>
          <a:p>
            <a:pPr algn="ctr"/>
            <a:br>
              <a:rPr lang="fr-FR" sz="4400" b="1" dirty="0">
                <a:solidFill>
                  <a:srgbClr val="FF0000"/>
                </a:solidFill>
                <a:latin typeface="+mn-lt"/>
              </a:rPr>
            </a:br>
            <a:r>
              <a:rPr lang="fr-FR" sz="4400" b="1" dirty="0">
                <a:solidFill>
                  <a:srgbClr val="FF0000"/>
                </a:solidFill>
                <a:latin typeface="+mn-lt"/>
              </a:rPr>
              <a:t>PHARMACOLOGIE DES ANESTHESIQUES LOCAUX </a:t>
            </a:r>
            <a:br>
              <a:rPr lang="fr-FR" sz="4400" b="1" dirty="0">
                <a:solidFill>
                  <a:srgbClr val="FF0000"/>
                </a:solidFill>
                <a:latin typeface="+mn-lt"/>
              </a:rPr>
            </a:br>
            <a:r>
              <a:rPr lang="fr-FR" sz="4400" dirty="0">
                <a:solidFill>
                  <a:schemeClr val="tx1"/>
                </a:solidFill>
                <a:latin typeface="+mn-lt"/>
              </a:rPr>
              <a:t>Cours de 3ème année Médecine Dentaire </a:t>
            </a:r>
            <a:br>
              <a:rPr lang="fr-FR" sz="4400" dirty="0">
                <a:solidFill>
                  <a:schemeClr val="tx1"/>
                </a:solidFill>
                <a:latin typeface="+mn-lt"/>
              </a:rPr>
            </a:br>
            <a:r>
              <a:rPr lang="fr-FR" sz="4400" dirty="0">
                <a:solidFill>
                  <a:schemeClr val="tx1"/>
                </a:solidFill>
                <a:latin typeface="+mn-lt"/>
              </a:rPr>
              <a:t>2024-2025</a:t>
            </a:r>
            <a:r>
              <a:rPr lang="fr-FR" sz="4400" b="1" dirty="0">
                <a:solidFill>
                  <a:schemeClr val="tx1"/>
                </a:solidFill>
                <a:latin typeface="+mn-lt"/>
              </a:rPr>
              <a:t> </a:t>
            </a:r>
            <a:br>
              <a:rPr lang="fr-FR" sz="4400" b="1" dirty="0">
                <a:solidFill>
                  <a:schemeClr val="tx1"/>
                </a:solidFill>
              </a:rPr>
            </a:br>
            <a:br>
              <a:rPr lang="fr-FR" sz="4400" b="1" dirty="0">
                <a:solidFill>
                  <a:srgbClr val="FF0000"/>
                </a:solidFill>
                <a:latin typeface="+mn-lt"/>
              </a:rPr>
            </a:br>
            <a:endParaRPr lang="fr-FR" sz="4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C52219-A23F-BB61-F46F-053ABF222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9947" y="5558318"/>
            <a:ext cx="3472665" cy="757719"/>
          </a:xfrm>
        </p:spPr>
        <p:txBody>
          <a:bodyPr>
            <a:normAutofit/>
          </a:bodyPr>
          <a:lstStyle/>
          <a:p>
            <a:r>
              <a:rPr lang="fr-FR" sz="3200" b="1" dirty="0"/>
              <a:t>Dr S.BELLAHDID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0C8BB50-CEB0-1CB4-C013-92D635607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81"/>
            <a:ext cx="11931650" cy="233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1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F196C8-2FB7-F07B-D1B3-9A6F0F5B294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fr-FR" sz="4400" b="1" dirty="0">
                <a:solidFill>
                  <a:srgbClr val="FF0000"/>
                </a:solidFill>
              </a:rPr>
              <a:t>                        </a:t>
            </a:r>
            <a:r>
              <a:rPr lang="fr-FR" sz="4400" b="1" dirty="0">
                <a:solidFill>
                  <a:srgbClr val="FF0000"/>
                </a:solidFill>
                <a:latin typeface="+mn-lt"/>
              </a:rPr>
              <a:t>I/GENERALITES</a:t>
            </a:r>
            <a:endParaRPr lang="fr-FR" dirty="0"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C7EEB5-4DC7-7A56-6EE0-4A8A352A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849"/>
            <a:ext cx="10515600" cy="4646114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endParaRPr lang="fr-FR" sz="28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fr-FR" sz="2800" dirty="0"/>
              <a:t>L’anesthésie locale correspond à la perte de sensibilité au niveau du lieu d’administration par interruption de la conduction nerveuse.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fr-FR" sz="2800" dirty="0"/>
              <a:t> Les anesthésiques locaux sont très largement utilisés en  odontologie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fr-FR" sz="2800" dirty="0"/>
              <a:t>En médecine dentaire l’anesthésie locale permet de supprimer les sensations  douloureuses pendant l’intervention , ceci peut s’agir d’une extraction ,d’un acte de chirurgie buccale ,d’un détartrage ou de soins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2899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36D32B-688F-C97D-77A8-BBFB862B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21" y="365125"/>
            <a:ext cx="11322122" cy="1325563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  <a:latin typeface="+mn-lt"/>
              </a:rPr>
              <a:t>                     I/ GENERALITES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A015AF-C1E8-F91A-FE36-9D25A1965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fr-FR" sz="2800" dirty="0"/>
              <a:t>La technique d’anesthésie est subordonnée :</a:t>
            </a:r>
          </a:p>
          <a:p>
            <a:pPr marL="0" indent="0">
              <a:buNone/>
            </a:pPr>
            <a:r>
              <a:rPr lang="fr-FR" sz="2800" dirty="0"/>
              <a:t>      - A l’affection qu’on se propose de traiter</a:t>
            </a:r>
          </a:p>
          <a:p>
            <a:pPr marL="0" indent="0">
              <a:buNone/>
            </a:pPr>
            <a:r>
              <a:rPr lang="fr-FR" sz="2800" dirty="0"/>
              <a:t>       -Au siège de celle-ci à son étendue et à sa gravité .</a:t>
            </a:r>
          </a:p>
          <a:p>
            <a:pPr marL="0" indent="0">
              <a:buNone/>
            </a:pPr>
            <a:r>
              <a:rPr lang="fr-FR" sz="2800" dirty="0"/>
              <a:t>       - A l’état général du patient.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En odontostomatologie les techniques d’anesthésie sont limitées à :</a:t>
            </a:r>
          </a:p>
          <a:p>
            <a:pPr marL="0" indent="0">
              <a:buNone/>
            </a:pPr>
            <a:r>
              <a:rPr lang="fr-FR" sz="2800" dirty="0"/>
              <a:t>       -L’anesthésie locale de surface ou de contact</a:t>
            </a:r>
          </a:p>
          <a:p>
            <a:pPr marL="0" indent="0">
              <a:buNone/>
            </a:pPr>
            <a:r>
              <a:rPr lang="fr-FR" sz="2800" dirty="0"/>
              <a:t>        -L’anesthésie par infiltration :  terminale ou locale , tronculaire ou  L. régionale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420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2437DA-96FA-54CC-E14A-2E1345B8A7B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                        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449B0B-7007-B004-4D8F-38BDB2A63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DEFINITION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Agents qui bloquent de façon réversible </a:t>
            </a:r>
            <a:r>
              <a:rPr lang="fr-FR" sz="2800" b="1" dirty="0"/>
              <a:t>la conduction nerveuse </a:t>
            </a:r>
          </a:p>
          <a:p>
            <a:pPr>
              <a:buFont typeface="Wingdings" pitchFamily="2" charset="2"/>
              <a:buChar char="Ø"/>
            </a:pPr>
            <a:endParaRPr lang="fr-FR" sz="2800" dirty="0"/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Ils sont utilisés pour leur capacité à </a:t>
            </a:r>
            <a:r>
              <a:rPr lang="fr-FR" sz="2800" b="1" dirty="0"/>
              <a:t>bloquer la transmission de l’influx nerveux</a:t>
            </a:r>
            <a:r>
              <a:rPr lang="fr-FR" sz="2800" dirty="0"/>
              <a:t> le long de la membrane lipidique axonale .</a:t>
            </a:r>
          </a:p>
          <a:p>
            <a:pPr>
              <a:buFont typeface="Wingdings" pitchFamily="2" charset="2"/>
              <a:buChar char="Ø"/>
            </a:pPr>
            <a:endParaRPr lang="fr-FR" sz="2800" dirty="0"/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Ce sont des médicaments qui inhibent la conduction nerveuse là ou ils sont administrés et rendent insensible à la douleur le territoire correspondant à cette intervention.</a:t>
            </a: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9C461E4-13E4-3EA1-15BB-0E80D2EB8186}"/>
              </a:ext>
            </a:extLst>
          </p:cNvPr>
          <p:cNvSpPr txBox="1">
            <a:spLocks/>
          </p:cNvSpPr>
          <p:nvPr/>
        </p:nvSpPr>
        <p:spPr>
          <a:xfrm>
            <a:off x="123290" y="365125"/>
            <a:ext cx="11712539" cy="1325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>
                <a:solidFill>
                  <a:srgbClr val="FF0000"/>
                </a:solidFill>
                <a:latin typeface="+mn-lt"/>
              </a:rPr>
              <a:t>                     I/ GENERALITES </a:t>
            </a: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194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499AD-ED8A-1A90-6EFB-727C14CC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15" y="365125"/>
            <a:ext cx="11301573" cy="80612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br>
              <a:rPr lang="fr-FR" sz="3100" b="1" dirty="0">
                <a:solidFill>
                  <a:srgbClr val="FF0000"/>
                </a:solidFill>
                <a:latin typeface="+mn-lt"/>
              </a:rPr>
            </a:br>
            <a:br>
              <a:rPr lang="fr-FR" sz="3100" b="1" dirty="0">
                <a:solidFill>
                  <a:srgbClr val="FF0000"/>
                </a:solidFill>
                <a:latin typeface="+mn-lt"/>
              </a:rPr>
            </a:br>
            <a:r>
              <a:rPr lang="fr-FR" sz="3100" b="1" dirty="0">
                <a:solidFill>
                  <a:srgbClr val="FF0000"/>
                </a:solidFill>
                <a:latin typeface="+mn-lt"/>
              </a:rPr>
              <a:t>           II/  STRUCTURE CHIMIQUE DES ANESTHESIQUES LOCAUX</a:t>
            </a:r>
            <a:br>
              <a:rPr lang="fr-FR" sz="4400" b="1" dirty="0">
                <a:solidFill>
                  <a:srgbClr val="FF0000"/>
                </a:solidFill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9B2DDB-A13B-56A8-17F0-A2EF0C114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834"/>
            <a:ext cx="10515600" cy="507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i="1" dirty="0"/>
              <a:t>Molécules  composées de 3 éléments:</a:t>
            </a:r>
          </a:p>
          <a:p>
            <a:pPr>
              <a:buFont typeface="Wingdings" pitchFamily="2" charset="2"/>
              <a:buChar char="§"/>
            </a:pPr>
            <a:endParaRPr lang="fr-FR" sz="2800" dirty="0"/>
          </a:p>
          <a:p>
            <a:pPr marL="0" indent="0">
              <a:buNone/>
            </a:pPr>
            <a:r>
              <a:rPr lang="fr-FR" sz="2800" b="1" i="1" dirty="0"/>
              <a:t>  </a:t>
            </a:r>
            <a:r>
              <a:rPr lang="fr-FR" sz="2800" b="1" i="1" dirty="0">
                <a:solidFill>
                  <a:srgbClr val="00B050"/>
                </a:solidFill>
              </a:rPr>
              <a:t>1-Un pole lipophile </a:t>
            </a:r>
            <a:r>
              <a:rPr lang="fr-FR" sz="2800" dirty="0"/>
              <a:t>: structure aromatique responsable des propriétés anesthésiques (</a:t>
            </a:r>
            <a:r>
              <a:rPr lang="fr-FR" sz="2400" b="1" dirty="0"/>
              <a:t>fixation ,diffusion, activité</a:t>
            </a:r>
            <a:r>
              <a:rPr lang="fr-FR" sz="2400" dirty="0"/>
              <a:t>)</a:t>
            </a:r>
            <a:r>
              <a:rPr lang="fr-FR" sz="2800" dirty="0"/>
              <a:t> </a:t>
            </a:r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r>
              <a:rPr lang="fr-FR" sz="2800" b="1" i="1" dirty="0"/>
              <a:t> </a:t>
            </a:r>
            <a:r>
              <a:rPr lang="fr-FR" sz="2800" b="1" i="1" dirty="0">
                <a:solidFill>
                  <a:srgbClr val="00B050"/>
                </a:solidFill>
              </a:rPr>
              <a:t>2-Une chaine intermédiaire</a:t>
            </a:r>
            <a:r>
              <a:rPr lang="fr-FR" sz="2800" dirty="0"/>
              <a:t>: conditionne le métabolisme(</a:t>
            </a:r>
            <a:r>
              <a:rPr lang="fr-FR" sz="2400" dirty="0"/>
              <a:t>durée d’action ,toxicité)</a:t>
            </a:r>
          </a:p>
          <a:p>
            <a:pPr>
              <a:buFont typeface="Wingdings" pitchFamily="2" charset="2"/>
              <a:buChar char="§"/>
            </a:pPr>
            <a:endParaRPr lang="fr-FR" sz="2800" dirty="0"/>
          </a:p>
          <a:p>
            <a:pPr marL="0" indent="0">
              <a:buNone/>
            </a:pPr>
            <a:r>
              <a:rPr lang="fr-FR" sz="2800" b="1" i="1" dirty="0"/>
              <a:t> </a:t>
            </a:r>
            <a:r>
              <a:rPr lang="fr-FR" sz="2800" b="1" i="1" dirty="0">
                <a:solidFill>
                  <a:srgbClr val="00B050"/>
                </a:solidFill>
              </a:rPr>
              <a:t>3-Un</a:t>
            </a:r>
            <a:r>
              <a:rPr lang="fr-FR" sz="2400" b="1" i="1" dirty="0">
                <a:solidFill>
                  <a:srgbClr val="00B050"/>
                </a:solidFill>
              </a:rPr>
              <a:t> </a:t>
            </a:r>
            <a:r>
              <a:rPr lang="fr-FR" sz="2800" b="1" i="1" dirty="0">
                <a:solidFill>
                  <a:srgbClr val="00B050"/>
                </a:solidFill>
              </a:rPr>
              <a:t>pole hydrophile</a:t>
            </a:r>
            <a:r>
              <a:rPr lang="fr-FR" sz="2800" dirty="0"/>
              <a:t>: dérivé amine conditionnant l’</a:t>
            </a:r>
            <a:r>
              <a:rPr lang="fr-FR" sz="2800" dirty="0" err="1"/>
              <a:t>hydrosolibilité</a:t>
            </a:r>
            <a:r>
              <a:rPr lang="fr-FR" sz="2800" dirty="0"/>
              <a:t>                 et la fixation protéique.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4279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9184CE-F055-FBB5-3013-3B9B4255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96" y="365125"/>
            <a:ext cx="11373492" cy="65201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  <a:latin typeface="+mn-lt"/>
              </a:rPr>
              <a:t>       II/ STRUCTURE CHIMIQUE DES ANESTHESIQUES LOCAUX</a:t>
            </a:r>
            <a:endParaRPr lang="fr-FR" sz="3200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E7203880-FAEC-E26E-3C6E-F6D247598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772" y="1017142"/>
            <a:ext cx="10284430" cy="515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0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B00C6-9CB5-502C-C84D-36F8689C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16" y="133564"/>
            <a:ext cx="11240784" cy="73974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3200" b="1" dirty="0">
                <a:solidFill>
                  <a:srgbClr val="FF0000"/>
                </a:solidFill>
                <a:latin typeface="+mn-lt"/>
              </a:rPr>
              <a:t>          </a:t>
            </a:r>
            <a:br>
              <a:rPr lang="fr-FR" sz="3200" b="1" dirty="0">
                <a:solidFill>
                  <a:srgbClr val="FF0000"/>
                </a:solidFill>
                <a:latin typeface="+mn-lt"/>
              </a:rPr>
            </a:br>
            <a:r>
              <a:rPr lang="fr-FR" sz="3200" b="1" dirty="0">
                <a:solidFill>
                  <a:srgbClr val="FF0000"/>
                </a:solidFill>
                <a:latin typeface="+mn-lt"/>
              </a:rPr>
              <a:t>                    III/CLASSIFICATION DES ANESTHESIQUES LOCAUX</a:t>
            </a:r>
            <a:br>
              <a:rPr lang="fr-FR" sz="3200" b="1" dirty="0">
                <a:solidFill>
                  <a:srgbClr val="FF0000"/>
                </a:solidFill>
                <a:latin typeface="+mn-lt"/>
              </a:rPr>
            </a:br>
            <a:endParaRPr lang="fr-FR" sz="3200" dirty="0"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9F835F-7A19-1140-0E8F-D848704B4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5497"/>
            <a:ext cx="10515600" cy="5221466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3200" dirty="0"/>
          </a:p>
          <a:p>
            <a:pPr marL="0" indent="0">
              <a:buNone/>
            </a:pPr>
            <a:r>
              <a:rPr lang="fr-FR" sz="2800" dirty="0"/>
              <a:t>Selon la nature de la liaison entre la chaine intermédiaire et le pole </a:t>
            </a:r>
            <a:r>
              <a:rPr lang="fr-FR" sz="2800" dirty="0" err="1"/>
              <a:t>aromatique,on</a:t>
            </a:r>
            <a:r>
              <a:rPr lang="fr-FR" sz="2800" dirty="0"/>
              <a:t> distingue</a:t>
            </a:r>
            <a:r>
              <a:rPr lang="fr-FR" sz="2800" b="1" dirty="0"/>
              <a:t>: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</a:rPr>
              <a:t>      1-Groupe des </a:t>
            </a:r>
            <a:r>
              <a:rPr lang="fr-FR" sz="2800" b="1" dirty="0" err="1">
                <a:solidFill>
                  <a:srgbClr val="FF0000"/>
                </a:solidFill>
              </a:rPr>
              <a:t>amino</a:t>
            </a:r>
            <a:r>
              <a:rPr lang="fr-FR" sz="2800" b="1" dirty="0">
                <a:solidFill>
                  <a:srgbClr val="FF0000"/>
                </a:solidFill>
              </a:rPr>
              <a:t>-esters </a:t>
            </a:r>
            <a:r>
              <a:rPr lang="fr-FR" sz="2800" dirty="0"/>
              <a:t>avec liaison </a:t>
            </a:r>
            <a:r>
              <a:rPr lang="fr-FR" sz="2800" b="1" dirty="0">
                <a:solidFill>
                  <a:srgbClr val="002060"/>
                </a:solidFill>
              </a:rPr>
              <a:t>ester</a:t>
            </a:r>
            <a:r>
              <a:rPr lang="fr-FR" sz="2800" dirty="0"/>
              <a:t>(dérivés ester de l’acide       </a:t>
            </a:r>
            <a:r>
              <a:rPr lang="fr-FR" sz="2800" dirty="0" err="1"/>
              <a:t>para-aminobenzoique</a:t>
            </a:r>
            <a:r>
              <a:rPr lang="fr-FR" sz="2800" dirty="0"/>
              <a:t>)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</a:rPr>
              <a:t>       2-Groupe </a:t>
            </a:r>
            <a:r>
              <a:rPr lang="fr-FR" sz="2800" b="1" dirty="0" err="1">
                <a:solidFill>
                  <a:srgbClr val="FF0000"/>
                </a:solidFill>
              </a:rPr>
              <a:t>amino</a:t>
            </a:r>
            <a:r>
              <a:rPr lang="fr-FR" sz="2800" b="1" dirty="0">
                <a:solidFill>
                  <a:srgbClr val="FF0000"/>
                </a:solidFill>
              </a:rPr>
              <a:t>-amides </a:t>
            </a:r>
            <a:r>
              <a:rPr lang="fr-FR" sz="2800" dirty="0"/>
              <a:t>avec une liaison </a:t>
            </a:r>
            <a:r>
              <a:rPr lang="fr-FR" sz="2800" b="1" dirty="0">
                <a:solidFill>
                  <a:srgbClr val="002060"/>
                </a:solidFill>
              </a:rPr>
              <a:t>amide</a:t>
            </a:r>
          </a:p>
          <a:p>
            <a:pPr>
              <a:buNone/>
            </a:pPr>
            <a:r>
              <a:rPr lang="fr-FR" sz="2400" dirty="0"/>
              <a:t>                                                  </a:t>
            </a:r>
            <a:r>
              <a:rPr lang="fr-FR" sz="2400" b="1" i="1" u="sng" dirty="0">
                <a:solidFill>
                  <a:srgbClr val="00B050"/>
                </a:solidFill>
              </a:rPr>
              <a:t>PRESENTATIONS</a:t>
            </a:r>
          </a:p>
          <a:p>
            <a:pPr marL="0" indent="0">
              <a:buNone/>
            </a:pPr>
            <a:r>
              <a:rPr lang="fr-FR" sz="2400" b="1" dirty="0"/>
              <a:t>   </a:t>
            </a:r>
            <a:r>
              <a:rPr lang="fr-FR" sz="2800" b="1" u="sng" dirty="0" err="1"/>
              <a:t>Amino</a:t>
            </a:r>
            <a:r>
              <a:rPr lang="fr-FR" sz="2800" b="1" u="sng" dirty="0"/>
              <a:t>-esters</a:t>
            </a:r>
            <a:r>
              <a:rPr lang="fr-FR" sz="2800" b="1" dirty="0"/>
              <a:t>:</a:t>
            </a:r>
            <a:r>
              <a:rPr lang="fr-FR" sz="2400" dirty="0"/>
              <a:t> Procaïne(novocaïne),</a:t>
            </a:r>
            <a:r>
              <a:rPr lang="fr-FR" sz="2400" dirty="0" err="1"/>
              <a:t>Tétracaine</a:t>
            </a:r>
            <a:r>
              <a:rPr lang="fr-FR" sz="2400" dirty="0"/>
              <a:t>(</a:t>
            </a:r>
            <a:r>
              <a:rPr lang="fr-FR" sz="2400" dirty="0" err="1"/>
              <a:t>pontocaine</a:t>
            </a:r>
            <a:r>
              <a:rPr lang="fr-FR" sz="2400" dirty="0"/>
              <a:t>),</a:t>
            </a:r>
            <a:r>
              <a:rPr lang="fr-FR" sz="2400" dirty="0" err="1"/>
              <a:t>Chloroprocaine</a:t>
            </a:r>
            <a:endParaRPr lang="fr-FR" sz="2400" dirty="0"/>
          </a:p>
          <a:p>
            <a:pPr>
              <a:buFont typeface="Wingdings" pitchFamily="2" charset="2"/>
              <a:buChar char="§"/>
            </a:pPr>
            <a:endParaRPr lang="fr-FR" sz="2400" dirty="0"/>
          </a:p>
          <a:p>
            <a:pPr marL="0" indent="0">
              <a:buNone/>
            </a:pPr>
            <a:r>
              <a:rPr lang="fr-FR" sz="2800" b="1" dirty="0"/>
              <a:t>  </a:t>
            </a:r>
            <a:r>
              <a:rPr lang="fr-FR" sz="2800" b="1" u="sng" dirty="0" err="1"/>
              <a:t>Amino</a:t>
            </a:r>
            <a:r>
              <a:rPr lang="fr-FR" sz="2800" b="1" u="sng" dirty="0"/>
              <a:t>-Amides</a:t>
            </a:r>
            <a:r>
              <a:rPr lang="fr-FR" sz="2800" dirty="0"/>
              <a:t> </a:t>
            </a:r>
            <a:r>
              <a:rPr lang="fr-FR" sz="2400" dirty="0"/>
              <a:t>: </a:t>
            </a:r>
            <a:r>
              <a:rPr lang="fr-FR" sz="2400" dirty="0" err="1"/>
              <a:t>Lidocaine</a:t>
            </a:r>
            <a:r>
              <a:rPr lang="fr-FR" sz="2400" dirty="0"/>
              <a:t>(</a:t>
            </a:r>
            <a:r>
              <a:rPr lang="fr-FR" sz="2400" dirty="0" err="1"/>
              <a:t>xylocaine</a:t>
            </a:r>
            <a:r>
              <a:rPr lang="fr-FR" sz="2400" dirty="0"/>
              <a:t>) ,</a:t>
            </a:r>
            <a:r>
              <a:rPr lang="fr-FR" sz="2400" dirty="0" err="1"/>
              <a:t>Prilocaine,Mépivacaine,Bupivacaine</a:t>
            </a:r>
            <a:r>
              <a:rPr lang="fr-FR" sz="2400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519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230415-6BCE-52B7-EB25-3C0FAB59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399"/>
            <a:ext cx="10515600" cy="549275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4400" b="1" i="1" dirty="0">
                <a:solidFill>
                  <a:srgbClr val="FF0000"/>
                </a:solidFill>
              </a:rPr>
              <a:t>            </a:t>
            </a:r>
            <a:br>
              <a:rPr lang="fr-FR" sz="4400" b="1" i="1" dirty="0">
                <a:solidFill>
                  <a:srgbClr val="FF0000"/>
                </a:solidFill>
              </a:rPr>
            </a:br>
            <a:r>
              <a:rPr lang="fr-FR" sz="3600" b="1" i="1" dirty="0">
                <a:solidFill>
                  <a:srgbClr val="FF0000"/>
                </a:solidFill>
              </a:rPr>
              <a:t>             </a:t>
            </a:r>
            <a:br>
              <a:rPr lang="fr-FR" sz="3600" dirty="0"/>
            </a:br>
            <a:endParaRPr lang="fr-FR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F491C7-A37E-34C6-2CBA-AEC80768B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609"/>
            <a:ext cx="10515600" cy="50673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2800" dirty="0"/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fr-FR" sz="2800" dirty="0"/>
              <a:t>La perméabilité des membranes aux ions change en fonction du potentiel transmembranaire 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AU repos la perméabilité au potassium est accrue</a:t>
            </a:r>
          </a:p>
          <a:p>
            <a:pPr marL="0" indent="0">
              <a:buNone/>
            </a:pPr>
            <a:endParaRPr lang="fr-FR" sz="2800" dirty="0"/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 Al 'arrivée de l’influx nerveux ,la dépolarisation augmente la perméabilité au sodium</a:t>
            </a:r>
          </a:p>
          <a:p>
            <a:pPr marL="0" indent="0">
              <a:buNone/>
            </a:pPr>
            <a:endParaRPr lang="fr-FR" sz="2800" dirty="0"/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Ce phénomène se propage le long du nerf</a:t>
            </a: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D88FB1F6-FDD7-B99D-AE94-5B828E53F11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835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>
                <a:solidFill>
                  <a:srgbClr val="FF0000"/>
                </a:solidFill>
                <a:latin typeface="+mn-lt"/>
              </a:rPr>
              <a:t>        IV/MÉCANISMES D’ACTION: POTENTIEL D’ACTION</a:t>
            </a:r>
            <a:endParaRPr lang="fr-FR" sz="36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5848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1F5E3-2802-DA5D-0799-44087812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353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600" b="1" dirty="0">
                <a:solidFill>
                  <a:srgbClr val="FF0000"/>
                </a:solidFill>
                <a:latin typeface="+mn-lt"/>
              </a:rPr>
              <a:t>        IV/MÉCANISMES D’ACTION: POTENTIEL D’ACTION</a:t>
            </a:r>
            <a:endParaRPr lang="fr-FR" sz="36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" name="Picture 2" descr="C:\Users\MOHAMED\Desktop\potentiel d'action 2.JPG">
            <a:extLst>
              <a:ext uri="{FF2B5EF4-FFF2-40B4-BE49-F238E27FC236}">
                <a16:creationId xmlns:a16="http://schemas.microsoft.com/office/drawing/2014/main" id="{85ADB9BB-80B9-BB03-27A1-7640F7CAFD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095" y="1808252"/>
            <a:ext cx="10675706" cy="50497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9827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B64649-2B71-A221-DA61-9D568C45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58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600" b="1" i="1" dirty="0">
                <a:solidFill>
                  <a:srgbClr val="FF0000"/>
                </a:solidFill>
                <a:latin typeface="+mn-lt"/>
              </a:rPr>
              <a:t>                     </a:t>
            </a:r>
            <a:endParaRPr lang="fr-FR" sz="3600" dirty="0"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A0C166-CCE6-B427-8DA5-C6DCF4A9D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6593"/>
            <a:ext cx="10515600" cy="518037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fr-FR" sz="2800" dirty="0"/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Les anesthésiques locaux sous forme </a:t>
            </a:r>
            <a:r>
              <a:rPr lang="fr-FR" sz="2800" dirty="0" err="1"/>
              <a:t>ionisés,agissent</a:t>
            </a:r>
            <a:r>
              <a:rPr lang="fr-FR" sz="2800" dirty="0"/>
              <a:t> au niveau de la face interne de la membrane </a:t>
            </a:r>
            <a:r>
              <a:rPr lang="fr-FR" sz="2800" dirty="0" err="1"/>
              <a:t>neuronale,à</a:t>
            </a:r>
            <a:r>
              <a:rPr lang="fr-FR" sz="2800" dirty="0"/>
              <a:t> l’intérieure de l’</a:t>
            </a:r>
            <a:r>
              <a:rPr lang="fr-FR" sz="2800" dirty="0" err="1"/>
              <a:t>axone,en</a:t>
            </a:r>
            <a:r>
              <a:rPr lang="fr-FR" sz="2800" dirty="0"/>
              <a:t> freinant l’entrée du sodium(Na+)par obstruction du canal sodique(blocage de la dépolarisation)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IL en résulte une diminution de l’amplitude du potentiel d’action et de la vitesse de dépolarisation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Quant la concentration d’AL péri-neuronale est élevée, le neurone devient inexcitable.</a:t>
            </a: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C3DAEBA-345B-6DC4-1CC0-FE27729A836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835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>
                <a:solidFill>
                  <a:srgbClr val="FF0000"/>
                </a:solidFill>
                <a:latin typeface="+mn-lt"/>
              </a:rPr>
              <a:t>        IV/MÉCANISMES D’ACTION: POTENTIEL D’ACTION</a:t>
            </a:r>
            <a:endParaRPr lang="fr-FR" sz="36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3915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8FCB27-2AEE-8AAA-147D-EEB5CA6B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948" y="365126"/>
            <a:ext cx="10418852" cy="8575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4400" b="1" dirty="0">
                <a:solidFill>
                  <a:srgbClr val="FF0000"/>
                </a:solidFill>
                <a:latin typeface="+mn-lt"/>
              </a:rPr>
              <a:t>                </a:t>
            </a:r>
            <a:br>
              <a:rPr lang="fr-FR" sz="4400" b="1" dirty="0">
                <a:solidFill>
                  <a:srgbClr val="FF0000"/>
                </a:solidFill>
                <a:latin typeface="+mn-lt"/>
              </a:rPr>
            </a:br>
            <a:r>
              <a:rPr lang="fr-FR" sz="4400" b="1" dirty="0">
                <a:solidFill>
                  <a:srgbClr val="FF0000"/>
                </a:solidFill>
                <a:latin typeface="+mn-lt"/>
              </a:rPr>
              <a:t>                  V/PHARMACOCINÉTIQUE</a:t>
            </a:r>
            <a:br>
              <a:rPr lang="fr-FR" sz="4400" b="1" dirty="0">
                <a:solidFill>
                  <a:srgbClr val="FF0000"/>
                </a:solidFill>
                <a:latin typeface="+mn-lt"/>
              </a:rPr>
            </a:br>
            <a:endParaRPr lang="fr-FR" dirty="0"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AF9854-CD7B-176F-2E05-C64E30F7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416"/>
            <a:ext cx="10515600" cy="51495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fr-FR" sz="3200" b="1" u="sng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</a:rPr>
              <a:t>Résorption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/>
              <a:t>:dépend du site d’injection et de sa vascularisation, de la dose ,de la nature du produit, de la masse graisseuse et de l’adjonction d’un vasoconstricteur.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</a:rPr>
              <a:t>Distribution </a:t>
            </a:r>
            <a:r>
              <a:rPr lang="fr-FR" sz="2800" dirty="0">
                <a:solidFill>
                  <a:srgbClr val="FF0000"/>
                </a:solidFill>
              </a:rPr>
              <a:t>:</a:t>
            </a:r>
            <a:r>
              <a:rPr lang="fr-FR" sz="2800" dirty="0"/>
              <a:t> La concentration sanguine dépend de la quantité du produit administrée, de la vitesse de résorption vasculaire , de la distribution tissulaire, du métabolisme(biotransformation) et de l’élimination du produit.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</a:rPr>
              <a:t>Métabolisme :</a:t>
            </a:r>
            <a:r>
              <a:rPr lang="fr-FR" sz="2800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</a:t>
            </a:r>
            <a:r>
              <a:rPr lang="fr-FR" sz="2400" dirty="0"/>
              <a:t>-Les </a:t>
            </a:r>
            <a:r>
              <a:rPr lang="fr-FR" sz="2400" dirty="0" err="1"/>
              <a:t>Amino</a:t>
            </a:r>
            <a:r>
              <a:rPr lang="fr-FR" sz="2400" dirty="0"/>
              <a:t>-esters sont hydrolysés par les pseudo cholinestérases </a:t>
            </a:r>
            <a:r>
              <a:rPr lang="fr-FR" sz="2800" dirty="0"/>
              <a:t>plasmatiques et </a:t>
            </a:r>
            <a:r>
              <a:rPr lang="fr-FR" sz="2400" dirty="0"/>
              <a:t>les estérases tissulaires.</a:t>
            </a:r>
          </a:p>
          <a:p>
            <a:pPr>
              <a:buNone/>
            </a:pPr>
            <a:r>
              <a:rPr lang="fr-FR" sz="2400" dirty="0"/>
              <a:t>       -Les </a:t>
            </a:r>
            <a:r>
              <a:rPr lang="fr-FR" sz="2400" dirty="0" err="1"/>
              <a:t>amino</a:t>
            </a:r>
            <a:r>
              <a:rPr lang="fr-FR" sz="2400" dirty="0"/>
              <a:t>-Amides sont métabolisés au niveau du foie et les métabolites subissent eux-mêmes une conjugaison hépatique.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</a:rPr>
              <a:t>Elimination</a:t>
            </a:r>
            <a:r>
              <a:rPr lang="fr-FR" sz="2800" dirty="0"/>
              <a:t>: Essentiellement rénale sous forme dégradée(95%) et non dégradée(5%) 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3995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255E95-8DBC-1CDB-217B-C4BDBD50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8" y="154112"/>
            <a:ext cx="11465960" cy="65754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br>
              <a:rPr lang="fr-FR" sz="3600" b="1" dirty="0">
                <a:solidFill>
                  <a:srgbClr val="FF0000"/>
                </a:solidFill>
                <a:latin typeface="+mn-lt"/>
              </a:rPr>
            </a:br>
            <a:r>
              <a:rPr lang="fr-FR" sz="3600" b="1" dirty="0">
                <a:solidFill>
                  <a:srgbClr val="FF0000"/>
                </a:solidFill>
                <a:latin typeface="+mn-lt"/>
              </a:rPr>
              <a:t> V/</a:t>
            </a:r>
            <a:r>
              <a:rPr lang="fr-FR" sz="3100" b="1" dirty="0">
                <a:solidFill>
                  <a:srgbClr val="FF0000"/>
                </a:solidFill>
                <a:latin typeface="+mn-lt"/>
              </a:rPr>
              <a:t>FACTEURS MODIFIANTS L’ACTIVITE DES  ANESTHESIQUES–LOCAUX</a:t>
            </a:r>
            <a:br>
              <a:rPr lang="fr-FR" sz="4400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405F4E-3CE0-7AB2-9CC5-B9BA9BB06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319"/>
            <a:ext cx="10515600" cy="519064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>
                <a:solidFill>
                  <a:srgbClr val="FF0000"/>
                </a:solidFill>
              </a:rPr>
              <a:t>Site d’injection</a:t>
            </a:r>
            <a:r>
              <a:rPr lang="fr-FR" sz="3200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L’acidose diminue la diffusion et augmente la toxicité.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L’addition d’un vasoconstricteur prolonge la durée d’action ,diminue la vitesse de résorption et la toxicité.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</a:rPr>
              <a:t>Le métabolisme</a:t>
            </a:r>
            <a:r>
              <a:rPr lang="fr-FR" sz="2800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L’hyperthermie augmente le métabolisme et l’élimination des agents amides 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L’insuffisance hépatique sévère ,la diminution du débit hépatique  augmentent la durée d’action et la toxicité des amides 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Le déficit en pseudo cholinestérases augmente la durée d’action et la toxicité des esters.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L’ insuffisance rénale prolonge l’action des A-L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L’insuffisance cardiaque ,l’état de choc ,les bêtabloqueurs et la ventilation augmentent la toxicité des anesthésiques locaux Amides.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0733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4F0B1-7246-1A71-9AA7-54551CC3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  <a:latin typeface="+mn-lt"/>
              </a:rPr>
              <a:t>    VI/EFFETS GÉNÉRAUX DES ANESTHÉSIQUES LOCAUX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B58CDF-96AE-05D8-3916-5E72ED355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57847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>
                <a:solidFill>
                  <a:srgbClr val="FF0000"/>
                </a:solidFill>
              </a:rPr>
              <a:t>Le système nerveux central</a:t>
            </a:r>
            <a:r>
              <a:rPr lang="fr-FR" sz="3200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Ils traversent la barrière hémato-méningée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Action anti convulsivante (à faible dose)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Agitation ,logorrhée, confusion délire (à moyenne dose)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Coma ,dépression respiratoire (à forte dose)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>
                <a:solidFill>
                  <a:srgbClr val="FF0000"/>
                </a:solidFill>
              </a:rPr>
              <a:t>Le système cardiovasculaire</a:t>
            </a:r>
            <a:r>
              <a:rPr lang="fr-FR" sz="3200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Dépression cardiaque globale à forte dose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>
                <a:solidFill>
                  <a:srgbClr val="FFFF00"/>
                </a:solidFill>
              </a:rPr>
              <a:t> </a:t>
            </a:r>
            <a:r>
              <a:rPr lang="fr-FR" sz="3200" b="1" dirty="0">
                <a:solidFill>
                  <a:srgbClr val="FF0000"/>
                </a:solidFill>
              </a:rPr>
              <a:t>système respiratoire</a:t>
            </a:r>
            <a:r>
              <a:rPr lang="fr-FR" sz="3200" dirty="0">
                <a:solidFill>
                  <a:srgbClr val="FF0000"/>
                </a:solidFill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Stimulation initiale centrale puis dépression et arrêt respiratoire (forte dose)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>
                <a:solidFill>
                  <a:srgbClr val="FF0000"/>
                </a:solidFill>
              </a:rPr>
              <a:t>Muscles: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Diminution de la transmission neuromusculaire à des doses élevées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>
                <a:solidFill>
                  <a:srgbClr val="FF0000"/>
                </a:solidFill>
              </a:rPr>
              <a:t>Tube digestif</a:t>
            </a:r>
            <a:r>
              <a:rPr lang="fr-FR" sz="3200" dirty="0">
                <a:solidFill>
                  <a:srgbClr val="FF0000"/>
                </a:solidFill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Action spasmolytique sur les voies biliaires ,nausées ,</a:t>
            </a:r>
            <a:r>
              <a:rPr lang="fr-FR" sz="2800" dirty="0" err="1"/>
              <a:t>vomissementsd’origine</a:t>
            </a:r>
            <a:r>
              <a:rPr lang="fr-FR" sz="2800" dirty="0"/>
              <a:t> centrale.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2678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A2521-9EC1-C55E-37AD-03DD129A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1263F28-AAE7-3E20-A919-78C398BEB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499" y="102742"/>
            <a:ext cx="11537879" cy="661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19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57930-23F7-2DB8-484C-81CC278C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12" y="365125"/>
            <a:ext cx="1183583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  <a:latin typeface="+mn-lt"/>
              </a:rPr>
              <a:t>VII/Présentation ,Posologie, Indications des Principaux Anesthésiques Locaux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D605AC-DBDE-BA00-8705-04EFD9195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1/LIDOCAINE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 err="1">
                <a:solidFill>
                  <a:srgbClr val="002060"/>
                </a:solidFill>
              </a:rPr>
              <a:t>Presentation</a:t>
            </a:r>
            <a:r>
              <a:rPr lang="fr-FR" sz="2800" b="1" dirty="0">
                <a:solidFill>
                  <a:srgbClr val="002060"/>
                </a:solidFill>
              </a:rPr>
              <a:t>  et dose maximum:</a:t>
            </a:r>
          </a:p>
          <a:p>
            <a:pPr marL="0" indent="0">
              <a:buNone/>
            </a:pPr>
            <a:r>
              <a:rPr lang="fr-FR" sz="2800" dirty="0"/>
              <a:t>-0,5-1  et 2% sans adrénaline </a:t>
            </a:r>
          </a:p>
          <a:p>
            <a:pPr marL="0" indent="0">
              <a:buNone/>
            </a:pPr>
            <a:r>
              <a:rPr lang="fr-FR" sz="2800" dirty="0"/>
              <a:t> dose max=300 mg (adulte);5mg/kg(enfant)</a:t>
            </a:r>
          </a:p>
          <a:p>
            <a:pPr marL="0" indent="0">
              <a:buNone/>
            </a:pPr>
            <a:r>
              <a:rPr lang="fr-FR" sz="2800" dirty="0"/>
              <a:t>-1/200000 avec adrénaline </a:t>
            </a:r>
          </a:p>
          <a:p>
            <a:pPr marL="0" indent="0">
              <a:buNone/>
            </a:pPr>
            <a:r>
              <a:rPr lang="fr-FR" sz="2800" dirty="0"/>
              <a:t> dose max=500 mg (adulte) et 6-7 mg /Kg (enfant)</a:t>
            </a:r>
          </a:p>
          <a:p>
            <a:pPr marL="0" indent="0">
              <a:buNone/>
            </a:pPr>
            <a:r>
              <a:rPr lang="fr-FR" sz="2800" dirty="0"/>
              <a:t>-</a:t>
            </a:r>
            <a:r>
              <a:rPr lang="fr-FR" sz="2800" dirty="0" err="1"/>
              <a:t>xylocaine</a:t>
            </a:r>
            <a:r>
              <a:rPr lang="fr-FR" sz="2800" dirty="0"/>
              <a:t> visqueuse 2% dose =2-3 ml (adulte)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002060"/>
                </a:solidFill>
              </a:rPr>
              <a:t>Indication :</a:t>
            </a:r>
          </a:p>
          <a:p>
            <a:pPr marL="0" indent="0">
              <a:buNone/>
            </a:pPr>
            <a:r>
              <a:rPr lang="fr-FR" sz="2800" dirty="0"/>
              <a:t>      -infiltration </a:t>
            </a:r>
          </a:p>
          <a:p>
            <a:pPr marL="0" indent="0">
              <a:buNone/>
            </a:pPr>
            <a:r>
              <a:rPr lang="fr-FR" sz="2800" dirty="0"/>
              <a:t>      -blocs périphériques (solution0,5adrénaliné)</a:t>
            </a:r>
          </a:p>
          <a:p>
            <a:pPr marL="0" indent="0">
              <a:buNone/>
            </a:pPr>
            <a:r>
              <a:rPr lang="fr-FR" sz="2800" dirty="0"/>
              <a:t>      -xylocaïne visqueuse :anesthésie buccale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5362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098209-3CC9-0C3B-2C85-6D72F7534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690"/>
            <a:ext cx="10515600" cy="54551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2/MEPIVACAINE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Présentation et Posologie maximum:</a:t>
            </a:r>
          </a:p>
          <a:p>
            <a:pPr marL="0" indent="0">
              <a:buNone/>
            </a:pPr>
            <a:r>
              <a:rPr lang="fr-FR" dirty="0"/>
              <a:t>         1 à 2 %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Indications:</a:t>
            </a:r>
          </a:p>
          <a:p>
            <a:pPr marL="0" indent="0">
              <a:buNone/>
            </a:pPr>
            <a:r>
              <a:rPr lang="fr-FR" dirty="0"/>
              <a:t>   - Infiltration :dose max =200 mg (adulte)</a:t>
            </a:r>
          </a:p>
          <a:p>
            <a:pPr marL="0" indent="0">
              <a:buNone/>
            </a:pPr>
            <a:r>
              <a:rPr lang="fr-FR" dirty="0"/>
              <a:t>   -Blocs périphériques :dose max=400 mg (adulte)</a:t>
            </a:r>
          </a:p>
          <a:p>
            <a:pPr marL="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3/ROPIVACAINE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Présentation =0,2-0,75 et 1%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Indications :infiltration, blocs périphériques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Posologie maximum:-150 mg (adulte)</a:t>
            </a:r>
          </a:p>
          <a:p>
            <a:pPr marL="0" indent="0">
              <a:buNone/>
            </a:pPr>
            <a:r>
              <a:rPr lang="fr-FR" sz="2800" dirty="0"/>
              <a:t>                                      -2,5 à 3 mg (enfant &gt; 12 ans )</a:t>
            </a:r>
          </a:p>
          <a:p>
            <a:pPr marL="0" indent="0">
              <a:buNone/>
            </a:pP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63524EA-C0A8-222E-529C-F39084AE9918}"/>
              </a:ext>
            </a:extLst>
          </p:cNvPr>
          <p:cNvSpPr txBox="1">
            <a:spLocks/>
          </p:cNvSpPr>
          <p:nvPr/>
        </p:nvSpPr>
        <p:spPr>
          <a:xfrm>
            <a:off x="-1" y="159152"/>
            <a:ext cx="11959119" cy="7038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rgbClr val="FF0000"/>
                </a:solidFill>
                <a:latin typeface="+mn-lt"/>
              </a:rPr>
              <a:t>VII/Présentation ,Posologie, Indications des Principaux Anesthésiques Locaux </a:t>
            </a:r>
          </a:p>
        </p:txBody>
      </p:sp>
    </p:spTree>
    <p:extLst>
      <p:ext uri="{BB962C8B-B14F-4D97-AF65-F5344CB8AC3E}">
        <p14:creationId xmlns:p14="http://schemas.microsoft.com/office/powerpoint/2010/main" val="339952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445C87-F8BE-9E88-AF3E-0F397D25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3F539D07-4B95-1E32-9D02-344E13715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365125"/>
            <a:ext cx="10515599" cy="63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56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FCFD6E-9F92-93DD-26CA-05A3F626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B81DB68-4944-F3A3-1880-892FE0DDE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935" y="365125"/>
            <a:ext cx="11435137" cy="637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57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4BF4D-013A-1576-943C-EC6CE6AA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6697835-2D22-369A-0E3F-BD30B1267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112" y="365126"/>
            <a:ext cx="11866652" cy="6251432"/>
          </a:xfrm>
        </p:spPr>
      </p:pic>
    </p:spTree>
    <p:extLst>
      <p:ext uri="{BB962C8B-B14F-4D97-AF65-F5344CB8AC3E}">
        <p14:creationId xmlns:p14="http://schemas.microsoft.com/office/powerpoint/2010/main" val="877999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03C692-7BA0-D6C6-5DAC-8C9DDDB5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Calcul du nombre de cartouches injectables dans une séance de soins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2C9774C-BFAC-F6B1-D6D7-E0EF76C8E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917" y="1711433"/>
            <a:ext cx="11137187" cy="4849402"/>
          </a:xfrm>
        </p:spPr>
      </p:pic>
    </p:spTree>
    <p:extLst>
      <p:ext uri="{BB962C8B-B14F-4D97-AF65-F5344CB8AC3E}">
        <p14:creationId xmlns:p14="http://schemas.microsoft.com/office/powerpoint/2010/main" val="1108761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4051C-781C-0AC9-6084-A8CC7441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21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600" b="1" dirty="0">
                <a:solidFill>
                  <a:srgbClr val="FF0000"/>
                </a:solidFill>
                <a:latin typeface="+mn-lt"/>
              </a:rPr>
              <a:t>          EXEMPLE DE DEMARCHE DE CALCUL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B7425A-D165-52A4-1716-707C73F71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336"/>
            <a:ext cx="10515600" cy="5077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patient en bonne santé, de 65 kg, à soigner avec de la lidocaïne 2 % :</a:t>
            </a:r>
            <a:b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b="1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Calculer d’abord la dose maximale recommandée pour ce patient en fonction de son poids :</a:t>
            </a:r>
          </a:p>
          <a:p>
            <a:pPr marL="0" indent="0">
              <a:buNone/>
            </a:pPr>
            <a:r>
              <a:rPr lang="fr-FR" sz="2400" kern="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65 kg x 7 mg/kg de poids corporel = 455 mg.</a:t>
            </a:r>
            <a:b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b="1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Vérifier que cette dose n’excède pas la dose maximale absolue, ici, 500 mg.</a:t>
            </a:r>
            <a:b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b="1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Calculer le nombre maximum de cartouches correspondant à cette dose maximale établie pour ce patient :</a:t>
            </a:r>
            <a:b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 - la dose maximale pour ce patient est de 455 mg ;</a:t>
            </a:r>
            <a:b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 - une cartouche d’une solution à 2 % contient 36 mg de lidocaïne.</a:t>
            </a:r>
            <a:b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 - On divise la dose maximale (455 mg) par la quantité de lidocaïne d’une cartouche (36 mg), on obtient : 455 mg: 36 mg = 12,6 cartouches injectables dans une séance de soins.</a:t>
            </a:r>
            <a:endParaRPr lang="fr-FR" sz="24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66168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Microsoft Office PowerPoint</Application>
  <PresentationFormat>Grand écran</PresentationFormat>
  <Paragraphs>116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Thème Office</vt:lpstr>
      <vt:lpstr> PHARMACOLOGIE DES ANESTHESIQUES LOCAUX  Cours de 3ème année Médecine Dentaire  2024-2025   </vt:lpstr>
      <vt:lpstr>                        I/GENERALITES</vt:lpstr>
      <vt:lpstr>                     I/ GENERALITES </vt:lpstr>
      <vt:lpstr>                         </vt:lpstr>
      <vt:lpstr>             II/  STRUCTURE CHIMIQUE DES ANESTHESIQUES LOCAUX </vt:lpstr>
      <vt:lpstr>       II/ STRUCTURE CHIMIQUE DES ANESTHESIQUES LOCAUX</vt:lpstr>
      <vt:lpstr>                               III/CLASSIFICATION DES ANESTHESIQUES LOCAUX </vt:lpstr>
      <vt:lpstr>                           </vt:lpstr>
      <vt:lpstr>        IV/MÉCANISMES D’ACTION: POTENTIEL D’ACTION</vt:lpstr>
      <vt:lpstr>                     </vt:lpstr>
      <vt:lpstr>                                   V/PHARMACOCINÉTIQUE </vt:lpstr>
      <vt:lpstr>  V/FACTEURS MODIFIANTS L’ACTIVITE DES  ANESTHESIQUES–LOCAUX </vt:lpstr>
      <vt:lpstr>    VI/EFFETS GÉNÉRAUX DES ANESTHÉSIQUES LOCAUX </vt:lpstr>
      <vt:lpstr>Présentation PowerPoint</vt:lpstr>
      <vt:lpstr>VII/Présentation ,Posologie, Indications des Principaux Anesthésiques Locaux </vt:lpstr>
      <vt:lpstr>Présentation PowerPoint</vt:lpstr>
      <vt:lpstr>Présentation PowerPoint</vt:lpstr>
      <vt:lpstr>Présentation PowerPoint</vt:lpstr>
      <vt:lpstr>Présentation PowerPoint</vt:lpstr>
      <vt:lpstr>Calcul du nombre de cartouches injectables dans une séance de soins</vt:lpstr>
      <vt:lpstr>          EXEMPLE DE DEMARCHE DE CALCUL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12</cp:revision>
  <dcterms:created xsi:type="dcterms:W3CDTF">2024-06-03T03:28:49Z</dcterms:created>
  <dcterms:modified xsi:type="dcterms:W3CDTF">2025-06-10T15:07:56Z</dcterms:modified>
</cp:coreProperties>
</file>