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86" r:id="rId4"/>
    <p:sldId id="285" r:id="rId5"/>
    <p:sldId id="272" r:id="rId6"/>
    <p:sldId id="273" r:id="rId7"/>
    <p:sldId id="276" r:id="rId8"/>
    <p:sldId id="277" r:id="rId9"/>
    <p:sldId id="279" r:id="rId10"/>
    <p:sldId id="280" r:id="rId11"/>
    <p:sldId id="281" r:id="rId12"/>
    <p:sldId id="260" r:id="rId13"/>
    <p:sldId id="261" r:id="rId14"/>
    <p:sldId id="282" r:id="rId15"/>
    <p:sldId id="267" r:id="rId16"/>
    <p:sldId id="266" r:id="rId17"/>
    <p:sldId id="264" r:id="rId18"/>
    <p:sldId id="257" r:id="rId19"/>
    <p:sldId id="283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6" d="100"/>
          <a:sy n="66" d="100"/>
        </p:scale>
        <p:origin x="6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44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09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70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05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72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46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96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45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04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64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8084E-32A4-4CE2-92A5-5966C0E70FE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39F1A-6403-4CB8-A7E6-D04639F3A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44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22910" y="320041"/>
            <a:ext cx="10869930" cy="206702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br>
              <a:rPr lang="fr-FR" sz="6000" b="1" dirty="0">
                <a:solidFill>
                  <a:schemeClr val="tx1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0140" y="2387063"/>
            <a:ext cx="11448950" cy="421278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l"/>
            <a:r>
              <a:rPr lang="fr-FR" sz="4800" b="1" dirty="0"/>
              <a:t>     </a:t>
            </a:r>
          </a:p>
          <a:p>
            <a:pPr algn="l"/>
            <a:r>
              <a:rPr lang="fr-FR" sz="4800" b="1" dirty="0">
                <a:solidFill>
                  <a:srgbClr val="FF0000"/>
                </a:solidFill>
              </a:rPr>
              <a:t>      PREMEDICATION ET PREPARATION </a:t>
            </a:r>
          </a:p>
          <a:p>
            <a:pPr algn="l"/>
            <a:r>
              <a:rPr lang="fr-FR" sz="4800" b="1" dirty="0">
                <a:solidFill>
                  <a:srgbClr val="FF0000"/>
                </a:solidFill>
              </a:rPr>
              <a:t>    DU PATIENT A L’ANESTHESIE GENERALE</a:t>
            </a:r>
          </a:p>
          <a:p>
            <a:r>
              <a:rPr lang="fr-FR" sz="3800" dirty="0">
                <a:solidFill>
                  <a:schemeClr val="tx1"/>
                </a:solidFill>
              </a:rPr>
              <a:t>Cours de 3ème année Médecine Dentaire </a:t>
            </a:r>
          </a:p>
          <a:p>
            <a:r>
              <a:rPr lang="fr-FR" sz="3800" dirty="0">
                <a:solidFill>
                  <a:schemeClr val="tx1"/>
                </a:solidFill>
              </a:rPr>
              <a:t>2024-2025</a:t>
            </a:r>
            <a:r>
              <a:rPr lang="fr-FR" sz="3800" b="1" dirty="0">
                <a:solidFill>
                  <a:schemeClr val="tx1"/>
                </a:solidFill>
              </a:rPr>
              <a:t> </a:t>
            </a:r>
          </a:p>
          <a:p>
            <a:r>
              <a:rPr lang="fr-FR" sz="3800" dirty="0">
                <a:solidFill>
                  <a:schemeClr val="tx1"/>
                </a:solidFill>
              </a:rPr>
              <a:t>                                                               </a:t>
            </a:r>
            <a:r>
              <a:rPr lang="fr-FR" sz="4600" dirty="0">
                <a:solidFill>
                  <a:schemeClr val="tx1"/>
                </a:solidFill>
              </a:rPr>
              <a:t>Dr S.BELLAHDID</a:t>
            </a:r>
          </a:p>
          <a:p>
            <a:r>
              <a:rPr lang="fr-FR" sz="4800" b="1" dirty="0">
                <a:solidFill>
                  <a:schemeClr val="tx1"/>
                </a:solidFill>
              </a:rPr>
              <a:t>        </a:t>
            </a:r>
          </a:p>
          <a:p>
            <a:pPr algn="l"/>
            <a:endParaRPr lang="fr-FR" sz="4800" b="1" dirty="0">
              <a:solidFill>
                <a:srgbClr val="FF0000"/>
              </a:solidFill>
            </a:endParaRPr>
          </a:p>
          <a:p>
            <a:pPr algn="l"/>
            <a:endParaRPr lang="fr-FR" sz="4800" b="1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0F4011-26F2-8103-CF3D-400AD4B9D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40" y="258151"/>
            <a:ext cx="11448950" cy="212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2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/>
              <a:t>               </a:t>
            </a:r>
            <a:r>
              <a:rPr lang="fr-FR" sz="4000" b="1" dirty="0">
                <a:solidFill>
                  <a:srgbClr val="FF0000"/>
                </a:solidFill>
              </a:rPr>
              <a:t>I/INTRODUCTION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fr-FR" sz="3600" b="1" u="sng" dirty="0">
                <a:solidFill>
                  <a:srgbClr val="FF0000"/>
                </a:solidFill>
              </a:rPr>
              <a:t>DEFINITION</a:t>
            </a:r>
            <a:r>
              <a:rPr lang="fr-FR" u="sng" dirty="0"/>
              <a:t>:</a:t>
            </a:r>
          </a:p>
          <a:p>
            <a:pPr marL="0" indent="0">
              <a:buNone/>
            </a:pPr>
            <a:r>
              <a:rPr lang="fr-FR" dirty="0"/>
              <a:t>Ensemble des médications prescrites et délivrées au patient avant la</a:t>
            </a:r>
          </a:p>
          <a:p>
            <a:pPr marL="0" indent="0">
              <a:buNone/>
            </a:pPr>
            <a:r>
              <a:rPr lang="fr-FR" dirty="0"/>
              <a:t> réalisation d’un geste chirurgical ou interventionnel  sous anesthésie</a:t>
            </a:r>
          </a:p>
          <a:p>
            <a:pPr marL="0" indent="0">
              <a:buNone/>
            </a:pPr>
            <a:r>
              <a:rPr lang="fr-FR" dirty="0"/>
              <a:t> générale locorégionale ou locale avant l’admission en salle </a:t>
            </a:r>
          </a:p>
          <a:p>
            <a:pPr marL="0" indent="0">
              <a:buNone/>
            </a:pPr>
            <a:r>
              <a:rPr lang="fr-FR" dirty="0"/>
              <a:t> interventionnelle</a:t>
            </a:r>
          </a:p>
        </p:txBody>
      </p:sp>
    </p:spTree>
    <p:extLst>
      <p:ext uri="{BB962C8B-B14F-4D97-AF65-F5344CB8AC3E}">
        <p14:creationId xmlns:p14="http://schemas.microsoft.com/office/powerpoint/2010/main" val="128872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C046-6FB2-F964-F176-D54F37C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88118-19AE-5E54-05A4-DCFEAA56C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910" y="320041"/>
            <a:ext cx="10869930" cy="155447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I/INTRODUCTION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3D2BE2-396A-508B-4FF2-B173E562D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910" y="1874520"/>
            <a:ext cx="10869930" cy="441198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l"/>
            <a:endParaRPr lang="fr-FR" sz="5400" b="1" u="sng" dirty="0">
              <a:solidFill>
                <a:srgbClr val="FF0000"/>
              </a:solidFill>
            </a:endParaRPr>
          </a:p>
          <a:p>
            <a:pPr algn="l"/>
            <a:endParaRPr lang="fr-FR" sz="5400" b="1" u="sng" dirty="0">
              <a:solidFill>
                <a:srgbClr val="FF0000"/>
              </a:solidFill>
            </a:endParaRPr>
          </a:p>
          <a:p>
            <a:pPr algn="l"/>
            <a:r>
              <a:rPr lang="fr-FR" sz="5400" b="1" u="sng" dirty="0">
                <a:solidFill>
                  <a:srgbClr val="FF0000"/>
                </a:solidFill>
              </a:rPr>
              <a:t>OBJECTIF</a:t>
            </a:r>
            <a:r>
              <a:rPr lang="fr-FR" sz="4000" b="1" u="sng" dirty="0">
                <a:solidFill>
                  <a:srgbClr val="FF0000"/>
                </a:solidFill>
              </a:rPr>
              <a:t>:</a:t>
            </a:r>
            <a:endParaRPr lang="fr-FR" sz="4000" u="sng" dirty="0"/>
          </a:p>
          <a:p>
            <a:endParaRPr lang="fr-FR" sz="4000" dirty="0"/>
          </a:p>
          <a:p>
            <a:r>
              <a:rPr lang="fr-FR" sz="4000" b="1" dirty="0"/>
              <a:t>SECURITE EN ANESTHESIE</a:t>
            </a:r>
          </a:p>
          <a:p>
            <a:r>
              <a:rPr lang="fr-FR" sz="8800" b="1" dirty="0">
                <a:solidFill>
                  <a:srgbClr val="FF0000"/>
                </a:solidFill>
              </a:rPr>
              <a:t>RISQUE</a:t>
            </a:r>
            <a:r>
              <a:rPr lang="fr-FR" sz="9600" b="1" dirty="0">
                <a:solidFill>
                  <a:srgbClr val="FF0000"/>
                </a:solidFill>
              </a:rPr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1221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Préparation nécessaire pour les deux types d’ anesthésie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706100" cy="4938712"/>
          </a:xfrm>
        </p:spPr>
      </p:pic>
    </p:spTree>
    <p:extLst>
      <p:ext uri="{BB962C8B-B14F-4D97-AF65-F5344CB8AC3E}">
        <p14:creationId xmlns:p14="http://schemas.microsoft.com/office/powerpoint/2010/main" val="377778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II/CONSULTATION   PREANESTHESIQUE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fr-FR" sz="4400" dirty="0"/>
              <a:t>OBJECTIFS: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4000" dirty="0"/>
              <a:t>Le dossier d’anesthésie a pour objectif de rassembler l’ensemble des informations concernant les périodes pré, per et post anesthésiques pour tout acte d’anesthésie délivré à un patient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161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II/CONSULTATION   PREANESTHESIQUE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La recherche d’antécédents médico-chirurgicaux, et de facteurs de risques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Traitements en cours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actes transfusionnels pratiqués sur le patient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l’évaluation clinique initial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Le consentement écrit des parents pour les enfants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Examen clinique: TA ,poids, </a:t>
            </a:r>
            <a:r>
              <a:rPr lang="fr-FR" dirty="0" err="1"/>
              <a:t>éxamen</a:t>
            </a:r>
            <a:r>
              <a:rPr lang="fr-FR" dirty="0"/>
              <a:t> cardiovasculaire et pulmonaire classification </a:t>
            </a:r>
            <a:r>
              <a:rPr lang="fr-FR" dirty="0" err="1"/>
              <a:t>ASA,classification</a:t>
            </a:r>
            <a:r>
              <a:rPr lang="fr-FR" dirty="0"/>
              <a:t> </a:t>
            </a:r>
            <a:r>
              <a:rPr lang="fr-FR" dirty="0" err="1"/>
              <a:t>mallanpathie</a:t>
            </a: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examens complémentaires: groupage sanguin ,TP, FNS, glycémie ,</a:t>
            </a:r>
            <a:r>
              <a:rPr lang="fr-FR" dirty="0" err="1"/>
              <a:t>urée,creatinémie</a:t>
            </a:r>
            <a:r>
              <a:rPr lang="fr-FR" dirty="0"/>
              <a:t> ,radiographie </a:t>
            </a:r>
            <a:r>
              <a:rPr lang="fr-FR" dirty="0" err="1"/>
              <a:t>pulmonaire,l</a:t>
            </a:r>
            <a:r>
              <a:rPr lang="fr-FR" dirty="0"/>
              <a:t>’ </a:t>
            </a:r>
            <a:r>
              <a:rPr lang="fr-FR" dirty="0" err="1"/>
              <a:t>electrocardiogramme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725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II/CONSULTATION   PREANESTHESIQUE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30923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La consultation et la visite pré anesthésiques a lieu plusieurs jours avant l’intervention.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Elle est réalisée par un médecin anesthésiste-réanimateur qui décide de  la technique d’anesthésie, informe le patient et le prépare à l’intervention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Les résultats sont consignés dans un document écrit :</a:t>
            </a:r>
          </a:p>
          <a:p>
            <a:pPr marL="0" indent="0">
              <a:buNone/>
            </a:pPr>
            <a:r>
              <a:rPr lang="fr-FR" dirty="0"/>
              <a:t>incluant les résultats des examens complémentaires et/ou des consultations spécialisées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Pour les enfants, la présence des parents et la consultation du carnet de santé sont souhaitables.</a:t>
            </a:r>
          </a:p>
        </p:txBody>
      </p:sp>
    </p:spTree>
    <p:extLst>
      <p:ext uri="{BB962C8B-B14F-4D97-AF65-F5344CB8AC3E}">
        <p14:creationId xmlns:p14="http://schemas.microsoft.com/office/powerpoint/2010/main" val="128955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7310"/>
            <a:ext cx="11117579" cy="5520690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129FFEF-8727-8377-5FAA-CD85297D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379"/>
            <a:ext cx="11117263" cy="100973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   </a:t>
            </a:r>
            <a:r>
              <a:rPr lang="fr-FR" sz="3600" b="1" dirty="0">
                <a:solidFill>
                  <a:srgbClr val="FF0000"/>
                </a:solidFill>
              </a:rPr>
              <a:t>II/CONSULTATION   PREANESTHESIQUE</a:t>
            </a:r>
            <a:br>
              <a:rPr lang="fr-FR" sz="3600" b="1" dirty="0">
                <a:solidFill>
                  <a:srgbClr val="FF0000"/>
                </a:solidFill>
              </a:rPr>
            </a:br>
            <a:r>
              <a:rPr lang="fr-FR" sz="3600" b="1" dirty="0">
                <a:solidFill>
                  <a:srgbClr val="FF0000"/>
                </a:solidFill>
              </a:rPr>
              <a:t>                 Formulaire Type</a:t>
            </a:r>
          </a:p>
        </p:txBody>
      </p:sp>
    </p:spTree>
    <p:extLst>
      <p:ext uri="{BB962C8B-B14F-4D97-AF65-F5344CB8AC3E}">
        <p14:creationId xmlns:p14="http://schemas.microsoft.com/office/powerpoint/2010/main" val="314257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1003280" cy="632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7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1117580" cy="63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0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65126"/>
            <a:ext cx="11338560" cy="635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58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III/</a:t>
            </a:r>
            <a:r>
              <a:rPr lang="fr-FR" sz="4800" b="1" dirty="0">
                <a:solidFill>
                  <a:srgbClr val="FF0000"/>
                </a:solidFill>
              </a:rPr>
              <a:t>objectifs de la prémédication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Réduction de l’anxiété </a:t>
            </a:r>
            <a:r>
              <a:rPr lang="fr-FR" dirty="0" err="1"/>
              <a:t>périopératoire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Prévention de la douleur.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Prévention des réactions allergiques.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Suppression des réponses réflexes à la stimulation chirurgical.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Prophylaxie médicamenteuse des nausées vomissements post opératoire.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Réduction des frissons peropératoire ,Réduction du volume et l’acidité des sécrétions gastriques.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Réduction des besoins peropératoires en agents anesthésiques.</a:t>
            </a:r>
          </a:p>
        </p:txBody>
      </p:sp>
    </p:spTree>
    <p:extLst>
      <p:ext uri="{BB962C8B-B14F-4D97-AF65-F5344CB8AC3E}">
        <p14:creationId xmlns:p14="http://schemas.microsoft.com/office/powerpoint/2010/main" val="418501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IV/PREMEDICATION PHARMACOLOGIQUE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Benzodiazépines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 err="1"/>
              <a:t>Hydroxyzine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 err="1"/>
              <a:t>Clonidine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 err="1"/>
              <a:t>Gabapentinoides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29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5830" y="365125"/>
            <a:ext cx="10427970" cy="132556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</a:t>
            </a:r>
            <a:r>
              <a:rPr lang="fr-FR" sz="4000" b="1" dirty="0">
                <a:solidFill>
                  <a:srgbClr val="FF0000"/>
                </a:solidFill>
              </a:rPr>
              <a:t>BENZODIAZEPINES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BROMAZEPAM :</a:t>
            </a:r>
          </a:p>
          <a:p>
            <a:pPr marL="0" indent="0">
              <a:buNone/>
            </a:pPr>
            <a:r>
              <a:rPr lang="fr-FR" dirty="0" err="1"/>
              <a:t>lexomil</a:t>
            </a:r>
            <a:r>
              <a:rPr lang="fr-FR" dirty="0"/>
              <a:t> 3 à 6 mg /kg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LORAZEPAM:</a:t>
            </a:r>
          </a:p>
          <a:p>
            <a:pPr marL="0" indent="0">
              <a:buNone/>
            </a:pPr>
            <a:r>
              <a:rPr lang="fr-FR" dirty="0" err="1"/>
              <a:t>Temesta</a:t>
            </a:r>
            <a:r>
              <a:rPr lang="fr-FR" dirty="0"/>
              <a:t>  1 à 2,5 mg/kg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MIDAZOLAM:</a:t>
            </a:r>
          </a:p>
          <a:p>
            <a:pPr marL="0" indent="0">
              <a:buNone/>
            </a:pPr>
            <a:r>
              <a:rPr lang="fr-FR" dirty="0" err="1"/>
              <a:t>Hypnovel</a:t>
            </a:r>
            <a:r>
              <a:rPr lang="fr-FR" dirty="0"/>
              <a:t> 3,75 à 7,5 mg/kg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021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380" y="114300"/>
            <a:ext cx="10835640" cy="674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63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         </a:t>
            </a:r>
            <a:r>
              <a:rPr lang="fr-FR" sz="4000" b="1" dirty="0">
                <a:solidFill>
                  <a:srgbClr val="FF0000"/>
                </a:solidFill>
              </a:rPr>
              <a:t>HYDROXISINE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Pharmacodynamie: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Action sédative.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Antihistaminiques.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Antiarythmiques.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Anticholinergique.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Antiémétique.</a:t>
            </a:r>
          </a:p>
          <a:p>
            <a:pPr marL="0" indent="0">
              <a:buNone/>
            </a:pPr>
            <a:r>
              <a:rPr lang="fr-FR" dirty="0"/>
              <a:t>       Posologie :1mg/Kg </a:t>
            </a:r>
          </a:p>
          <a:p>
            <a:pPr marL="0" indent="0">
              <a:buNone/>
            </a:pPr>
            <a:r>
              <a:rPr lang="fr-FR" dirty="0"/>
              <a:t>    **dose max chez l’ adulte est de 100 mg/kg</a:t>
            </a:r>
          </a:p>
          <a:p>
            <a:pPr marL="0" indent="0">
              <a:buNone/>
            </a:pPr>
            <a:r>
              <a:rPr lang="fr-FR" dirty="0"/>
              <a:t>     ** dose max chez l’ enfant est de 2 mg/kg jusqu' à 40 kg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914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    </a:t>
            </a:r>
            <a:r>
              <a:rPr lang="fr-FR" sz="4000" b="1" dirty="0">
                <a:solidFill>
                  <a:srgbClr val="FF0000"/>
                </a:solidFill>
              </a:rPr>
              <a:t>CLONIDINE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Sédation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Anxiolyse.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Réduction tonus sympathique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Epargne anesthésiques IV et inhalés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Action :bloque les effets hémodynamiques de la </a:t>
            </a:r>
            <a:r>
              <a:rPr lang="fr-FR" dirty="0" err="1"/>
              <a:t>noradrenaline</a:t>
            </a:r>
            <a:r>
              <a:rPr lang="fr-FR" dirty="0"/>
              <a:t> endogène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Posologie:2à3 microgramme /kg par voie orale</a:t>
            </a:r>
          </a:p>
        </p:txBody>
      </p:sp>
    </p:spTree>
    <p:extLst>
      <p:ext uri="{BB962C8B-B14F-4D97-AF65-F5344CB8AC3E}">
        <p14:creationId xmlns:p14="http://schemas.microsoft.com/office/powerpoint/2010/main" val="29280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/>
              <a:t>                       </a:t>
            </a:r>
            <a:r>
              <a:rPr lang="fr-FR" b="1" dirty="0">
                <a:solidFill>
                  <a:srgbClr val="FF0000"/>
                </a:solidFill>
              </a:rPr>
              <a:t>CLONIDINE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Intérêt pour la prémédication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Diminution de la consommation d’hypnotique et morphinique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Stabilité hémodynamique per-opératoire: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diminution épisodes ischémiques chez le coronarien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Effet antalgique, sédatif et anxiolytique: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      MAIS++++++</a:t>
            </a:r>
          </a:p>
          <a:p>
            <a:pPr marL="0" indent="0">
              <a:buNone/>
            </a:pPr>
            <a:r>
              <a:rPr lang="fr-FR" dirty="0"/>
              <a:t>  Utilisation systématique en prémédication non recommandée en raison des effets secondaires: </a:t>
            </a:r>
            <a:r>
              <a:rPr lang="fr-FR" b="1" dirty="0">
                <a:solidFill>
                  <a:srgbClr val="FF0000"/>
                </a:solidFill>
              </a:rPr>
              <a:t>hypotension++++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185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" y="365126"/>
            <a:ext cx="11018520" cy="6218554"/>
          </a:xfrm>
        </p:spPr>
      </p:pic>
    </p:spTree>
    <p:extLst>
      <p:ext uri="{BB962C8B-B14F-4D97-AF65-F5344CB8AC3E}">
        <p14:creationId xmlns:p14="http://schemas.microsoft.com/office/powerpoint/2010/main" val="33827293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Office PowerPoint</Application>
  <PresentationFormat>Grand écran</PresentationFormat>
  <Paragraphs>90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Thème Office</vt:lpstr>
      <vt:lpstr> </vt:lpstr>
      <vt:lpstr>               I/INTRODUCTION</vt:lpstr>
      <vt:lpstr>I/INTRODUCTION </vt:lpstr>
      <vt:lpstr>Préparation nécessaire pour les deux types d’ anesthésie</vt:lpstr>
      <vt:lpstr>II/CONSULTATION   PREANESTHESIQUE</vt:lpstr>
      <vt:lpstr>II/CONSULTATION   PREANESTHESIQUE</vt:lpstr>
      <vt:lpstr>   II/CONSULTATION   PREANESTHESIQUE</vt:lpstr>
      <vt:lpstr>   II/CONSULTATION   PREANESTHESIQUE                  Formulaire Type</vt:lpstr>
      <vt:lpstr>Présentation PowerPoint</vt:lpstr>
      <vt:lpstr>Présentation PowerPoint</vt:lpstr>
      <vt:lpstr>Présentation PowerPoint</vt:lpstr>
      <vt:lpstr> III/objectifs de la prémédication</vt:lpstr>
      <vt:lpstr>IV/PREMEDICATION PHARMACOLOGIQUE </vt:lpstr>
      <vt:lpstr>            BENZODIAZEPINES</vt:lpstr>
      <vt:lpstr>Présentation PowerPoint</vt:lpstr>
      <vt:lpstr>                      HYDROXISINE</vt:lpstr>
      <vt:lpstr>                 CLONIDINE</vt:lpstr>
      <vt:lpstr>                       CLONIDINE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Prémédication et préparation  à une anesthésie</dc:title>
  <dc:creator>FEKIR NADJET</dc:creator>
  <cp:lastModifiedBy>lenovo</cp:lastModifiedBy>
  <cp:revision>39</cp:revision>
  <dcterms:created xsi:type="dcterms:W3CDTF">2017-05-02T03:14:43Z</dcterms:created>
  <dcterms:modified xsi:type="dcterms:W3CDTF">2025-06-10T12:39:25Z</dcterms:modified>
</cp:coreProperties>
</file>