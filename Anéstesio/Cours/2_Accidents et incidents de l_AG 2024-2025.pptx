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74" r:id="rId4"/>
    <p:sldId id="262" r:id="rId5"/>
    <p:sldId id="258" r:id="rId6"/>
    <p:sldId id="263" r:id="rId7"/>
    <p:sldId id="264" r:id="rId8"/>
    <p:sldId id="265" r:id="rId9"/>
    <p:sldId id="269" r:id="rId10"/>
    <p:sldId id="271" r:id="rId11"/>
    <p:sldId id="259" r:id="rId12"/>
    <p:sldId id="260" r:id="rId13"/>
    <p:sldId id="273" r:id="rId14"/>
    <p:sldId id="277" r:id="rId15"/>
    <p:sldId id="276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34AD28-66C2-4DCB-A574-8BEF785F7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E4730F-34A2-4786-AC9D-85E240FA5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186E84-17DB-4DFB-8B5C-693F0FBB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9130EC-8414-4A33-BD1C-DAF31012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8A3429-2F0B-4410-8475-7AB0C467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03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7070D3-E0AB-4519-AB7E-F81EC7E91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52EB50-C7D0-4CE7-931A-7DE72C794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6BC19F-C651-48E0-B299-DF8E10E8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E26867-742E-4869-8F5C-FE4C8038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D174B5-1DF3-4EA2-AB6B-EE5482F9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62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2AD645-EE45-486D-8BF6-2A03632C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6958C9-8E2C-4AF3-93CB-7E57B8AEE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9542BD-DBF7-4DB4-B950-13B01D8D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29C7C6-5C9E-4E79-8F6C-615B41442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E56B60-4F4B-4815-9D27-5D98D885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719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E18A6-3EF8-452D-BB50-9FD2F8E6F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AF1B47-5EB0-4702-9894-1D2341E0C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A60C5E-6E18-41C9-99C1-A3C109325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EE9E498-71F3-4D1B-84E4-F46CCA11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8189F9-3AFC-4F94-8D39-F86A42CF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5B00F6-CCB2-4119-A447-EA8EAC29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46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A5616D-8F76-4559-B281-7F9DBA68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60C472-80BB-4529-950D-F74FAAEDE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0BB841-84FA-4891-8C30-3362D3753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F1701B1-1117-4F67-A7FF-088A70AC27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B63EFE-37EC-47EF-8C06-2FF6CD652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DBBA837-4DE0-4244-8520-787554C2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D46B8E6-D0CE-451F-A021-A0DDE3AC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93AA5AA-CC0F-4D2B-804B-AC8C68B0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22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61240-8E9D-4BDA-A578-14798170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9C3E8C0-26D3-495B-A085-ACC648F7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585D13-7FFB-419D-8334-8B1DA056A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62A25F-4E43-4A05-8A38-8F73094A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248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C40937D-9B1A-47FE-8FA0-E49464C7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5480E59-3F79-401D-80DE-BA39617B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B30C20-4FE7-41AB-83B7-F743345F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755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447847-15FA-4B26-8A02-05DE54B9B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125ABB-660E-40CB-9454-E12001858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B9BEA8-6A09-44EA-8F93-ACE2452A0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D8F92F-A2BE-4614-A207-BE33625B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349C8A-425D-4C9A-B14D-401FA1D4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415919-FC7D-476B-A242-AC1DABFC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307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B3F3F-A556-4389-8693-BF77248B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461C368-4BBB-4B88-BEF3-01E12B418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1A5A10-0366-44E8-BE6C-E12ECF974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4CA43C-1E8A-4320-A578-3B073BEB1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17B9F5-604E-4A7F-98C4-6D7229A5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689973-D22C-470D-AA4C-A2BED843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759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3C4E2E-99FF-4B9B-A07F-D234C812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987FEBB-0A91-48DB-8066-37B9B7013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C9831C-7A49-4165-9D57-8EE48D81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8A69DC-0BD5-424C-8442-B0DFCC81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3D4673-D263-4821-8703-F3D871C6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83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7EE9C4D-6E4A-4E83-8642-AE8EA4CC5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082908-09D8-49BF-8F4C-78FDB7C84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246D1C-67A5-4C7B-9735-41008219E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EC6B37-DCA9-44A3-AAD6-79F8E913D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376C3B-FB30-4999-B0DE-7C1A9D9D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105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1F521C-11F7-41FF-A9D8-90BBBBA2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3FE268-8B75-42E0-9251-AE876E7DE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B34E53-4856-4753-949D-97A1413A8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4DA81-B7B5-44EE-9069-814CC36D3BEF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189260-EBF5-45A1-B89C-D15D33F82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9C95BF-6017-4F3E-B157-00CE91FB4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23771-7B8E-496E-A301-3B18950ABE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99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07067" y="514350"/>
            <a:ext cx="7766936" cy="195453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92702" y="2349306"/>
            <a:ext cx="7881301" cy="2798427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29" y="352134"/>
            <a:ext cx="10732309" cy="6505866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BC18C01-609A-4A9B-90E7-B6862962B771}"/>
              </a:ext>
            </a:extLst>
          </p:cNvPr>
          <p:cNvSpPr/>
          <p:nvPr/>
        </p:nvSpPr>
        <p:spPr>
          <a:xfrm>
            <a:off x="1617044" y="2222500"/>
            <a:ext cx="9182254" cy="364689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chemeClr val="tx1"/>
                </a:solidFill>
              </a:rPr>
              <a:t>ACCIDENTS ET INCIDENTS DE L’ANESTHESIE GENERALE</a:t>
            </a:r>
          </a:p>
          <a:p>
            <a:pPr algn="ctr"/>
            <a:r>
              <a:rPr lang="fr-FR" sz="4000" dirty="0">
                <a:solidFill>
                  <a:schemeClr val="tx1"/>
                </a:solidFill>
              </a:rPr>
              <a:t>Cours de 3ème année Médecine Dentaire </a:t>
            </a:r>
          </a:p>
          <a:p>
            <a:pPr algn="ctr"/>
            <a:r>
              <a:rPr lang="fr-FR" sz="4000" dirty="0">
                <a:solidFill>
                  <a:schemeClr val="tx1"/>
                </a:solidFill>
              </a:rPr>
              <a:t>2024-2025</a:t>
            </a:r>
            <a:r>
              <a:rPr lang="fr-FR" sz="4000" b="1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B8B7CE-5571-3CBF-CDC5-FF84DD264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530" y="93587"/>
            <a:ext cx="11075470" cy="212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65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FFFFFF"/>
                </a:solidFill>
              </a:rPr>
              <a:t>                              PLAN </a:t>
            </a:r>
            <a:endParaRPr lang="fr-FR" sz="4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85524" y="2234452"/>
            <a:ext cx="10191095" cy="4623548"/>
          </a:xfrm>
        </p:spPr>
        <p:txBody>
          <a:bodyPr anchor="t">
            <a:normAutofit fontScale="25000" lnSpcReduction="20000"/>
          </a:bodyPr>
          <a:lstStyle/>
          <a:p>
            <a:pPr marL="0" indent="0">
              <a:buNone/>
            </a:pPr>
            <a:r>
              <a:rPr lang="fr-FR" sz="5600" b="1" dirty="0"/>
              <a:t>      </a:t>
            </a:r>
            <a:r>
              <a:rPr lang="fr-FR" sz="6400" b="1" dirty="0"/>
              <a:t>I-INTROUCTION </a:t>
            </a:r>
          </a:p>
          <a:p>
            <a:pPr marL="0" indent="0">
              <a:buNone/>
            </a:pPr>
            <a:r>
              <a:rPr lang="fr-FR" sz="6400" b="1" dirty="0"/>
              <a:t>     II-COMPLICATIONSS RESPIRATOIRES</a:t>
            </a:r>
          </a:p>
          <a:p>
            <a:pPr marL="0" indent="0">
              <a:buNone/>
            </a:pPr>
            <a:r>
              <a:rPr lang="fr-FR" sz="6400" b="1" dirty="0"/>
              <a:t>             A-Hypoventilation et hypoxémie post operatoire</a:t>
            </a:r>
          </a:p>
          <a:p>
            <a:pPr marL="0" indent="0">
              <a:buNone/>
            </a:pPr>
            <a:r>
              <a:rPr lang="fr-FR" sz="6400" b="1" dirty="0"/>
              <a:t>             B-Obstruction des voies aériennes supérieures</a:t>
            </a:r>
          </a:p>
          <a:p>
            <a:pPr marL="0" indent="0">
              <a:buNone/>
            </a:pPr>
            <a:r>
              <a:rPr lang="fr-FR" sz="6400" b="1" dirty="0"/>
              <a:t>              C-Bronchospasme</a:t>
            </a:r>
          </a:p>
          <a:p>
            <a:pPr marL="0" indent="0">
              <a:buNone/>
            </a:pPr>
            <a:r>
              <a:rPr lang="fr-FR" sz="6400" b="1" dirty="0"/>
              <a:t>              </a:t>
            </a:r>
            <a:r>
              <a:rPr lang="fr-FR" sz="6400" b="1" dirty="0" err="1"/>
              <a:t>D-inhalation</a:t>
            </a:r>
            <a:endParaRPr lang="fr-FR" sz="6400" b="1" dirty="0"/>
          </a:p>
          <a:p>
            <a:pPr marL="0" indent="0">
              <a:buNone/>
            </a:pPr>
            <a:r>
              <a:rPr lang="fr-FR" sz="6400" b="1" dirty="0"/>
              <a:t>              E-Pneumothorax  </a:t>
            </a:r>
          </a:p>
          <a:p>
            <a:pPr marL="0" indent="0">
              <a:buNone/>
            </a:pPr>
            <a:r>
              <a:rPr lang="fr-FR" sz="6400" b="1" dirty="0"/>
              <a:t>      III-COMPLICATIONS CARDIOVACULAIRES </a:t>
            </a:r>
          </a:p>
          <a:p>
            <a:pPr marL="0" indent="0">
              <a:buNone/>
            </a:pPr>
            <a:r>
              <a:rPr lang="fr-FR" sz="6400" b="1" dirty="0"/>
              <a:t>          A-Hypotension artérielle </a:t>
            </a:r>
          </a:p>
          <a:p>
            <a:pPr marL="0" indent="0">
              <a:buNone/>
            </a:pPr>
            <a:r>
              <a:rPr lang="fr-FR" sz="6400" b="1" dirty="0"/>
              <a:t>          B-L’ischémie myocardique</a:t>
            </a:r>
          </a:p>
          <a:p>
            <a:pPr marL="0" indent="0">
              <a:buNone/>
            </a:pPr>
            <a:r>
              <a:rPr lang="fr-FR" sz="6400" b="1" dirty="0"/>
              <a:t>          </a:t>
            </a:r>
            <a:r>
              <a:rPr lang="fr-FR" sz="6400" b="1" dirty="0" err="1"/>
              <a:t>C-L’infarctus</a:t>
            </a:r>
            <a:r>
              <a:rPr lang="fr-FR" sz="6400" b="1" dirty="0"/>
              <a:t> du myocarde</a:t>
            </a:r>
          </a:p>
          <a:p>
            <a:pPr marL="0" indent="0">
              <a:buNone/>
            </a:pPr>
            <a:r>
              <a:rPr lang="fr-FR" sz="6400" b="1" dirty="0"/>
              <a:t>          D-L ’insuffisance cardiaque </a:t>
            </a:r>
          </a:p>
          <a:p>
            <a:pPr marL="0" indent="0">
              <a:buNone/>
            </a:pPr>
            <a:r>
              <a:rPr lang="fr-FR" sz="6400" b="1" dirty="0"/>
              <a:t>          E-Les troubles du rythme et de la conduction </a:t>
            </a:r>
          </a:p>
          <a:p>
            <a:pPr marL="0" indent="0">
              <a:buNone/>
            </a:pPr>
            <a:r>
              <a:rPr lang="fr-FR" sz="6400" b="1" dirty="0"/>
              <a:t>      IV-CONCLUSION </a:t>
            </a:r>
          </a:p>
          <a:p>
            <a:pPr marL="0" indent="0">
              <a:buNone/>
            </a:pPr>
            <a:r>
              <a:rPr lang="fr-FR" sz="6400" b="1" dirty="0"/>
              <a:t>        </a:t>
            </a:r>
          </a:p>
          <a:p>
            <a:pPr marL="0" indent="0">
              <a:buNone/>
            </a:pPr>
            <a:r>
              <a:rPr lang="fr-FR" sz="2000" b="1" dirty="0"/>
              <a:t>     </a:t>
            </a:r>
          </a:p>
          <a:p>
            <a:pPr marL="0" indent="0">
              <a:buNone/>
            </a:pPr>
            <a:r>
              <a:rPr lang="fr-FR" sz="2000" b="1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837452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36095-5CC8-FC0B-BDF9-6D5C6433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648357-1F71-C831-CB35-792A79266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88271DCC-95B2-E2EF-BEBA-B76637237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1A8ED528-2E26-AD21-5EFF-14FB8CF19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CFB06110-116F-40C2-B285-1B82DB217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878BAD60-D311-2928-311E-20E0ABDB3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8B1C3D-CF1C-10B8-AB2C-0E800DEAE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7504373-D4B8-8819-B0FB-B606E70FA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fr-FR" sz="4000" dirty="0">
                <a:solidFill>
                  <a:srgbClr val="FFFFFF"/>
                </a:solidFill>
              </a:rPr>
              <a:t>                    I- </a:t>
            </a:r>
            <a:r>
              <a:rPr lang="fr-FR" sz="4000" b="1" dirty="0">
                <a:solidFill>
                  <a:schemeClr val="bg1"/>
                </a:solidFill>
                <a:latin typeface="+mn-lt"/>
              </a:rPr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BFA3DC-90FE-BF0E-DA95-C0E814C11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341848"/>
            <a:ext cx="9708995" cy="3715761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000" b="1" dirty="0">
                <a:solidFill>
                  <a:srgbClr val="FF0000"/>
                </a:solidFill>
              </a:rPr>
              <a:t>L’anesthésie</a:t>
            </a:r>
            <a:r>
              <a:rPr lang="fr-FR" sz="2000" dirty="0"/>
              <a:t> </a:t>
            </a:r>
            <a:r>
              <a:rPr lang="fr-FR" sz="2000" b="1" dirty="0"/>
              <a:t>est un mot grec </a:t>
            </a:r>
            <a:r>
              <a:rPr lang="fr-FR" sz="2000" dirty="0"/>
              <a:t>:   «</a:t>
            </a:r>
            <a:r>
              <a:rPr lang="fr-FR" sz="2000" b="1" dirty="0">
                <a:solidFill>
                  <a:srgbClr val="FF0000"/>
                </a:solidFill>
              </a:rPr>
              <a:t> an </a:t>
            </a:r>
            <a:r>
              <a:rPr lang="fr-FR" sz="2000" dirty="0"/>
              <a:t>»</a:t>
            </a:r>
            <a:r>
              <a:rPr lang="fr-FR" sz="2000" b="1" dirty="0">
                <a:solidFill>
                  <a:srgbClr val="002060"/>
                </a:solidFill>
              </a:rPr>
              <a:t>privatif</a:t>
            </a:r>
            <a:r>
              <a:rPr lang="fr-FR" sz="2000" dirty="0"/>
              <a:t> et « </a:t>
            </a:r>
            <a:r>
              <a:rPr lang="fr-FR" sz="2000" b="1" dirty="0" err="1">
                <a:solidFill>
                  <a:srgbClr val="FF0000"/>
                </a:solidFill>
              </a:rPr>
              <a:t>aisthesis</a:t>
            </a:r>
            <a:r>
              <a:rPr lang="fr-FR" sz="2000" dirty="0"/>
              <a:t> » </a:t>
            </a:r>
            <a:r>
              <a:rPr lang="fr-FR" sz="2000" b="1" dirty="0">
                <a:solidFill>
                  <a:srgbClr val="002060"/>
                </a:solidFill>
              </a:rPr>
              <a:t>sensibilité </a:t>
            </a:r>
            <a:endParaRPr lang="fr-FR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2000" b="1" dirty="0">
                <a:solidFill>
                  <a:srgbClr val="002060"/>
                </a:solidFill>
              </a:rPr>
              <a:t> </a:t>
            </a:r>
            <a:r>
              <a:rPr lang="fr-FR" sz="2000" b="1" dirty="0"/>
              <a:t>L’anesthésie générale consiste en une interruption de l’ensemble de la sensibilité</a:t>
            </a:r>
            <a:endParaRPr lang="fr-FR" sz="2000" b="1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000" b="1" dirty="0"/>
              <a:t>Toute acte médical comporte bénéfices thérapeutiques et effets secondaires dont la balance doit être au bénéfice du patient.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000" b="1" dirty="0"/>
              <a:t>De toutes les disciplines médicales l’anesthésie est l’une des plus connues comme pourvoyeuse de complications.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000" b="1" dirty="0"/>
              <a:t> Même conduit dans les conditions de compétences et de sécurité, elle expose à un risque de complications. </a:t>
            </a:r>
          </a:p>
        </p:txBody>
      </p:sp>
    </p:spTree>
    <p:extLst>
      <p:ext uri="{BB962C8B-B14F-4D97-AF65-F5344CB8AC3E}">
        <p14:creationId xmlns:p14="http://schemas.microsoft.com/office/powerpoint/2010/main" val="129389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15ED38-1F3F-4D13-ADE6-27CE9C62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199861"/>
          </a:xfrm>
        </p:spPr>
        <p:txBody>
          <a:bodyPr anchor="t">
            <a:normAutofit/>
          </a:bodyPr>
          <a:lstStyle/>
          <a:p>
            <a:pPr algn="ctr"/>
            <a:br>
              <a:rPr lang="fr-FR" sz="4000" b="1" dirty="0">
                <a:highlight>
                  <a:srgbClr val="FFFF00"/>
                </a:highlight>
                <a:latin typeface="+mn-lt"/>
              </a:rPr>
            </a:br>
            <a:r>
              <a:rPr lang="fr-FR" sz="4000" b="1" dirty="0">
                <a:solidFill>
                  <a:schemeClr val="bg1"/>
                </a:solidFill>
                <a:latin typeface="+mn-lt"/>
              </a:rPr>
              <a:t>I-INTRODUCTION</a:t>
            </a:r>
            <a:endParaRPr lang="fr-FR" sz="4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75F855-8509-4F54-BD83-2E5181D21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936" y="2177170"/>
            <a:ext cx="10263684" cy="3880439"/>
          </a:xfrm>
        </p:spPr>
        <p:txBody>
          <a:bodyPr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2400" b="1" dirty="0"/>
              <a:t>Les complications de l’anesthésie se subdivisent en 2 groupes:</a:t>
            </a:r>
          </a:p>
          <a:p>
            <a:pPr indent="222250">
              <a:buFont typeface="Wingdings" panose="05000000000000000000" pitchFamily="2" charset="2"/>
              <a:buChar char="§"/>
            </a:pPr>
            <a:r>
              <a:rPr lang="fr-FR" sz="2400" b="1" u="sng" dirty="0">
                <a:solidFill>
                  <a:srgbClr val="FF0000"/>
                </a:solidFill>
              </a:rPr>
              <a:t>Les accidents</a:t>
            </a:r>
            <a:r>
              <a:rPr lang="fr-FR" sz="2400" b="1" dirty="0"/>
              <a:t>:</a:t>
            </a:r>
          </a:p>
          <a:p>
            <a:pPr indent="0">
              <a:buNone/>
            </a:pPr>
            <a:r>
              <a:rPr lang="fr-FR" sz="2400" b="1" dirty="0"/>
              <a:t>            - c’est un </a:t>
            </a:r>
            <a:r>
              <a:rPr lang="fr-FR" sz="2400" b="1" dirty="0" err="1"/>
              <a:t>évenement</a:t>
            </a:r>
            <a:r>
              <a:rPr lang="fr-FR" sz="2400" b="1" dirty="0"/>
              <a:t> imprévu aux conséquences</a:t>
            </a:r>
            <a:r>
              <a:rPr lang="fr-FR" sz="2400" dirty="0"/>
              <a:t> </a:t>
            </a:r>
            <a:r>
              <a:rPr lang="fr-FR" sz="2400" b="1" dirty="0"/>
              <a:t>fâcheuses.</a:t>
            </a:r>
          </a:p>
          <a:p>
            <a:pPr marL="1168400" indent="-184150">
              <a:buNone/>
            </a:pPr>
            <a:r>
              <a:rPr lang="fr-FR" sz="2400" b="1" dirty="0"/>
              <a:t>-il survient pendant ou après l’anesthésie et peut  s’accompagner d’un préjudice définitif « complications majeures 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b="1" u="sng" dirty="0">
                <a:solidFill>
                  <a:srgbClr val="FF0000"/>
                </a:solidFill>
              </a:rPr>
              <a:t> Les incidents</a:t>
            </a:r>
            <a:r>
              <a:rPr lang="fr-FR" sz="2400" b="1" dirty="0"/>
              <a:t>: </a:t>
            </a:r>
          </a:p>
          <a:p>
            <a:pPr marL="1435100" indent="-801688">
              <a:buNone/>
            </a:pPr>
            <a:r>
              <a:rPr lang="fr-FR" sz="2400" b="1" dirty="0"/>
              <a:t>         -Petits événement imprévu fâcheux  qui survient le plus souvent au cours d’une opération et peut la perturber « complications mineures »</a:t>
            </a:r>
            <a:endParaRPr lang="fr-FR" sz="2400" dirty="0"/>
          </a:p>
          <a:p>
            <a:pPr>
              <a:buFont typeface="Wingdings" panose="05000000000000000000" pitchFamily="2" charset="2"/>
              <a:buChar char="§"/>
            </a:pPr>
            <a:endParaRPr lang="fr-FR" sz="2400" b="1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6145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+mn-lt"/>
              </a:rPr>
              <a:t>       II-COMPLICATIONS RESPIRATOIRES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11922" y="2177170"/>
            <a:ext cx="10411178" cy="429396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fr-FR" sz="11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2400" b="1" dirty="0"/>
              <a:t>IL s’agit de complications les plus fréquentes ,première cause de mortalité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b="1" dirty="0"/>
              <a:t>Facteurs de risque :</a:t>
            </a:r>
          </a:p>
          <a:p>
            <a:pPr marL="0" indent="0">
              <a:buNone/>
            </a:pPr>
            <a:r>
              <a:rPr lang="fr-FR" sz="2400" b="1" dirty="0"/>
              <a:t>        -Surdosage en drogues anesthésiques</a:t>
            </a:r>
          </a:p>
          <a:p>
            <a:pPr marL="0" indent="0">
              <a:buNone/>
            </a:pPr>
            <a:r>
              <a:rPr lang="fr-FR" sz="2400" b="1" dirty="0"/>
              <a:t>        -L’obésité </a:t>
            </a:r>
          </a:p>
          <a:p>
            <a:pPr marL="0" indent="0">
              <a:buNone/>
            </a:pPr>
            <a:r>
              <a:rPr lang="fr-FR" sz="2400" b="1" dirty="0"/>
              <a:t>        -Le diabète </a:t>
            </a:r>
          </a:p>
          <a:p>
            <a:pPr marL="0" indent="0">
              <a:buNone/>
            </a:pPr>
            <a:r>
              <a:rPr lang="fr-FR" sz="2400" b="1" dirty="0"/>
              <a:t>        -Durée d’ intervention de plus de 4 heures </a:t>
            </a:r>
          </a:p>
          <a:p>
            <a:pPr marL="0" indent="0">
              <a:buNone/>
            </a:pPr>
            <a:r>
              <a:rPr lang="fr-FR" sz="2400" b="1" dirty="0"/>
              <a:t>        -Agents anesthésiques de longue durée d’action </a:t>
            </a:r>
          </a:p>
          <a:p>
            <a:pPr marL="0" indent="0">
              <a:buNone/>
            </a:pPr>
            <a:endParaRPr lang="fr-FR" sz="2000" b="1" dirty="0"/>
          </a:p>
          <a:p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679472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5BC8FE-5264-46AD-8157-A3472BE23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+mn-lt"/>
              </a:rPr>
              <a:t>     II-COMPLICATIONS RESPIRATOIRES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B8AC46-B6F0-4FE2-8656-161045351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506" y="2234452"/>
            <a:ext cx="10118113" cy="4455106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2400" u="sng" dirty="0">
                <a:solidFill>
                  <a:srgbClr val="FF0000"/>
                </a:solidFill>
              </a:rPr>
              <a:t>  </a:t>
            </a:r>
            <a:r>
              <a:rPr lang="fr-FR" sz="2400" b="1" dirty="0"/>
              <a:t> </a:t>
            </a:r>
            <a:r>
              <a:rPr lang="fr-FR" sz="2600" b="1" u="sng" dirty="0">
                <a:solidFill>
                  <a:srgbClr val="00B050"/>
                </a:solidFill>
              </a:rPr>
              <a:t>A-Hypoventilation et </a:t>
            </a:r>
            <a:r>
              <a:rPr lang="fr-FR" sz="2600" b="1" u="sng" dirty="0" err="1">
                <a:solidFill>
                  <a:srgbClr val="00B050"/>
                </a:solidFill>
              </a:rPr>
              <a:t>hypoxemie</a:t>
            </a:r>
            <a:r>
              <a:rPr lang="fr-FR" sz="2600" b="1" u="sng" dirty="0">
                <a:solidFill>
                  <a:srgbClr val="00B050"/>
                </a:solidFill>
              </a:rPr>
              <a:t> post operatoire:</a:t>
            </a:r>
          </a:p>
          <a:p>
            <a:pPr marL="0" indent="0">
              <a:buNone/>
            </a:pPr>
            <a:r>
              <a:rPr lang="fr-FR" sz="2600" b="1" dirty="0"/>
              <a:t>-Ventilation inadéquate dans les 1/3 des cas: A l’induction le plus souvent et plus rarement en per et postopératoire.</a:t>
            </a:r>
          </a:p>
          <a:p>
            <a:pPr marL="0" indent="0">
              <a:buNone/>
            </a:pPr>
            <a:r>
              <a:rPr lang="fr-FR" sz="2600" b="1" dirty="0"/>
              <a:t> </a:t>
            </a:r>
            <a:r>
              <a:rPr lang="fr-FR" sz="2600" b="1" u="sng" dirty="0"/>
              <a:t>Dont la cause peut être :</a:t>
            </a:r>
          </a:p>
          <a:p>
            <a:pPr>
              <a:buFontTx/>
              <a:buChar char="-"/>
            </a:pPr>
            <a:r>
              <a:rPr lang="fr-FR" sz="2600" b="1" dirty="0"/>
              <a:t>Action des médicaments  de </a:t>
            </a:r>
            <a:r>
              <a:rPr lang="fr-FR" sz="2600" b="1" dirty="0" err="1"/>
              <a:t>prénarcose</a:t>
            </a:r>
            <a:r>
              <a:rPr lang="fr-FR" sz="2600" b="1" dirty="0"/>
              <a:t>  ou des anesthésiques(morphiniques ,curares…)</a:t>
            </a:r>
          </a:p>
          <a:p>
            <a:pPr marL="0" indent="0">
              <a:buNone/>
            </a:pPr>
            <a:r>
              <a:rPr lang="fr-FR" sz="2600" b="1" dirty="0"/>
              <a:t>-Hypothermie chez l’ enfant </a:t>
            </a:r>
          </a:p>
          <a:p>
            <a:pPr marL="0" indent="0">
              <a:buNone/>
            </a:pPr>
            <a:r>
              <a:rPr lang="fr-FR" sz="2600" b="1" dirty="0"/>
              <a:t>-Douleur </a:t>
            </a:r>
          </a:p>
          <a:p>
            <a:pPr marL="0" indent="0">
              <a:buNone/>
            </a:pPr>
            <a:r>
              <a:rPr lang="fr-FR" sz="2600" b="1" u="sng" dirty="0">
                <a:solidFill>
                  <a:srgbClr val="00B050"/>
                </a:solidFill>
              </a:rPr>
              <a:t>Hypoxémie post </a:t>
            </a:r>
            <a:r>
              <a:rPr lang="fr-FR" sz="2600" b="1" u="sng" dirty="0" err="1">
                <a:solidFill>
                  <a:srgbClr val="00B050"/>
                </a:solidFill>
              </a:rPr>
              <a:t>opératoire:</a:t>
            </a:r>
            <a:r>
              <a:rPr lang="fr-FR" sz="2600" b="1" dirty="0" err="1"/>
              <a:t>facteurs</a:t>
            </a:r>
            <a:r>
              <a:rPr lang="fr-FR" sz="2600" b="1" dirty="0"/>
              <a:t> de risque </a:t>
            </a:r>
          </a:p>
          <a:p>
            <a:pPr marL="0" indent="0">
              <a:buNone/>
            </a:pPr>
            <a:r>
              <a:rPr lang="fr-FR" sz="2600" b="1" dirty="0"/>
              <a:t>-Durée de l’ anesthésie &gt; 2 heures </a:t>
            </a:r>
          </a:p>
          <a:p>
            <a:pPr marL="0" indent="0">
              <a:buNone/>
            </a:pPr>
            <a:r>
              <a:rPr lang="fr-FR" sz="2600" b="1" dirty="0"/>
              <a:t>-anesthésie générale ,Age </a:t>
            </a:r>
            <a:r>
              <a:rPr lang="fr-FR" sz="2600" b="1" dirty="0" err="1"/>
              <a:t>avançé</a:t>
            </a:r>
            <a:r>
              <a:rPr lang="fr-FR" sz="2600" b="1" dirty="0"/>
              <a:t> ,obésité ,Tabagisme </a:t>
            </a:r>
          </a:p>
          <a:p>
            <a:pPr marL="0" indent="0">
              <a:buNone/>
            </a:pPr>
            <a:r>
              <a:rPr lang="fr-FR" sz="2600" b="1" dirty="0"/>
              <a:t>-Le diagnostic posé par la SPO2=saturation </a:t>
            </a:r>
            <a:r>
              <a:rPr lang="fr-FR" sz="2600" b="1" dirty="0" err="1"/>
              <a:t>pulçée</a:t>
            </a:r>
            <a:r>
              <a:rPr lang="fr-FR" sz="2600" b="1" dirty="0"/>
              <a:t> en </a:t>
            </a:r>
            <a:r>
              <a:rPr lang="fr-FR" sz="2600" b="1" dirty="0" err="1"/>
              <a:t>oxygéne</a:t>
            </a:r>
            <a:r>
              <a:rPr lang="fr-FR" sz="2600" b="1" dirty="0"/>
              <a:t> </a:t>
            </a:r>
          </a:p>
          <a:p>
            <a:pPr marL="0" indent="0">
              <a:buNone/>
            </a:pP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597385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5E83E5-3E7A-45D0-865A-2D8C66D3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+mn-lt"/>
              </a:rPr>
              <a:t>      II-COMPLICATIONS RESPIRATOIRES </a:t>
            </a:r>
            <a:endParaRPr lang="fr-FR" sz="4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1C153F-60AE-4F75-AB03-3A01D5CBD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927" y="2177170"/>
            <a:ext cx="10118113" cy="4533119"/>
          </a:xfrm>
        </p:spPr>
        <p:txBody>
          <a:bodyPr anchor="ctr">
            <a:normAutofit fontScale="62500" lnSpcReduction="20000"/>
          </a:bodyPr>
          <a:lstStyle/>
          <a:p>
            <a:pPr defTabSz="365125">
              <a:buFont typeface="Wingdings" panose="05000000000000000000" pitchFamily="2" charset="2"/>
              <a:buChar char="Ø"/>
            </a:pPr>
            <a:r>
              <a:rPr lang="fr-FR" sz="2900" b="1" dirty="0"/>
              <a:t>    Le traitement de l’hypoventilation quelle que soit la cause est  :</a:t>
            </a:r>
          </a:p>
          <a:p>
            <a:pPr marL="0" indent="0">
              <a:buNone/>
            </a:pPr>
            <a:r>
              <a:rPr lang="fr-FR" sz="2900" b="1" dirty="0"/>
              <a:t>                        - le maintien de la liberté des voies aériennes </a:t>
            </a:r>
          </a:p>
          <a:p>
            <a:pPr marL="0" indent="0">
              <a:buNone/>
            </a:pPr>
            <a:r>
              <a:rPr lang="fr-FR" sz="2900" b="1" dirty="0"/>
              <a:t>                       -Ventilation artificielle</a:t>
            </a:r>
          </a:p>
          <a:p>
            <a:pPr marL="1617663" indent="-1617663">
              <a:buNone/>
            </a:pPr>
            <a:r>
              <a:rPr lang="fr-FR" sz="2900" b="1" dirty="0"/>
              <a:t>                       - l’administration de Prostigmine et d’atropine en cas de surdosage aux curares </a:t>
            </a:r>
          </a:p>
          <a:p>
            <a:pPr marL="0" indent="0">
              <a:buNone/>
            </a:pPr>
            <a:r>
              <a:rPr lang="fr-FR" sz="2900" b="1" dirty="0"/>
              <a:t>                      -Naloxone en cas de surdosage en opiacés </a:t>
            </a:r>
          </a:p>
          <a:p>
            <a:pPr marL="0" indent="0">
              <a:buNone/>
            </a:pPr>
            <a:r>
              <a:rPr lang="fr-FR" sz="3800" b="1" u="sng" dirty="0">
                <a:solidFill>
                  <a:srgbClr val="00B050"/>
                </a:solidFill>
              </a:rPr>
              <a:t>B/L’obstruction des voies aériennes:</a:t>
            </a:r>
          </a:p>
          <a:p>
            <a:pPr>
              <a:buFontTx/>
              <a:buChar char="-"/>
            </a:pPr>
            <a:r>
              <a:rPr lang="fr-FR" sz="3200" b="1" dirty="0"/>
              <a:t>Complication respiratoire postopératoire la plus fréquente,</a:t>
            </a:r>
          </a:p>
          <a:p>
            <a:pPr>
              <a:buFontTx/>
              <a:buChar char="-"/>
            </a:pPr>
            <a:r>
              <a:rPr lang="fr-FR" sz="3200" b="1" dirty="0"/>
              <a:t> Etiologies de cette obstruction :</a:t>
            </a:r>
          </a:p>
          <a:p>
            <a:pPr marL="0" indent="0">
              <a:buNone/>
            </a:pPr>
            <a:r>
              <a:rPr lang="fr-FR" sz="3200" b="1" dirty="0"/>
              <a:t>            * l’hypotonie de la musculature oropharyngée</a:t>
            </a:r>
          </a:p>
          <a:p>
            <a:pPr marL="0" indent="0">
              <a:buNone/>
            </a:pPr>
            <a:r>
              <a:rPr lang="fr-FR" sz="3200" b="1" dirty="0"/>
              <a:t>            * la dépression des mécanorécepteurs. </a:t>
            </a:r>
          </a:p>
          <a:p>
            <a:pPr marL="0" indent="0">
              <a:buNone/>
            </a:pPr>
            <a:r>
              <a:rPr lang="fr-FR" sz="3200" b="1" dirty="0"/>
              <a:t>-Traitement :canule oropharyngée ,hyperextension de la tète ,re intubation ,</a:t>
            </a:r>
            <a:r>
              <a:rPr lang="fr-FR" sz="3200" b="1" dirty="0" err="1"/>
              <a:t>antagonisation</a:t>
            </a:r>
            <a:r>
              <a:rPr lang="fr-FR" sz="3200" b="1" dirty="0"/>
              <a:t> des curares et des morphiniques</a:t>
            </a:r>
          </a:p>
          <a:p>
            <a:pPr marL="0" indent="0">
              <a:buNone/>
            </a:pPr>
            <a:endParaRPr lang="fr-FR" sz="3200" b="1" dirty="0"/>
          </a:p>
          <a:p>
            <a:r>
              <a:rPr lang="fr-FR" sz="1100" u="sng" dirty="0"/>
              <a:t>: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939672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808629B-6427-432E-81C3-3E5195CB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+mn-lt"/>
              </a:rPr>
              <a:t>II-COMPLICATIONS RESPIRATOIRES </a:t>
            </a:r>
            <a:endParaRPr lang="fr-FR" sz="4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620AFB-E915-427A-9F1F-617CC50AA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322" y="2177170"/>
            <a:ext cx="9957297" cy="388043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3400" b="1" u="sng" dirty="0">
                <a:solidFill>
                  <a:srgbClr val="00B050"/>
                </a:solidFill>
              </a:rPr>
              <a:t>c/Bronchospasme </a:t>
            </a:r>
            <a:r>
              <a:rPr lang="fr-FR" sz="2200" b="1" u="sng" dirty="0">
                <a:solidFill>
                  <a:srgbClr val="00B050"/>
                </a:solidFill>
              </a:rPr>
              <a:t>:</a:t>
            </a:r>
            <a:r>
              <a:rPr lang="fr-FR" sz="2600" dirty="0"/>
              <a:t>c’</a:t>
            </a:r>
            <a:r>
              <a:rPr lang="fr-FR" sz="2600" dirty="0" err="1"/>
              <a:t>estun</a:t>
            </a:r>
            <a:r>
              <a:rPr lang="fr-FR" sz="2600" dirty="0"/>
              <a:t> spasme des bronches avec une diminution du calibre des bronches par constriction pulmonaire et augmentation des résistances pulmonaires.</a:t>
            </a:r>
          </a:p>
          <a:p>
            <a:pPr marL="0" indent="0">
              <a:buNone/>
            </a:pPr>
            <a:r>
              <a:rPr lang="fr-FR" sz="2600" u="sng" dirty="0"/>
              <a:t>Clinique</a:t>
            </a:r>
            <a:r>
              <a:rPr lang="fr-FR" sz="2600" dirty="0"/>
              <a:t>  : -Sibilants dans les 2 champs pulmonaires</a:t>
            </a:r>
          </a:p>
          <a:p>
            <a:pPr marL="0" indent="0">
              <a:buNone/>
            </a:pPr>
            <a:r>
              <a:rPr lang="fr-FR" sz="2600" dirty="0"/>
              <a:t>                   - Dyspnée expiratoire,</a:t>
            </a:r>
          </a:p>
          <a:p>
            <a:pPr marL="0" indent="0">
              <a:buNone/>
            </a:pPr>
            <a:r>
              <a:rPr lang="fr-FR" sz="2600" dirty="0"/>
              <a:t>                   -Silence respiratoire si arrêt respiratoire,</a:t>
            </a:r>
          </a:p>
          <a:p>
            <a:pPr marL="0" indent="0">
              <a:buNone/>
            </a:pPr>
            <a:r>
              <a:rPr lang="fr-FR" sz="2600" dirty="0"/>
              <a:t>                    -Une SpO2 basse, </a:t>
            </a:r>
          </a:p>
          <a:p>
            <a:pPr marL="0" indent="0">
              <a:buNone/>
            </a:pPr>
            <a:r>
              <a:rPr lang="fr-FR" sz="2600" dirty="0"/>
              <a:t>                   -Une diminution de la pression intra thoracique</a:t>
            </a:r>
            <a:endParaRPr lang="fr-FR" sz="2600" b="1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976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6572E02-95FB-4B13-AFC7-41C4586DA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bg1"/>
                </a:solidFill>
                <a:latin typeface="+mn-lt"/>
              </a:rPr>
              <a:t>II-COMPLICATIONS RESPIRATOIRES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0A5242-DC0C-477E-9D2A-30B72F38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506" y="2177170"/>
            <a:ext cx="10118113" cy="3880439"/>
          </a:xfrm>
        </p:spPr>
        <p:txBody>
          <a:bodyPr anchor="t">
            <a:normAutofit/>
          </a:bodyPr>
          <a:lstStyle/>
          <a:p>
            <a:pPr marL="793750" indent="-342900">
              <a:buFont typeface="Wingdings" panose="05000000000000000000" pitchFamily="2" charset="2"/>
              <a:buChar char="§"/>
            </a:pPr>
            <a:r>
              <a:rPr lang="fr-FR" sz="2400" b="1" u="sng" dirty="0"/>
              <a:t>Traitement du bronchospasme :</a:t>
            </a:r>
            <a:r>
              <a:rPr lang="fr-FR" sz="2400" dirty="0"/>
              <a:t> </a:t>
            </a:r>
          </a:p>
          <a:p>
            <a:pPr marL="450850" indent="0">
              <a:buNone/>
            </a:pPr>
            <a:r>
              <a:rPr lang="fr-FR" sz="2400" dirty="0"/>
              <a:t>       *Approfondissement de l’an2sthesie</a:t>
            </a:r>
          </a:p>
          <a:p>
            <a:pPr marL="450850" indent="0">
              <a:buNone/>
            </a:pPr>
            <a:r>
              <a:rPr lang="fr-FR" sz="2400" dirty="0"/>
              <a:t>        *Bronchodilatateur endotrachéale (Ventoline 3 bouffées/2mn) </a:t>
            </a:r>
          </a:p>
          <a:p>
            <a:pPr marL="450850" indent="0">
              <a:buNone/>
            </a:pPr>
            <a:r>
              <a:rPr lang="fr-FR" sz="2400" dirty="0"/>
              <a:t>         et de l’adrénaline 0,1mg.</a:t>
            </a:r>
          </a:p>
          <a:p>
            <a:pPr marL="450850" indent="0">
              <a:buNone/>
            </a:pPr>
            <a:r>
              <a:rPr lang="fr-FR" sz="2400" dirty="0"/>
              <a:t>      * une administration intraveineuse de bronchodilatateur (Bricanyl, Salbutamol)</a:t>
            </a:r>
          </a:p>
          <a:p>
            <a:pPr marL="450850" indent="0">
              <a:buNone/>
            </a:pPr>
            <a:r>
              <a:rPr lang="fr-FR" sz="2400" dirty="0"/>
              <a:t>      *Ventilation manuelle au ballon pour forcer le spasme </a:t>
            </a:r>
          </a:p>
        </p:txBody>
      </p:sp>
    </p:spTree>
    <p:extLst>
      <p:ext uri="{BB962C8B-B14F-4D97-AF65-F5344CB8AC3E}">
        <p14:creationId xmlns:p14="http://schemas.microsoft.com/office/powerpoint/2010/main" val="3406222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61F0834-392D-4A0F-8DBB-BE5808EB4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bg1"/>
                </a:solidFill>
              </a:rPr>
              <a:t> II-</a:t>
            </a:r>
            <a:r>
              <a:rPr lang="fr-FR" sz="4000" b="1" dirty="0">
                <a:solidFill>
                  <a:schemeClr val="bg1"/>
                </a:solidFill>
                <a:latin typeface="+mn-lt"/>
              </a:rPr>
              <a:t>COMPLICATIONS RESPIRATOIRES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F962FF-2E76-4FAB-A24C-D0BEBEC0A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sz="2400" b="1" u="sng" dirty="0">
                <a:solidFill>
                  <a:srgbClr val="00B050"/>
                </a:solidFill>
              </a:rPr>
              <a:t>D/Inhalation du contenu gastrique :</a:t>
            </a:r>
          </a:p>
          <a:p>
            <a:pPr marL="0" indent="0">
              <a:buNone/>
            </a:pPr>
            <a:r>
              <a:rPr lang="fr-FR" sz="2400" b="1" u="sng" dirty="0"/>
              <a:t>Diagnostic par :-</a:t>
            </a:r>
            <a:r>
              <a:rPr lang="fr-FR" sz="2400" dirty="0"/>
              <a:t>Toux </a:t>
            </a:r>
          </a:p>
          <a:p>
            <a:pPr marL="0" indent="0">
              <a:buNone/>
            </a:pPr>
            <a:r>
              <a:rPr lang="fr-FR" sz="2400" dirty="0"/>
              <a:t>                             -Sibilants et des ronflants à l’ auscultation pulmonaire </a:t>
            </a:r>
          </a:p>
          <a:p>
            <a:pPr marL="0" indent="0">
              <a:buNone/>
            </a:pPr>
            <a:r>
              <a:rPr lang="fr-FR" sz="2400" dirty="0"/>
              <a:t>                             -Désaturation &lt; 90 %</a:t>
            </a:r>
          </a:p>
          <a:p>
            <a:pPr marL="0" indent="0">
              <a:buNone/>
            </a:pPr>
            <a:r>
              <a:rPr lang="fr-FR" sz="2400" dirty="0"/>
              <a:t>                             -Liquide gastrique dans les voies aériennes </a:t>
            </a:r>
          </a:p>
          <a:p>
            <a:pPr marL="0" indent="0">
              <a:buNone/>
            </a:pPr>
            <a:r>
              <a:rPr lang="fr-FR" sz="2400" b="1" u="sng" dirty="0">
                <a:solidFill>
                  <a:srgbClr val="00B050"/>
                </a:solidFill>
              </a:rPr>
              <a:t>E/Pneumothorax :</a:t>
            </a:r>
            <a:r>
              <a:rPr lang="fr-FR" sz="2400" dirty="0"/>
              <a:t>par rupture d’ alvéoles pulmonaires consécutives à une ventilation artificielle ou par traumatisme chirurgicale des alvéoles </a:t>
            </a:r>
          </a:p>
          <a:p>
            <a:pPr marL="0" indent="0">
              <a:buNone/>
            </a:pPr>
            <a:r>
              <a:rPr lang="fr-FR" sz="2400" b="1" dirty="0"/>
              <a:t>Traitement: drainage</a:t>
            </a:r>
            <a:r>
              <a:rPr lang="fr-FR" sz="2400" dirty="0"/>
              <a:t> de l’air par ponction pleurale </a:t>
            </a:r>
          </a:p>
          <a:p>
            <a:pPr marL="0" indent="0">
              <a:buNone/>
            </a:pPr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523950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67624" y="2012494"/>
            <a:ext cx="9708995" cy="461690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900" dirty="0"/>
          </a:p>
          <a:p>
            <a:r>
              <a:rPr lang="fr-FR" sz="2400" b="1" dirty="0"/>
              <a:t>La  conséquence est dans tous les cas :   L’hypoxie </a:t>
            </a:r>
          </a:p>
          <a:p>
            <a:r>
              <a:rPr lang="fr-FR" sz="2400" b="1" dirty="0"/>
              <a:t>Les causes de l’hypoxie les plus fréquentes sont:</a:t>
            </a:r>
          </a:p>
          <a:p>
            <a:r>
              <a:rPr lang="fr-FR" sz="2400" b="1" dirty="0"/>
              <a:t>Les différentes complications respiratoires déjà citées</a:t>
            </a:r>
          </a:p>
          <a:p>
            <a:r>
              <a:rPr lang="fr-FR" sz="2400" b="1" dirty="0"/>
              <a:t>La détresse respiratoire+++</a:t>
            </a:r>
          </a:p>
          <a:p>
            <a:r>
              <a:rPr lang="fr-FR" sz="2400" b="1" dirty="0"/>
              <a:t>Problème technique(respirateur)</a:t>
            </a:r>
          </a:p>
          <a:p>
            <a:r>
              <a:rPr lang="fr-FR" sz="2400" b="1" dirty="0"/>
              <a:t>Toutes ces complications sont résolutives spontanément ou sous traitement bien conduit.</a:t>
            </a:r>
          </a:p>
          <a:p>
            <a:r>
              <a:rPr lang="fr-FR" sz="2400" b="1" dirty="0"/>
              <a:t>Elles sont aggravées par les antécédents du patient et le type de chirurgie</a:t>
            </a:r>
          </a:p>
          <a:p>
            <a:r>
              <a:rPr lang="fr-FR" sz="2400" b="1" dirty="0"/>
              <a:t>Elles sont minimisées par une bonne évaluation préopératoire.</a:t>
            </a:r>
          </a:p>
          <a:p>
            <a:endParaRPr lang="fr-FR" sz="2400" b="1" dirty="0"/>
          </a:p>
          <a:p>
            <a:endParaRPr lang="fr-FR" sz="19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81083AC-2E24-91CC-826C-0AB30CD02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800100"/>
            <a:ext cx="10264775" cy="1212850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bg1"/>
                </a:solidFill>
              </a:rPr>
              <a:t> II-</a:t>
            </a:r>
            <a:r>
              <a:rPr lang="fr-FR" sz="4000" b="1" dirty="0">
                <a:solidFill>
                  <a:schemeClr val="bg1"/>
                </a:solidFill>
                <a:latin typeface="+mn-lt"/>
              </a:rPr>
              <a:t>COMPLICATIONS RESPIRATOIRES </a:t>
            </a:r>
          </a:p>
        </p:txBody>
      </p:sp>
    </p:spTree>
    <p:extLst>
      <p:ext uri="{BB962C8B-B14F-4D97-AF65-F5344CB8AC3E}">
        <p14:creationId xmlns:p14="http://schemas.microsoft.com/office/powerpoint/2010/main" val="1647835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+mn-lt"/>
              </a:rPr>
              <a:t>        III-COMPLICATIONS CARDIOVASCULAIRES</a:t>
            </a:r>
            <a:br>
              <a:rPr lang="fr-FR" sz="4000" dirty="0">
                <a:solidFill>
                  <a:srgbClr val="FFFFFF"/>
                </a:solidFill>
              </a:rPr>
            </a:br>
            <a:endParaRPr lang="fr-FR" sz="4000" dirty="0">
              <a:solidFill>
                <a:srgbClr val="FFFFFF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47885" y="2234452"/>
            <a:ext cx="9708995" cy="4461770"/>
          </a:xfrm>
        </p:spPr>
        <p:txBody>
          <a:bodyPr anchor="ctr"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800" dirty="0"/>
              <a:t>Elles sont fréquentes (1 à 2%)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800" dirty="0"/>
              <a:t>Mis en jeu du pronostic vital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800" dirty="0"/>
              <a:t>On distingue:</a:t>
            </a:r>
          </a:p>
          <a:p>
            <a:pPr marL="0" indent="0">
              <a:buNone/>
            </a:pPr>
            <a:r>
              <a:rPr lang="fr-FR" sz="3800" b="1" u="sng" dirty="0">
                <a:solidFill>
                  <a:srgbClr val="00B050"/>
                </a:solidFill>
              </a:rPr>
              <a:t>A-Hypotension artérielle </a:t>
            </a:r>
            <a:r>
              <a:rPr lang="fr-FR" sz="3800" dirty="0"/>
              <a:t>modérée est fréquente dont les causes sont:</a:t>
            </a:r>
          </a:p>
          <a:p>
            <a:pPr marL="0" indent="0">
              <a:buNone/>
            </a:pPr>
            <a:r>
              <a:rPr lang="fr-FR" sz="3800" dirty="0"/>
              <a:t>              - Vasoplégie </a:t>
            </a:r>
          </a:p>
          <a:p>
            <a:pPr marL="0" indent="0">
              <a:buNone/>
            </a:pPr>
            <a:r>
              <a:rPr lang="fr-FR" sz="3800" dirty="0"/>
              <a:t>               -Etat de choc (</a:t>
            </a:r>
            <a:r>
              <a:rPr lang="fr-FR" sz="3800" dirty="0" err="1"/>
              <a:t>hémorragique,cardiogénique</a:t>
            </a:r>
            <a:r>
              <a:rPr lang="fr-FR" sz="3800" dirty="0"/>
              <a:t> ou septique)</a:t>
            </a:r>
          </a:p>
          <a:p>
            <a:pPr marL="0" indent="0">
              <a:buNone/>
            </a:pPr>
            <a:r>
              <a:rPr lang="fr-FR" sz="3800" dirty="0"/>
              <a:t>              -Gêne  postural</a:t>
            </a:r>
          </a:p>
          <a:p>
            <a:pPr marL="0" indent="0">
              <a:buNone/>
            </a:pPr>
            <a:r>
              <a:rPr lang="fr-FR" sz="3800" dirty="0"/>
              <a:t>-</a:t>
            </a:r>
            <a:r>
              <a:rPr lang="fr-FR" sz="3800" b="1" u="sng" dirty="0">
                <a:solidFill>
                  <a:srgbClr val="00B050"/>
                </a:solidFill>
              </a:rPr>
              <a:t>Causes cardiaques </a:t>
            </a:r>
            <a:r>
              <a:rPr lang="fr-FR" sz="3800" dirty="0"/>
              <a:t>:*insuffisance cardiaque et infarctus du myocardique</a:t>
            </a:r>
            <a:endParaRPr lang="fr-FR" sz="1100" dirty="0"/>
          </a:p>
          <a:p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3028881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9A0C600-51DF-410F-8388-5F942558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+mn-lt"/>
              </a:rPr>
              <a:t>    III-COMPLICATIONS CARDIO-VASCULAIRES 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C598B-17EB-4D43-A8E0-5855D4C4D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322" y="2234452"/>
            <a:ext cx="10264697" cy="382315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sz="2400" b="1" dirty="0"/>
              <a:t>B-L’ischémie myocardique</a:t>
            </a:r>
          </a:p>
          <a:p>
            <a:pPr marL="0" indent="0">
              <a:buNone/>
            </a:pPr>
            <a:r>
              <a:rPr lang="fr-FR" sz="2400" b="1" dirty="0" err="1"/>
              <a:t>C-L’infarctus</a:t>
            </a:r>
            <a:r>
              <a:rPr lang="fr-FR" sz="2400" b="1" dirty="0"/>
              <a:t> du myocarde</a:t>
            </a:r>
          </a:p>
          <a:p>
            <a:pPr marL="0" indent="0">
              <a:buNone/>
            </a:pPr>
            <a:r>
              <a:rPr lang="fr-FR" sz="2400" b="1" dirty="0" err="1"/>
              <a:t>D-L’insuffisance</a:t>
            </a:r>
            <a:r>
              <a:rPr lang="fr-FR" sz="2400" b="1" dirty="0"/>
              <a:t> cardiaque </a:t>
            </a:r>
          </a:p>
          <a:p>
            <a:pPr marL="0" indent="0">
              <a:buNone/>
            </a:pPr>
            <a:r>
              <a:rPr lang="fr-FR" sz="2400" b="1" dirty="0"/>
              <a:t>E-Les troubles du rythme et de la conduction</a:t>
            </a:r>
          </a:p>
          <a:p>
            <a:pPr marL="0" indent="0">
              <a:buNone/>
            </a:pPr>
            <a:r>
              <a:rPr lang="fr-FR" sz="2400" b="1" dirty="0"/>
              <a:t> F- Hypertension artérielle </a:t>
            </a:r>
          </a:p>
          <a:p>
            <a:pPr marL="0" indent="0">
              <a:buNone/>
            </a:pPr>
            <a:r>
              <a:rPr lang="fr-FR" sz="2400" b="1" dirty="0"/>
              <a:t> G-Œdème aigu du poumon</a:t>
            </a:r>
          </a:p>
          <a:p>
            <a:pPr marL="0" indent="0">
              <a:buNone/>
            </a:pPr>
            <a:r>
              <a:rPr lang="fr-FR" sz="2400" b="1" dirty="0"/>
              <a:t>H-Arrêt </a:t>
            </a:r>
            <a:r>
              <a:rPr lang="fr-FR" sz="2400" b="1" dirty="0" err="1"/>
              <a:t>cardio-circulatoire</a:t>
            </a:r>
            <a:endParaRPr lang="fr-FR" sz="2400" b="1" dirty="0"/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</a:endParaRP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248503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1A031-77EA-7169-B554-C92B852FA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4ACDFF-D49C-48DF-FB97-DEC8C9982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3A27E8E4-69C5-A6A6-E55D-60C0F319E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0B8309B3-2A1F-3DF2-0E5A-66680BB08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C161AA76-E3AF-28C2-F7C8-E9ED6BCB1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FF1E12B5-F24F-1C63-097C-53E42AD7E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5E568A-DDE3-07F2-EAF8-F14A18038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924A9D-9994-1C39-3E89-1EEF94500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+mn-lt"/>
              </a:rPr>
              <a:t>    III-COMPLICATIONS CARDIO-VASCULAIRES 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F9D66A-C1B9-ACE9-84EB-DD3F8AF25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322" y="2234452"/>
            <a:ext cx="10264697" cy="382315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sz="2400" b="1" dirty="0">
                <a:solidFill>
                  <a:srgbClr val="FF0000"/>
                </a:solidFill>
              </a:rPr>
              <a:t>Causes des complications cardiaques: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    Une souffrance myocardique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    Une hypoxie ,hypercapnie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      Hypothermie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     Troubles ioniques et acido-basiques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     Effets de certains agents anesthésiques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50461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EDCF2-9F60-73DB-B875-CCFA0717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586428-4D12-F98E-DEA6-406E6F04C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443FB090-6171-D8E2-C686-983F29E4F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19CBABDD-01B2-B128-C08C-9AAF9F5CD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30328F98-ED0D-EE62-1ADF-86EBD10A4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20BE4AF0-B44F-9667-D10D-1A2949AA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B3E56E-51C4-1969-CD0F-CA7BB7BD6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8242C9-C567-4B43-A7CD-96D491CD4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990" y="788151"/>
            <a:ext cx="9854987" cy="1212102"/>
          </a:xfrm>
        </p:spPr>
        <p:txBody>
          <a:bodyPr>
            <a:normAutofit fontScale="90000"/>
          </a:bodyPr>
          <a:lstStyle/>
          <a:p>
            <a:br>
              <a:rPr lang="fr-FR" sz="4000" dirty="0"/>
            </a:br>
            <a:r>
              <a:rPr lang="fr-FR" sz="4000" dirty="0"/>
              <a:t>                    </a:t>
            </a:r>
            <a:r>
              <a:rPr lang="fr-FR" sz="4000" b="1" dirty="0">
                <a:solidFill>
                  <a:schemeClr val="bg1"/>
                </a:solidFill>
                <a:latin typeface="+mn-lt"/>
              </a:rPr>
              <a:t>IV-CONCLUSION </a:t>
            </a:r>
            <a:br>
              <a:rPr lang="fr-FR" sz="4000" dirty="0">
                <a:highlight>
                  <a:srgbClr val="FFFF00"/>
                </a:highlight>
              </a:rPr>
            </a:br>
            <a:endParaRPr lang="fr-FR" sz="4000" dirty="0">
              <a:highlight>
                <a:srgbClr val="FFFF00"/>
              </a:highlight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205FE6-BA9A-59EA-272B-4CA96FA8E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506" y="2177170"/>
            <a:ext cx="10264594" cy="4680830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   La survenue des accidents et incidents liés à l’anesthésie générale. peut avoir des conséquences graves, voire fatales, et implique une vigilance constante de la part de toute l’équipe anesthésique. 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La majorité des accidents de l’AG sont évitables par une évaluation préopératoire rigoureuse, une surveillance continue peropératoire.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La prévention reste donc l’axe fondamental pour améliorer la sécurité du patient en anesthésie générale.</a:t>
            </a:r>
          </a:p>
        </p:txBody>
      </p:sp>
    </p:spTree>
    <p:extLst>
      <p:ext uri="{BB962C8B-B14F-4D97-AF65-F5344CB8AC3E}">
        <p14:creationId xmlns:p14="http://schemas.microsoft.com/office/powerpoint/2010/main" val="10842970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921</Words>
  <Application>Microsoft Office PowerPoint</Application>
  <PresentationFormat>Grand écran</PresentationFormat>
  <Paragraphs>132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Thème Office</vt:lpstr>
      <vt:lpstr>Présentation PowerPoint</vt:lpstr>
      <vt:lpstr>                              PLAN </vt:lpstr>
      <vt:lpstr>                    I- INTRODUCTION</vt:lpstr>
      <vt:lpstr> I-INTRODUCTION</vt:lpstr>
      <vt:lpstr>       II-COMPLICATIONS RESPIRATOIRES</vt:lpstr>
      <vt:lpstr>     II-COMPLICATIONS RESPIRATOIRES </vt:lpstr>
      <vt:lpstr>      II-COMPLICATIONS RESPIRATOIRES </vt:lpstr>
      <vt:lpstr>II-COMPLICATIONS RESPIRATOIRES </vt:lpstr>
      <vt:lpstr>II-COMPLICATIONS RESPIRATOIRES </vt:lpstr>
      <vt:lpstr> II-COMPLICATIONS RESPIRATOIRES </vt:lpstr>
      <vt:lpstr> II-COMPLICATIONS RESPIRATOIRES </vt:lpstr>
      <vt:lpstr>        III-COMPLICATIONS CARDIOVASCULAIRES </vt:lpstr>
      <vt:lpstr>    III-COMPLICATIONS CARDIO-VASCULAIRES  </vt:lpstr>
      <vt:lpstr>    III-COMPLICATIONS CARDIO-VASCULAIRES  </vt:lpstr>
      <vt:lpstr>                     IV-CONCLUSION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Accidents et incidents de l’ anesthesie generale</dc:title>
  <dc:creator>FEKIR NADJET</dc:creator>
  <cp:lastModifiedBy>lenovo</cp:lastModifiedBy>
  <cp:revision>28</cp:revision>
  <dcterms:created xsi:type="dcterms:W3CDTF">2017-06-05T02:11:52Z</dcterms:created>
  <dcterms:modified xsi:type="dcterms:W3CDTF">2025-06-08T20:59:19Z</dcterms:modified>
</cp:coreProperties>
</file>