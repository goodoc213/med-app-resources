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57" r:id="rId4"/>
    <p:sldId id="258" r:id="rId5"/>
    <p:sldId id="273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8" r:id="rId15"/>
    <p:sldId id="267" r:id="rId16"/>
    <p:sldId id="272" r:id="rId17"/>
    <p:sldId id="270" r:id="rId18"/>
    <p:sldId id="269" r:id="rId1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97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121F2-7F29-44BC-A8AA-02CC23FA7F10}" type="datetimeFigureOut">
              <a:rPr lang="fr-FR" smtClean="0"/>
              <a:pPr/>
              <a:t>09/06/2025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CE380-26AB-4DC0-9AB4-0EE485175A94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121F2-7F29-44BC-A8AA-02CC23FA7F10}" type="datetimeFigureOut">
              <a:rPr lang="fr-FR" smtClean="0"/>
              <a:pPr/>
              <a:t>09/06/2025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CE380-26AB-4DC0-9AB4-0EE485175A94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121F2-7F29-44BC-A8AA-02CC23FA7F10}" type="datetimeFigureOut">
              <a:rPr lang="fr-FR" smtClean="0"/>
              <a:pPr/>
              <a:t>09/06/2025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CE380-26AB-4DC0-9AB4-0EE485175A94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121F2-7F29-44BC-A8AA-02CC23FA7F10}" type="datetimeFigureOut">
              <a:rPr lang="fr-FR" smtClean="0"/>
              <a:pPr/>
              <a:t>09/06/2025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CE380-26AB-4DC0-9AB4-0EE485175A94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121F2-7F29-44BC-A8AA-02CC23FA7F10}" type="datetimeFigureOut">
              <a:rPr lang="fr-FR" smtClean="0"/>
              <a:pPr/>
              <a:t>09/06/2025</a:t>
            </a:fld>
            <a:endParaRPr lang="fr-FR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CE380-26AB-4DC0-9AB4-0EE485175A94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121F2-7F29-44BC-A8AA-02CC23FA7F10}" type="datetimeFigureOut">
              <a:rPr lang="fr-FR" smtClean="0"/>
              <a:pPr/>
              <a:t>09/06/2025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CE380-26AB-4DC0-9AB4-0EE485175A94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121F2-7F29-44BC-A8AA-02CC23FA7F10}" type="datetimeFigureOut">
              <a:rPr lang="fr-FR" smtClean="0"/>
              <a:pPr/>
              <a:t>09/06/2025</a:t>
            </a:fld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CE380-26AB-4DC0-9AB4-0EE485175A94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121F2-7F29-44BC-A8AA-02CC23FA7F10}" type="datetimeFigureOut">
              <a:rPr lang="fr-FR" smtClean="0"/>
              <a:pPr/>
              <a:t>09/06/2025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CE380-26AB-4DC0-9AB4-0EE485175A94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121F2-7F29-44BC-A8AA-02CC23FA7F10}" type="datetimeFigureOut">
              <a:rPr lang="fr-FR" smtClean="0"/>
              <a:pPr/>
              <a:t>09/06/2025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CE380-26AB-4DC0-9AB4-0EE485175A94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121F2-7F29-44BC-A8AA-02CC23FA7F10}" type="datetimeFigureOut">
              <a:rPr lang="fr-FR" smtClean="0"/>
              <a:pPr/>
              <a:t>09/06/2025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CE380-26AB-4DC0-9AB4-0EE485175A94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121F2-7F29-44BC-A8AA-02CC23FA7F10}" type="datetimeFigureOut">
              <a:rPr lang="fr-FR" smtClean="0"/>
              <a:pPr/>
              <a:t>09/06/2025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CE380-26AB-4DC0-9AB4-0EE485175A94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7121F2-7F29-44BC-A8AA-02CC23FA7F10}" type="datetimeFigureOut">
              <a:rPr lang="fr-FR" smtClean="0"/>
              <a:pPr/>
              <a:t>09/06/2025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0CE380-26AB-4DC0-9AB4-0EE485175A94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1">
            <a:extLst>
              <a:ext uri="{FF2B5EF4-FFF2-40B4-BE49-F238E27FC236}">
                <a16:creationId xmlns:a16="http://schemas.microsoft.com/office/drawing/2014/main" id="{8043177E-D49F-2EA4-D52A-B7A2687F70E2}"/>
              </a:ext>
            </a:extLst>
          </p:cNvPr>
          <p:cNvSpPr txBox="1">
            <a:spLocks/>
          </p:cNvSpPr>
          <p:nvPr/>
        </p:nvSpPr>
        <p:spPr>
          <a:xfrm>
            <a:off x="7874" y="2128912"/>
            <a:ext cx="9128252" cy="4612455"/>
          </a:xfrm>
          <a:prstGeom prst="rect">
            <a:avLst/>
          </a:prstGeom>
          <a:solidFill>
            <a:schemeClr val="bg1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sz="4800" b="1" dirty="0">
              <a:solidFill>
                <a:srgbClr val="FFFF00"/>
              </a:solidFill>
            </a:endParaRPr>
          </a:p>
          <a:p>
            <a:r>
              <a:rPr lang="fr-FR" sz="4800" b="1" dirty="0">
                <a:solidFill>
                  <a:srgbClr val="FFFF00"/>
                </a:solidFill>
              </a:rPr>
              <a:t>PHARMACOLOGIE  </a:t>
            </a:r>
          </a:p>
          <a:p>
            <a:r>
              <a:rPr lang="fr-FR" sz="4800" b="1" dirty="0">
                <a:solidFill>
                  <a:srgbClr val="FFFF00"/>
                </a:solidFill>
              </a:rPr>
              <a:t>DE L’ANESTHESIE GENERALE</a:t>
            </a:r>
          </a:p>
          <a:p>
            <a:pPr algn="ctr"/>
            <a:r>
              <a:rPr lang="fr-FR" sz="3000" dirty="0">
                <a:solidFill>
                  <a:srgbClr val="FFFF00"/>
                </a:solidFill>
              </a:rPr>
              <a:t>Cours de 3ème année Médecine Dentaire </a:t>
            </a:r>
          </a:p>
          <a:p>
            <a:pPr algn="ctr"/>
            <a:r>
              <a:rPr lang="fr-FR" sz="3000" dirty="0">
                <a:solidFill>
                  <a:srgbClr val="FFFF00"/>
                </a:solidFill>
              </a:rPr>
              <a:t>2024-2025</a:t>
            </a:r>
            <a:r>
              <a:rPr lang="fr-FR" sz="3000" b="1" dirty="0">
                <a:solidFill>
                  <a:srgbClr val="FFFF00"/>
                </a:solidFill>
              </a:rPr>
              <a:t> </a:t>
            </a:r>
          </a:p>
          <a:p>
            <a:pPr algn="l"/>
            <a:endParaRPr lang="fr-FR" sz="4800" b="1" dirty="0">
              <a:solidFill>
                <a:srgbClr val="FFFF00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DCB7511-6538-057C-2054-5C51274CBC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36126" cy="2128913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8185483F-ADCC-90EB-7F58-A115C08D4D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8264" y="5014415"/>
            <a:ext cx="2088232" cy="15109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8F91D-7399-FD78-8C7D-B3A1BA901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508664-E42E-06CC-1338-A31481AF37F9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fr-FR" sz="2800" dirty="0"/>
              <a:t>PLAN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2B55BF6-A4DD-086B-DAD8-A406F50808BF}"/>
              </a:ext>
            </a:extLst>
          </p:cNvPr>
          <p:cNvSpPr>
            <a:spLocks noGrp="1"/>
          </p:cNvSpPr>
          <p:nvPr>
            <p:ph idx="1"/>
          </p:nvPr>
        </p:nvSpPr>
        <p:spPr/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dirty="0"/>
              <a:t>I-INTRODUCTION</a:t>
            </a:r>
          </a:p>
          <a:p>
            <a:pPr marL="0" indent="0">
              <a:buNone/>
            </a:pPr>
            <a:r>
              <a:rPr lang="fr-FR" sz="2000" dirty="0"/>
              <a:t>II-ANESTHESIQUES GENERAUX </a:t>
            </a:r>
          </a:p>
          <a:p>
            <a:pPr marL="0" indent="0">
              <a:buNone/>
            </a:pPr>
            <a:r>
              <a:rPr lang="fr-FR" sz="2000" dirty="0"/>
              <a:t>   1- Hypnotiques et adjuvants :</a:t>
            </a:r>
          </a:p>
          <a:p>
            <a:pPr marL="0" indent="0">
              <a:buNone/>
            </a:pPr>
            <a:r>
              <a:rPr lang="fr-FR" sz="2000" dirty="0"/>
              <a:t>           -Thiopental (</a:t>
            </a:r>
            <a:r>
              <a:rPr lang="fr-FR" sz="2000" dirty="0" err="1"/>
              <a:t>Nesdonal</a:t>
            </a:r>
            <a:r>
              <a:rPr lang="fr-FR" sz="2000" dirty="0"/>
              <a:t>)</a:t>
            </a:r>
          </a:p>
          <a:p>
            <a:pPr marL="0" indent="0">
              <a:buNone/>
            </a:pPr>
            <a:r>
              <a:rPr lang="fr-FR" sz="2000" dirty="0"/>
              <a:t>           -</a:t>
            </a:r>
            <a:r>
              <a:rPr lang="fr-FR" sz="2000" i="1" dirty="0">
                <a:solidFill>
                  <a:schemeClr val="tx1"/>
                </a:solidFill>
              </a:rPr>
              <a:t>Propofol( </a:t>
            </a:r>
            <a:r>
              <a:rPr lang="fr-FR" sz="2000" i="1" dirty="0" err="1">
                <a:solidFill>
                  <a:schemeClr val="tx1"/>
                </a:solidFill>
              </a:rPr>
              <a:t>Deprivan</a:t>
            </a:r>
            <a:r>
              <a:rPr lang="fr-FR" sz="2000" i="1" dirty="0">
                <a:solidFill>
                  <a:schemeClr val="tx1"/>
                </a:solidFill>
              </a:rPr>
              <a:t>)</a:t>
            </a:r>
            <a:br>
              <a:rPr lang="fr-FR" sz="2000" i="1" dirty="0">
                <a:solidFill>
                  <a:schemeClr val="tx1"/>
                </a:solidFill>
              </a:rPr>
            </a:br>
            <a:r>
              <a:rPr lang="fr-FR" sz="2000" i="1" dirty="0">
                <a:solidFill>
                  <a:schemeClr val="tx1"/>
                </a:solidFill>
              </a:rPr>
              <a:t>          </a:t>
            </a:r>
            <a:r>
              <a:rPr lang="fr-FR" sz="2000" dirty="0"/>
              <a:t>  -</a:t>
            </a:r>
            <a:r>
              <a:rPr lang="fr-FR" sz="2000" dirty="0" err="1"/>
              <a:t>Etomidate</a:t>
            </a:r>
            <a:r>
              <a:rPr lang="fr-FR" sz="2000" dirty="0"/>
              <a:t> (</a:t>
            </a:r>
            <a:r>
              <a:rPr lang="fr-FR" sz="2000" dirty="0" err="1"/>
              <a:t>Hypnomidate</a:t>
            </a:r>
            <a:r>
              <a:rPr lang="fr-FR" sz="2000" dirty="0"/>
              <a:t> )</a:t>
            </a:r>
          </a:p>
          <a:p>
            <a:pPr marL="0" indent="0">
              <a:buNone/>
            </a:pPr>
            <a:r>
              <a:rPr lang="fr-FR" sz="2000" dirty="0"/>
              <a:t>            -</a:t>
            </a:r>
            <a:r>
              <a:rPr lang="fr-FR" sz="2000" i="1" dirty="0">
                <a:solidFill>
                  <a:schemeClr val="tx1"/>
                </a:solidFill>
              </a:rPr>
              <a:t>Midazolam(</a:t>
            </a:r>
            <a:r>
              <a:rPr lang="fr-FR" sz="2000" i="1" dirty="0" err="1">
                <a:solidFill>
                  <a:schemeClr val="tx1"/>
                </a:solidFill>
              </a:rPr>
              <a:t>hypnovel</a:t>
            </a:r>
            <a:r>
              <a:rPr lang="fr-FR" sz="2000" i="1" dirty="0">
                <a:solidFill>
                  <a:schemeClr val="tx1"/>
                </a:solidFill>
              </a:rPr>
              <a:t>)</a:t>
            </a:r>
            <a:endParaRPr lang="fr-FR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fr-FR" sz="2000" dirty="0"/>
              <a:t>   2-Agents Anesthésiques par inhalation </a:t>
            </a:r>
          </a:p>
          <a:p>
            <a:pPr marL="0" indent="0">
              <a:buNone/>
            </a:pPr>
            <a:r>
              <a:rPr lang="fr-FR" sz="2000" dirty="0"/>
              <a:t>   3-Morphiniqques </a:t>
            </a:r>
          </a:p>
          <a:p>
            <a:pPr marL="0" indent="0">
              <a:buNone/>
            </a:pPr>
            <a:r>
              <a:rPr lang="fr-FR" sz="2000" dirty="0"/>
              <a:t>   4-Curares </a:t>
            </a:r>
          </a:p>
          <a:p>
            <a:pPr marL="0" indent="0">
              <a:buNone/>
            </a:pPr>
            <a:r>
              <a:rPr lang="fr-FR" sz="2000" dirty="0"/>
              <a:t>III-CONCLUSION </a:t>
            </a:r>
          </a:p>
          <a:p>
            <a:pPr marL="0" indent="0">
              <a:buNone/>
            </a:pPr>
            <a:endParaRPr lang="fr-FR" sz="2000" dirty="0"/>
          </a:p>
          <a:p>
            <a:pPr marL="0" indent="0">
              <a:buNone/>
            </a:pP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2816191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30822" y="260648"/>
            <a:ext cx="8229600" cy="1143000"/>
          </a:xfr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fr-FR" sz="2800" b="1" i="1" dirty="0">
                <a:solidFill>
                  <a:srgbClr val="FFFF00"/>
                </a:solidFill>
              </a:rPr>
              <a:t>I-INTRODUCTION</a:t>
            </a:r>
            <a:br>
              <a:rPr lang="fr-FR" sz="2800" b="1" i="1" dirty="0">
                <a:solidFill>
                  <a:srgbClr val="FFFF00"/>
                </a:solidFill>
              </a:rPr>
            </a:br>
            <a:endParaRPr lang="fr-FR" sz="28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endParaRPr lang="fr-FR" sz="2400" b="1" i="1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fr-FR" sz="2400" b="1" dirty="0"/>
              <a:t>Trois composantes déterminent l’anesthésie générale:</a:t>
            </a:r>
          </a:p>
          <a:p>
            <a:pPr marL="0" indent="0">
              <a:buNone/>
            </a:pPr>
            <a:endParaRPr lang="fr-FR" sz="2400" b="1" dirty="0"/>
          </a:p>
          <a:p>
            <a:pPr>
              <a:buFont typeface="Wingdings" pitchFamily="2" charset="2"/>
              <a:buChar char="§"/>
            </a:pPr>
            <a:r>
              <a:rPr lang="fr-FR" sz="2400" dirty="0"/>
              <a:t>Suppression de la sensibilité à la douleur  assurée par les Analgésiques</a:t>
            </a:r>
          </a:p>
          <a:p>
            <a:pPr>
              <a:buFont typeface="Wingdings" pitchFamily="2" charset="2"/>
              <a:buChar char="§"/>
            </a:pPr>
            <a:r>
              <a:rPr lang="fr-FR" sz="2400" dirty="0"/>
              <a:t>Sommeil ou narcose  assurée par les hypnotiques </a:t>
            </a:r>
          </a:p>
          <a:p>
            <a:pPr marL="0" indent="0">
              <a:buNone/>
            </a:pPr>
            <a:endParaRPr lang="fr-FR" sz="2400" dirty="0"/>
          </a:p>
          <a:p>
            <a:pPr>
              <a:buFont typeface="Wingdings" pitchFamily="2" charset="2"/>
              <a:buChar char="§"/>
            </a:pPr>
            <a:r>
              <a:rPr lang="fr-FR" sz="2400" dirty="0"/>
              <a:t>Relâchement musculaire assurée par les curares </a:t>
            </a:r>
          </a:p>
          <a:p>
            <a:pPr>
              <a:buFont typeface="Wingdings" pitchFamily="2" charset="2"/>
              <a:buChar char="§"/>
            </a:pPr>
            <a:endParaRPr lang="fr-FR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fr-FR" sz="2800" b="1" i="1" dirty="0">
                <a:solidFill>
                  <a:srgbClr val="FFFF00"/>
                </a:solidFill>
              </a:rPr>
              <a:t>II-ANESTHESIQUES GENERAUX</a:t>
            </a:r>
            <a:br>
              <a:rPr lang="fr-FR" sz="2800" b="1" i="1" dirty="0">
                <a:solidFill>
                  <a:srgbClr val="FFFF00"/>
                </a:solidFill>
              </a:rPr>
            </a:br>
            <a:endParaRPr lang="fr-FR" sz="28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endParaRPr lang="fr-FR" sz="2400" b="1" i="1" dirty="0">
              <a:solidFill>
                <a:srgbClr val="FFFF00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fr-FR" sz="2000" b="1" dirty="0"/>
              <a:t>Les techniques anesthésiques employées </a:t>
            </a:r>
            <a:r>
              <a:rPr lang="fr-FR" sz="2000" dirty="0"/>
              <a:t>:</a:t>
            </a:r>
          </a:p>
          <a:p>
            <a:pPr marL="0" indent="0">
              <a:buNone/>
            </a:pPr>
            <a:r>
              <a:rPr lang="fr-FR" sz="2000" dirty="0"/>
              <a:t> </a:t>
            </a:r>
          </a:p>
          <a:p>
            <a:pPr marL="0" indent="0">
              <a:buNone/>
            </a:pPr>
            <a:r>
              <a:rPr lang="fr-FR" sz="2000" dirty="0"/>
              <a:t>          -Inhalation et /ou </a:t>
            </a:r>
          </a:p>
          <a:p>
            <a:pPr marL="0" indent="0">
              <a:buNone/>
            </a:pPr>
            <a:r>
              <a:rPr lang="fr-FR" sz="2000" dirty="0"/>
              <a:t>         -Voie intraveineuse</a:t>
            </a:r>
          </a:p>
          <a:p>
            <a:pPr>
              <a:buFont typeface="Wingdings" pitchFamily="2" charset="2"/>
              <a:buChar char="v"/>
            </a:pPr>
            <a:r>
              <a:rPr lang="fr-FR" sz="2000" b="1" i="1" u="sng" dirty="0"/>
              <a:t>Agents anesthésiques intraveineux</a:t>
            </a:r>
          </a:p>
          <a:p>
            <a:pPr marL="0" indent="0">
              <a:buNone/>
            </a:pPr>
            <a:endParaRPr lang="fr-FR" sz="2000" b="1" i="1" u="sng" dirty="0"/>
          </a:p>
          <a:p>
            <a:pPr>
              <a:buFont typeface="Wingdings" pitchFamily="2" charset="2"/>
              <a:buChar char="ü"/>
            </a:pPr>
            <a:r>
              <a:rPr lang="fr-FR" sz="2000" dirty="0"/>
              <a:t>Sont universellement employés pour l’induction anesthésique:</a:t>
            </a:r>
          </a:p>
          <a:p>
            <a:pPr marL="0" indent="0">
              <a:buNone/>
            </a:pPr>
            <a:r>
              <a:rPr lang="fr-FR" sz="2000" dirty="0"/>
              <a:t>       confort</a:t>
            </a:r>
          </a:p>
          <a:p>
            <a:pPr>
              <a:buFont typeface="Wingdings" pitchFamily="2" charset="2"/>
              <a:buChar char="ü"/>
            </a:pPr>
            <a:r>
              <a:rPr lang="fr-FR" sz="2000" dirty="0"/>
              <a:t>Utilisation aussi pour l’entretien anesthésique</a:t>
            </a:r>
          </a:p>
          <a:p>
            <a:pPr marL="0" indent="0">
              <a:buNone/>
            </a:pPr>
            <a:r>
              <a:rPr lang="fr-FR" sz="2000" b="1" u="sng" dirty="0">
                <a:solidFill>
                  <a:srgbClr val="FFFF00"/>
                </a:solidFill>
              </a:rPr>
              <a:t> </a:t>
            </a:r>
            <a:endParaRPr lang="fr-FR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0782E-49F9-7F02-9505-2902228E5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784A31-4CB8-6C58-5802-EC4C732C1159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br>
              <a:rPr lang="fr-FR" sz="2800" b="1" i="1" dirty="0">
                <a:solidFill>
                  <a:srgbClr val="FFFF00"/>
                </a:solidFill>
              </a:rPr>
            </a:br>
            <a:r>
              <a:rPr lang="fr-FR" sz="2800" b="1" dirty="0">
                <a:solidFill>
                  <a:srgbClr val="FFFF00"/>
                </a:solidFill>
              </a:rPr>
              <a:t>1/Les hypnotiques et adjuvants</a:t>
            </a:r>
            <a:br>
              <a:rPr lang="fr-FR" sz="2800" b="1" dirty="0">
                <a:solidFill>
                  <a:srgbClr val="FFFF00"/>
                </a:solidFill>
              </a:rPr>
            </a:br>
            <a:endParaRPr lang="fr-FR" sz="28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C761283-8193-7FC9-87F0-8577DA2AF3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4569371"/>
          </a:xfr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FR" sz="2400" dirty="0"/>
              <a:t>La propriété principale est de provoquer la perte de conscience ou sommeil profond.</a:t>
            </a:r>
            <a:r>
              <a:rPr lang="fr-FR" sz="2400" dirty="0">
                <a:cs typeface="Arial" panose="020B0604020202020204" pitchFamily="34" charset="0"/>
              </a:rPr>
              <a:t>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400" dirty="0">
                <a:cs typeface="Arial" panose="020B0604020202020204" pitchFamily="34" charset="0"/>
              </a:rPr>
              <a:t>Agents qui induisent ou entretiennent le sommeil ou narcose Utilise en induction et entretien de l’</a:t>
            </a:r>
            <a:r>
              <a:rPr lang="fr-FR" sz="2400" dirty="0" err="1">
                <a:cs typeface="Arial" panose="020B0604020202020204" pitchFamily="34" charset="0"/>
              </a:rPr>
              <a:t>anesthesie</a:t>
            </a:r>
            <a:r>
              <a:rPr lang="fr-FR" sz="2400" dirty="0">
                <a:cs typeface="Arial" panose="020B0604020202020204" pitchFamily="34" charset="0"/>
              </a:rPr>
              <a:t> </a:t>
            </a:r>
          </a:p>
          <a:p>
            <a:pPr>
              <a:buFont typeface="Wingdings" pitchFamily="2" charset="2"/>
              <a:buChar char="§"/>
            </a:pPr>
            <a:endParaRPr lang="fr-FR" sz="2400" dirty="0"/>
          </a:p>
          <a:p>
            <a:pPr>
              <a:buFont typeface="Wingdings" pitchFamily="2" charset="2"/>
              <a:buChar char="§"/>
            </a:pPr>
            <a:r>
              <a:rPr lang="fr-FR" sz="2400" dirty="0"/>
              <a:t>Médicaments utilisés:-Barbituriques(thiopental)</a:t>
            </a:r>
          </a:p>
          <a:p>
            <a:pPr>
              <a:buNone/>
            </a:pPr>
            <a:r>
              <a:rPr lang="fr-FR" sz="2400" dirty="0"/>
              <a:t>                                              -Etomidate(hypnomidate</a:t>
            </a:r>
          </a:p>
          <a:p>
            <a:pPr>
              <a:buNone/>
            </a:pPr>
            <a:r>
              <a:rPr lang="fr-FR" sz="2400" dirty="0"/>
              <a:t>                                              -Propofol(Diprivan)</a:t>
            </a:r>
          </a:p>
          <a:p>
            <a:pPr>
              <a:buNone/>
            </a:pPr>
            <a:r>
              <a:rPr lang="fr-FR" sz="2400" dirty="0"/>
              <a:t>                                              -</a:t>
            </a:r>
            <a:r>
              <a:rPr lang="fr-FR" sz="2400" dirty="0" err="1"/>
              <a:t>Ketamine</a:t>
            </a:r>
            <a:r>
              <a:rPr lang="fr-FR" sz="2400" dirty="0"/>
              <a:t> </a:t>
            </a:r>
          </a:p>
          <a:p>
            <a:pPr>
              <a:buFont typeface="Wingdings" pitchFamily="2" charset="2"/>
              <a:buChar char="§"/>
            </a:pPr>
            <a:r>
              <a:rPr lang="fr-FR" sz="2400" dirty="0"/>
              <a:t>Adjuvants: Benzodiazépines(Midazolam=hypnovel):</a:t>
            </a:r>
            <a:r>
              <a:rPr lang="fr-FR" sz="2400" b="1" dirty="0"/>
              <a:t>sédation</a:t>
            </a:r>
          </a:p>
          <a:p>
            <a:pPr>
              <a:buNone/>
            </a:pP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4581148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fr-FR" sz="2800" b="1" dirty="0">
                <a:solidFill>
                  <a:srgbClr val="FFFF00"/>
                </a:solidFill>
              </a:rPr>
              <a:t>Thiopental(Penthotal ou </a:t>
            </a:r>
            <a:r>
              <a:rPr lang="fr-FR" sz="2800" b="1" dirty="0" err="1">
                <a:solidFill>
                  <a:srgbClr val="FFFF00"/>
                </a:solidFill>
              </a:rPr>
              <a:t>nesdonal</a:t>
            </a:r>
            <a:r>
              <a:rPr lang="fr-FR" sz="2800" b="1" dirty="0">
                <a:solidFill>
                  <a:srgbClr val="FFFF00"/>
                </a:solidFill>
              </a:rPr>
              <a:t>)</a:t>
            </a:r>
            <a:br>
              <a:rPr lang="fr-FR" sz="2800" b="1" dirty="0">
                <a:solidFill>
                  <a:srgbClr val="FFFF00"/>
                </a:solidFill>
              </a:rPr>
            </a:br>
            <a:endParaRPr lang="fr-FR" sz="28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endParaRPr lang="fr-FR" sz="2000" b="1" dirty="0">
              <a:solidFill>
                <a:srgbClr val="FFFF00"/>
              </a:solidFill>
            </a:endParaRPr>
          </a:p>
          <a:p>
            <a:pPr>
              <a:buNone/>
            </a:pPr>
            <a:r>
              <a:rPr lang="fr-FR" sz="2000" dirty="0"/>
              <a:t>     -</a:t>
            </a:r>
            <a:r>
              <a:rPr lang="fr-FR" sz="2400" dirty="0"/>
              <a:t>Barbiturique soufré de courte durée d’action</a:t>
            </a:r>
          </a:p>
          <a:p>
            <a:pPr>
              <a:buNone/>
            </a:pPr>
            <a:r>
              <a:rPr lang="fr-FR" sz="2400" dirty="0"/>
              <a:t>     -Ampoule de 1g de poudre ou de 500 mg</a:t>
            </a:r>
          </a:p>
          <a:p>
            <a:pPr marL="0" indent="0">
              <a:buNone/>
            </a:pPr>
            <a:r>
              <a:rPr lang="fr-FR" sz="2400" i="1" u="sng" dirty="0">
                <a:solidFill>
                  <a:srgbClr val="FFFF00"/>
                </a:solidFill>
              </a:rPr>
              <a:t>Pharmacocinétique:</a:t>
            </a:r>
          </a:p>
          <a:p>
            <a:pPr>
              <a:buNone/>
            </a:pPr>
            <a:r>
              <a:rPr lang="fr-FR" sz="2400" dirty="0"/>
              <a:t>         -Demi-vie de distribution rapide =4minutes</a:t>
            </a:r>
          </a:p>
          <a:p>
            <a:pPr>
              <a:buNone/>
            </a:pPr>
            <a:r>
              <a:rPr lang="fr-FR" sz="2400" dirty="0"/>
              <a:t>         -Demi-vie d’élimination longue=10à12h</a:t>
            </a:r>
          </a:p>
          <a:p>
            <a:pPr>
              <a:buNone/>
            </a:pPr>
            <a:r>
              <a:rPr lang="fr-FR" sz="2400" dirty="0"/>
              <a:t>         -Stocké dans les tissus graisseux</a:t>
            </a:r>
          </a:p>
          <a:p>
            <a:pPr>
              <a:buNone/>
            </a:pPr>
            <a:r>
              <a:rPr lang="fr-FR" sz="2400" dirty="0"/>
              <a:t>          -Métabolisé par le foie</a:t>
            </a:r>
          </a:p>
          <a:p>
            <a:pPr>
              <a:buNone/>
            </a:pPr>
            <a:r>
              <a:rPr lang="fr-FR" sz="2400" dirty="0"/>
              <a:t>          -Excrété par les urines</a:t>
            </a:r>
          </a:p>
          <a:p>
            <a:pPr>
              <a:buNone/>
            </a:pPr>
            <a:endParaRPr lang="fr-FR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fr-FR" sz="2800" b="1" dirty="0">
                <a:solidFill>
                  <a:srgbClr val="FFFF00"/>
                </a:solidFill>
              </a:rPr>
              <a:t>Thiopental(Penthotal ou </a:t>
            </a:r>
            <a:r>
              <a:rPr lang="fr-FR" sz="2800" b="1" dirty="0" err="1">
                <a:solidFill>
                  <a:srgbClr val="FFFF00"/>
                </a:solidFill>
              </a:rPr>
              <a:t>nesdonal</a:t>
            </a:r>
            <a:r>
              <a:rPr lang="fr-FR" sz="2800" b="1" dirty="0">
                <a:solidFill>
                  <a:srgbClr val="FFFF00"/>
                </a:solidFill>
              </a:rPr>
              <a:t>)</a:t>
            </a:r>
            <a:endParaRPr lang="fr-FR" sz="28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sz="2600" b="1" i="1" u="sng" dirty="0">
                <a:solidFill>
                  <a:srgbClr val="FFFF00"/>
                </a:solidFill>
              </a:rPr>
              <a:t>Pharmacodynamie</a:t>
            </a:r>
          </a:p>
          <a:p>
            <a:pPr marL="457200" indent="-457200">
              <a:buAutoNum type="alphaLcParenR"/>
            </a:pPr>
            <a:r>
              <a:rPr lang="fr-FR" sz="2000" u="sng" dirty="0"/>
              <a:t>Action sur le système nerveux central etS.N.Autonome:                                  </a:t>
            </a:r>
            <a:r>
              <a:rPr lang="fr-FR" sz="2000" dirty="0"/>
              <a:t>      </a:t>
            </a:r>
            <a:r>
              <a:rPr lang="fr-FR" sz="2000" b="1" dirty="0"/>
              <a:t>Aux doses habituelles= </a:t>
            </a:r>
          </a:p>
          <a:p>
            <a:pPr marL="457200" indent="-457200">
              <a:buNone/>
            </a:pPr>
            <a:r>
              <a:rPr lang="fr-FR" sz="2000" b="1" dirty="0"/>
              <a:t>                                  -</a:t>
            </a:r>
            <a:r>
              <a:rPr lang="fr-FR" sz="2000" dirty="0"/>
              <a:t>Délai d’action court: 30 à 45mn</a:t>
            </a:r>
          </a:p>
          <a:p>
            <a:pPr marL="457200" indent="-457200">
              <a:buNone/>
            </a:pPr>
            <a:r>
              <a:rPr lang="fr-FR" sz="2000" dirty="0"/>
              <a:t>                                   -Narcose brève</a:t>
            </a:r>
          </a:p>
          <a:p>
            <a:pPr marL="457200" indent="-457200">
              <a:buNone/>
            </a:pPr>
            <a:r>
              <a:rPr lang="fr-FR" sz="2000" dirty="0"/>
              <a:t>                                   -Anticonvulsivant</a:t>
            </a:r>
          </a:p>
          <a:p>
            <a:pPr marL="457200" indent="-457200">
              <a:buNone/>
            </a:pPr>
            <a:r>
              <a:rPr lang="fr-FR" sz="2000" u="sng" dirty="0"/>
              <a:t>b)Action sur le système respiratoire: </a:t>
            </a:r>
            <a:r>
              <a:rPr lang="fr-FR" sz="2000" dirty="0"/>
              <a:t>   Dépression respiratoire</a:t>
            </a:r>
          </a:p>
          <a:p>
            <a:pPr marL="457200" indent="-457200">
              <a:buNone/>
            </a:pPr>
            <a:r>
              <a:rPr lang="fr-FR" sz="2000" u="sng" dirty="0"/>
              <a:t>c)Action sur le système cardiovasculaire:</a:t>
            </a:r>
          </a:p>
          <a:p>
            <a:pPr marL="457200" indent="-457200">
              <a:buNone/>
            </a:pPr>
            <a:r>
              <a:rPr lang="fr-FR" sz="2000" dirty="0"/>
              <a:t>                </a:t>
            </a:r>
            <a:r>
              <a:rPr lang="fr-FR" sz="2000" b="1" dirty="0"/>
              <a:t>Dépend de la dose et de la vitesse d’injection</a:t>
            </a:r>
            <a:endParaRPr lang="fr-FR" sz="2000" dirty="0"/>
          </a:p>
          <a:p>
            <a:pPr marL="457200" indent="-457200">
              <a:buNone/>
            </a:pPr>
            <a:r>
              <a:rPr lang="fr-FR" sz="2000" dirty="0"/>
              <a:t>                        -Hypotension artérielle</a:t>
            </a:r>
          </a:p>
          <a:p>
            <a:pPr marL="457200" indent="-457200">
              <a:buNone/>
            </a:pPr>
            <a:r>
              <a:rPr lang="fr-FR" sz="2000" dirty="0"/>
              <a:t>                        -Diminution du débit cardiaque</a:t>
            </a:r>
          </a:p>
          <a:p>
            <a:pPr marL="457200" indent="-457200">
              <a:buNone/>
            </a:pPr>
            <a:r>
              <a:rPr lang="fr-FR" sz="2000" dirty="0"/>
              <a:t>                         -Augmentation de la fréquence cardiaque</a:t>
            </a:r>
          </a:p>
          <a:p>
            <a:pPr marL="457200" indent="-457200">
              <a:buNone/>
            </a:pPr>
            <a:r>
              <a:rPr lang="fr-FR" sz="2000" dirty="0"/>
              <a:t>                         -Augmentation des résistances artérielles systémiques</a:t>
            </a:r>
          </a:p>
          <a:p>
            <a:pPr marL="457200" indent="-457200">
              <a:buNone/>
            </a:pPr>
            <a:r>
              <a:rPr lang="fr-FR" sz="2000" u="sng" dirty="0"/>
              <a:t>d)Autres actions</a:t>
            </a:r>
            <a:r>
              <a:rPr lang="fr-FR" sz="2000" dirty="0"/>
              <a:t>: Myosis</a:t>
            </a:r>
          </a:p>
          <a:p>
            <a:pPr marL="457200" indent="-457200">
              <a:buNone/>
            </a:pPr>
            <a:r>
              <a:rPr lang="fr-FR" sz="2000" u="sng" dirty="0"/>
              <a:t> e)Accidents et incidents: </a:t>
            </a:r>
            <a:r>
              <a:rPr lang="fr-FR" sz="2000" dirty="0"/>
              <a:t> Allergiques, crise de porphyrie et complications locales   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fr-FR" sz="2800" b="1" i="1" dirty="0">
                <a:solidFill>
                  <a:srgbClr val="FFFF00"/>
                </a:solidFill>
              </a:rPr>
              <a:t>Propofol( </a:t>
            </a:r>
            <a:r>
              <a:rPr lang="fr-FR" sz="2800" b="1" i="1" dirty="0" err="1">
                <a:solidFill>
                  <a:srgbClr val="FFFF00"/>
                </a:solidFill>
              </a:rPr>
              <a:t>Deprivan</a:t>
            </a:r>
            <a:r>
              <a:rPr lang="fr-FR" sz="2800" b="1" i="1" dirty="0">
                <a:solidFill>
                  <a:srgbClr val="FFFF00"/>
                </a:solidFill>
              </a:rPr>
              <a:t>)</a:t>
            </a:r>
            <a:br>
              <a:rPr lang="fr-FR" sz="2800" b="1" i="1" dirty="0">
                <a:solidFill>
                  <a:srgbClr val="FFFF00"/>
                </a:solidFill>
              </a:rPr>
            </a:br>
            <a:endParaRPr lang="fr-FR" sz="28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>
            <a:normAutofit lnSpcReduction="10000"/>
          </a:bodyPr>
          <a:lstStyle/>
          <a:p>
            <a:pPr marL="0" indent="0">
              <a:buNone/>
            </a:pPr>
            <a:endParaRPr lang="fr-FR" sz="2000" b="1" i="1" dirty="0">
              <a:solidFill>
                <a:srgbClr val="FFFF00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fr-FR" sz="2000" b="1" u="sng" dirty="0"/>
              <a:t>Pharmacocinétique:</a:t>
            </a:r>
          </a:p>
          <a:p>
            <a:pPr>
              <a:buNone/>
            </a:pPr>
            <a:r>
              <a:rPr lang="fr-FR" sz="2000" dirty="0"/>
              <a:t>   -</a:t>
            </a:r>
            <a:r>
              <a:rPr lang="fr-FR" sz="1800" dirty="0"/>
              <a:t>Fortement lié aux protéines plasmatiques</a:t>
            </a:r>
          </a:p>
          <a:p>
            <a:pPr>
              <a:buNone/>
            </a:pPr>
            <a:r>
              <a:rPr lang="fr-FR" sz="2000" dirty="0"/>
              <a:t>   -</a:t>
            </a:r>
            <a:r>
              <a:rPr lang="fr-FR" sz="1800" dirty="0"/>
              <a:t>Demi-vie de distribution= 4mn</a:t>
            </a:r>
          </a:p>
          <a:p>
            <a:pPr>
              <a:buNone/>
            </a:pPr>
            <a:r>
              <a:rPr lang="fr-FR" sz="1800" dirty="0"/>
              <a:t>   -Demi-vie d’élimination =20mn</a:t>
            </a:r>
          </a:p>
          <a:p>
            <a:pPr>
              <a:buNone/>
            </a:pPr>
            <a:r>
              <a:rPr lang="fr-FR" sz="1800" dirty="0"/>
              <a:t>   -Rapidement métabolisé</a:t>
            </a:r>
          </a:p>
          <a:p>
            <a:pPr>
              <a:buNone/>
            </a:pPr>
            <a:r>
              <a:rPr lang="fr-FR" sz="1800" dirty="0"/>
              <a:t>   -Excrété par les reins</a:t>
            </a:r>
          </a:p>
          <a:p>
            <a:pPr>
              <a:buFont typeface="Wingdings" pitchFamily="2" charset="2"/>
              <a:buChar char="Ø"/>
            </a:pPr>
            <a:r>
              <a:rPr lang="fr-FR" sz="2000" b="1" u="sng" dirty="0"/>
              <a:t>Pharmacodynamie</a:t>
            </a:r>
          </a:p>
          <a:p>
            <a:pPr>
              <a:buNone/>
            </a:pPr>
            <a:r>
              <a:rPr lang="fr-FR" sz="2000" dirty="0"/>
              <a:t>   -</a:t>
            </a:r>
            <a:r>
              <a:rPr lang="fr-FR" sz="1800" dirty="0"/>
              <a:t>Perte de connaissance en 20 à 50 secondes</a:t>
            </a:r>
          </a:p>
          <a:p>
            <a:pPr>
              <a:buNone/>
            </a:pPr>
            <a:r>
              <a:rPr lang="fr-FR" sz="1800" dirty="0"/>
              <a:t>   -Réveil au bout de 6mn et calme</a:t>
            </a:r>
          </a:p>
          <a:p>
            <a:pPr>
              <a:buNone/>
            </a:pPr>
            <a:r>
              <a:rPr lang="fr-FR" sz="1800" dirty="0"/>
              <a:t>   -Patient orienté au bout de 8mn</a:t>
            </a:r>
          </a:p>
          <a:p>
            <a:pPr>
              <a:buNone/>
            </a:pPr>
            <a:r>
              <a:rPr lang="fr-FR" sz="1800" dirty="0"/>
              <a:t>   </a:t>
            </a:r>
            <a:endParaRPr lang="fr-FR" sz="2000" dirty="0"/>
          </a:p>
          <a:p>
            <a:pPr>
              <a:buNone/>
            </a:pPr>
            <a:r>
              <a:rPr lang="fr-FR" sz="2000" dirty="0"/>
              <a:t>  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br>
              <a:rPr lang="fr-FR" sz="2800" b="1" i="1" dirty="0">
                <a:solidFill>
                  <a:srgbClr val="FFFF00"/>
                </a:solidFill>
              </a:rPr>
            </a:br>
            <a:r>
              <a:rPr lang="fr-FR" sz="2800" b="1" i="1" dirty="0">
                <a:solidFill>
                  <a:srgbClr val="FFFF00"/>
                </a:solidFill>
              </a:rPr>
              <a:t>Propofol( </a:t>
            </a:r>
            <a:r>
              <a:rPr lang="fr-FR" sz="2800" b="1" i="1" dirty="0" err="1">
                <a:solidFill>
                  <a:srgbClr val="FFFF00"/>
                </a:solidFill>
              </a:rPr>
              <a:t>Deprivan</a:t>
            </a:r>
            <a:r>
              <a:rPr lang="fr-FR" sz="2800" b="1" i="1" dirty="0">
                <a:solidFill>
                  <a:srgbClr val="FFFF00"/>
                </a:solidFill>
              </a:rPr>
              <a:t>)</a:t>
            </a:r>
            <a:br>
              <a:rPr lang="fr-FR" sz="2800" b="1" i="1" dirty="0">
                <a:solidFill>
                  <a:srgbClr val="FFFF00"/>
                </a:solidFill>
              </a:rPr>
            </a:br>
            <a:endParaRPr lang="fr-FR" sz="28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fr-FR" sz="2000" b="1" dirty="0"/>
              <a:t>Pharmacodynamie (suite)</a:t>
            </a:r>
          </a:p>
          <a:p>
            <a:pPr>
              <a:buNone/>
            </a:pPr>
            <a:r>
              <a:rPr lang="fr-FR" sz="2000" u="sng" dirty="0"/>
              <a:t>a)Action sur le système respiratoire</a:t>
            </a:r>
          </a:p>
          <a:p>
            <a:pPr>
              <a:buNone/>
            </a:pPr>
            <a:r>
              <a:rPr lang="fr-FR" sz="2000" b="1" dirty="0"/>
              <a:t>  </a:t>
            </a:r>
            <a:r>
              <a:rPr lang="fr-FR" sz="1800" b="1" dirty="0"/>
              <a:t>Aux doses usuelles et utilisées = Apnée</a:t>
            </a:r>
          </a:p>
          <a:p>
            <a:pPr>
              <a:buNone/>
            </a:pPr>
            <a:r>
              <a:rPr lang="fr-FR" sz="2000" b="1" dirty="0"/>
              <a:t>    -</a:t>
            </a:r>
            <a:r>
              <a:rPr lang="fr-FR" sz="1800" dirty="0"/>
              <a:t>Dépression modérée</a:t>
            </a:r>
          </a:p>
          <a:p>
            <a:pPr>
              <a:buNone/>
            </a:pPr>
            <a:r>
              <a:rPr lang="fr-FR" sz="2000" b="1" dirty="0"/>
              <a:t>    -</a:t>
            </a:r>
            <a:r>
              <a:rPr lang="fr-FR" sz="1800" dirty="0"/>
              <a:t>Maintien de la ventilation spontanée est possible</a:t>
            </a:r>
          </a:p>
          <a:p>
            <a:pPr>
              <a:buNone/>
            </a:pPr>
            <a:r>
              <a:rPr lang="fr-FR" sz="1800" dirty="0"/>
              <a:t>b) </a:t>
            </a:r>
            <a:r>
              <a:rPr lang="fr-FR" sz="2000" u="sng" dirty="0"/>
              <a:t>Action sur le système cardiovasculaire</a:t>
            </a:r>
          </a:p>
          <a:p>
            <a:pPr>
              <a:buNone/>
            </a:pPr>
            <a:r>
              <a:rPr lang="fr-FR" sz="2000" dirty="0"/>
              <a:t>      -</a:t>
            </a:r>
            <a:r>
              <a:rPr lang="fr-FR" sz="1800" dirty="0"/>
              <a:t>Baisse de la pression artérielle de 20%</a:t>
            </a:r>
          </a:p>
          <a:p>
            <a:pPr>
              <a:buNone/>
            </a:pPr>
            <a:r>
              <a:rPr lang="fr-FR" sz="2000" dirty="0"/>
              <a:t>      - </a:t>
            </a:r>
            <a:r>
              <a:rPr lang="fr-FR" sz="1800" dirty="0"/>
              <a:t>Baisse du débit cardiaque de 15%</a:t>
            </a:r>
          </a:p>
          <a:p>
            <a:pPr>
              <a:buNone/>
            </a:pPr>
            <a:r>
              <a:rPr lang="fr-FR" sz="1800" dirty="0"/>
              <a:t>c) </a:t>
            </a:r>
            <a:r>
              <a:rPr lang="fr-FR" sz="2000" u="sng" dirty="0"/>
              <a:t>Accidents et Incidents</a:t>
            </a:r>
          </a:p>
          <a:p>
            <a:pPr>
              <a:buNone/>
            </a:pPr>
            <a:r>
              <a:rPr lang="fr-FR" sz="2000" dirty="0"/>
              <a:t>   -  </a:t>
            </a:r>
            <a:r>
              <a:rPr lang="fr-FR" sz="1800" dirty="0"/>
              <a:t>Allergie exceptionnelle</a:t>
            </a:r>
          </a:p>
          <a:p>
            <a:pPr>
              <a:buNone/>
            </a:pPr>
            <a:r>
              <a:rPr lang="fr-FR" sz="1800" dirty="0"/>
              <a:t>    -Douleur à l’injection</a:t>
            </a:r>
            <a:endParaRPr lang="fr-FR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fr-FR" sz="2800" b="1" dirty="0" err="1">
                <a:solidFill>
                  <a:srgbClr val="FFFF00"/>
                </a:solidFill>
              </a:rPr>
              <a:t>Etomidate</a:t>
            </a:r>
            <a:r>
              <a:rPr lang="fr-FR" sz="2800" b="1" dirty="0">
                <a:solidFill>
                  <a:srgbClr val="FFFF00"/>
                </a:solidFill>
              </a:rPr>
              <a:t>(</a:t>
            </a:r>
            <a:r>
              <a:rPr lang="fr-FR" sz="2800" b="1" dirty="0" err="1">
                <a:solidFill>
                  <a:srgbClr val="FFFF00"/>
                </a:solidFill>
              </a:rPr>
              <a:t>hypnomidate</a:t>
            </a:r>
            <a:r>
              <a:rPr lang="fr-FR" sz="2800" b="1" dirty="0">
                <a:solidFill>
                  <a:srgbClr val="FFFF00"/>
                </a:solidFill>
              </a:rPr>
              <a:t>)</a:t>
            </a:r>
            <a:br>
              <a:rPr lang="fr-FR" sz="2800" b="1" dirty="0">
                <a:solidFill>
                  <a:srgbClr val="FFFF00"/>
                </a:solidFill>
              </a:rPr>
            </a:br>
            <a:endParaRPr lang="fr-FR" sz="28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endParaRPr lang="fr-FR" sz="2000" b="1" dirty="0">
              <a:solidFill>
                <a:srgbClr val="FFFF00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fr-FR" sz="2000" dirty="0"/>
              <a:t> </a:t>
            </a:r>
            <a:r>
              <a:rPr lang="fr-FR" sz="2000" b="1" i="1" dirty="0">
                <a:solidFill>
                  <a:srgbClr val="FFFF00"/>
                </a:solidFill>
              </a:rPr>
              <a:t>Pharmacocinétique</a:t>
            </a:r>
          </a:p>
          <a:p>
            <a:pPr>
              <a:buNone/>
            </a:pPr>
            <a:r>
              <a:rPr lang="fr-FR" sz="2000" dirty="0"/>
              <a:t>  -</a:t>
            </a:r>
            <a:r>
              <a:rPr lang="fr-FR" sz="1800" dirty="0"/>
              <a:t> Demi-vie de distribution :2 à3 mn</a:t>
            </a:r>
          </a:p>
          <a:p>
            <a:pPr>
              <a:buNone/>
            </a:pPr>
            <a:r>
              <a:rPr lang="fr-FR" sz="1800" dirty="0"/>
              <a:t>   -Demi-vie d’élimination: 04h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sz="2000" b="1" i="1" dirty="0">
                <a:solidFill>
                  <a:srgbClr val="FFFF00"/>
                </a:solidFill>
              </a:rPr>
              <a:t>Pharmacodynamie</a:t>
            </a:r>
          </a:p>
          <a:p>
            <a:pPr>
              <a:buNone/>
            </a:pPr>
            <a:r>
              <a:rPr lang="fr-FR" sz="2000" u="sng" dirty="0"/>
              <a:t>a)Action sur le SNC</a:t>
            </a:r>
          </a:p>
          <a:p>
            <a:pPr>
              <a:buNone/>
            </a:pPr>
            <a:r>
              <a:rPr lang="fr-FR" sz="2000" dirty="0"/>
              <a:t>  -</a:t>
            </a:r>
            <a:r>
              <a:rPr lang="fr-FR" sz="1800" dirty="0"/>
              <a:t>L’anesthésie débute à 30 s et dure 10mn</a:t>
            </a:r>
          </a:p>
          <a:p>
            <a:pPr>
              <a:buNone/>
            </a:pPr>
            <a:r>
              <a:rPr lang="fr-FR" sz="1800" dirty="0"/>
              <a:t>   -Réveil complet(20 à 40mn)</a:t>
            </a:r>
          </a:p>
          <a:p>
            <a:pPr>
              <a:buNone/>
            </a:pPr>
            <a:r>
              <a:rPr lang="fr-FR" sz="2000" dirty="0"/>
              <a:t>b) </a:t>
            </a:r>
            <a:r>
              <a:rPr lang="fr-FR" sz="2000" u="sng" dirty="0"/>
              <a:t>Action sur le système respiratoire </a:t>
            </a:r>
            <a:r>
              <a:rPr lang="fr-FR" sz="2000" dirty="0"/>
              <a:t>:</a:t>
            </a:r>
            <a:r>
              <a:rPr lang="fr-FR" sz="1800" dirty="0"/>
              <a:t> faible dépression dose dépendante</a:t>
            </a:r>
          </a:p>
          <a:p>
            <a:pPr>
              <a:buNone/>
            </a:pPr>
            <a:r>
              <a:rPr lang="fr-FR" sz="1800" dirty="0"/>
              <a:t>c) Action sur le système cardiovasculaire:</a:t>
            </a:r>
          </a:p>
          <a:p>
            <a:pPr>
              <a:buNone/>
            </a:pPr>
            <a:r>
              <a:rPr lang="fr-FR" sz="1800" dirty="0"/>
              <a:t>      -Stabilité de la PAS,F.C,et débit cardiaque –Vasodilatation coronaire</a:t>
            </a:r>
          </a:p>
          <a:p>
            <a:pPr>
              <a:buNone/>
            </a:pPr>
            <a:r>
              <a:rPr lang="fr-FR" sz="1800" dirty="0"/>
              <a:t>d) </a:t>
            </a:r>
            <a:r>
              <a:rPr lang="fr-FR" sz="2000" u="sng" dirty="0"/>
              <a:t>Accidents et Incidents</a:t>
            </a:r>
            <a:r>
              <a:rPr lang="fr-FR" sz="2000" dirty="0"/>
              <a:t>: </a:t>
            </a:r>
            <a:r>
              <a:rPr lang="fr-FR" sz="1800" dirty="0"/>
              <a:t>Allergie= exception, douleur au site de ponction</a:t>
            </a:r>
          </a:p>
          <a:p>
            <a:pPr>
              <a:buNone/>
            </a:pPr>
            <a:endParaRPr lang="fr-FR" sz="2000" dirty="0"/>
          </a:p>
          <a:p>
            <a:endParaRPr lang="fr-FR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fr-FR" sz="2800" b="1" i="1" dirty="0">
                <a:solidFill>
                  <a:srgbClr val="FFFF00"/>
                </a:solidFill>
              </a:rPr>
              <a:t>Midazolam(</a:t>
            </a:r>
            <a:r>
              <a:rPr lang="fr-FR" sz="2800" b="1" i="1" dirty="0" err="1">
                <a:solidFill>
                  <a:srgbClr val="FFFF00"/>
                </a:solidFill>
              </a:rPr>
              <a:t>hypnovel</a:t>
            </a:r>
            <a:r>
              <a:rPr lang="fr-FR" sz="2800" b="1" i="1" dirty="0">
                <a:solidFill>
                  <a:srgbClr val="FFFF00"/>
                </a:solidFill>
              </a:rPr>
              <a:t>)</a:t>
            </a:r>
            <a:endParaRPr lang="fr-FR" sz="28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>
            <a:normAutofit lnSpcReduction="10000"/>
          </a:bodyPr>
          <a:lstStyle/>
          <a:p>
            <a:pPr marL="0" indent="0">
              <a:buNone/>
            </a:pPr>
            <a:endParaRPr lang="fr-FR" sz="2000" b="1" i="1" dirty="0">
              <a:solidFill>
                <a:srgbClr val="FFFF00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fr-FR" sz="2000" b="1" i="1" dirty="0"/>
              <a:t>Courte durée d’action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sz="2000" b="1" i="1" dirty="0">
                <a:solidFill>
                  <a:srgbClr val="FFFF00"/>
                </a:solidFill>
              </a:rPr>
              <a:t>Pharmacocinétique:</a:t>
            </a:r>
          </a:p>
          <a:p>
            <a:pPr>
              <a:buNone/>
            </a:pPr>
            <a:r>
              <a:rPr lang="fr-FR" sz="2000" dirty="0"/>
              <a:t>   - </a:t>
            </a:r>
            <a:r>
              <a:rPr lang="fr-FR" sz="1800" dirty="0"/>
              <a:t>Demi-vie la plus courte des Benzodiazépines</a:t>
            </a:r>
          </a:p>
          <a:p>
            <a:pPr>
              <a:buNone/>
            </a:pPr>
            <a:r>
              <a:rPr lang="fr-FR" sz="1800" dirty="0"/>
              <a:t>    -Délai d’action est de 2 mn</a:t>
            </a:r>
          </a:p>
          <a:p>
            <a:pPr>
              <a:buNone/>
            </a:pPr>
            <a:r>
              <a:rPr lang="fr-FR" sz="1800" dirty="0"/>
              <a:t>    - Demi-vie d’élimination est de 3 heures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sz="2000" b="1" i="1" dirty="0">
                <a:solidFill>
                  <a:srgbClr val="FFFF00"/>
                </a:solidFill>
              </a:rPr>
              <a:t>Pharmacodynamie</a:t>
            </a:r>
          </a:p>
          <a:p>
            <a:pPr marL="457200" indent="-457200">
              <a:buAutoNum type="alphaLcParenR"/>
            </a:pPr>
            <a:r>
              <a:rPr lang="fr-FR" sz="2000" u="sng" dirty="0"/>
              <a:t>Action sur le SNC</a:t>
            </a:r>
          </a:p>
          <a:p>
            <a:pPr marL="457200" indent="-457200">
              <a:buNone/>
            </a:pPr>
            <a:r>
              <a:rPr lang="fr-FR" sz="1800" dirty="0"/>
              <a:t>   -Actions successives doses dépendantes: Anxiolyse,Amnésie,Sédation.</a:t>
            </a:r>
          </a:p>
          <a:p>
            <a:pPr marL="457200" indent="-457200">
              <a:buNone/>
            </a:pPr>
            <a:r>
              <a:rPr lang="fr-FR" sz="1800" dirty="0"/>
              <a:t>   -Pas d’action Analgésique</a:t>
            </a:r>
          </a:p>
          <a:p>
            <a:pPr marL="457200" indent="-457200">
              <a:buNone/>
            </a:pPr>
            <a:r>
              <a:rPr lang="fr-FR" sz="1800" dirty="0"/>
              <a:t>b) </a:t>
            </a:r>
            <a:r>
              <a:rPr lang="fr-FR" sz="2000" u="sng" dirty="0"/>
              <a:t>Action sur le système respiratoire</a:t>
            </a:r>
            <a:r>
              <a:rPr lang="fr-FR" sz="1800" dirty="0"/>
              <a:t>: Dépression respiratoire centrale</a:t>
            </a:r>
          </a:p>
          <a:p>
            <a:pPr marL="457200" indent="-457200">
              <a:buNone/>
            </a:pPr>
            <a:r>
              <a:rPr lang="fr-FR" sz="1800" u="sng" dirty="0"/>
              <a:t>c)</a:t>
            </a:r>
            <a:r>
              <a:rPr lang="fr-FR" sz="2000" u="sng" dirty="0"/>
              <a:t>Action sur le système cardiovasculaire: </a:t>
            </a:r>
            <a:r>
              <a:rPr lang="fr-FR" sz="1800" dirty="0"/>
              <a:t>Diminution modérée des résistances vasculaires.</a:t>
            </a:r>
          </a:p>
          <a:p>
            <a:pPr marL="457200" indent="-457200">
              <a:buNone/>
            </a:pPr>
            <a:r>
              <a:rPr lang="fr-FR" sz="1800" dirty="0"/>
              <a:t>d) </a:t>
            </a:r>
            <a:r>
              <a:rPr lang="fr-FR" sz="2000" u="sng" dirty="0"/>
              <a:t>Accidents et Incidents</a:t>
            </a:r>
            <a:r>
              <a:rPr lang="fr-FR" sz="2000" dirty="0"/>
              <a:t>: </a:t>
            </a:r>
            <a:r>
              <a:rPr lang="fr-FR" sz="1800" dirty="0"/>
              <a:t>Risque de dépendance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fr-FR" sz="2800" b="1" i="1" dirty="0">
                <a:solidFill>
                  <a:srgbClr val="FFFF00"/>
                </a:solidFill>
              </a:rPr>
              <a:t>2-AGENTS ANESTHESIQUES  PAR  INHALATION</a:t>
            </a:r>
            <a:br>
              <a:rPr lang="fr-FR" sz="2800" b="1" i="1" dirty="0">
                <a:solidFill>
                  <a:srgbClr val="FFFF00"/>
                </a:solidFill>
              </a:rPr>
            </a:br>
            <a:endParaRPr lang="fr-FR" sz="28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4569371"/>
          </a:xfr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endParaRPr lang="fr-FR" sz="2400" b="1" i="1" dirty="0">
              <a:solidFill>
                <a:srgbClr val="FFFF00"/>
              </a:solidFill>
            </a:endParaRPr>
          </a:p>
          <a:p>
            <a:pPr>
              <a:buFont typeface="Wingdings" pitchFamily="2" charset="2"/>
              <a:buChar char="v"/>
            </a:pPr>
            <a:r>
              <a:rPr lang="fr-FR" sz="2000" dirty="0"/>
              <a:t>Couramment utilisés en anesthésie</a:t>
            </a:r>
          </a:p>
          <a:p>
            <a:pPr>
              <a:buFont typeface="Wingdings" pitchFamily="2" charset="2"/>
              <a:buChar char="v"/>
            </a:pPr>
            <a:r>
              <a:rPr lang="fr-FR" sz="2000" dirty="0"/>
              <a:t>Grande maniabilité</a:t>
            </a:r>
          </a:p>
          <a:p>
            <a:pPr>
              <a:buFont typeface="Wingdings" pitchFamily="2" charset="2"/>
              <a:buChar char="v"/>
            </a:pPr>
            <a:r>
              <a:rPr lang="fr-FR" sz="2000" dirty="0"/>
              <a:t>On distingue: N2O,Halothane,Isoflurane,Desflurane,Sévoflurane.</a:t>
            </a:r>
          </a:p>
          <a:p>
            <a:pPr>
              <a:buFont typeface="Wingdings" pitchFamily="2" charset="2"/>
              <a:buChar char="Ø"/>
            </a:pPr>
            <a:r>
              <a:rPr lang="fr-FR" sz="2000" dirty="0"/>
              <a:t>Propriétés pharmacodynamiques</a:t>
            </a:r>
          </a:p>
          <a:p>
            <a:pPr marL="457200" indent="-457200">
              <a:buAutoNum type="alphaLcParenR"/>
            </a:pPr>
            <a:r>
              <a:rPr lang="fr-FR" sz="2000" u="sng" dirty="0"/>
              <a:t>Sur le SNC:</a:t>
            </a:r>
          </a:p>
          <a:p>
            <a:pPr marL="457200" indent="-457200">
              <a:buNone/>
            </a:pPr>
            <a:r>
              <a:rPr lang="fr-FR" sz="1800" dirty="0"/>
              <a:t>-Perte de conscience:N2O(+),Halot(+++),Isof(+++)Sévo(+++)</a:t>
            </a:r>
          </a:p>
          <a:p>
            <a:pPr marL="457200" indent="-457200">
              <a:buNone/>
            </a:pPr>
            <a:r>
              <a:rPr lang="fr-FR" sz="1800" dirty="0"/>
              <a:t>-Analgésie:N2O(   ) ,Halo(    ) ,isof(    )</a:t>
            </a:r>
          </a:p>
          <a:p>
            <a:pPr marL="457200" indent="-457200">
              <a:buNone/>
            </a:pPr>
            <a:r>
              <a:rPr lang="fr-FR" sz="1800" dirty="0"/>
              <a:t>b) </a:t>
            </a:r>
            <a:r>
              <a:rPr lang="fr-FR" sz="2000" u="sng" dirty="0"/>
              <a:t>Sur le système cardiovasculaire:</a:t>
            </a:r>
          </a:p>
          <a:p>
            <a:pPr marL="457200" indent="-457200">
              <a:buNone/>
            </a:pPr>
            <a:r>
              <a:rPr lang="fr-FR" sz="1800" dirty="0"/>
              <a:t>- </a:t>
            </a:r>
            <a:r>
              <a:rPr lang="fr-FR" sz="1800" b="1" dirty="0"/>
              <a:t>Fréquence cardiaque</a:t>
            </a:r>
            <a:r>
              <a:rPr lang="fr-FR" sz="1800" dirty="0"/>
              <a:t>:                            N2O(o),Halot(    ), isof(     ),</a:t>
            </a:r>
            <a:r>
              <a:rPr lang="fr-FR" sz="1800" b="1" dirty="0"/>
              <a:t>sévo(o)</a:t>
            </a:r>
          </a:p>
          <a:p>
            <a:pPr marL="457200" indent="-457200">
              <a:buNone/>
            </a:pPr>
            <a:r>
              <a:rPr lang="fr-FR" sz="1800" dirty="0"/>
              <a:t>-</a:t>
            </a:r>
            <a:r>
              <a:rPr lang="fr-FR" sz="1800" b="1" dirty="0"/>
              <a:t>Pression   Artérielle                                  </a:t>
            </a:r>
            <a:r>
              <a:rPr lang="fr-FR" sz="1800" dirty="0"/>
              <a:t>N2O(o),Halo(     ),isof(      ),</a:t>
            </a:r>
            <a:r>
              <a:rPr lang="fr-FR" sz="1800" b="1" dirty="0"/>
              <a:t>sévo(o)</a:t>
            </a:r>
          </a:p>
          <a:p>
            <a:pPr marL="457200" indent="-457200">
              <a:buNone/>
            </a:pPr>
            <a:r>
              <a:rPr lang="fr-FR" sz="1800" dirty="0"/>
              <a:t>-</a:t>
            </a:r>
            <a:r>
              <a:rPr lang="fr-FR" sz="1800" b="1" dirty="0"/>
              <a:t>Débit cardiaque                                         </a:t>
            </a:r>
            <a:r>
              <a:rPr lang="fr-FR" sz="1800" dirty="0"/>
              <a:t>N2O(o) ,Halo(     ),</a:t>
            </a:r>
            <a:r>
              <a:rPr lang="fr-FR" sz="1800" b="1" dirty="0"/>
              <a:t>isof(o) ,  sévof(o</a:t>
            </a:r>
            <a:r>
              <a:rPr lang="fr-FR" sz="1800" dirty="0"/>
              <a:t>)</a:t>
            </a:r>
          </a:p>
          <a:p>
            <a:pPr marL="457200" indent="-457200">
              <a:buNone/>
            </a:pPr>
            <a:endParaRPr lang="fr-FR" sz="1800" dirty="0"/>
          </a:p>
          <a:p>
            <a:pPr marL="457200" indent="-457200">
              <a:buNone/>
            </a:pPr>
            <a:endParaRPr lang="fr-FR" sz="1800" dirty="0"/>
          </a:p>
        </p:txBody>
      </p:sp>
      <p:cxnSp>
        <p:nvCxnSpPr>
          <p:cNvPr id="5" name="Connecteur droit avec flèche 4"/>
          <p:cNvCxnSpPr/>
          <p:nvPr/>
        </p:nvCxnSpPr>
        <p:spPr>
          <a:xfrm>
            <a:off x="2123728" y="4293096"/>
            <a:ext cx="72008" cy="21602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Connecteur droit avec flèche 8"/>
          <p:cNvCxnSpPr/>
          <p:nvPr/>
        </p:nvCxnSpPr>
        <p:spPr>
          <a:xfrm>
            <a:off x="2987824" y="4293096"/>
            <a:ext cx="72008" cy="21602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Connecteur droit avec flèche 13"/>
          <p:cNvCxnSpPr/>
          <p:nvPr/>
        </p:nvCxnSpPr>
        <p:spPr>
          <a:xfrm>
            <a:off x="3779912" y="4221088"/>
            <a:ext cx="0" cy="28803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Connecteur droit avec flèche 20"/>
          <p:cNvCxnSpPr/>
          <p:nvPr/>
        </p:nvCxnSpPr>
        <p:spPr>
          <a:xfrm>
            <a:off x="5508104" y="4941168"/>
            <a:ext cx="144016" cy="21602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" name="Connecteur droit avec flèche 25"/>
          <p:cNvCxnSpPr/>
          <p:nvPr/>
        </p:nvCxnSpPr>
        <p:spPr>
          <a:xfrm flipV="1">
            <a:off x="6300192" y="4941168"/>
            <a:ext cx="72008" cy="21602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2" name="Connecteur droit avec flèche 31"/>
          <p:cNvCxnSpPr/>
          <p:nvPr/>
        </p:nvCxnSpPr>
        <p:spPr>
          <a:xfrm>
            <a:off x="5580112" y="5229200"/>
            <a:ext cx="0" cy="28803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7" name="Connecteur droit avec flèche 36"/>
          <p:cNvCxnSpPr/>
          <p:nvPr/>
        </p:nvCxnSpPr>
        <p:spPr>
          <a:xfrm flipV="1">
            <a:off x="6372200" y="5229200"/>
            <a:ext cx="72008" cy="28803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2" name="Connecteur droit avec flèche 41"/>
          <p:cNvCxnSpPr/>
          <p:nvPr/>
        </p:nvCxnSpPr>
        <p:spPr>
          <a:xfrm>
            <a:off x="2555776" y="5445224"/>
            <a:ext cx="1440160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2" name="Connecteur droit avec flèche 51"/>
          <p:cNvCxnSpPr/>
          <p:nvPr/>
        </p:nvCxnSpPr>
        <p:spPr>
          <a:xfrm>
            <a:off x="2915816" y="5085184"/>
            <a:ext cx="1080120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8" name="Connecteur droit avec flèche 57"/>
          <p:cNvCxnSpPr/>
          <p:nvPr/>
        </p:nvCxnSpPr>
        <p:spPr>
          <a:xfrm>
            <a:off x="2411760" y="5733256"/>
            <a:ext cx="1584176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5" name="Connecteur droit avec flèche 64"/>
          <p:cNvCxnSpPr/>
          <p:nvPr/>
        </p:nvCxnSpPr>
        <p:spPr>
          <a:xfrm>
            <a:off x="5580112" y="5589240"/>
            <a:ext cx="72008" cy="28803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r>
              <a:rPr lang="fr-FR" sz="3600" b="1" i="1" dirty="0">
                <a:solidFill>
                  <a:srgbClr val="FFFF00"/>
                </a:solidFill>
              </a:rPr>
              <a:t>3-Morphiniques</a:t>
            </a:r>
            <a:br>
              <a:rPr lang="fr-FR" sz="3600" b="1" i="1" dirty="0">
                <a:solidFill>
                  <a:srgbClr val="FFFF00"/>
                </a:solidFill>
              </a:rPr>
            </a:br>
            <a:endParaRPr lang="fr-FR" sz="36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5098578"/>
          </a:xfr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FR" sz="2000" b="1" i="1" dirty="0"/>
              <a:t>Antalgiques puissants </a:t>
            </a:r>
            <a:r>
              <a:rPr lang="fr-FR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tilises en per-opératoire et en post operatoire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sz="2000" dirty="0"/>
              <a:t>On distingue: Morphine ,Alfentanil,Sufentanil ,</a:t>
            </a:r>
            <a:r>
              <a:rPr lang="fr-FR" sz="2000" dirty="0" err="1"/>
              <a:t>Fentanil</a:t>
            </a:r>
            <a:endParaRPr lang="fr-FR" sz="2000" dirty="0"/>
          </a:p>
          <a:p>
            <a:pPr marL="0" indent="0">
              <a:buNone/>
            </a:pPr>
            <a:endParaRPr lang="fr-FR" sz="2000" dirty="0"/>
          </a:p>
          <a:p>
            <a:pPr>
              <a:buFont typeface="Wingdings" panose="05000000000000000000" pitchFamily="2" charset="2"/>
              <a:buChar char="§"/>
            </a:pPr>
            <a:r>
              <a:rPr lang="fr-FR" sz="2000" b="1" dirty="0">
                <a:solidFill>
                  <a:srgbClr val="FFFF00"/>
                </a:solidFill>
              </a:rPr>
              <a:t>Pharmacocinétique</a:t>
            </a:r>
          </a:p>
          <a:p>
            <a:pPr>
              <a:buNone/>
            </a:pPr>
            <a:r>
              <a:rPr lang="fr-FR" sz="2000" dirty="0"/>
              <a:t> - Délai et durée d’action dépendent de la voie d’administration et des caractères pharmacocinétique de la molécule(Liposolubilité,liaison aux protéines)</a:t>
            </a:r>
          </a:p>
          <a:p>
            <a:pPr>
              <a:buNone/>
            </a:pPr>
            <a:endParaRPr lang="fr-FR" sz="2000" dirty="0"/>
          </a:p>
          <a:p>
            <a:pPr>
              <a:buFont typeface="Wingdings" panose="05000000000000000000" pitchFamily="2" charset="2"/>
              <a:buChar char="§"/>
            </a:pPr>
            <a:r>
              <a:rPr lang="fr-FR" sz="2000" b="1" dirty="0">
                <a:solidFill>
                  <a:srgbClr val="FFFF00"/>
                </a:solidFill>
              </a:rPr>
              <a:t>Pharmacodynamie</a:t>
            </a:r>
          </a:p>
          <a:p>
            <a:pPr>
              <a:buNone/>
            </a:pPr>
            <a:r>
              <a:rPr lang="fr-FR" sz="2000" dirty="0"/>
              <a:t> a)Analgésie,Amnésie,Anesthésie</a:t>
            </a:r>
          </a:p>
          <a:p>
            <a:pPr>
              <a:buNone/>
            </a:pPr>
            <a:r>
              <a:rPr lang="fr-FR" sz="2000" dirty="0"/>
              <a:t> b) Effets cardiovasculaires: Déprime peu le muscle cardiaque</a:t>
            </a:r>
          </a:p>
          <a:p>
            <a:pPr>
              <a:buNone/>
            </a:pPr>
            <a:r>
              <a:rPr lang="fr-FR" sz="2000" dirty="0"/>
              <a:t> c)  Effets respiratoires: Dépression respiratoire dose dépendante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0CDCDB3-7956-7E5D-1C97-BBDF83585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4569371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b="1" u="sng" dirty="0">
                <a:solidFill>
                  <a:srgbClr val="FFFF00"/>
                </a:solidFill>
                <a:cs typeface="Arial" panose="020B0604020202020204" pitchFamily="34" charset="0"/>
              </a:rPr>
              <a:t>Classification :</a:t>
            </a:r>
          </a:p>
          <a:p>
            <a:pPr marL="0" indent="0">
              <a:buNone/>
            </a:pPr>
            <a:r>
              <a:rPr lang="fr-FR" sz="2800" b="1" dirty="0">
                <a:solidFill>
                  <a:srgbClr val="FFFF00"/>
                </a:solidFill>
                <a:cs typeface="Arial" panose="020B0604020202020204" pitchFamily="34" charset="0"/>
              </a:rPr>
              <a:t>a/Agonistes purs </a:t>
            </a:r>
          </a:p>
          <a:p>
            <a:pPr marL="0" indent="0">
              <a:buNone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fr-FR" sz="1800" dirty="0">
                <a:latin typeface="Arial" panose="020B0604020202020204" pitchFamily="34" charset="0"/>
                <a:cs typeface="Arial" panose="020B0604020202020204" pitchFamily="34" charset="0"/>
              </a:rPr>
              <a:t>Fentanyl</a:t>
            </a:r>
          </a:p>
          <a:p>
            <a:pPr marL="0" indent="0">
              <a:buNone/>
            </a:pPr>
            <a:r>
              <a:rPr lang="fr-FR" sz="1800" dirty="0">
                <a:latin typeface="Arial" panose="020B0604020202020204" pitchFamily="34" charset="0"/>
                <a:cs typeface="Arial" panose="020B0604020202020204" pitchFamily="34" charset="0"/>
              </a:rPr>
              <a:t>-SUFENTANYL</a:t>
            </a:r>
          </a:p>
          <a:p>
            <a:pPr marL="0" indent="0">
              <a:buNone/>
            </a:pPr>
            <a:r>
              <a:rPr lang="fr-FR" sz="1800" dirty="0">
                <a:latin typeface="Arial" panose="020B0604020202020204" pitchFamily="34" charset="0"/>
                <a:cs typeface="Arial" panose="020B0604020202020204" pitchFamily="34" charset="0"/>
              </a:rPr>
              <a:t>-ALFENTANYL</a:t>
            </a:r>
          </a:p>
          <a:p>
            <a:pPr marL="0" indent="0">
              <a:buNone/>
            </a:pPr>
            <a:r>
              <a:rPr lang="fr-FR" sz="2200" b="1" dirty="0">
                <a:solidFill>
                  <a:srgbClr val="FFFF00"/>
                </a:solidFill>
                <a:cs typeface="Arial" panose="020B0604020202020204" pitchFamily="34" charset="0"/>
              </a:rPr>
              <a:t>b/LES AGONISTES ANTAGONISTES</a:t>
            </a:r>
          </a:p>
          <a:p>
            <a:pPr marL="0" indent="0">
              <a:buNone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fr-FR" sz="1800" dirty="0">
                <a:latin typeface="Arial" panose="020B0604020202020204" pitchFamily="34" charset="0"/>
                <a:cs typeface="Arial" panose="020B0604020202020204" pitchFamily="34" charset="0"/>
              </a:rPr>
              <a:t>LA NALBUPHINE</a:t>
            </a:r>
          </a:p>
          <a:p>
            <a:pPr marL="0" indent="0">
              <a:buNone/>
            </a:pPr>
            <a:r>
              <a:rPr lang="fr-FR" sz="1800" dirty="0">
                <a:latin typeface="Arial" panose="020B0604020202020204" pitchFamily="34" charset="0"/>
                <a:cs typeface="Arial" panose="020B0604020202020204" pitchFamily="34" charset="0"/>
              </a:rPr>
              <a:t>-LA BUPRENORPHINE</a:t>
            </a:r>
          </a:p>
          <a:p>
            <a:pPr marL="0" indent="0">
              <a:buNone/>
            </a:pPr>
            <a:endParaRPr lang="fr-FR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1800" b="1" u="sng" dirty="0">
                <a:latin typeface="Arial" panose="020B0604020202020204" pitchFamily="34" charset="0"/>
                <a:cs typeface="Arial" panose="020B0604020202020204" pitchFamily="34" charset="0"/>
              </a:rPr>
              <a:t>Action principale :</a:t>
            </a:r>
          </a:p>
          <a:p>
            <a:pPr marL="0" indent="0">
              <a:buNone/>
            </a:pPr>
            <a:r>
              <a:rPr lang="fr-FR" sz="1400" dirty="0">
                <a:latin typeface="Arial" panose="020B0604020202020204" pitchFamily="34" charset="0"/>
                <a:cs typeface="Arial" panose="020B0604020202020204" pitchFamily="34" charset="0"/>
              </a:rPr>
              <a:t>SOULAGENT LES DOULEURS POST OPERATOIRES </a:t>
            </a:r>
          </a:p>
          <a:p>
            <a:pPr marL="0" indent="0">
              <a:buNone/>
            </a:pP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5AD672B9-9A5D-BF88-CBBD-EB9C7B19D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332656"/>
            <a:ext cx="8229600" cy="1143000"/>
          </a:xfr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fr-FR" sz="3600" b="1" i="1" dirty="0">
                <a:solidFill>
                  <a:srgbClr val="FFFF00"/>
                </a:solidFill>
              </a:rPr>
              <a:t>3-Morphiniques</a:t>
            </a:r>
            <a:br>
              <a:rPr lang="fr-FR" sz="2800" b="1" i="1" dirty="0">
                <a:solidFill>
                  <a:srgbClr val="FFFF00"/>
                </a:solidFill>
              </a:rPr>
            </a:br>
            <a:r>
              <a:rPr lang="fr-FR" sz="2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287342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br>
              <a:rPr lang="fr-FR" sz="4000" b="1" i="1" dirty="0">
                <a:solidFill>
                  <a:srgbClr val="FFFF00"/>
                </a:solidFill>
              </a:rPr>
            </a:br>
            <a:r>
              <a:rPr lang="fr-FR" sz="4000" b="1" i="1" dirty="0">
                <a:solidFill>
                  <a:srgbClr val="FFFF00"/>
                </a:solidFill>
              </a:rPr>
              <a:t>4-CURARES</a:t>
            </a:r>
            <a:br>
              <a:rPr lang="fr-FR" sz="4000" b="1" i="1" dirty="0">
                <a:solidFill>
                  <a:srgbClr val="FFFF00"/>
                </a:solidFill>
              </a:rPr>
            </a:br>
            <a:endParaRPr lang="fr-FR" sz="40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endParaRPr lang="fr-FR" sz="2400" b="1" i="1" dirty="0">
              <a:solidFill>
                <a:srgbClr val="FFFF00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fr-FR" sz="2400" b="1" dirty="0"/>
              <a:t>Bloquent la transmission neuromusculaire au niveau de la plaque motrice,en empêchant la fixation de l’Acétylcholine sur les récepteurs nicotiniques post synaptique </a:t>
            </a:r>
          </a:p>
          <a:p>
            <a:pPr>
              <a:buFont typeface="Wingdings" pitchFamily="2" charset="2"/>
              <a:buChar char="Ø"/>
            </a:pPr>
            <a:r>
              <a:rPr lang="fr-FR" sz="2400" b="1" dirty="0">
                <a:latin typeface="Arial" panose="020B0604020202020204" pitchFamily="34" charset="0"/>
                <a:cs typeface="Arial" panose="020B0604020202020204" pitchFamily="34" charset="0"/>
              </a:rPr>
              <a:t>Ce 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sont des myorelaxants</a:t>
            </a:r>
          </a:p>
          <a:p>
            <a:pPr>
              <a:buFont typeface="Wingdings" pitchFamily="2" charset="2"/>
              <a:buChar char="Ø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ils facilitent l’ intubation trachéale en relâchant les muscles de la mâchoire</a:t>
            </a:r>
          </a:p>
          <a:p>
            <a:pPr>
              <a:buFont typeface="Wingdings" pitchFamily="2" charset="2"/>
              <a:buChar char="Ø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ils relâchent les muscles de la région concernée par la chirurgie</a:t>
            </a:r>
          </a:p>
          <a:p>
            <a:pPr marL="0" indent="0">
              <a:buNone/>
            </a:pPr>
            <a:endParaRPr lang="fr-FR" sz="2000" b="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F2582-9D96-3315-FF60-057DC1447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8857CB-8A95-C1A0-2D49-AEFCD6499BBB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fr-FR" sz="4000" b="1" dirty="0">
                <a:solidFill>
                  <a:srgbClr val="FFFF00"/>
                </a:solidFill>
              </a:rPr>
              <a:t>4-CURARES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F08F029-C1AD-ABA8-D72B-91BED05F0836}"/>
              </a:ext>
            </a:extLst>
          </p:cNvPr>
          <p:cNvSpPr>
            <a:spLocks noGrp="1"/>
          </p:cNvSpPr>
          <p:nvPr>
            <p:ph idx="1"/>
          </p:nvPr>
        </p:nvSpPr>
        <p:spPr/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endParaRPr lang="fr-FR" sz="2400" b="1" i="1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fr-FR" sz="2000" dirty="0"/>
              <a:t>Deux types: </a:t>
            </a:r>
          </a:p>
          <a:p>
            <a:pPr marL="0" indent="0">
              <a:buNone/>
            </a:pPr>
            <a:r>
              <a:rPr lang="fr-FR" sz="2000" b="1" dirty="0"/>
              <a:t>Dépolarisants et non dépolarisants</a:t>
            </a:r>
          </a:p>
          <a:p>
            <a:pPr>
              <a:buFont typeface="Wingdings" pitchFamily="2" charset="2"/>
              <a:buChar char="Ø"/>
            </a:pPr>
            <a:r>
              <a:rPr lang="fr-FR" sz="2000" u="sng" dirty="0"/>
              <a:t>Effets indisérables: </a:t>
            </a:r>
          </a:p>
          <a:p>
            <a:pPr marL="0" indent="0">
              <a:buNone/>
            </a:pPr>
            <a:r>
              <a:rPr lang="fr-FR" sz="2000" dirty="0"/>
              <a:t>         -Risque Allergique grave</a:t>
            </a:r>
          </a:p>
          <a:p>
            <a:pPr>
              <a:buNone/>
            </a:pPr>
            <a:r>
              <a:rPr lang="fr-FR" sz="2000" dirty="0"/>
              <a:t>          -Paralysie respiratoire=Assistance ventilatoire</a:t>
            </a:r>
          </a:p>
          <a:p>
            <a:pPr>
              <a:buFont typeface="Wingdings" pitchFamily="2" charset="2"/>
              <a:buChar char="Ø"/>
            </a:pPr>
            <a:r>
              <a:rPr lang="fr-FR" sz="2000" u="sng" dirty="0"/>
              <a:t>Indications de la curarisation:</a:t>
            </a:r>
          </a:p>
          <a:p>
            <a:pPr>
              <a:buNone/>
            </a:pPr>
            <a:r>
              <a:rPr lang="fr-FR" sz="2000" dirty="0"/>
              <a:t>         - Faciliter l’intubation orotrachéale ,Acte chirurgical et la ventilation controlé.</a:t>
            </a:r>
          </a:p>
          <a:p>
            <a:pPr>
              <a:buFont typeface="Wingdings" pitchFamily="2" charset="2"/>
              <a:buChar char="Ø"/>
            </a:pPr>
            <a:r>
              <a:rPr lang="fr-FR" sz="2000" dirty="0"/>
              <a:t>Principaux curares:  </a:t>
            </a:r>
          </a:p>
          <a:p>
            <a:pPr marL="0" indent="0">
              <a:buNone/>
            </a:pPr>
            <a:r>
              <a:rPr lang="fr-FR" sz="2000" dirty="0"/>
              <a:t>     -Vécuronium, Atracurium , </a:t>
            </a:r>
            <a:r>
              <a:rPr lang="fr-FR" sz="2000" dirty="0" err="1"/>
              <a:t>Rocuronium</a:t>
            </a:r>
            <a:r>
              <a:rPr lang="fr-FR" sz="2000" dirty="0"/>
              <a:t> ,</a:t>
            </a:r>
          </a:p>
        </p:txBody>
      </p:sp>
    </p:spTree>
    <p:extLst>
      <p:ext uri="{BB962C8B-B14F-4D97-AF65-F5344CB8AC3E}">
        <p14:creationId xmlns:p14="http://schemas.microsoft.com/office/powerpoint/2010/main" val="1071311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06BD7B-AF7A-1069-0D17-02BA2A1A9F2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lang="fr-FR" dirty="0">
                <a:solidFill>
                  <a:srgbClr val="FFFF00"/>
                </a:solidFill>
              </a:rPr>
              <a:t>III-CONCLUSION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3A45FD7-246E-F80F-356A-57C3ED164F64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lang="fr-FR" dirty="0"/>
              <a:t>La pharmacologie de l’ anesthésie générale associe des hypnotiques; des morphiniques et des curares</a:t>
            </a:r>
          </a:p>
          <a:p>
            <a:r>
              <a:rPr lang="fr-FR" dirty="0"/>
              <a:t>Le choix de la molécule prescrite en anesthésie dépend des comorbidités du patient 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553084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id="{7DC55631-4439-CCD0-C577-E8C8E8263E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3528" y="1556792"/>
            <a:ext cx="8496944" cy="4896544"/>
          </a:xfrm>
          <a:prstGeom prst="rect">
            <a:avLst/>
          </a:prstGeom>
        </p:spPr>
      </p:pic>
      <p:sp>
        <p:nvSpPr>
          <p:cNvPr id="5" name="Titre 1">
            <a:extLst>
              <a:ext uri="{FF2B5EF4-FFF2-40B4-BE49-F238E27FC236}">
                <a16:creationId xmlns:a16="http://schemas.microsoft.com/office/drawing/2014/main" id="{8A168935-3737-E282-A12C-99A4C4CBE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274638"/>
            <a:ext cx="8496944" cy="1282154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fr-FR" sz="7200" b="1" dirty="0">
                <a:solidFill>
                  <a:srgbClr val="FF0000"/>
                </a:solidFill>
              </a:rPr>
              <a:t>MERCI</a:t>
            </a:r>
          </a:p>
        </p:txBody>
      </p:sp>
    </p:spTree>
    <p:extLst>
      <p:ext uri="{BB962C8B-B14F-4D97-AF65-F5344CB8AC3E}">
        <p14:creationId xmlns:p14="http://schemas.microsoft.com/office/powerpoint/2010/main" val="29379380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1071</Words>
  <Application>Microsoft Office PowerPoint</Application>
  <PresentationFormat>Affichage à l'écran (4:3)</PresentationFormat>
  <Paragraphs>180</Paragraphs>
  <Slides>18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2" baseType="lpstr">
      <vt:lpstr>Arial</vt:lpstr>
      <vt:lpstr>Calibri</vt:lpstr>
      <vt:lpstr>Wingdings</vt:lpstr>
      <vt:lpstr>Thème Office</vt:lpstr>
      <vt:lpstr>Présentation PowerPoint</vt:lpstr>
      <vt:lpstr>PLAN </vt:lpstr>
      <vt:lpstr>I-INTRODUCTION </vt:lpstr>
      <vt:lpstr>II-ANESTHESIQUES GENERAUX </vt:lpstr>
      <vt:lpstr> 1/Les hypnotiques et adjuvants </vt:lpstr>
      <vt:lpstr>Thiopental(Penthotal ou nesdonal) </vt:lpstr>
      <vt:lpstr>Thiopental(Penthotal ou nesdonal)</vt:lpstr>
      <vt:lpstr>Propofol( Deprivan) </vt:lpstr>
      <vt:lpstr> Propofol( Deprivan) </vt:lpstr>
      <vt:lpstr>Etomidate(hypnomidate) </vt:lpstr>
      <vt:lpstr>Midazolam(hypnovel)</vt:lpstr>
      <vt:lpstr>2-AGENTS ANESTHESIQUES  PAR  INHALATION </vt:lpstr>
      <vt:lpstr>3-Morphiniques </vt:lpstr>
      <vt:lpstr>3-Morphiniques  </vt:lpstr>
      <vt:lpstr> 4-CURARES </vt:lpstr>
      <vt:lpstr>4-CURARES </vt:lpstr>
      <vt:lpstr>III-CONCLUSION </vt:lpstr>
      <vt:lpstr>MERCI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PHARMACOLOGIE DES PRINCIPALES DROGUES ANESTHESIQUES  UTILISES EN ANESTHESIE GENERALE</dc:title>
  <dc:creator>MOHAMED</dc:creator>
  <cp:lastModifiedBy>lenovo</cp:lastModifiedBy>
  <cp:revision>48</cp:revision>
  <dcterms:created xsi:type="dcterms:W3CDTF">2015-02-15T19:24:33Z</dcterms:created>
  <dcterms:modified xsi:type="dcterms:W3CDTF">2025-06-09T04:11:22Z</dcterms:modified>
</cp:coreProperties>
</file>