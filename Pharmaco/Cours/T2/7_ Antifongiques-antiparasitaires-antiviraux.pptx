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78" r:id="rId3"/>
    <p:sldId id="257" r:id="rId4"/>
    <p:sldId id="258" r:id="rId5"/>
    <p:sldId id="275" r:id="rId6"/>
    <p:sldId id="259" r:id="rId7"/>
    <p:sldId id="260" r:id="rId8"/>
    <p:sldId id="262" r:id="rId9"/>
    <p:sldId id="276" r:id="rId10"/>
    <p:sldId id="263" r:id="rId11"/>
    <p:sldId id="264" r:id="rId12"/>
    <p:sldId id="265" r:id="rId13"/>
    <p:sldId id="266" r:id="rId14"/>
    <p:sldId id="269" r:id="rId15"/>
    <p:sldId id="268" r:id="rId16"/>
    <p:sldId id="277" r:id="rId17"/>
    <p:sldId id="270" r:id="rId18"/>
    <p:sldId id="281" r:id="rId19"/>
    <p:sldId id="279" r:id="rId20"/>
    <p:sldId id="280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612" autoAdjust="0"/>
    <p:restoredTop sz="83513" autoAdjust="0"/>
  </p:normalViewPr>
  <p:slideViewPr>
    <p:cSldViewPr>
      <p:cViewPr varScale="1">
        <p:scale>
          <a:sx n="76" d="100"/>
          <a:sy n="76" d="100"/>
        </p:scale>
        <p:origin x="-13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C4189-8DB8-4954-BCD0-2618D065D9CB}" type="datetimeFigureOut">
              <a:rPr lang="fr-FR" smtClean="0"/>
              <a:pPr/>
              <a:t>16/02/2024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DDB88-22A0-4FCF-BABA-54E3A11148B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Varicelle" TargetMode="External"/><Relationship Id="rId13" Type="http://schemas.openxmlformats.org/officeDocument/2006/relationships/hyperlink" Target="https://fr.wikipedia.org/wiki/Lymphome_de_Burkitt" TargetMode="External"/><Relationship Id="rId18" Type="http://schemas.openxmlformats.org/officeDocument/2006/relationships/hyperlink" Target="https://fr.wikipedia.org/wiki/Herp%C3%A8svirus_humain_type_6" TargetMode="External"/><Relationship Id="rId3" Type="http://schemas.openxmlformats.org/officeDocument/2006/relationships/hyperlink" Target="https://fr.wikipedia.org/wiki/Virus" TargetMode="External"/><Relationship Id="rId21" Type="http://schemas.openxmlformats.org/officeDocument/2006/relationships/hyperlink" Target="https://fr.wikipedia.org/wiki/Herp%C3%A8svirus_humain_type_8" TargetMode="External"/><Relationship Id="rId7" Type="http://schemas.openxmlformats.org/officeDocument/2006/relationships/hyperlink" Target="https://fr.wikipedia.org/wiki/Virus_varicelle-zona" TargetMode="External"/><Relationship Id="rId12" Type="http://schemas.openxmlformats.org/officeDocument/2006/relationships/hyperlink" Target="https://fr.wikipedia.org/wiki/Mononucl%C3%A9ose_infectieuse" TargetMode="External"/><Relationship Id="rId17" Type="http://schemas.openxmlformats.org/officeDocument/2006/relationships/hyperlink" Target="https://fr.wikipedia.org/wiki/Immunod%C3%A9ficience" TargetMode="External"/><Relationship Id="rId25" Type="http://schemas.openxmlformats.org/officeDocument/2006/relationships/hyperlink" Target="https://fr.wikipedia.org/wiki/Maladie_de_Castleman" TargetMode="External"/><Relationship Id="rId2" Type="http://schemas.openxmlformats.org/officeDocument/2006/relationships/slide" Target="../slides/slide11.xml"/><Relationship Id="rId16" Type="http://schemas.openxmlformats.org/officeDocument/2006/relationships/hyperlink" Target="https://fr.wikipedia.org/wiki/Syndrome_mononucl%C3%A9osique" TargetMode="External"/><Relationship Id="rId20" Type="http://schemas.openxmlformats.org/officeDocument/2006/relationships/hyperlink" Target="https://fr.wikipedia.org/wiki/Herp%C3%A8svirus_humain_type_7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fr.wikipedia.org/wiki/Herp%C3%A8s_g%C3%A9nital" TargetMode="External"/><Relationship Id="rId11" Type="http://schemas.openxmlformats.org/officeDocument/2006/relationships/hyperlink" Target="https://fr.wikipedia.org/w/index.php?title=Lymphocryptovirus&amp;action=edit&amp;redlink=1" TargetMode="External"/><Relationship Id="rId24" Type="http://schemas.openxmlformats.org/officeDocument/2006/relationships/hyperlink" Target="https://fr.wikipedia.org/wiki/Lymphome" TargetMode="External"/><Relationship Id="rId5" Type="http://schemas.openxmlformats.org/officeDocument/2006/relationships/hyperlink" Target="https://fr.wikipedia.org/wiki/Herp%C3%A8s" TargetMode="External"/><Relationship Id="rId15" Type="http://schemas.openxmlformats.org/officeDocument/2006/relationships/hyperlink" Target="https://fr.wikipedia.org/wiki/Cytom%C3%A9galovirus" TargetMode="External"/><Relationship Id="rId23" Type="http://schemas.openxmlformats.org/officeDocument/2006/relationships/hyperlink" Target="https://fr.wikipedia.org/w/index.php?title=Rhadinovirus&amp;action=edit&amp;redlink=1" TargetMode="External"/><Relationship Id="rId10" Type="http://schemas.openxmlformats.org/officeDocument/2006/relationships/hyperlink" Target="https://fr.wikipedia.org/wiki/Virus_d'Epstein-Barr" TargetMode="External"/><Relationship Id="rId19" Type="http://schemas.openxmlformats.org/officeDocument/2006/relationships/hyperlink" Target="https://fr.wikipedia.org/wiki/Exanth%C3%A8me_subit" TargetMode="External"/><Relationship Id="rId4" Type="http://schemas.openxmlformats.org/officeDocument/2006/relationships/hyperlink" Target="https://fr.wikipedia.org/wiki/Anglais" TargetMode="External"/><Relationship Id="rId9" Type="http://schemas.openxmlformats.org/officeDocument/2006/relationships/hyperlink" Target="https://fr.wikipedia.org/wiki/Zona" TargetMode="External"/><Relationship Id="rId14" Type="http://schemas.openxmlformats.org/officeDocument/2006/relationships/hyperlink" Target="https://fr.wikipedia.org/wiki/Carcinome_du_nasopharynx" TargetMode="External"/><Relationship Id="rId22" Type="http://schemas.openxmlformats.org/officeDocument/2006/relationships/hyperlink" Target="https://fr.wikipedia.org/wiki/Sarcome_de_Kaposi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prescription se fait à doses suffisantes pendant </a:t>
            </a:r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 moins 15 jours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traitement. La forme doit être adaptée à la lésion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DDB88-22A0-4FCF-BABA-54E3A11148B9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types de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Virus"/>
              </a:rPr>
              <a:t>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de cette famille sont la cause de maladies chez les humains. Ce sont, en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Anglais"/>
              </a:rPr>
              <a:t>anglais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les « 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human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herpesvirus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» (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HHV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 :</a:t>
            </a:r>
          </a:p>
          <a:p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HHV-1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HSV-1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herpes simplex virus 1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 : provoque l'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Herpès"/>
              </a:rPr>
              <a:t>herpès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buccal, et, de plus en plus, est la cause de l'herpès génital.</a:t>
            </a:r>
          </a:p>
          <a:p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HHV-2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HSV-2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herpes simplex virus 2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 : provoque l'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Herpès génital"/>
              </a:rPr>
              <a:t>herpès génital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- et rarement l'herpès buccal.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Virus varicelle-zona"/>
              </a:rPr>
              <a:t>HHV-3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VZV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varicella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zoster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virus varicelle-zona) : provoque la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Varicelle"/>
              </a:rPr>
              <a:t>varicelle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et le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Zona"/>
              </a:rPr>
              <a:t>zona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Virus d'Epstein-Barr"/>
              </a:rPr>
              <a:t>HHV-4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EBV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Epstein-Barr 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virus d'Epstein-Barr), </a:t>
            </a:r>
            <a:r>
              <a:rPr lang="fr-FR" sz="1200" b="0" i="1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Lymphocryptovirus (page inexistante)"/>
              </a:rPr>
              <a:t>lymphocryptovirus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: provoque la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 tooltip="Mononucléose infectieuse"/>
              </a:rPr>
              <a:t>mononucléose infectieuse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Lymphome de Burkitt"/>
              </a:rPr>
              <a:t>lymphome de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Lymphome de Burkitt"/>
              </a:rPr>
              <a:t>Burkitt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et le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4" tooltip="Carcinome du nasopharynx"/>
              </a:rPr>
              <a:t>carcinome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4" tooltip="Carcinome du nasopharynx"/>
              </a:rPr>
              <a:t>nasopharyngé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5" tooltip="Cytomégalovirus"/>
              </a:rPr>
              <a:t>HHV-5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 CMV (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Cytomegalovirus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 : provoque un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6" tooltip="Syndrome mononucléosique"/>
              </a:rPr>
              <a:t>syndrome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6" tooltip="Syndrome mononucléosique"/>
              </a:rPr>
              <a:t>mononucléosique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dangereux surtout chez l'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 tooltip="Immunodéficience"/>
              </a:rPr>
              <a:t>immunodéprimé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8" tooltip="Herpèsvirus humain type 6"/>
              </a:rPr>
              <a:t>HHV-6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Roseolovirus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: provoque la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9" tooltip="Exanthème subit"/>
              </a:rPr>
              <a:t>roséole infantile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(connu comme 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roseola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infantum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ou 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exanthem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subitum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l'exanthème subit).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0" tooltip="Herpèsvirus humain type 7"/>
              </a:rPr>
              <a:t>HHV-7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: très proche de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HHV-6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; provoque les mêmes symptômes.</a:t>
            </a:r>
          </a:p>
          <a:p>
            <a:r>
              <a:rPr lang="fr-FR" sz="1200" b="0" i="1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1" tooltip="Herpèsvirus humain type 8"/>
              </a:rPr>
              <a:t>HHV-8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 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KSHV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Kaposi's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sarcoma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herpesvirus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: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herpèsvirus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associé au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2" tooltip="Sarcome de Kaposi"/>
              </a:rPr>
              <a:t>sarcome de Kaposi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 </a:t>
            </a:r>
            <a:r>
              <a:rPr lang="fr-FR" sz="1200" b="0" i="1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3" tooltip="Rhadinovirus (page inexistante)"/>
              </a:rPr>
              <a:t>Rhadinovirus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: provoque un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4" tooltip="Lymphome"/>
              </a:rPr>
              <a:t>lymphome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Également associé à la 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5" tooltip="Maladie de Castleman"/>
              </a:rPr>
              <a:t>Maladie de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25" tooltip="Maladie de Castleman"/>
              </a:rPr>
              <a:t>Castleman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DDB88-22A0-4FCF-BABA-54E3A11148B9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DDB88-22A0-4FCF-BABA-54E3A11148B9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mtClean="0"/>
              <a:t>khamayounesabderazak@gmail.com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DDB88-22A0-4FCF-BABA-54E3A11148B9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286B-4E53-48D7-83AF-D9E02F965DCB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B9A2D-5768-49A1-97EE-482CCB922CDB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D78D-4F9B-4153-9157-6DA2205090F2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8CBB-86D4-48B9-8FCF-818519098079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07D01-027E-456D-8CBB-2572934A520F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26D6-6A66-4109-9ABC-F55A9B2EA88B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86F45-D7A7-4703-A18A-A3AEA80CB7F0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8DB3-D4E1-4BAF-9E19-EDD038390C50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5A3-9FAB-48D0-BB27-4FE8CF8BF718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5CEE-2CF0-448A-98E6-9D100536FCA9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0382-CB28-43E9-8CF9-36EB29BCF164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302D57F-21C6-4674-9C9A-10CABD11775A}" type="datetime1">
              <a:rPr lang="fr-FR" smtClean="0"/>
              <a:pPr/>
              <a:t>16/02/2024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82F5BBD-110B-4675-88CD-CE725CCD493A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tura-sciences.com/sante/dossiers/medecine-cycle-medicament-1125/" TargetMode="External"/><Relationship Id="rId2" Type="http://schemas.openxmlformats.org/officeDocument/2006/relationships/hyperlink" Target="https://www.futura-sciences.com/planete/definitions/classification-vivant-champignon-14469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utura-sciences.com/sante/definitions/medecine-mycose-7645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785786" y="2143116"/>
            <a:ext cx="8923338" cy="1828800"/>
          </a:xfrm>
        </p:spPr>
        <p:txBody>
          <a:bodyPr>
            <a:normAutofit/>
          </a:bodyPr>
          <a:lstStyle/>
          <a:p>
            <a:r>
              <a:rPr lang="fr-FR" sz="40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</a:rPr>
              <a:t>Antifongiques-Antiparasitaires-Antiviraux et incidence en odontologie </a:t>
            </a:r>
            <a:endParaRPr lang="fr-FR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Sous-titre 2"/>
          <p:cNvSpPr>
            <a:spLocks noGrp="1"/>
          </p:cNvSpPr>
          <p:nvPr>
            <p:ph type="subTitle" idx="4294967295"/>
          </p:nvPr>
        </p:nvSpPr>
        <p:spPr>
          <a:xfrm>
            <a:off x="571472" y="4857760"/>
            <a:ext cx="7854950" cy="17526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Dr Adda </a:t>
            </a:r>
            <a:r>
              <a:rPr lang="fr-FR" dirty="0" err="1" smtClean="0"/>
              <a:t>abbou</a:t>
            </a:r>
            <a:r>
              <a:rPr lang="fr-FR" dirty="0" smtClean="0"/>
              <a:t> .L</a:t>
            </a:r>
          </a:p>
          <a:p>
            <a:pPr>
              <a:buNone/>
            </a:pPr>
            <a:r>
              <a:rPr lang="fr-FR" dirty="0" smtClean="0"/>
              <a:t>Dr  </a:t>
            </a:r>
            <a:r>
              <a:rPr lang="fr-FR" dirty="0" err="1" smtClean="0"/>
              <a:t>Nekhoul</a:t>
            </a:r>
            <a:r>
              <a:rPr lang="fr-FR" dirty="0" smtClean="0"/>
              <a:t>. K 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3000364" y="6143644"/>
            <a:ext cx="327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Année universitaire </a:t>
            </a:r>
            <a:r>
              <a:rPr lang="fr-FR" dirty="0" smtClean="0"/>
              <a:t>2023 </a:t>
            </a:r>
            <a:r>
              <a:rPr lang="fr-FR" dirty="0" smtClean="0"/>
              <a:t>- </a:t>
            </a:r>
            <a:r>
              <a:rPr lang="fr-FR" dirty="0" smtClean="0"/>
              <a:t>2024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000100" y="500042"/>
            <a:ext cx="7500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+mj-lt"/>
              </a:rPr>
              <a:t>Faculté de Médecine d’Alger</a:t>
            </a:r>
          </a:p>
          <a:p>
            <a:pPr algn="ctr"/>
            <a:r>
              <a:rPr lang="fr-FR" b="1" dirty="0" smtClean="0">
                <a:latin typeface="+mj-lt"/>
              </a:rPr>
              <a:t>Département de médecine dentaire </a:t>
            </a:r>
          </a:p>
          <a:p>
            <a:pPr algn="ctr"/>
            <a:r>
              <a:rPr lang="fr-FR" b="1" dirty="0" smtClean="0">
                <a:latin typeface="+mj-lt"/>
              </a:rPr>
              <a:t>Laboratoire de Pharmacologie</a:t>
            </a:r>
          </a:p>
          <a:p>
            <a:pPr algn="ctr"/>
            <a:endParaRPr lang="fr-FR" b="1" dirty="0" smtClean="0">
              <a:latin typeface="+mj-lt"/>
            </a:endParaRPr>
          </a:p>
          <a:p>
            <a:pPr algn="ctr"/>
            <a:r>
              <a:rPr lang="fr-FR" b="1" dirty="0" smtClean="0">
                <a:latin typeface="+mj-lt"/>
              </a:rPr>
              <a:t> 3° année Médecine Dentaire</a:t>
            </a:r>
          </a:p>
          <a:p>
            <a:endParaRPr lang="fr-FR" dirty="0">
              <a:latin typeface="+mj-lt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6764" y="134748"/>
            <a:ext cx="7886700" cy="1325563"/>
          </a:xfrm>
        </p:spPr>
        <p:txBody>
          <a:bodyPr/>
          <a:lstStyle/>
          <a:p>
            <a:pPr algn="ctr"/>
            <a:r>
              <a:rPr lang="fr-FR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5659" y="1460311"/>
            <a:ext cx="8536675" cy="500872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Les anti-infectieux :</a:t>
            </a:r>
          </a:p>
          <a:p>
            <a:pPr marL="0" indent="0">
              <a:buNone/>
            </a:pPr>
            <a:endParaRPr lang="fr-FR" sz="8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fr-FR" dirty="0" smtClean="0"/>
              <a:t>C’est des médicaments destinés </a:t>
            </a:r>
            <a:r>
              <a:rPr lang="fr-FR" dirty="0"/>
              <a:t>à soigner les </a:t>
            </a:r>
            <a:r>
              <a:rPr lang="fr-FR" dirty="0" smtClean="0"/>
              <a:t>infections, c'est-à-dire </a:t>
            </a:r>
            <a:r>
              <a:rPr lang="fr-FR" dirty="0"/>
              <a:t>qu'ils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luttent contre les infections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microbiennes </a:t>
            </a:r>
            <a:r>
              <a:rPr lang="fr-FR" dirty="0" smtClean="0"/>
              <a:t>(bactéries, virus, parasites…).</a:t>
            </a:r>
            <a:endParaRPr lang="fr-FR" dirty="0"/>
          </a:p>
          <a:p>
            <a:endParaRPr lang="fr-FR" sz="800" dirty="0"/>
          </a:p>
          <a:p>
            <a:r>
              <a:rPr lang="fr-FR" dirty="0" smtClean="0"/>
              <a:t>On distingue :</a:t>
            </a:r>
          </a:p>
          <a:p>
            <a:pPr marL="0" indent="0">
              <a:buNone/>
            </a:pPr>
            <a:endParaRPr lang="fr-FR" sz="8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 smtClean="0"/>
              <a:t>Les </a:t>
            </a:r>
            <a:r>
              <a:rPr lang="fr-FR" sz="2800" dirty="0"/>
              <a:t>antibiotiques, </a:t>
            </a:r>
            <a:endParaRPr lang="fr-FR" sz="28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 smtClean="0"/>
              <a:t>Les antiseptiques,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 smtClean="0"/>
              <a:t>Les antifongiques,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 smtClean="0"/>
              <a:t>Les antiparasitaires,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 smtClean="0"/>
              <a:t>Les antiviraux, 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19275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1785926"/>
            <a:ext cx="8229600" cy="9184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Les mycoses 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143116"/>
            <a:ext cx="8229600" cy="410336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fr-FR" dirty="0" smtClean="0"/>
          </a:p>
          <a:p>
            <a:pPr algn="just"/>
            <a:r>
              <a:rPr lang="fr-FR" sz="3000" dirty="0" smtClean="0"/>
              <a:t>Les mycoses (ou infections fongiques) sont des maladies infectieuses provoquées par des champignons microscopiques.</a:t>
            </a:r>
          </a:p>
          <a:p>
            <a:pPr algn="just"/>
            <a:r>
              <a:rPr lang="fr-FR" sz="3000" dirty="0" smtClean="0"/>
              <a:t>Les infections fongiques (mycoses), ne sont pas aussi fréquentes que les infections bactériennes ou virales ; cependant leur incidence n’a pas cessé d’augmenter au cours des 20 dernières années, ceci est du aux plus grands nombre des patients immunodéprimés (Cancéreux, greffés, patient atteints de SIDA).</a:t>
            </a:r>
          </a:p>
          <a:p>
            <a:pPr algn="just">
              <a:buNone/>
            </a:pPr>
            <a:endParaRPr lang="fr-FR" sz="3000" dirty="0" smtClean="0"/>
          </a:p>
          <a:p>
            <a:pPr>
              <a:buNone/>
            </a:pPr>
            <a:endParaRPr lang="fr-FR" sz="3000" dirty="0" smtClean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4757742" cy="438912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fr-FR" dirty="0" smtClean="0"/>
              <a:t>C’est des infections fongiques touchant la bouche </a:t>
            </a:r>
          </a:p>
          <a:p>
            <a:pPr algn="just"/>
            <a:r>
              <a:rPr lang="fr-FR" dirty="0" smtClean="0"/>
              <a:t>Les mycoses buccales les plus fréquentes sont les </a:t>
            </a:r>
            <a:r>
              <a:rPr lang="fr-FR" b="1" dirty="0" smtClean="0"/>
              <a:t>candidoses (muguet buccal)</a:t>
            </a:r>
            <a:r>
              <a:rPr lang="fr-FR" dirty="0" smtClean="0"/>
              <a:t>, La principale espèce de levure est le Candida, dont  l’agent pathogène le plus retrouvé est le </a:t>
            </a:r>
            <a:r>
              <a:rPr lang="fr-FR" b="1" i="1" dirty="0" smtClean="0"/>
              <a:t>Candida </a:t>
            </a:r>
            <a:r>
              <a:rPr lang="fr-FR" b="1" i="1" dirty="0" err="1" smtClean="0"/>
              <a:t>Albicans</a:t>
            </a:r>
            <a:endParaRPr lang="fr-FR" dirty="0" smtClean="0"/>
          </a:p>
          <a:p>
            <a:pPr algn="just"/>
            <a:r>
              <a:rPr lang="fr-FR" dirty="0" smtClean="0"/>
              <a:t>Les Candida sont saprophytes du tube digestif, muqueuses et peau et colonisent la flore buccale de la majorité des sujets sains. </a:t>
            </a:r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8596" y="1357298"/>
            <a:ext cx="8229600" cy="918418"/>
          </a:xfrm>
          <a:prstGeom prst="rect">
            <a:avLst/>
          </a:prstGeom>
        </p:spPr>
        <p:txBody>
          <a:bodyPr vert="horz" lIns="0" rIns="0" bIns="0" anchor="b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Les mycoses buccales</a:t>
            </a:r>
            <a:r>
              <a:rPr kumimoji="0" lang="fr-FR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br>
              <a:rPr kumimoji="0" lang="fr-FR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643174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Résultat de recherche d'images pour &quot;perleche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2071678"/>
            <a:ext cx="3119421" cy="121444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929322" y="3357562"/>
            <a:ext cx="2928958" cy="50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Perlèche </a:t>
            </a:r>
            <a:endParaRPr lang="fr-FR" dirty="0"/>
          </a:p>
        </p:txBody>
      </p:sp>
      <p:pic>
        <p:nvPicPr>
          <p:cNvPr id="1028" name="Picture 4" descr="Résultat de recherche d'images pour &quot;muguet buccal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4000504"/>
            <a:ext cx="1714512" cy="1000132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5286380" y="5072074"/>
            <a:ext cx="1785950" cy="50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Muguet  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44" y="4000504"/>
            <a:ext cx="1677097" cy="17457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58050" y="5929330"/>
            <a:ext cx="1571668" cy="50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Langue noire  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428596" y="1357298"/>
            <a:ext cx="8229600" cy="918418"/>
          </a:xfrm>
          <a:prstGeom prst="rect">
            <a:avLst/>
          </a:prstGeom>
        </p:spPr>
        <p:txBody>
          <a:bodyPr vert="horz" lIns="0" rIns="0" bIns="0" anchor="b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Les mycoses buccales</a:t>
            </a:r>
            <a:r>
              <a:rPr kumimoji="0" lang="fr-FR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br>
              <a:rPr kumimoji="0" lang="fr-FR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643174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Espace réservé du contenu 12"/>
          <p:cNvSpPr>
            <a:spLocks noGrp="1"/>
          </p:cNvSpPr>
          <p:nvPr>
            <p:ph idx="1"/>
          </p:nvPr>
        </p:nvSpPr>
        <p:spPr>
          <a:xfrm>
            <a:off x="428596" y="1643050"/>
            <a:ext cx="8115328" cy="4389120"/>
          </a:xfrm>
        </p:spPr>
        <p:txBody>
          <a:bodyPr>
            <a:normAutofit fontScale="85000" lnSpcReduction="20000"/>
          </a:bodyPr>
          <a:lstStyle/>
          <a:p>
            <a:endParaRPr lang="fr-FR" i="1" dirty="0" smtClean="0"/>
          </a:p>
          <a:p>
            <a:pPr algn="ctr">
              <a:buNone/>
            </a:pPr>
            <a:r>
              <a:rPr lang="fr-FR" i="1" dirty="0" smtClean="0">
                <a:solidFill>
                  <a:schemeClr val="accent3">
                    <a:lumMod val="75000"/>
                  </a:schemeClr>
                </a:solidFill>
              </a:rPr>
              <a:t>Facteurs favorisant la conversion de Candida </a:t>
            </a:r>
            <a:r>
              <a:rPr lang="fr-FR" i="1" dirty="0" err="1" smtClean="0">
                <a:solidFill>
                  <a:schemeClr val="accent3">
                    <a:lumMod val="75000"/>
                  </a:schemeClr>
                </a:solidFill>
              </a:rPr>
              <a:t>albicans</a:t>
            </a:r>
            <a:r>
              <a:rPr lang="fr-FR" i="1" dirty="0" smtClean="0">
                <a:solidFill>
                  <a:schemeClr val="accent3">
                    <a:lumMod val="75000"/>
                  </a:schemeClr>
                </a:solidFill>
              </a:rPr>
              <a:t> saprophyte de la cavité buccale en une forme pathogène  :</a:t>
            </a:r>
          </a:p>
          <a:p>
            <a:pPr algn="just">
              <a:buFont typeface="Arial" pitchFamily="34" charset="0"/>
              <a:buChar char="•"/>
            </a:pPr>
            <a:r>
              <a:rPr lang="fr-FR" i="1" dirty="0" smtClean="0"/>
              <a:t>Facteur locaux :</a:t>
            </a:r>
            <a:r>
              <a:rPr lang="fr-FR" dirty="0" smtClean="0"/>
              <a:t> port prolongé d'appareils </a:t>
            </a:r>
            <a:r>
              <a:rPr lang="fr-FR" dirty="0" err="1" smtClean="0"/>
              <a:t>orthodontiques</a:t>
            </a:r>
            <a:r>
              <a:rPr lang="fr-FR" dirty="0" smtClean="0"/>
              <a:t> ou prosthétiques, mauvaise hygiène buccodentaire, sécheresse de la bouche</a:t>
            </a:r>
          </a:p>
          <a:p>
            <a:pPr algn="just">
              <a:buFont typeface="Arial" pitchFamily="34" charset="0"/>
              <a:buChar char="•"/>
            </a:pPr>
            <a:r>
              <a:rPr lang="fr-FR" i="1" dirty="0" smtClean="0"/>
              <a:t>Facteurs systémiques :</a:t>
            </a:r>
            <a:r>
              <a:rPr lang="fr-FR" dirty="0" smtClean="0"/>
              <a:t> </a:t>
            </a:r>
            <a:r>
              <a:rPr lang="fr-FR" dirty="0" err="1" smtClean="0"/>
              <a:t>immunovulnérabilité</a:t>
            </a:r>
            <a:r>
              <a:rPr lang="fr-FR" dirty="0" smtClean="0"/>
              <a:t> (p. ex. syndrome de </a:t>
            </a:r>
            <a:r>
              <a:rPr lang="fr-FR" dirty="0" err="1" smtClean="0"/>
              <a:t>Sjögren</a:t>
            </a:r>
            <a:r>
              <a:rPr lang="fr-FR" dirty="0" smtClean="0"/>
              <a:t>, sida, diabète sucré non contrôlé, autres troubles endocrinien, malnutrition ou malabsorption [p. ex. carence en vitamine B])</a:t>
            </a:r>
          </a:p>
          <a:p>
            <a:pPr algn="just">
              <a:buFont typeface="Arial" pitchFamily="34" charset="0"/>
              <a:buChar char="•"/>
            </a:pPr>
            <a:r>
              <a:rPr lang="fr-FR" i="1" dirty="0" smtClean="0"/>
              <a:t>Effets secondaires liés à la médication : </a:t>
            </a:r>
            <a:r>
              <a:rPr lang="fr-FR" dirty="0" smtClean="0"/>
              <a:t>antibiothérapie à large spectre d'action récemment complétée, utilisation systémique ou localisé de corticostéroïdes (p. ex. inhalateur contre l'asthme), traitement antirejet après une greffe d'organe, chimiothérapie</a:t>
            </a:r>
          </a:p>
          <a:p>
            <a:pPr algn="just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643174" y="35716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Décagone 5"/>
          <p:cNvSpPr/>
          <p:nvPr/>
        </p:nvSpPr>
        <p:spPr>
          <a:xfrm>
            <a:off x="928662" y="2071678"/>
            <a:ext cx="3429024" cy="3071834"/>
          </a:xfrm>
          <a:prstGeom prst="decag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u="sng" dirty="0" smtClean="0">
                <a:solidFill>
                  <a:schemeClr val="tx1"/>
                </a:solidFill>
              </a:rPr>
              <a:t>Traitement  locale  </a:t>
            </a:r>
            <a:r>
              <a:rPr lang="fr-FR" dirty="0" smtClean="0">
                <a:solidFill>
                  <a:schemeClr val="tx1"/>
                </a:solidFill>
              </a:rPr>
              <a:t>sous forme de gel, 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suspension buvable, bain de bouche ou pastille. </a:t>
            </a:r>
          </a:p>
          <a:p>
            <a:pPr algn="ctr"/>
            <a:endParaRPr lang="fr-FR" dirty="0"/>
          </a:p>
        </p:txBody>
      </p:sp>
      <p:sp>
        <p:nvSpPr>
          <p:cNvPr id="7" name="Décagone 6"/>
          <p:cNvSpPr/>
          <p:nvPr/>
        </p:nvSpPr>
        <p:spPr>
          <a:xfrm>
            <a:off x="5143504" y="2071678"/>
            <a:ext cx="3643338" cy="3143272"/>
          </a:xfrm>
          <a:prstGeom prst="dec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i="1" u="sng" dirty="0" smtClean="0">
              <a:solidFill>
                <a:schemeClr val="tx1"/>
              </a:solidFill>
            </a:endParaRPr>
          </a:p>
          <a:p>
            <a:pPr algn="ctr"/>
            <a:r>
              <a:rPr lang="fr-FR" b="1" i="1" u="sng" dirty="0" smtClean="0">
                <a:solidFill>
                  <a:schemeClr val="tx1"/>
                </a:solidFill>
              </a:rPr>
              <a:t>Traitement systémique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L</a:t>
            </a:r>
            <a:r>
              <a:rPr lang="fr-FR" dirty="0" smtClean="0">
                <a:solidFill>
                  <a:schemeClr val="tx1"/>
                </a:solidFill>
              </a:rPr>
              <a:t>ésions muqueuses étendues, inaccessible au traitement local, qui surviennent dans un 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contexte de déficit immunitaire génétique ou acquis. </a:t>
            </a:r>
          </a:p>
          <a:p>
            <a:pPr algn="ctr"/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071538" y="1071546"/>
            <a:ext cx="7000924" cy="9286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Les antifongiques (ou antifungiques) tirent leur nom du latin </a:t>
            </a:r>
            <a:r>
              <a:rPr lang="fr-FR" i="1" dirty="0" err="1" smtClean="0"/>
              <a:t>fungus</a:t>
            </a:r>
            <a:r>
              <a:rPr lang="fr-FR" dirty="0" smtClean="0"/>
              <a:t> qui signifie </a:t>
            </a:r>
            <a:r>
              <a:rPr lang="fr-FR" i="1" dirty="0" smtClean="0">
                <a:hlinkClick r:id="rId2"/>
              </a:rPr>
              <a:t>champignons</a:t>
            </a:r>
            <a:r>
              <a:rPr lang="fr-FR" dirty="0" smtClean="0"/>
              <a:t>. Ce sont donc des </a:t>
            </a:r>
            <a:r>
              <a:rPr lang="fr-FR" dirty="0" smtClean="0">
                <a:hlinkClick r:id="rId3" tooltip="Dossier : le cycle des médicaments"/>
              </a:rPr>
              <a:t>médicaments</a:t>
            </a:r>
            <a:r>
              <a:rPr lang="fr-FR" dirty="0" smtClean="0"/>
              <a:t> capables de traiter les </a:t>
            </a:r>
            <a:r>
              <a:rPr lang="fr-FR" dirty="0" smtClean="0">
                <a:hlinkClick r:id="rId4"/>
              </a:rPr>
              <a:t>mycoses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142876" y="5429264"/>
            <a:ext cx="878684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b="1" dirty="0" smtClean="0"/>
              <a:t>En complément</a:t>
            </a:r>
            <a:r>
              <a:rPr lang="fr-FR" dirty="0" smtClean="0"/>
              <a:t>, des bains de bouche, à base de Bétadine </a:t>
            </a:r>
            <a:r>
              <a:rPr lang="fr-FR" dirty="0" smtClean="0"/>
              <a:t>ORL( verte),</a:t>
            </a:r>
            <a:r>
              <a:rPr lang="fr-FR" dirty="0" smtClean="0"/>
              <a:t>  </a:t>
            </a:r>
            <a:r>
              <a:rPr lang="fr-FR" dirty="0" err="1" smtClean="0"/>
              <a:t>chlorhexidine</a:t>
            </a:r>
            <a:r>
              <a:rPr lang="fr-FR" dirty="0" smtClean="0"/>
              <a:t>  ou de </a:t>
            </a:r>
            <a:r>
              <a:rPr lang="fr-FR" dirty="0" err="1" smtClean="0"/>
              <a:t>bircarbonate</a:t>
            </a:r>
            <a:r>
              <a:rPr lang="fr-FR" dirty="0" smtClean="0"/>
              <a:t> de sodium dilué dans de l'eau. 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071678"/>
            <a:ext cx="55149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à coins arrondis 1"/>
          <p:cNvSpPr/>
          <p:nvPr/>
        </p:nvSpPr>
        <p:spPr>
          <a:xfrm>
            <a:off x="2643174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00232" y="1857364"/>
            <a:ext cx="5500726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Deux familles principales utilisées en Odontologie </a:t>
            </a:r>
            <a:endParaRPr lang="fr-FR" dirty="0"/>
          </a:p>
        </p:txBody>
      </p:sp>
      <p:sp>
        <p:nvSpPr>
          <p:cNvPr id="8" name="Accolade ouvrante 7"/>
          <p:cNvSpPr/>
          <p:nvPr/>
        </p:nvSpPr>
        <p:spPr>
          <a:xfrm>
            <a:off x="428596" y="5429264"/>
            <a:ext cx="714380" cy="11430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42910" y="5572140"/>
            <a:ext cx="35719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Amphotérecine</a:t>
            </a:r>
            <a:r>
              <a:rPr lang="fr-FR" dirty="0" smtClean="0">
                <a:solidFill>
                  <a:schemeClr val="tx1"/>
                </a:solidFill>
              </a:rPr>
              <a:t> B (</a:t>
            </a:r>
            <a:r>
              <a:rPr lang="fr-FR" dirty="0" err="1" smtClean="0">
                <a:solidFill>
                  <a:schemeClr val="tx1"/>
                </a:solidFill>
              </a:rPr>
              <a:t>Fungizone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Nystatine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Mycostatine</a:t>
            </a:r>
            <a:r>
              <a:rPr lang="fr-FR" dirty="0" smtClean="0">
                <a:solidFill>
                  <a:schemeClr val="tx1"/>
                </a:solidFill>
              </a:rPr>
              <a:t>®)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Accolade ouvrante 12"/>
          <p:cNvSpPr/>
          <p:nvPr/>
        </p:nvSpPr>
        <p:spPr>
          <a:xfrm>
            <a:off x="4643438" y="5357826"/>
            <a:ext cx="714380" cy="11430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072066" y="5429264"/>
            <a:ext cx="24463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/>
              <a:t>Miconazole</a:t>
            </a:r>
            <a:r>
              <a:rPr lang="fr-FR" dirty="0" smtClean="0"/>
              <a:t> (</a:t>
            </a:r>
            <a:r>
              <a:rPr lang="fr-FR" dirty="0" err="1" smtClean="0"/>
              <a:t>Daktarin</a:t>
            </a:r>
            <a:r>
              <a:rPr lang="fr-FR" dirty="0" smtClean="0"/>
              <a:t>)</a:t>
            </a:r>
          </a:p>
          <a:p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5072066" y="578645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 smtClean="0"/>
              <a:t>Kétoconazole</a:t>
            </a:r>
            <a:r>
              <a:rPr lang="fr-FR" dirty="0" smtClean="0"/>
              <a:t> et </a:t>
            </a:r>
            <a:r>
              <a:rPr lang="fr-FR" dirty="0" err="1" smtClean="0"/>
              <a:t>Fluconazole</a:t>
            </a:r>
            <a:r>
              <a:rPr lang="fr-FR" dirty="0"/>
              <a:t> 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142976" y="4929198"/>
            <a:ext cx="156145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b="1" dirty="0" smtClean="0"/>
              <a:t>Les </a:t>
            </a:r>
            <a:r>
              <a:rPr lang="fr-FR" b="1" dirty="0" err="1" smtClean="0"/>
              <a:t>polyènes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6286512" y="5072074"/>
            <a:ext cx="13302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b="1" i="1" dirty="0" smtClean="0"/>
              <a:t>Les </a:t>
            </a:r>
            <a:r>
              <a:rPr lang="fr-FR" b="1" i="1" dirty="0" err="1" smtClean="0"/>
              <a:t>azolés</a:t>
            </a:r>
            <a:r>
              <a:rPr lang="fr-FR" b="1" i="1" dirty="0" smtClean="0"/>
              <a:t>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2571736" y="571480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786" y="1857364"/>
            <a:ext cx="7072362" cy="3786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643050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Localement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on prescrit à titre d’exemple :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amphotéricine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Fungizone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®, 2 g/j, quatre à six applications par jour pendant 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jours ;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miconazole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Daktarin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®, 2 cuillères mesures quatre fois par jour pendant  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jours.</a:t>
            </a:r>
          </a:p>
          <a:p>
            <a:pPr algn="just"/>
            <a:r>
              <a:rPr lang="fr-FR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prescription :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fluconazole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Triflucan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®, de 50 à 100 mg par jour pendant 1 à 2 semaines ;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miconazole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Daktarin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®, 2 comprimés à 125 mg quatre fois par jour pendant 10 jours 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kétoconazole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Nizoral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®, 1 comprimé à 200 mg par jour ;</a:t>
            </a:r>
          </a:p>
          <a:p>
            <a:pPr lvl="1" algn="just"/>
            <a:r>
              <a:rPr lang="fr-FR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amphotéricine</a:t>
            </a:r>
            <a:r>
              <a:rPr lang="fr-F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 1,5 g à 2 g par jour en deux à trois prises.</a:t>
            </a:r>
          </a:p>
          <a:p>
            <a:pPr algn="just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8596" y="1214422"/>
            <a:ext cx="385765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Trt</a:t>
            </a:r>
            <a:r>
              <a:rPr lang="fr-FR" dirty="0" smtClean="0"/>
              <a:t> pharmacologique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357158" y="4857760"/>
            <a:ext cx="8572560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Rappeler aux patients qu'ils doivent :</a:t>
            </a:r>
          </a:p>
          <a:p>
            <a:pPr lvl="1"/>
            <a:r>
              <a:rPr lang="fr-FR" b="1" dirty="0" smtClean="0">
                <a:solidFill>
                  <a:schemeClr val="bg1"/>
                </a:solidFill>
              </a:rPr>
              <a:t>-Éviter de consommer de la nourriture ou des liquides dans les 30 minutes suivant l'application du traitement topique/ appliquer  </a:t>
            </a:r>
            <a:r>
              <a:rPr lang="fr-FR" b="1" dirty="0" err="1" smtClean="0">
                <a:solidFill>
                  <a:schemeClr val="bg1"/>
                </a:solidFill>
              </a:rPr>
              <a:t>trt</a:t>
            </a:r>
            <a:r>
              <a:rPr lang="fr-FR" b="1" dirty="0" smtClean="0">
                <a:solidFill>
                  <a:schemeClr val="bg1"/>
                </a:solidFill>
              </a:rPr>
              <a:t> </a:t>
            </a:r>
            <a:r>
              <a:rPr lang="fr-FR" b="1" dirty="0" err="1" smtClean="0">
                <a:solidFill>
                  <a:schemeClr val="bg1"/>
                </a:solidFill>
              </a:rPr>
              <a:t>ap</a:t>
            </a:r>
            <a:r>
              <a:rPr lang="fr-FR" b="1" dirty="0" smtClean="0">
                <a:solidFill>
                  <a:schemeClr val="bg1"/>
                </a:solidFill>
              </a:rPr>
              <a:t> les repas </a:t>
            </a:r>
          </a:p>
          <a:p>
            <a:pPr lvl="1"/>
            <a:r>
              <a:rPr lang="fr-FR" b="1" dirty="0" smtClean="0">
                <a:solidFill>
                  <a:schemeClr val="bg1"/>
                </a:solidFill>
              </a:rPr>
              <a:t>-Enlever </a:t>
            </a:r>
            <a:r>
              <a:rPr lang="fr-FR" b="1" dirty="0" err="1" smtClean="0">
                <a:solidFill>
                  <a:schemeClr val="bg1"/>
                </a:solidFill>
              </a:rPr>
              <a:t>lesprothèse</a:t>
            </a:r>
            <a:r>
              <a:rPr lang="fr-FR" b="1" dirty="0" smtClean="0">
                <a:solidFill>
                  <a:schemeClr val="bg1"/>
                </a:solidFill>
              </a:rPr>
              <a:t> avant l'administration du traitement local, </a:t>
            </a:r>
            <a:r>
              <a:rPr lang="fr-FR" b="1" dirty="0" smtClean="0"/>
              <a:t>Appliquer une mince couche sur le côté de la prothèse en contact avec les tissus buccaux ainsi que sur la muqueuse buccale infectée.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857364"/>
            <a:ext cx="8286808" cy="3857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 err="1" smtClean="0">
              <a:solidFill>
                <a:schemeClr val="accent1"/>
              </a:solidFill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2643174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20" y="1643050"/>
            <a:ext cx="864399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i="1" dirty="0" smtClean="0"/>
              <a:t>L'objectif est d'éliminer ou de rectifier les étiologies  contribuant au problème, afin d'améliorer le résultat thérapeutique et de réduire la probabilité de réapparition de la candidose.</a:t>
            </a:r>
            <a:endParaRPr lang="fr-FR" dirty="0" smtClean="0"/>
          </a:p>
          <a:p>
            <a:pPr algn="just"/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Patients portant une prothèse dentaire</a:t>
            </a:r>
            <a:r>
              <a:rPr lang="fr-FR" dirty="0" smtClean="0"/>
              <a:t> : Nettoyer la prothèse et éviter de la porter la nuit. Faire tremper la prothèse dans une solution diluée d'eau de javel ou de gluconate de </a:t>
            </a:r>
            <a:r>
              <a:rPr lang="fr-FR" dirty="0" err="1" smtClean="0"/>
              <a:t>chlorhexidine</a:t>
            </a:r>
            <a:r>
              <a:rPr lang="fr-FR" dirty="0" smtClean="0"/>
              <a:t> 0,12 %. Bien rincer avant de porter la prothèse dentaire.</a:t>
            </a:r>
          </a:p>
          <a:p>
            <a:pPr algn="just"/>
            <a:r>
              <a:rPr lang="fr-FR" b="1" i="1" dirty="0" smtClean="0">
                <a:solidFill>
                  <a:srgbClr val="FF0000"/>
                </a:solidFill>
              </a:rPr>
              <a:t>!! La couleur de la prothèse pourrait être altérée</a:t>
            </a:r>
            <a:r>
              <a:rPr lang="fr-FR" i="1" dirty="0" smtClean="0"/>
              <a:t>.</a:t>
            </a:r>
          </a:p>
          <a:p>
            <a:pPr algn="just"/>
            <a:endParaRPr lang="fr-FR" dirty="0" smtClean="0"/>
          </a:p>
          <a:p>
            <a:pPr algn="just"/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Patients souffrant de sécheresse de la bouche : </a:t>
            </a:r>
            <a:r>
              <a:rPr lang="fr-FR" dirty="0" smtClean="0"/>
              <a:t>Assurer une hydratation adéquate et mâcher de la gomme avec </a:t>
            </a:r>
            <a:r>
              <a:rPr lang="fr-FR" dirty="0" err="1" smtClean="0"/>
              <a:t>xylitol</a:t>
            </a:r>
            <a:r>
              <a:rPr lang="fr-FR" dirty="0" smtClean="0"/>
              <a:t> afin d'améliorer la sécrétion salivaire.</a:t>
            </a:r>
          </a:p>
          <a:p>
            <a:pPr algn="just"/>
            <a:endParaRPr lang="fr-FR" b="1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Patients souffrant de perlèche </a:t>
            </a:r>
            <a:r>
              <a:rPr lang="fr-FR" dirty="0" smtClean="0"/>
              <a:t>: Éviter de lécher les lésions pour ne pas les surinfecter de bactéries salivaires. Jeter les baumes à lèvres et rouges à lèvres utilisés par le patient afin d'éviter la </a:t>
            </a:r>
            <a:r>
              <a:rPr lang="fr-FR" dirty="0" err="1" smtClean="0"/>
              <a:t>réinoculation</a:t>
            </a:r>
            <a:r>
              <a:rPr lang="fr-FR" dirty="0" smtClean="0"/>
              <a:t> de l'agent infectieux.</a:t>
            </a:r>
          </a:p>
          <a:p>
            <a:pPr algn="just"/>
            <a:endParaRPr lang="fr-FR" dirty="0" smtClean="0"/>
          </a:p>
          <a:p>
            <a:pPr algn="just"/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Patients utilisant des inhalateurs stéroïdiens </a:t>
            </a:r>
            <a:r>
              <a:rPr lang="fr-FR" dirty="0" smtClean="0"/>
              <a:t>: Brosser et rincer le palais après chaque utilisation de l'inhalateur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14282" y="1285860"/>
            <a:ext cx="492922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Prise en charge non pharmacologique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857364"/>
            <a:ext cx="8286808" cy="3857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 err="1" smtClean="0">
              <a:solidFill>
                <a:schemeClr val="accent1"/>
              </a:solidFill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2643174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antifongiques 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87244"/>
            <a:ext cx="842965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 / EII : </a:t>
            </a: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Dérivés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azolés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avec CYP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inhibiteurs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CYP2C19, CYP2C9 et CYP3A4 ):</a:t>
            </a:r>
          </a:p>
          <a:p>
            <a:pPr lvl="1"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-contre-indiqués: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terfénadine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,,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quinidine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alcaloïdes de l’ergot,</a:t>
            </a:r>
          </a:p>
          <a:p>
            <a:pPr lvl="1"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-surveillance étroite : ciclosporine,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tacrolimus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anticoagulants oraux (AVK), sulfamides hypoglycémiants,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rifampycine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sildénafil</a:t>
            </a:r>
          </a:p>
          <a:p>
            <a:pPr lvl="1"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-adaptation de posologie : statines,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benzodiazépines, AVK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kétoconazole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fluconazole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sont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tératogènes</a:t>
            </a:r>
            <a:r>
              <a:rPr lang="fr-F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 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kétoconazole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hépatotoxique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amphotéricine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 présente une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grande toxicité par voie systémique 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néphrotoxicité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anémie, fièvres, frissons, nausées, vomissements, hypotension, arythmies, … voilà pourquoi elle est réservée aux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mycoses graves et systémiques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fr-FR" sz="2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1785926"/>
            <a:ext cx="8229600" cy="9184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L’Herpes virus  :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2214554"/>
            <a:ext cx="8229600" cy="4389120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/>
              <a:t>La famille des herpès virus est composée de 8 types différents dont deux  à manifestations buccale ; c’est  l'</a:t>
            </a:r>
            <a:r>
              <a:rPr lang="fr-FR" b="1" dirty="0" smtClean="0"/>
              <a:t>herpès simplex de type 1</a:t>
            </a:r>
            <a:r>
              <a:rPr lang="fr-FR" dirty="0" smtClean="0"/>
              <a:t> (VHS-1) et dans de plus  rares cas, l’herpès simplex de type 2 (VHS-2). </a:t>
            </a:r>
          </a:p>
          <a:p>
            <a:pPr algn="just"/>
            <a:r>
              <a:rPr lang="fr-FR" dirty="0" smtClean="0"/>
              <a:t>Il se manifeste par l'apparition d’un bouquet de vésicules douloureuses, le plus souvent sur et autour des lèvres  avec parfois des lésions buccale </a:t>
            </a:r>
          </a:p>
          <a:p>
            <a:pPr algn="just"/>
            <a:r>
              <a:rPr lang="fr-FR" dirty="0" smtClean="0"/>
              <a:t>L’HSV se transmet par </a:t>
            </a:r>
            <a:r>
              <a:rPr lang="fr-FR" b="1" dirty="0" smtClean="0"/>
              <a:t>contact direct </a:t>
            </a:r>
            <a:r>
              <a:rPr lang="fr-FR" dirty="0" smtClean="0"/>
              <a:t>muqueux ou </a:t>
            </a:r>
            <a:r>
              <a:rPr lang="fr-FR" dirty="0" err="1" smtClean="0"/>
              <a:t>cutanéo</a:t>
            </a:r>
            <a:r>
              <a:rPr lang="fr-FR" dirty="0" smtClean="0"/>
              <a:t>-muqueux.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 descr="Résultat de recherche d'images pour &quot;herpes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95393" y="-24"/>
            <a:ext cx="2548639" cy="2043085"/>
          </a:xfrm>
          <a:prstGeom prst="rect">
            <a:avLst/>
          </a:prstGeom>
          <a:noFill/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571736" y="428604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57200" y="1285860"/>
            <a:ext cx="8472518" cy="48958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fr-FR" b="1" dirty="0" smtClean="0"/>
              <a:t> </a:t>
            </a:r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primo infection ( labial ++/ buccal)  possible   réactivation :</a:t>
            </a:r>
          </a:p>
          <a:p>
            <a:pPr algn="just"/>
            <a:r>
              <a:rPr lang="fr-FR" b="1" dirty="0" smtClean="0"/>
              <a:t> la </a:t>
            </a:r>
            <a:r>
              <a:rPr lang="fr-FR" b="1" dirty="0" err="1" smtClean="0"/>
              <a:t>gingivostomatite</a:t>
            </a:r>
            <a:r>
              <a:rPr lang="fr-FR" b="1" dirty="0" smtClean="0"/>
              <a:t> herpétique  ( primo infection en </a:t>
            </a:r>
            <a:r>
              <a:rPr lang="fr-FR" b="1" dirty="0" err="1" smtClean="0"/>
              <a:t>gle</a:t>
            </a:r>
            <a:r>
              <a:rPr lang="fr-FR" b="1" dirty="0" smtClean="0"/>
              <a:t> ) enfants de moins de 6 ans</a:t>
            </a:r>
          </a:p>
          <a:p>
            <a:pPr algn="just"/>
            <a:r>
              <a:rPr lang="fr-FR" b="1" dirty="0" smtClean="0"/>
              <a:t>herpès labial (HL) récidivant</a:t>
            </a:r>
            <a:endParaRPr lang="fr-FR" dirty="0" smtClean="0"/>
          </a:p>
          <a:p>
            <a:pPr lvl="1" algn="just"/>
            <a:r>
              <a:rPr lang="fr-FR" dirty="0" smtClean="0"/>
              <a:t>Plus fréquent chez les personnes en bonne santé</a:t>
            </a:r>
          </a:p>
          <a:p>
            <a:pPr lvl="1" algn="just"/>
            <a:r>
              <a:rPr lang="fr-FR" dirty="0" smtClean="0"/>
              <a:t>Touche des gens de tous âges, des adolescents aux personnes âgées</a:t>
            </a:r>
          </a:p>
          <a:p>
            <a:pPr lvl="1" algn="just"/>
            <a:r>
              <a:rPr lang="fr-FR" dirty="0" smtClean="0"/>
              <a:t>Facteurs déclenchant courants : exposition à la lumière UV, stress physique ou émotif, maladies des voies respiratoires supérieures, temps froid, changements hormonaux et traumatismes buccaux ou labiaux</a:t>
            </a:r>
          </a:p>
          <a:p>
            <a:pPr algn="just"/>
            <a:r>
              <a:rPr lang="fr-FR" b="1" dirty="0" smtClean="0"/>
              <a:t>Herpès buccal récidivant (HBR)</a:t>
            </a:r>
            <a:endParaRPr lang="fr-FR" dirty="0" smtClean="0"/>
          </a:p>
          <a:p>
            <a:pPr lvl="1" algn="just"/>
            <a:r>
              <a:rPr lang="fr-FR" dirty="0" smtClean="0"/>
              <a:t>Plus fréquent chez les personnes immunodéprimée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500034" y="3000372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fr-FR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8596" y="1500174"/>
            <a:ext cx="8429684" cy="142876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sz="2000" dirty="0" smtClean="0"/>
              <a:t>Un antiviral :   molécule qui va interférer dans le processus de multiplication d'un virus (</a:t>
            </a:r>
            <a:r>
              <a:rPr lang="fr-FR" sz="2000" u="sng" dirty="0" smtClean="0"/>
              <a:t>herpes</a:t>
            </a:r>
            <a:r>
              <a:rPr lang="fr-FR" sz="2000" dirty="0" smtClean="0"/>
              <a:t>…), et ce, à différents stades de développement </a:t>
            </a:r>
            <a:r>
              <a:rPr lang="fr-FR" sz="2000" dirty="0" smtClean="0">
                <a:latin typeface="Calibri"/>
              </a:rPr>
              <a:t>→il </a:t>
            </a:r>
            <a:r>
              <a:rPr lang="fr-FR" sz="2000" dirty="0" smtClean="0"/>
              <a:t>peut empêcher la phase de réplication (reproduction) du virus, ou bloquer l'infection de la cellule.</a:t>
            </a:r>
            <a:endParaRPr lang="fr-FR" sz="2000" dirty="0"/>
          </a:p>
        </p:txBody>
      </p:sp>
      <p:sp>
        <p:nvSpPr>
          <p:cNvPr id="8" name="Carré corné 7"/>
          <p:cNvSpPr/>
          <p:nvPr/>
        </p:nvSpPr>
        <p:spPr>
          <a:xfrm>
            <a:off x="428596" y="3357562"/>
            <a:ext cx="6215106" cy="3000396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dirty="0" smtClean="0"/>
              <a:t>Les </a:t>
            </a:r>
            <a:r>
              <a:rPr lang="fr-FR" dirty="0" err="1" smtClean="0"/>
              <a:t>antiherpétiques</a:t>
            </a:r>
            <a:r>
              <a:rPr lang="fr-FR" dirty="0" smtClean="0"/>
              <a:t> molécules capables de lutter contre les infections causées par les virus herpès sont des </a:t>
            </a:r>
            <a:r>
              <a:rPr lang="fr-FR" b="1" dirty="0" smtClean="0"/>
              <a:t>inhibiteurs de l’ADN-polymérase</a:t>
            </a:r>
          </a:p>
          <a:p>
            <a:pPr algn="just"/>
            <a:r>
              <a:rPr lang="fr-FR" dirty="0" smtClean="0"/>
              <a:t> L’ADN-polymérase est une enzyme  qui assure la réplication des chaines d’ADN du virus. </a:t>
            </a:r>
          </a:p>
          <a:p>
            <a:pPr algn="just"/>
            <a:r>
              <a:rPr lang="fr-FR" dirty="0" smtClean="0"/>
              <a:t>Ils n’agissent que sur des populations en </a:t>
            </a:r>
            <a:r>
              <a:rPr lang="fr-FR" b="1" dirty="0" smtClean="0"/>
              <a:t>phase de réplication active</a:t>
            </a:r>
            <a:r>
              <a:rPr lang="fr-FR" dirty="0" smtClean="0"/>
              <a:t>, ce sont des molécules </a:t>
            </a:r>
            <a:r>
              <a:rPr lang="fr-FR" b="1" dirty="0" smtClean="0"/>
              <a:t>virostatiques</a:t>
            </a:r>
            <a:r>
              <a:rPr lang="fr-FR" dirty="0" smtClean="0"/>
              <a:t>, empêchant la multiplication du virus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6858016" y="3857628"/>
            <a:ext cx="2285984" cy="7143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Aciclovir</a:t>
            </a:r>
            <a:r>
              <a:rPr lang="fr-FR" dirty="0" smtClean="0"/>
              <a:t> et </a:t>
            </a:r>
            <a:r>
              <a:rPr lang="fr-FR" dirty="0" err="1" smtClean="0"/>
              <a:t>Valaciclovir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6858016" y="4643446"/>
            <a:ext cx="2285984" cy="7143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Penciclovir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57298"/>
            <a:ext cx="84296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i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fr-FR" sz="2400" b="1" i="1" dirty="0" smtClean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l'Herpès labial </a:t>
            </a:r>
            <a:r>
              <a:rPr lang="fr-FR" sz="2400" dirty="0" smtClean="0"/>
              <a:t>  </a:t>
            </a:r>
          </a:p>
          <a:p>
            <a:pPr algn="ctr"/>
            <a:r>
              <a:rPr lang="fr-FR" sz="2400" dirty="0" smtClean="0"/>
              <a:t>Soulagement des symptômes :</a:t>
            </a:r>
          </a:p>
          <a:p>
            <a:pPr lvl="1" algn="just">
              <a:buFont typeface="Wingdings" pitchFamily="2" charset="2"/>
              <a:buChar char="§"/>
            </a:pPr>
            <a:r>
              <a:rPr lang="fr-FR" sz="2400" dirty="0" smtClean="0"/>
              <a:t>Application de glace</a:t>
            </a:r>
          </a:p>
          <a:p>
            <a:pPr lvl="1" algn="just">
              <a:buFont typeface="Wingdings" pitchFamily="2" charset="2"/>
              <a:buChar char="§"/>
            </a:pPr>
            <a:r>
              <a:rPr lang="fr-FR" sz="2400" dirty="0" smtClean="0"/>
              <a:t>Prescription  d’un antalgique ( paracétamol) </a:t>
            </a:r>
          </a:p>
          <a:p>
            <a:pPr lvl="1" algn="just">
              <a:buFont typeface="Wingdings" pitchFamily="2" charset="2"/>
              <a:buChar char="§"/>
            </a:pPr>
            <a:r>
              <a:rPr lang="fr-FR" sz="2400" dirty="0" smtClean="0"/>
              <a:t>L'application d'un antiviral topique( voie locale )  peut être envisagée, selon la fréquence et la gravité des lésions :</a:t>
            </a:r>
          </a:p>
          <a:p>
            <a:pPr lvl="2" algn="just"/>
            <a:r>
              <a:rPr lang="fr-FR" sz="2400" b="1" i="1" dirty="0" err="1" smtClean="0">
                <a:solidFill>
                  <a:schemeClr val="accent3">
                    <a:lumMod val="75000"/>
                  </a:schemeClr>
                </a:solidFill>
              </a:rPr>
              <a:t>Penciclovir</a:t>
            </a:r>
            <a:r>
              <a:rPr lang="fr-FR" sz="2400" b="1" i="1" dirty="0" smtClean="0">
                <a:solidFill>
                  <a:schemeClr val="accent3">
                    <a:lumMod val="75000"/>
                  </a:schemeClr>
                </a:solidFill>
              </a:rPr>
              <a:t> 1 </a:t>
            </a:r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% crème  </a:t>
            </a:r>
            <a:r>
              <a:rPr lang="fr-FR" sz="2400" dirty="0" smtClean="0"/>
              <a:t>:appliquer sur la lésion toutes les 2 heures, depuis l'apparition des picotements jusqu'à la guérison de la lésion.</a:t>
            </a:r>
          </a:p>
          <a:p>
            <a:pPr lvl="2" algn="just"/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Acyclovir 5 % crème : </a:t>
            </a:r>
            <a:r>
              <a:rPr lang="fr-FR" sz="2400" dirty="0" smtClean="0"/>
              <a:t>appliquer sur la lésion toutes les 2 heures, depuis l'apparition des picotements  jusqu'à la guérison de la lésion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214282" y="1357298"/>
            <a:ext cx="3857652" cy="3571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Trt</a:t>
            </a:r>
            <a:r>
              <a:rPr lang="fr-FR" dirty="0" smtClean="0"/>
              <a:t> pharmacologique 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52988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fr-FR" sz="2800" b="1" dirty="0" smtClean="0">
                <a:solidFill>
                  <a:schemeClr val="accent2"/>
                </a:solidFill>
              </a:rPr>
              <a:t>L’herpès buccal :</a:t>
            </a:r>
          </a:p>
          <a:p>
            <a:pPr algn="just">
              <a:lnSpc>
                <a:spcPct val="150000"/>
              </a:lnSpc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cas sévères d’atteinte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mucocutanée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chez les patients immunodéprimés  l’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aciclovir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le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valaciclovir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sont donnés par voie systémique ( comprimé) 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cas de primo-infection, la posologie est de 5 comprimés par jour  /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aciclovir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pendant 10 jours. Dans les récurrences et pour les cas d’érythème polymorphe post-herpétique, la durée du traitement peut être plus longue</a:t>
            </a: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4282" y="1357298"/>
            <a:ext cx="3857652" cy="3571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Trt</a:t>
            </a:r>
            <a:r>
              <a:rPr lang="fr-FR" dirty="0" smtClean="0"/>
              <a:t> pharmacologique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antiviraux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85720" y="1500174"/>
            <a:ext cx="835824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u="sng" dirty="0" smtClean="0">
                <a:solidFill>
                  <a:srgbClr val="000000"/>
                </a:solidFill>
                <a:ea typeface="Times New Roman" pitchFamily="18" charset="0"/>
                <a:cs typeface="Times New Roman" pitchFamily="18" charset="0"/>
              </a:rPr>
              <a:t>E II 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 smtClean="0">
                <a:solidFill>
                  <a:srgbClr val="000000"/>
                </a:solidFill>
                <a:ea typeface="Times New Roman" pitchFamily="18" charset="0"/>
                <a:cs typeface="Times New Roman" pitchFamily="18" charset="0"/>
              </a:rPr>
              <a:t>En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Times New Roman" pitchFamily="18" charset="0"/>
              </a:rPr>
              <a:t> général très bien tolérés . 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400" dirty="0" smtClean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e</a:t>
            </a:r>
            <a:r>
              <a:rPr kumimoji="0" lang="fr-FR" sz="24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principal effet indésirable potentiel une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néphropathie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400" dirty="0" smtClean="0">
                <a:solidFill>
                  <a:srgbClr val="000000"/>
                </a:solidFill>
                <a:cs typeface="Arial" pitchFamily="34" charset="0"/>
              </a:rPr>
              <a:t> nécessité  bonne hydratation / personne  âgée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sz="2400" dirty="0" smtClean="0">
                <a:solidFill>
                  <a:srgbClr val="000000"/>
                </a:solidFill>
                <a:cs typeface="Arial" pitchFamily="34" charset="0"/>
              </a:rPr>
              <a:t>Adaptation posologie chez l’insuffisant rénal  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34" y="4143380"/>
            <a:ext cx="8072462" cy="193899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fr-FR" sz="2000" dirty="0" smtClean="0"/>
              <a:t>Les traitements dentaires non urgents devraient être reportés chez les patients qui présentent des lésions évolutives, car il pourrait y avoir aérosolisation du virus durant les procédures dentaires et il y aurait alors risque d'infection ou de réinfection pour le patient et les fournisseurs de soins buccodentaires.</a:t>
            </a:r>
          </a:p>
          <a:p>
            <a:pPr algn="just"/>
            <a:r>
              <a:rPr lang="fr-FR" sz="2000" dirty="0" smtClean="0"/>
              <a:t> !!! Contagiosité de la maladie  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antiparasitaires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158" y="1500174"/>
            <a:ext cx="8429684" cy="328614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sz="3200" dirty="0" smtClean="0"/>
              <a:t>Les antiparasitaires sont les médicaments utilisés pour traiter les maladies dues aux parasites. On distingue deux variétés de parasites : les </a:t>
            </a:r>
            <a:r>
              <a:rPr lang="fr-FR" sz="3200" i="1" dirty="0" smtClean="0"/>
              <a:t>helminthes</a:t>
            </a:r>
            <a:r>
              <a:rPr lang="fr-FR" sz="3200" dirty="0" smtClean="0"/>
              <a:t> (le tænia) et les </a:t>
            </a:r>
            <a:r>
              <a:rPr lang="fr-FR" sz="3200" i="1" dirty="0" smtClean="0"/>
              <a:t>protozoaires </a:t>
            </a:r>
            <a:r>
              <a:rPr lang="fr-FR" sz="3200" dirty="0" smtClean="0"/>
              <a:t>(</a:t>
            </a:r>
            <a:r>
              <a:rPr lang="fr-FR" sz="3200" u="sng" dirty="0" smtClean="0"/>
              <a:t>amibiase</a:t>
            </a:r>
            <a:r>
              <a:rPr lang="fr-FR" sz="3200" dirty="0" smtClean="0"/>
              <a:t>, paludisme, leishmanioses, toxoplasmose…).</a:t>
            </a:r>
            <a:endParaRPr lang="fr-FR" sz="3200" dirty="0"/>
          </a:p>
        </p:txBody>
      </p:sp>
      <p:sp>
        <p:nvSpPr>
          <p:cNvPr id="8" name="Rectangle 7"/>
          <p:cNvSpPr/>
          <p:nvPr/>
        </p:nvSpPr>
        <p:spPr>
          <a:xfrm>
            <a:off x="285720" y="5000636"/>
            <a:ext cx="95726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odontologie l’antiparasitaire prescrit est le </a:t>
            </a:r>
            <a:r>
              <a:rPr lang="fr-FR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métronidazole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nitro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imidazolé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antiparasitaires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8596" y="2000240"/>
            <a:ext cx="828680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Mécanisme d’action : </a:t>
            </a:r>
          </a:p>
          <a:p>
            <a:pPr algn="just"/>
            <a:r>
              <a:rPr lang="fr-FR" sz="2800" i="1" dirty="0" smtClean="0">
                <a:latin typeface="Calibri"/>
                <a:cs typeface="Times New Roman" panose="02020603050405020304" pitchFamily="18" charset="0"/>
              </a:rPr>
              <a:t>→</a:t>
            </a:r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métronidazole</a:t>
            </a:r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subit  une réduction  intracellulaire du groupement </a:t>
            </a:r>
            <a:r>
              <a:rPr lang="fr-FR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nitro</a:t>
            </a:r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activé </a:t>
            </a:r>
            <a:r>
              <a:rPr lang="fr-FR" sz="2800" dirty="0" smtClean="0"/>
              <a:t>mais seulement en présence de bactéries anaérobies ou de protozoaires  </a:t>
            </a:r>
          </a:p>
          <a:p>
            <a:pPr algn="just"/>
            <a:r>
              <a:rPr lang="fr-FR" sz="2800" dirty="0" smtClean="0">
                <a:latin typeface="Calibri"/>
              </a:rPr>
              <a:t>→</a:t>
            </a:r>
            <a:r>
              <a:rPr lang="fr-FR" sz="2800" dirty="0" smtClean="0"/>
              <a:t>formation d’un </a:t>
            </a:r>
            <a:r>
              <a:rPr lang="fr-F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produit  cytotoxique ( actif)  </a:t>
            </a:r>
            <a:r>
              <a:rPr lang="fr-FR" sz="2800" dirty="0" smtClean="0"/>
              <a:t>qui se fixe à l’acide désoxyribonucléique et aux protéines, entraînant ainsi une inhibition de la synthèse des acides nucléiques.</a:t>
            </a:r>
            <a:endParaRPr lang="fr-FR" sz="28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86050" y="500042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antiparasitaires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85860"/>
            <a:ext cx="9429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métronidazole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 infections à bactéries anaérobies strictes. Il peut être prescrit en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monothérapie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parodontologie.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il est associé à un autre ATB  si infection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sévère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ou en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après échec d’une monothérapie : 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282" y="2764572"/>
            <a:ext cx="864398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 typeface="Wingdings" panose="05000000000000000000" pitchFamily="2" charset="2"/>
              <a:buChar char="ü"/>
            </a:pPr>
            <a:r>
              <a:rPr lang="fr-FR" sz="2400" dirty="0" smtClean="0">
                <a:solidFill>
                  <a:schemeClr val="tx2">
                    <a:lumMod val="75000"/>
                  </a:schemeClr>
                </a:solidFill>
              </a:rPr>
              <a:t>Association </a:t>
            </a:r>
            <a:r>
              <a:rPr lang="fr-FR" sz="2400" b="1" dirty="0" err="1" smtClean="0">
                <a:solidFill>
                  <a:schemeClr val="tx2">
                    <a:lumMod val="75000"/>
                  </a:schemeClr>
                </a:solidFill>
              </a:rPr>
              <a:t>spiramycine</a:t>
            </a:r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fr-FR" sz="2400" b="1" dirty="0" err="1" smtClean="0">
                <a:solidFill>
                  <a:schemeClr val="tx2">
                    <a:lumMod val="75000"/>
                  </a:schemeClr>
                </a:solidFill>
              </a:rPr>
              <a:t>métronidazole</a:t>
            </a:r>
            <a:r>
              <a:rPr lang="fr-FR" sz="2400" b="1" dirty="0" smtClean="0"/>
              <a:t>:</a:t>
            </a:r>
          </a:p>
          <a:p>
            <a:pPr algn="just"/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métronidazole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action sur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infections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anaérobiques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sévères, bonne diffusion dent / salive / tissus buccodentaires</a:t>
            </a:r>
            <a:endParaRPr lang="fr-FR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Spiramycine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efficace 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sur les germes </a:t>
            </a:r>
            <a:r>
              <a:rPr lang="fr-FR" sz="24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aérobies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buccodentaires→  bonne diffusion dent / salive / tissus buccodentaires </a:t>
            </a: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l’association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spiramycine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métronidazole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permet de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réduire la posologie prescrite, d’élargir le spectre d’action et d’obtenir une synergie potentialisatrice.</a:t>
            </a: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indiquée dans le 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 aiguës et chroniques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récidivantes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telles que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cellulites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parodontites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,abcès, phlegmon et dans la 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prévention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 postopératoires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714612" y="714356"/>
            <a:ext cx="3714776" cy="5715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i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antiparasitaires</a:t>
            </a:r>
            <a:r>
              <a:rPr kumimoji="0" lang="fr-FR" sz="3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14250" y="1214422"/>
            <a:ext cx="892975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 </a:t>
            </a:r>
            <a:r>
              <a:rPr lang="fr-FR" sz="2800" b="1" u="sng" dirty="0" smtClean="0"/>
              <a:t>EII : </a:t>
            </a:r>
          </a:p>
          <a:p>
            <a:pPr algn="just"/>
            <a:r>
              <a:rPr lang="fr-FR" sz="2800" dirty="0" smtClean="0"/>
              <a:t>troubles digestifs importants</a:t>
            </a:r>
          </a:p>
          <a:p>
            <a:pPr algn="just"/>
            <a:r>
              <a:rPr lang="fr-FR" sz="2800" dirty="0" smtClean="0"/>
              <a:t> vertiges, de confusion, d'hallucinations,</a:t>
            </a:r>
            <a:r>
              <a:rPr lang="fr-FR" sz="2800" u="sng" dirty="0" smtClean="0"/>
              <a:t> </a:t>
            </a:r>
            <a:r>
              <a:rPr lang="fr-FR" sz="2800" dirty="0" smtClean="0"/>
              <a:t>de convulsions ou de troubles visuels </a:t>
            </a:r>
            <a:r>
              <a:rPr lang="fr-FR" sz="2800" dirty="0" smtClean="0">
                <a:latin typeface="Calibri"/>
              </a:rPr>
              <a:t>→</a:t>
            </a:r>
            <a:r>
              <a:rPr lang="fr-FR" sz="2800" dirty="0" smtClean="0"/>
              <a:t> recommander de ne pas conduire de véhicules si apparition de ces effets </a:t>
            </a:r>
          </a:p>
          <a:p>
            <a:pPr algn="just"/>
            <a:r>
              <a:rPr lang="fr-FR" sz="2800" b="1" u="sng" dirty="0" smtClean="0"/>
              <a:t>Interactions médicamenteuses :  </a:t>
            </a:r>
            <a:r>
              <a:rPr lang="fr-FR" sz="2800" dirty="0" smtClean="0"/>
              <a:t>inhibiteur du </a:t>
            </a:r>
            <a:r>
              <a:rPr lang="fr-FR" sz="2800" dirty="0" smtClean="0">
                <a:solidFill>
                  <a:schemeClr val="accent3">
                    <a:lumMod val="75000"/>
                  </a:schemeClr>
                </a:solidFill>
                <a:latin typeface="+mj-lt"/>
              </a:rPr>
              <a:t>CYP 2C9</a:t>
            </a:r>
          </a:p>
          <a:p>
            <a:pPr algn="just"/>
            <a:r>
              <a:rPr lang="fr-FR" sz="2800" dirty="0" err="1" smtClean="0"/>
              <a:t>Métronidazole</a:t>
            </a:r>
            <a:r>
              <a:rPr lang="fr-FR" sz="2800" dirty="0" smtClean="0"/>
              <a:t> / Alcool</a:t>
            </a:r>
          </a:p>
          <a:p>
            <a:pPr algn="just"/>
            <a:r>
              <a:rPr lang="fr-FR" sz="2800" dirty="0" smtClean="0"/>
              <a:t> </a:t>
            </a:r>
            <a:r>
              <a:rPr lang="fr-FR" sz="2800" dirty="0" err="1" smtClean="0"/>
              <a:t>métronidaole</a:t>
            </a:r>
            <a:r>
              <a:rPr lang="fr-FR" sz="2800" dirty="0" smtClean="0"/>
              <a:t> / </a:t>
            </a:r>
            <a:r>
              <a:rPr lang="fr-FR" sz="2800" dirty="0" smtClean="0">
                <a:solidFill>
                  <a:schemeClr val="accent3">
                    <a:lumMod val="75000"/>
                  </a:schemeClr>
                </a:solidFill>
              </a:rPr>
              <a:t>anticoagulant oraux ( AVK)</a:t>
            </a:r>
          </a:p>
          <a:p>
            <a:pPr algn="just"/>
            <a:r>
              <a:rPr lang="fr-FR" sz="2800" dirty="0" smtClean="0"/>
              <a:t> </a:t>
            </a:r>
            <a:r>
              <a:rPr lang="fr-FR" sz="2800" dirty="0" err="1" smtClean="0"/>
              <a:t>métronidazole</a:t>
            </a:r>
            <a:r>
              <a:rPr lang="fr-FR" sz="2800" dirty="0" smtClean="0"/>
              <a:t> / </a:t>
            </a:r>
            <a:r>
              <a:rPr lang="fr-FR" sz="2800" dirty="0" err="1" smtClean="0">
                <a:solidFill>
                  <a:schemeClr val="accent3">
                    <a:lumMod val="75000"/>
                  </a:schemeClr>
                </a:solidFill>
              </a:rPr>
              <a:t>phénitoine</a:t>
            </a:r>
            <a:r>
              <a:rPr lang="fr-FR" sz="28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 algn="just"/>
            <a:r>
              <a:rPr lang="fr-FR" sz="2800" dirty="0" smtClean="0">
                <a:solidFill>
                  <a:srgbClr val="FF0000"/>
                </a:solidFill>
              </a:rPr>
              <a:t>Attention Anticonvulsivants inducteurs enzymatiques</a:t>
            </a:r>
          </a:p>
          <a:p>
            <a:pPr algn="just"/>
            <a:r>
              <a:rPr lang="fr-FR" sz="2800" dirty="0" smtClean="0">
                <a:solidFill>
                  <a:srgbClr val="FF0000"/>
                </a:solidFill>
              </a:rPr>
              <a:t>: risque ↑ métabolisme du </a:t>
            </a:r>
            <a:r>
              <a:rPr lang="fr-FR" sz="2800" dirty="0" err="1" smtClean="0">
                <a:solidFill>
                  <a:srgbClr val="FF0000"/>
                </a:solidFill>
              </a:rPr>
              <a:t>métronidazole</a:t>
            </a:r>
            <a:r>
              <a:rPr lang="fr-FR" sz="2800" dirty="0" smtClean="0">
                <a:solidFill>
                  <a:srgbClr val="FF0000"/>
                </a:solidFill>
              </a:rPr>
              <a:t> → échec thérapeutique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5BBD-110B-4675-88CD-CE725CCD493A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Urbai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16046</TotalTime>
  <Words>1169</Words>
  <Application>Microsoft Office PowerPoint</Application>
  <PresentationFormat>Affichage à l'écran (4:3)</PresentationFormat>
  <Paragraphs>200</Paragraphs>
  <Slides>20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Débit</vt:lpstr>
      <vt:lpstr>Antifongiques-Antiparasitaires-Antiviraux et incidence en odontologie </vt:lpstr>
      <vt:lpstr>Introduction  </vt:lpstr>
      <vt:lpstr>Les mycoses   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L’Herpes virus  : 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Antifongiques-antiparasitaires-antiviraux</dc:title>
  <dc:creator>SEB</dc:creator>
  <cp:lastModifiedBy>tassili</cp:lastModifiedBy>
  <cp:revision>73</cp:revision>
  <dcterms:created xsi:type="dcterms:W3CDTF">2019-02-03T10:07:25Z</dcterms:created>
  <dcterms:modified xsi:type="dcterms:W3CDTF">2024-02-18T11:56:22Z</dcterms:modified>
</cp:coreProperties>
</file>