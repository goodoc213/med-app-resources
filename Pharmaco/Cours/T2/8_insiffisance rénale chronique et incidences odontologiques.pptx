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6" r:id="rId2"/>
    <p:sldId id="259" r:id="rId3"/>
    <p:sldId id="260" r:id="rId4"/>
    <p:sldId id="261" r:id="rId5"/>
    <p:sldId id="264" r:id="rId6"/>
    <p:sldId id="263" r:id="rId7"/>
    <p:sldId id="265" r:id="rId8"/>
    <p:sldId id="266" r:id="rId9"/>
    <p:sldId id="268" r:id="rId10"/>
    <p:sldId id="269" r:id="rId11"/>
    <p:sldId id="270" r:id="rId12"/>
    <p:sldId id="271" r:id="rId13"/>
    <p:sldId id="257" r:id="rId14"/>
    <p:sldId id="272" r:id="rId15"/>
    <p:sldId id="273" r:id="rId16"/>
    <p:sldId id="258" r:id="rId17"/>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p:scale>
          <a:sx n="64" d="100"/>
          <a:sy n="64" d="100"/>
        </p:scale>
        <p:origin x="-2148" y="-58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6CC13F8-2EA7-4AED-A00C-9F26F30AA544}" type="datetimeFigureOut">
              <a:rPr lang="fr-FR" smtClean="0"/>
              <a:pPr/>
              <a:t>06/04/2025</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6D63B2B-87AE-4EEF-BB9F-4F786B5D2468}" type="slidenum">
              <a:rPr lang="fr-FR" smtClean="0"/>
              <a:pPr/>
              <a:t>‹N°›</a:t>
            </a:fld>
            <a:endParaRPr lang="fr-F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6FFC813C-74D4-474C-B13A-CE4464302BD0}" type="slidenum">
              <a:rPr lang="fr-FR" smtClean="0"/>
              <a:pPr/>
              <a:t>3</a:t>
            </a:fld>
            <a:endParaRPr 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dirty="0" smtClean="0"/>
              <a:t>La créatinine est un déchet métabolique azoté produit terminal du catabolisme de la créatine musculaire. Toutefois, la créatinine n'est pas un marqueur idéal. Elle est filtrée par le glomérule mais aussi partiellement sécrétée par le tubule proximal. Sa concentration plasmatique dépend de son élimination mais aussi de son débit d'entrée dans l'organisme principalement en rapport avec la masse musculaire. Or la masse musculaire est physiologiquement variable d'un individu à l'autre selon son poids, son âge (6), son sexe, son niveau d'activité physique, son alimentation (7), son origine ethnique. Ainsi pour un DFG donné, la créatinine est d'autant plus élevée que la masse musculaire est importante</a:t>
            </a:r>
          </a:p>
          <a:p>
            <a:endParaRPr lang="fr-FR" dirty="0"/>
          </a:p>
        </p:txBody>
      </p:sp>
      <p:sp>
        <p:nvSpPr>
          <p:cNvPr id="4" name="Espace réservé du numéro de diapositive 3"/>
          <p:cNvSpPr>
            <a:spLocks noGrp="1"/>
          </p:cNvSpPr>
          <p:nvPr>
            <p:ph type="sldNum" sz="quarter" idx="10"/>
          </p:nvPr>
        </p:nvSpPr>
        <p:spPr/>
        <p:txBody>
          <a:bodyPr/>
          <a:lstStyle/>
          <a:p>
            <a:fld id="{6FFC813C-74D4-474C-B13A-CE4464302BD0}" type="slidenum">
              <a:rPr lang="fr-FR" smtClean="0"/>
              <a:pPr/>
              <a:t>4</a:t>
            </a:fld>
            <a:endParaRPr lang="fr-F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6FFC813C-74D4-474C-B13A-CE4464302BD0}" type="slidenum">
              <a:rPr lang="fr-FR" smtClean="0"/>
              <a:pPr/>
              <a:t>5</a:t>
            </a:fld>
            <a:endParaRPr lang="fr-F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dirty="0" smtClean="0"/>
              <a:t> l'inhibition de la biosynthèse des hémoprotéines</a:t>
            </a:r>
          </a:p>
          <a:p>
            <a:r>
              <a:rPr lang="fr-FR" dirty="0" smtClean="0"/>
              <a:t>et / ou augmentation de la dégradation des enzymes, épuisement des cofacteurs</a:t>
            </a:r>
          </a:p>
          <a:p>
            <a:r>
              <a:rPr lang="fr-FR" dirty="0" smtClean="0"/>
              <a:t>(par exemple, fourniture de nicotinamide adénine </a:t>
            </a:r>
            <a:r>
              <a:rPr lang="fr-FR" dirty="0" err="1" smtClean="0"/>
              <a:t>dinucléotide</a:t>
            </a:r>
            <a:r>
              <a:rPr lang="fr-FR" dirty="0" smtClean="0"/>
              <a:t> phosphate</a:t>
            </a:r>
          </a:p>
          <a:p>
            <a:r>
              <a:rPr lang="fr-FR" dirty="0" smtClean="0"/>
              <a:t>(NADPH)</a:t>
            </a:r>
          </a:p>
          <a:p>
            <a:r>
              <a:rPr lang="fr-FR" dirty="0" smtClean="0"/>
              <a:t>inhibition compétitive directe de l'enzyme CYP</a:t>
            </a:r>
            <a:r>
              <a:rPr lang="fr-FR" baseline="0" dirty="0" smtClean="0"/>
              <a:t> </a:t>
            </a:r>
            <a:r>
              <a:rPr lang="fr-FR" dirty="0" smtClean="0"/>
              <a:t>en faisant circuler des constituants urémiques.</a:t>
            </a:r>
            <a:r>
              <a:rPr lang="en-US" dirty="0" smtClean="0"/>
              <a:t> CYPs (i.e., 1A, 2C, 2D, 3A, and 4A families),</a:t>
            </a:r>
            <a:r>
              <a:rPr lang="fr-FR" dirty="0" smtClean="0"/>
              <a:t> </a:t>
            </a:r>
            <a:r>
              <a:rPr lang="fr-FR" dirty="0" err="1" smtClean="0"/>
              <a:t>icytokines</a:t>
            </a:r>
            <a:r>
              <a:rPr lang="fr-FR" dirty="0" smtClean="0"/>
              <a:t> </a:t>
            </a:r>
            <a:r>
              <a:rPr lang="fr-FR" dirty="0" err="1" smtClean="0"/>
              <a:t>proinflammatoires</a:t>
            </a:r>
            <a:r>
              <a:rPr lang="fr-FR" dirty="0" smtClean="0"/>
              <a:t> et à d'autres médiateurs de la phase aiguë(par exemple, interleukine-1, interleukine-6, nécrose tumorale</a:t>
            </a:r>
          </a:p>
          <a:p>
            <a:r>
              <a:rPr lang="fr-FR" dirty="0" smtClean="0"/>
              <a:t>facteur-a et interféron) interfèrent avec</a:t>
            </a:r>
            <a:r>
              <a:rPr lang="fr-FR" baseline="0" dirty="0" smtClean="0"/>
              <a:t> </a:t>
            </a:r>
            <a:r>
              <a:rPr lang="fr-FR" dirty="0" smtClean="0"/>
              <a:t>signalisation des récepteurs nucléaires impliqués dans la transcription</a:t>
            </a:r>
            <a:r>
              <a:rPr lang="fr-FR" baseline="0" dirty="0" smtClean="0"/>
              <a:t> </a:t>
            </a:r>
            <a:r>
              <a:rPr lang="fr-FR" dirty="0" smtClean="0"/>
              <a:t>l’activation</a:t>
            </a:r>
            <a:endParaRPr lang="fr-FR" dirty="0"/>
          </a:p>
        </p:txBody>
      </p:sp>
      <p:sp>
        <p:nvSpPr>
          <p:cNvPr id="4" name="Espace réservé du numéro de diapositive 3"/>
          <p:cNvSpPr>
            <a:spLocks noGrp="1"/>
          </p:cNvSpPr>
          <p:nvPr>
            <p:ph type="sldNum" sz="quarter" idx="10"/>
          </p:nvPr>
        </p:nvSpPr>
        <p:spPr/>
        <p:txBody>
          <a:bodyPr/>
          <a:lstStyle/>
          <a:p>
            <a:fld id="{6FFC813C-74D4-474C-B13A-CE4464302BD0}" type="slidenum">
              <a:rPr lang="fr-FR" smtClean="0"/>
              <a:pPr/>
              <a:t>8</a:t>
            </a:fld>
            <a:endParaRPr lang="fr-F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dirty="0" smtClean="0"/>
              <a:t> l'inhibition de la biosynthèse des hémoprotéines</a:t>
            </a:r>
          </a:p>
          <a:p>
            <a:r>
              <a:rPr lang="fr-FR" dirty="0" smtClean="0"/>
              <a:t>et / ou augmentation de la dégradation des enzymes, épuisement des cofacteurs</a:t>
            </a:r>
          </a:p>
          <a:p>
            <a:r>
              <a:rPr lang="fr-FR" dirty="0" smtClean="0"/>
              <a:t>(par exemple, fourniture de nicotinamide adénine </a:t>
            </a:r>
            <a:r>
              <a:rPr lang="fr-FR" dirty="0" err="1" smtClean="0"/>
              <a:t>dinucléotide</a:t>
            </a:r>
            <a:r>
              <a:rPr lang="fr-FR" dirty="0" smtClean="0"/>
              <a:t> phosphate</a:t>
            </a:r>
          </a:p>
          <a:p>
            <a:r>
              <a:rPr lang="fr-FR" dirty="0" smtClean="0"/>
              <a:t>(NADPH)</a:t>
            </a:r>
          </a:p>
          <a:p>
            <a:r>
              <a:rPr lang="fr-FR" dirty="0" smtClean="0"/>
              <a:t>inhibition compétitive directe de l'enzyme CYP</a:t>
            </a:r>
            <a:r>
              <a:rPr lang="fr-FR" baseline="0" dirty="0" smtClean="0"/>
              <a:t> </a:t>
            </a:r>
            <a:r>
              <a:rPr lang="fr-FR" dirty="0" smtClean="0"/>
              <a:t>en faisant circuler des constituants urémiques.</a:t>
            </a:r>
            <a:r>
              <a:rPr lang="en-US" dirty="0" smtClean="0"/>
              <a:t> CYPs (i.e., 1A, 2C, 2D, 3A, and 4A families),</a:t>
            </a:r>
            <a:r>
              <a:rPr lang="fr-FR" dirty="0" smtClean="0"/>
              <a:t> </a:t>
            </a:r>
            <a:r>
              <a:rPr lang="fr-FR" dirty="0" err="1" smtClean="0"/>
              <a:t>icytokines</a:t>
            </a:r>
            <a:r>
              <a:rPr lang="fr-FR" dirty="0" smtClean="0"/>
              <a:t> </a:t>
            </a:r>
            <a:r>
              <a:rPr lang="fr-FR" dirty="0" err="1" smtClean="0"/>
              <a:t>proinflammatoires</a:t>
            </a:r>
            <a:r>
              <a:rPr lang="fr-FR" dirty="0" smtClean="0"/>
              <a:t> et à d'autres médiateurs de la phase aiguë(par exemple, interleukine-1, interleukine-6, nécrose tumorale</a:t>
            </a:r>
          </a:p>
          <a:p>
            <a:r>
              <a:rPr lang="fr-FR" dirty="0" smtClean="0"/>
              <a:t>facteur-a et interféron) interfèrent avec</a:t>
            </a:r>
            <a:r>
              <a:rPr lang="fr-FR" baseline="0" dirty="0" smtClean="0"/>
              <a:t> </a:t>
            </a:r>
            <a:r>
              <a:rPr lang="fr-FR" dirty="0" smtClean="0"/>
              <a:t>signalisation des récepteurs nucléaires impliqués dans la transcription</a:t>
            </a:r>
            <a:r>
              <a:rPr lang="fr-FR" baseline="0" dirty="0" smtClean="0"/>
              <a:t> </a:t>
            </a:r>
            <a:r>
              <a:rPr lang="fr-FR" dirty="0" smtClean="0"/>
              <a:t>l’activation</a:t>
            </a:r>
            <a:endParaRPr lang="fr-FR" dirty="0"/>
          </a:p>
        </p:txBody>
      </p:sp>
      <p:sp>
        <p:nvSpPr>
          <p:cNvPr id="4" name="Espace réservé du numéro de diapositive 3"/>
          <p:cNvSpPr>
            <a:spLocks noGrp="1"/>
          </p:cNvSpPr>
          <p:nvPr>
            <p:ph type="sldNum" sz="quarter" idx="10"/>
          </p:nvPr>
        </p:nvSpPr>
        <p:spPr/>
        <p:txBody>
          <a:bodyPr/>
          <a:lstStyle/>
          <a:p>
            <a:fld id="{6FFC813C-74D4-474C-B13A-CE4464302BD0}" type="slidenum">
              <a:rPr lang="fr-FR" smtClean="0"/>
              <a:pPr/>
              <a:t>9</a:t>
            </a:fld>
            <a:endParaRPr lang="fr-F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dirty="0" smtClean="0"/>
              <a:t> l'inhibition de la biosynthèse des hémoprotéines</a:t>
            </a:r>
          </a:p>
          <a:p>
            <a:r>
              <a:rPr lang="fr-FR" dirty="0" smtClean="0"/>
              <a:t>et / ou augmentation de la dégradation des enzymes, épuisement des cofacteurs</a:t>
            </a:r>
          </a:p>
          <a:p>
            <a:r>
              <a:rPr lang="fr-FR" dirty="0" smtClean="0"/>
              <a:t>(par exemple, fourniture de nicotinamide adénine </a:t>
            </a:r>
            <a:r>
              <a:rPr lang="fr-FR" dirty="0" err="1" smtClean="0"/>
              <a:t>dinucléotide</a:t>
            </a:r>
            <a:r>
              <a:rPr lang="fr-FR" dirty="0" smtClean="0"/>
              <a:t> phosphate</a:t>
            </a:r>
          </a:p>
          <a:p>
            <a:r>
              <a:rPr lang="fr-FR" dirty="0" smtClean="0"/>
              <a:t>(NADPH)</a:t>
            </a:r>
          </a:p>
          <a:p>
            <a:r>
              <a:rPr lang="fr-FR" dirty="0" smtClean="0"/>
              <a:t>inhibition compétitive directe de l'enzyme CYP</a:t>
            </a:r>
            <a:r>
              <a:rPr lang="fr-FR" baseline="0" dirty="0" smtClean="0"/>
              <a:t> </a:t>
            </a:r>
            <a:r>
              <a:rPr lang="fr-FR" dirty="0" smtClean="0"/>
              <a:t>en faisant circuler des constituants urémiques.</a:t>
            </a:r>
            <a:r>
              <a:rPr lang="en-US" dirty="0" smtClean="0"/>
              <a:t> CYPs (i.e., 1A, 2C, 2D, 3A, and 4A families),</a:t>
            </a:r>
            <a:r>
              <a:rPr lang="fr-FR" dirty="0" smtClean="0"/>
              <a:t> </a:t>
            </a:r>
            <a:r>
              <a:rPr lang="fr-FR" dirty="0" err="1" smtClean="0"/>
              <a:t>icytokines</a:t>
            </a:r>
            <a:r>
              <a:rPr lang="fr-FR" dirty="0" smtClean="0"/>
              <a:t> </a:t>
            </a:r>
            <a:r>
              <a:rPr lang="fr-FR" dirty="0" err="1" smtClean="0"/>
              <a:t>proinflammatoires</a:t>
            </a:r>
            <a:r>
              <a:rPr lang="fr-FR" dirty="0" smtClean="0"/>
              <a:t> et à d'autres médiateurs de la phase aiguë(par exemple, interleukine-1, interleukine-6, nécrose tumorale</a:t>
            </a:r>
          </a:p>
          <a:p>
            <a:r>
              <a:rPr lang="fr-FR" dirty="0" smtClean="0"/>
              <a:t>facteur-a et interféron) interfèrent avec</a:t>
            </a:r>
            <a:r>
              <a:rPr lang="fr-FR" baseline="0" dirty="0" smtClean="0"/>
              <a:t> </a:t>
            </a:r>
            <a:r>
              <a:rPr lang="fr-FR" dirty="0" smtClean="0"/>
              <a:t>signalisation des récepteurs nucléaires impliqués dans la transcription</a:t>
            </a:r>
            <a:r>
              <a:rPr lang="fr-FR" baseline="0" dirty="0" smtClean="0"/>
              <a:t> </a:t>
            </a:r>
            <a:r>
              <a:rPr lang="fr-FR" dirty="0" smtClean="0"/>
              <a:t>l’activation</a:t>
            </a:r>
            <a:endParaRPr lang="fr-FR" dirty="0"/>
          </a:p>
        </p:txBody>
      </p:sp>
      <p:sp>
        <p:nvSpPr>
          <p:cNvPr id="4" name="Espace réservé du numéro de diapositive 3"/>
          <p:cNvSpPr>
            <a:spLocks noGrp="1"/>
          </p:cNvSpPr>
          <p:nvPr>
            <p:ph type="sldNum" sz="quarter" idx="10"/>
          </p:nvPr>
        </p:nvSpPr>
        <p:spPr/>
        <p:txBody>
          <a:bodyPr/>
          <a:lstStyle/>
          <a:p>
            <a:fld id="{6FFC813C-74D4-474C-B13A-CE4464302BD0}" type="slidenum">
              <a:rPr lang="fr-FR" smtClean="0"/>
              <a:pPr/>
              <a:t>10</a:t>
            </a:fld>
            <a:endParaRPr lang="fr-F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dirty="0" smtClean="0"/>
              <a:t> l'inhibition de la biosynthèse des hémoprotéines</a:t>
            </a:r>
          </a:p>
          <a:p>
            <a:r>
              <a:rPr lang="fr-FR" dirty="0" smtClean="0"/>
              <a:t>et / ou augmentation de la dégradation des enzymes, épuisement des cofacteurs</a:t>
            </a:r>
          </a:p>
          <a:p>
            <a:r>
              <a:rPr lang="fr-FR" dirty="0" smtClean="0"/>
              <a:t>(par exemple, fourniture de nicotinamide adénine </a:t>
            </a:r>
            <a:r>
              <a:rPr lang="fr-FR" dirty="0" err="1" smtClean="0"/>
              <a:t>dinucléotide</a:t>
            </a:r>
            <a:r>
              <a:rPr lang="fr-FR" dirty="0" smtClean="0"/>
              <a:t> phosphate</a:t>
            </a:r>
          </a:p>
          <a:p>
            <a:r>
              <a:rPr lang="fr-FR" dirty="0" smtClean="0"/>
              <a:t>(NADPH)</a:t>
            </a:r>
          </a:p>
          <a:p>
            <a:r>
              <a:rPr lang="fr-FR" dirty="0" smtClean="0"/>
              <a:t>inhibition compétitive directe de l'enzyme CYP</a:t>
            </a:r>
            <a:r>
              <a:rPr lang="fr-FR" baseline="0" dirty="0" smtClean="0"/>
              <a:t> </a:t>
            </a:r>
            <a:r>
              <a:rPr lang="fr-FR" dirty="0" smtClean="0"/>
              <a:t>en faisant circuler des constituants urémiques.</a:t>
            </a:r>
            <a:r>
              <a:rPr lang="en-US" dirty="0" smtClean="0"/>
              <a:t> CYPs (i.e., 1A, 2C, 2D, 3A, and 4A families),</a:t>
            </a:r>
            <a:r>
              <a:rPr lang="fr-FR" dirty="0" smtClean="0"/>
              <a:t> </a:t>
            </a:r>
            <a:r>
              <a:rPr lang="fr-FR" dirty="0" err="1" smtClean="0"/>
              <a:t>icytokines</a:t>
            </a:r>
            <a:r>
              <a:rPr lang="fr-FR" dirty="0" smtClean="0"/>
              <a:t> </a:t>
            </a:r>
            <a:r>
              <a:rPr lang="fr-FR" dirty="0" err="1" smtClean="0"/>
              <a:t>proinflammatoires</a:t>
            </a:r>
            <a:r>
              <a:rPr lang="fr-FR" dirty="0" smtClean="0"/>
              <a:t> et à d'autres médiateurs de la phase aiguë(par exemple, interleukine-1, interleukine-6, nécrose tumorale</a:t>
            </a:r>
          </a:p>
          <a:p>
            <a:r>
              <a:rPr lang="fr-FR" dirty="0" smtClean="0"/>
              <a:t>facteur-a et interféron) interfèrent avec</a:t>
            </a:r>
            <a:r>
              <a:rPr lang="fr-FR" baseline="0" dirty="0" smtClean="0"/>
              <a:t> </a:t>
            </a:r>
            <a:r>
              <a:rPr lang="fr-FR" dirty="0" smtClean="0"/>
              <a:t>signalisation des récepteurs nucléaires impliqués dans la transcription</a:t>
            </a:r>
            <a:r>
              <a:rPr lang="fr-FR" baseline="0" dirty="0" smtClean="0"/>
              <a:t> </a:t>
            </a:r>
            <a:r>
              <a:rPr lang="fr-FR" dirty="0" smtClean="0"/>
              <a:t>l’activation</a:t>
            </a:r>
            <a:endParaRPr lang="fr-FR" dirty="0"/>
          </a:p>
        </p:txBody>
      </p:sp>
      <p:sp>
        <p:nvSpPr>
          <p:cNvPr id="4" name="Espace réservé du numéro de diapositive 3"/>
          <p:cNvSpPr>
            <a:spLocks noGrp="1"/>
          </p:cNvSpPr>
          <p:nvPr>
            <p:ph type="sldNum" sz="quarter" idx="10"/>
          </p:nvPr>
        </p:nvSpPr>
        <p:spPr/>
        <p:txBody>
          <a:bodyPr/>
          <a:lstStyle/>
          <a:p>
            <a:fld id="{6FFC813C-74D4-474C-B13A-CE4464302BD0}" type="slidenum">
              <a:rPr lang="fr-FR" smtClean="0"/>
              <a:pPr/>
              <a:t>11</a:t>
            </a:fld>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8" name="Titr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fr-FR" smtClean="0"/>
              <a:t>Cliquez pour modifier le style du titre</a:t>
            </a:r>
            <a:endParaRPr kumimoji="0" lang="en-US"/>
          </a:p>
        </p:txBody>
      </p:sp>
      <p:sp>
        <p:nvSpPr>
          <p:cNvPr id="9" name="Sous-titr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smtClean="0"/>
              <a:t>Cliquez pour modifier le style des sous-titres du masque</a:t>
            </a:r>
            <a:endParaRPr kumimoji="0" lang="en-US"/>
          </a:p>
        </p:txBody>
      </p:sp>
      <p:sp>
        <p:nvSpPr>
          <p:cNvPr id="28" name="Espace réservé de la date 27"/>
          <p:cNvSpPr>
            <a:spLocks noGrp="1"/>
          </p:cNvSpPr>
          <p:nvPr>
            <p:ph type="dt" sz="half" idx="10"/>
          </p:nvPr>
        </p:nvSpPr>
        <p:spPr>
          <a:xfrm>
            <a:off x="6400800" y="6355080"/>
            <a:ext cx="2286000" cy="365760"/>
          </a:xfrm>
        </p:spPr>
        <p:txBody>
          <a:bodyPr/>
          <a:lstStyle>
            <a:lvl1pPr>
              <a:defRPr sz="1400"/>
            </a:lvl1pPr>
          </a:lstStyle>
          <a:p>
            <a:fld id="{B77FDF50-18C9-48A4-ADFC-B7C163B27332}" type="datetime1">
              <a:rPr lang="fr-FR" smtClean="0"/>
              <a:pPr/>
              <a:t>06/04/2025</a:t>
            </a:fld>
            <a:endParaRPr lang="fr-FR"/>
          </a:p>
        </p:txBody>
      </p:sp>
      <p:sp>
        <p:nvSpPr>
          <p:cNvPr id="17" name="Espace réservé du pied de page 16"/>
          <p:cNvSpPr>
            <a:spLocks noGrp="1"/>
          </p:cNvSpPr>
          <p:nvPr>
            <p:ph type="ftr" sz="quarter" idx="11"/>
          </p:nvPr>
        </p:nvSpPr>
        <p:spPr>
          <a:xfrm>
            <a:off x="2898648" y="6355080"/>
            <a:ext cx="3474720" cy="365760"/>
          </a:xfrm>
        </p:spPr>
        <p:txBody>
          <a:bodyPr/>
          <a:lstStyle/>
          <a:p>
            <a:endParaRPr lang="fr-FR"/>
          </a:p>
        </p:txBody>
      </p:sp>
      <p:sp>
        <p:nvSpPr>
          <p:cNvPr id="29" name="Espace réservé du numéro de diapositive 28"/>
          <p:cNvSpPr>
            <a:spLocks noGrp="1"/>
          </p:cNvSpPr>
          <p:nvPr>
            <p:ph type="sldNum" sz="quarter" idx="12"/>
          </p:nvPr>
        </p:nvSpPr>
        <p:spPr>
          <a:xfrm>
            <a:off x="1216152" y="6355080"/>
            <a:ext cx="1219200" cy="365760"/>
          </a:xfrm>
        </p:spPr>
        <p:txBody>
          <a:bodyPr/>
          <a:lstStyle/>
          <a:p>
            <a:fld id="{90854C7C-2833-44F3-B2D3-08F1845B606C}" type="slidenum">
              <a:rPr lang="fr-FR" smtClean="0"/>
              <a:pPr/>
              <a:t>‹N°›</a:t>
            </a:fld>
            <a:endParaRPr lang="fr-FR"/>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4" name="Espace réservé de la date 3"/>
          <p:cNvSpPr>
            <a:spLocks noGrp="1"/>
          </p:cNvSpPr>
          <p:nvPr>
            <p:ph type="dt" sz="half" idx="10"/>
          </p:nvPr>
        </p:nvSpPr>
        <p:spPr/>
        <p:txBody>
          <a:bodyPr/>
          <a:lstStyle/>
          <a:p>
            <a:fld id="{E61B69AA-125C-47B2-956A-FDC12250E739}" type="datetime1">
              <a:rPr lang="fr-FR" smtClean="0"/>
              <a:pPr/>
              <a:t>06/04/2025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0854C7C-2833-44F3-B2D3-08F1845B606C}" type="slidenum">
              <a:rPr lang="fr-FR" smtClean="0"/>
              <a:pPr/>
              <a:t>‹N°›</a:t>
            </a:fld>
            <a:endParaRPr lang="fr-FR"/>
          </a:p>
        </p:txBody>
      </p:sp>
      <p:sp>
        <p:nvSpPr>
          <p:cNvPr id="8" name="Espace réservé du contenu 7"/>
          <p:cNvSpPr>
            <a:spLocks noGrp="1"/>
          </p:cNvSpPr>
          <p:nvPr>
            <p:ph sz="quarter" idx="1"/>
          </p:nvPr>
        </p:nvSpPr>
        <p:spPr>
          <a:xfrm>
            <a:off x="457200" y="1219200"/>
            <a:ext cx="8229600" cy="493776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smtClean="0"/>
              <a:t>Cliquez pour modifier les styles du texte du masque</a:t>
            </a:r>
          </a:p>
        </p:txBody>
      </p:sp>
      <p:sp>
        <p:nvSpPr>
          <p:cNvPr id="4" name="Espace réservé de la date 3"/>
          <p:cNvSpPr>
            <a:spLocks noGrp="1"/>
          </p:cNvSpPr>
          <p:nvPr>
            <p:ph type="dt" sz="half" idx="10"/>
          </p:nvPr>
        </p:nvSpPr>
        <p:spPr>
          <a:xfrm>
            <a:off x="6400800" y="6355080"/>
            <a:ext cx="2286000" cy="365760"/>
          </a:xfrm>
        </p:spPr>
        <p:txBody>
          <a:bodyPr/>
          <a:lstStyle/>
          <a:p>
            <a:fld id="{B87C8860-07D7-4FEE-ACF3-BC01BEC9ADF1}" type="datetime1">
              <a:rPr lang="fr-FR" smtClean="0"/>
              <a:pPr/>
              <a:t>06/04/2025</a:t>
            </a:fld>
            <a:endParaRPr lang="fr-FR"/>
          </a:p>
        </p:txBody>
      </p:sp>
      <p:sp>
        <p:nvSpPr>
          <p:cNvPr id="5" name="Espace réservé du pied de page 4"/>
          <p:cNvSpPr>
            <a:spLocks noGrp="1"/>
          </p:cNvSpPr>
          <p:nvPr>
            <p:ph type="ftr" sz="quarter" idx="11"/>
          </p:nvPr>
        </p:nvSpPr>
        <p:spPr>
          <a:xfrm>
            <a:off x="2898648" y="6355080"/>
            <a:ext cx="3474720" cy="365760"/>
          </a:xfrm>
        </p:spPr>
        <p:txBody>
          <a:bodyPr/>
          <a:lstStyle/>
          <a:p>
            <a:endParaRPr lang="fr-FR"/>
          </a:p>
        </p:txBody>
      </p:sp>
      <p:sp>
        <p:nvSpPr>
          <p:cNvPr id="6" name="Espace réservé du numéro de diapositive 5"/>
          <p:cNvSpPr>
            <a:spLocks noGrp="1"/>
          </p:cNvSpPr>
          <p:nvPr>
            <p:ph type="sldNum" sz="quarter" idx="12"/>
          </p:nvPr>
        </p:nvSpPr>
        <p:spPr>
          <a:xfrm>
            <a:off x="1069848" y="6355080"/>
            <a:ext cx="1520952" cy="365760"/>
          </a:xfrm>
        </p:spPr>
        <p:txBody>
          <a:bodyPr/>
          <a:lstStyle/>
          <a:p>
            <a:fld id="{90854C7C-2833-44F3-B2D3-08F1845B606C}" type="slidenum">
              <a:rPr lang="fr-FR" smtClean="0"/>
              <a:pPr/>
              <a:t>‹N°›</a:t>
            </a:fld>
            <a:endParaRPr lang="fr-FR"/>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457200" y="228600"/>
            <a:ext cx="8229600" cy="914400"/>
          </a:xfrm>
        </p:spPr>
        <p:txBody>
          <a:bodyPr/>
          <a:lstStyle/>
          <a:p>
            <a:r>
              <a:rPr kumimoji="0" lang="fr-FR" smtClean="0"/>
              <a:t>Cliquez pour modifier le style du titre</a:t>
            </a:r>
            <a:endParaRPr kumimoji="0" lang="en-US"/>
          </a:p>
        </p:txBody>
      </p:sp>
      <p:sp>
        <p:nvSpPr>
          <p:cNvPr id="5" name="Espace réservé de la date 4"/>
          <p:cNvSpPr>
            <a:spLocks noGrp="1"/>
          </p:cNvSpPr>
          <p:nvPr>
            <p:ph type="dt" sz="half" idx="10"/>
          </p:nvPr>
        </p:nvSpPr>
        <p:spPr/>
        <p:txBody>
          <a:bodyPr/>
          <a:lstStyle/>
          <a:p>
            <a:fld id="{72538A4E-B5B9-4336-AE4D-E000E4A145B8}" type="datetime1">
              <a:rPr lang="fr-FR" smtClean="0"/>
              <a:pPr/>
              <a:t>06/04/2025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0854C7C-2833-44F3-B2D3-08F1845B606C}" type="slidenum">
              <a:rPr lang="fr-FR" smtClean="0"/>
              <a:pPr/>
              <a:t>‹N°›</a:t>
            </a:fld>
            <a:endParaRPr lang="fr-FR"/>
          </a:p>
        </p:txBody>
      </p:sp>
      <p:sp>
        <p:nvSpPr>
          <p:cNvPr id="9" name="Espace réservé du contenu 8"/>
          <p:cNvSpPr>
            <a:spLocks noGrp="1"/>
          </p:cNvSpPr>
          <p:nvPr>
            <p:ph sz="quarter" idx="1"/>
          </p:nvPr>
        </p:nvSpPr>
        <p:spPr>
          <a:xfrm>
            <a:off x="457200" y="1219200"/>
            <a:ext cx="4041648" cy="493776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1" name="Espace réservé du contenu 10"/>
          <p:cNvSpPr>
            <a:spLocks noGrp="1"/>
          </p:cNvSpPr>
          <p:nvPr>
            <p:ph sz="quarter" idx="2"/>
          </p:nvPr>
        </p:nvSpPr>
        <p:spPr>
          <a:xfrm>
            <a:off x="4632198" y="1216152"/>
            <a:ext cx="4041648" cy="493776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28600"/>
            <a:ext cx="8229600" cy="914400"/>
          </a:xfrm>
        </p:spPr>
        <p:txBody>
          <a:bodyPr anchor="ctr"/>
          <a:lstStyle>
            <a:lvl1pPr>
              <a:defRPr/>
            </a:lvl1pPr>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4" name="Espace réservé du texte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7" name="Espace réservé de la date 6"/>
          <p:cNvSpPr>
            <a:spLocks noGrp="1"/>
          </p:cNvSpPr>
          <p:nvPr>
            <p:ph type="dt" sz="half" idx="10"/>
          </p:nvPr>
        </p:nvSpPr>
        <p:spPr/>
        <p:txBody>
          <a:bodyPr/>
          <a:lstStyle/>
          <a:p>
            <a:fld id="{B9F113F9-581D-4FA7-89B1-EE1335B146FA}" type="datetime1">
              <a:rPr lang="fr-FR" smtClean="0"/>
              <a:pPr/>
              <a:t>06/04/2025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90854C7C-2833-44F3-B2D3-08F1845B606C}" type="slidenum">
              <a:rPr lang="fr-FR" smtClean="0"/>
              <a:pPr/>
              <a:t>‹N°›</a:t>
            </a:fld>
            <a:endParaRPr lang="fr-FR"/>
          </a:p>
        </p:txBody>
      </p:sp>
      <p:sp>
        <p:nvSpPr>
          <p:cNvPr id="11" name="Espace réservé du contenu 10"/>
          <p:cNvSpPr>
            <a:spLocks noGrp="1"/>
          </p:cNvSpPr>
          <p:nvPr>
            <p:ph sz="quarter" idx="2"/>
          </p:nvPr>
        </p:nvSpPr>
        <p:spPr>
          <a:xfrm>
            <a:off x="457200" y="2133600"/>
            <a:ext cx="4038600" cy="40386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3" name="Espace réservé du contenu 12"/>
          <p:cNvSpPr>
            <a:spLocks noGrp="1"/>
          </p:cNvSpPr>
          <p:nvPr>
            <p:ph sz="quarter" idx="4"/>
          </p:nvPr>
        </p:nvSpPr>
        <p:spPr>
          <a:xfrm>
            <a:off x="4648200" y="2133600"/>
            <a:ext cx="4038600" cy="40386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457200" y="228600"/>
            <a:ext cx="8229600" cy="914400"/>
          </a:xfrm>
        </p:spPr>
        <p:txBody>
          <a:bodyPr/>
          <a:lstStyle/>
          <a:p>
            <a:r>
              <a:rPr kumimoji="0" lang="fr-FR" smtClean="0"/>
              <a:t>Cliquez pour modifier le style du titre</a:t>
            </a:r>
            <a:endParaRPr kumimoji="0" lang="en-US"/>
          </a:p>
        </p:txBody>
      </p:sp>
      <p:sp>
        <p:nvSpPr>
          <p:cNvPr id="3" name="Espace réservé de la date 2"/>
          <p:cNvSpPr>
            <a:spLocks noGrp="1"/>
          </p:cNvSpPr>
          <p:nvPr>
            <p:ph type="dt" sz="half" idx="10"/>
          </p:nvPr>
        </p:nvSpPr>
        <p:spPr/>
        <p:txBody>
          <a:bodyPr/>
          <a:lstStyle/>
          <a:p>
            <a:fld id="{CAABC1AB-E5ED-4C52-B176-92CC6970B6C9}" type="datetime1">
              <a:rPr lang="fr-FR" smtClean="0"/>
              <a:pPr/>
              <a:t>06/04/2025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90854C7C-2833-44F3-B2D3-08F1845B606C}" type="slidenum">
              <a:rPr lang="fr-FR" smtClean="0"/>
              <a:pPr/>
              <a:t>‹N°›</a:t>
            </a:fld>
            <a:endParaRPr lang="fr-FR"/>
          </a:p>
        </p:txBody>
      </p:sp>
      <p:sp>
        <p:nvSpPr>
          <p:cNvPr id="6" name="Triangle isocè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5A42DCE0-9CBE-4D15-92D9-D60FCB50E92A}" type="datetime1">
              <a:rPr lang="fr-FR" smtClean="0"/>
              <a:pPr/>
              <a:t>06/04/2025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90854C7C-2833-44F3-B2D3-08F1845B606C}" type="slidenum">
              <a:rPr lang="fr-FR" smtClean="0"/>
              <a:pPr/>
              <a:t>‹N°›</a:t>
            </a:fld>
            <a:endParaRPr lang="fr-FR"/>
          </a:p>
        </p:txBody>
      </p:sp>
      <p:sp>
        <p:nvSpPr>
          <p:cNvPr id="5" name="Connecteur droit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Triangle isocè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fr-FR" smtClean="0"/>
              <a:t>Cliquez pour modifier le style du titre</a:t>
            </a:r>
            <a:endParaRPr kumimoji="0" lang="en-US"/>
          </a:p>
        </p:txBody>
      </p:sp>
      <p:sp>
        <p:nvSpPr>
          <p:cNvPr id="3" name="Espace réservé du texte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fr-FR" smtClean="0"/>
              <a:t>Cliquez pour modifier les styles du texte du masque</a:t>
            </a:r>
          </a:p>
        </p:txBody>
      </p:sp>
      <p:sp>
        <p:nvSpPr>
          <p:cNvPr id="5" name="Espace réservé de la date 4"/>
          <p:cNvSpPr>
            <a:spLocks noGrp="1"/>
          </p:cNvSpPr>
          <p:nvPr>
            <p:ph type="dt" sz="half" idx="10"/>
          </p:nvPr>
        </p:nvSpPr>
        <p:spPr/>
        <p:txBody>
          <a:bodyPr/>
          <a:lstStyle/>
          <a:p>
            <a:fld id="{555A9C18-29B7-43F8-A13E-633FF4CCC271}" type="datetime1">
              <a:rPr lang="fr-FR" smtClean="0"/>
              <a:pPr/>
              <a:t>06/04/2025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0854C7C-2833-44F3-B2D3-08F1845B606C}" type="slidenum">
              <a:rPr lang="fr-FR" smtClean="0"/>
              <a:pPr/>
              <a:t>‹N°›</a:t>
            </a:fld>
            <a:endParaRPr lang="fr-FR"/>
          </a:p>
        </p:txBody>
      </p:sp>
      <p:sp>
        <p:nvSpPr>
          <p:cNvPr id="8" name="Connecteur droit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Connecteur droit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Triangle isocè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Espace réservé du contenu 11"/>
          <p:cNvSpPr>
            <a:spLocks noGrp="1"/>
          </p:cNvSpPr>
          <p:nvPr>
            <p:ph sz="quarter" idx="1"/>
          </p:nvPr>
        </p:nvSpPr>
        <p:spPr>
          <a:xfrm>
            <a:off x="304800" y="304800"/>
            <a:ext cx="5715000" cy="57150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fr-FR" smtClean="0"/>
              <a:t>Cliquez pour modifier le style du titre</a:t>
            </a:r>
            <a:endParaRPr kumimoji="0" lang="en-US"/>
          </a:p>
        </p:txBody>
      </p:sp>
      <p:sp>
        <p:nvSpPr>
          <p:cNvPr id="3" name="Espace réservé pour une image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fr-FR" smtClean="0"/>
              <a:t>Cliquez sur l'icône pour ajouter une image</a:t>
            </a:r>
            <a:endParaRPr kumimoji="0" lang="en-US" dirty="0"/>
          </a:p>
        </p:txBody>
      </p:sp>
      <p:sp>
        <p:nvSpPr>
          <p:cNvPr id="4" name="Espace réservé du texte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fr-FR" smtClean="0"/>
              <a:t>Cliquez pour modifier les styles du texte du masque</a:t>
            </a:r>
          </a:p>
        </p:txBody>
      </p:sp>
      <p:sp>
        <p:nvSpPr>
          <p:cNvPr id="5" name="Espace réservé de la date 4"/>
          <p:cNvSpPr>
            <a:spLocks noGrp="1"/>
          </p:cNvSpPr>
          <p:nvPr>
            <p:ph type="dt" sz="half" idx="10"/>
          </p:nvPr>
        </p:nvSpPr>
        <p:spPr/>
        <p:txBody>
          <a:bodyPr/>
          <a:lstStyle/>
          <a:p>
            <a:fld id="{577ACA36-5630-4B7F-9338-B8CB539A49E9}" type="datetime1">
              <a:rPr lang="fr-FR" smtClean="0"/>
              <a:pPr/>
              <a:t>06/04/2025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0854C7C-2833-44F3-B2D3-08F1845B606C}" type="slidenum">
              <a:rPr lang="fr-FR" smtClean="0"/>
              <a:pPr/>
              <a:t>‹N°›</a:t>
            </a:fld>
            <a:endParaRPr lang="fr-FR"/>
          </a:p>
        </p:txBody>
      </p:sp>
      <p:sp>
        <p:nvSpPr>
          <p:cNvPr id="8" name="Connecteur droit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Triangle isocè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7C21E2EF-86D9-4CA6-A8BE-6247B96F7C7F}" type="datetime1">
              <a:rPr lang="fr-FR" smtClean="0"/>
              <a:pPr/>
              <a:t>06/04/2025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0854C7C-2833-44F3-B2D3-08F1845B606C}"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AAD36FDB-C50C-4E9F-990C-8BC8683AE507}" type="datetime1">
              <a:rPr lang="fr-FR" smtClean="0"/>
              <a:pPr/>
              <a:t>06/04/2025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0854C7C-2833-44F3-B2D3-08F1845B606C}" type="slidenum">
              <a:rPr lang="fr-FR" smtClean="0"/>
              <a:pPr/>
              <a:t>‹N°›</a:t>
            </a:fld>
            <a:endParaRPr lang="fr-FR"/>
          </a:p>
        </p:txBody>
      </p:sp>
      <p:sp>
        <p:nvSpPr>
          <p:cNvPr id="7" name="Connecteur droit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Triangle isocè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Connecteur droit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Espace réservé du titre 21"/>
          <p:cNvSpPr>
            <a:spLocks noGrp="1"/>
          </p:cNvSpPr>
          <p:nvPr>
            <p:ph type="title"/>
          </p:nvPr>
        </p:nvSpPr>
        <p:spPr>
          <a:xfrm>
            <a:off x="457200" y="152400"/>
            <a:ext cx="8229600" cy="990600"/>
          </a:xfrm>
          <a:prstGeom prst="rect">
            <a:avLst/>
          </a:prstGeom>
        </p:spPr>
        <p:txBody>
          <a:bodyPr vert="horz" anchor="b" anchorCtr="0">
            <a:normAutofit/>
          </a:bodyPr>
          <a:lstStyle/>
          <a:p>
            <a:r>
              <a:rPr kumimoji="0" lang="fr-FR" smtClean="0"/>
              <a:t>Cliquez pour modifier le style du titre</a:t>
            </a:r>
            <a:endParaRPr kumimoji="0" lang="en-US"/>
          </a:p>
        </p:txBody>
      </p:sp>
      <p:sp>
        <p:nvSpPr>
          <p:cNvPr id="13" name="Espace réservé du texte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fr-FR" smtClean="0"/>
              <a:t>Cliquez pour modifier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
        <p:nvSpPr>
          <p:cNvPr id="14" name="Espace réservé de la date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1B52AB8F-4CA0-4730-A474-6CEC8C41F61E}" type="datetime1">
              <a:rPr lang="fr-FR" smtClean="0"/>
              <a:pPr/>
              <a:t>06/04/2025</a:t>
            </a:fld>
            <a:endParaRPr lang="fr-FR"/>
          </a:p>
        </p:txBody>
      </p:sp>
      <p:sp>
        <p:nvSpPr>
          <p:cNvPr id="3" name="Espace réservé du pied de page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fr-FR"/>
          </a:p>
        </p:txBody>
      </p:sp>
      <p:sp>
        <p:nvSpPr>
          <p:cNvPr id="23" name="Espace réservé du numéro de diapositive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90854C7C-2833-44F3-B2D3-08F1845B606C}" type="slidenum">
              <a:rPr lang="fr-FR" smtClean="0"/>
              <a:pPr/>
              <a:t>‹N°›</a:t>
            </a:fld>
            <a:endParaRPr lang="fr-FR"/>
          </a:p>
        </p:txBody>
      </p:sp>
      <p:sp>
        <p:nvSpPr>
          <p:cNvPr id="28" name="Connecteur droit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Connecteur droit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Triangle isocè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928662" y="3643314"/>
            <a:ext cx="7005662" cy="990600"/>
          </a:xfrm>
        </p:spPr>
        <p:txBody>
          <a:bodyPr>
            <a:noAutofit/>
          </a:bodyPr>
          <a:lstStyle/>
          <a:p>
            <a:pPr algn="ctr"/>
            <a:r>
              <a:rPr lang="fr-FR" sz="2800" b="1" dirty="0" smtClean="0">
                <a:solidFill>
                  <a:schemeClr val="accent1"/>
                </a:solidFill>
              </a:rPr>
              <a:t>Patient souffrant d’insuffisance rénale chronique  et incidences   </a:t>
            </a:r>
            <a:r>
              <a:rPr lang="fr-FR" sz="2800" b="1" dirty="0" err="1" smtClean="0">
                <a:solidFill>
                  <a:schemeClr val="accent1"/>
                </a:solidFill>
              </a:rPr>
              <a:t>odontologiques</a:t>
            </a:r>
            <a:endParaRPr lang="fr-FR" sz="2800" b="1" dirty="0">
              <a:solidFill>
                <a:schemeClr val="accent1"/>
              </a:solidFill>
            </a:endParaRPr>
          </a:p>
        </p:txBody>
      </p:sp>
      <p:sp>
        <p:nvSpPr>
          <p:cNvPr id="3" name="Sous-titre 2"/>
          <p:cNvSpPr>
            <a:spLocks noGrp="1"/>
          </p:cNvSpPr>
          <p:nvPr>
            <p:ph type="subTitle" idx="1"/>
          </p:nvPr>
        </p:nvSpPr>
        <p:spPr/>
        <p:txBody>
          <a:bodyPr/>
          <a:lstStyle/>
          <a:p>
            <a:r>
              <a:rPr lang="fr-FR" dirty="0" smtClean="0"/>
              <a:t>Dr </a:t>
            </a:r>
            <a:r>
              <a:rPr lang="fr-FR" dirty="0" err="1" smtClean="0"/>
              <a:t>Nekhoul.K</a:t>
            </a:r>
            <a:r>
              <a:rPr lang="fr-FR" dirty="0" smtClean="0"/>
              <a:t> </a:t>
            </a:r>
            <a:endParaRPr lang="fr-FR" dirty="0"/>
          </a:p>
        </p:txBody>
      </p:sp>
      <p:sp>
        <p:nvSpPr>
          <p:cNvPr id="4" name="Espace réservé du numéro de diapositive 3"/>
          <p:cNvSpPr>
            <a:spLocks noGrp="1"/>
          </p:cNvSpPr>
          <p:nvPr>
            <p:ph type="sldNum" sz="quarter" idx="12"/>
          </p:nvPr>
        </p:nvSpPr>
        <p:spPr/>
        <p:txBody>
          <a:bodyPr/>
          <a:lstStyle/>
          <a:p>
            <a:fld id="{90854C7C-2833-44F3-B2D3-08F1845B606C}" type="slidenum">
              <a:rPr lang="fr-FR" smtClean="0"/>
              <a:pPr/>
              <a:t>1</a:t>
            </a:fld>
            <a:endParaRPr lang="fr-FR"/>
          </a:p>
        </p:txBody>
      </p:sp>
      <p:sp>
        <p:nvSpPr>
          <p:cNvPr id="5" name="Rectangle 4"/>
          <p:cNvSpPr/>
          <p:nvPr/>
        </p:nvSpPr>
        <p:spPr>
          <a:xfrm>
            <a:off x="2285984" y="785794"/>
            <a:ext cx="4572000" cy="5632311"/>
          </a:xfrm>
          <a:prstGeom prst="rect">
            <a:avLst/>
          </a:prstGeom>
        </p:spPr>
        <p:txBody>
          <a:bodyPr>
            <a:spAutoFit/>
          </a:bodyPr>
          <a:lstStyle/>
          <a:p>
            <a:pPr algn="ctr"/>
            <a:r>
              <a:rPr lang="fr-FR" b="1" dirty="0" smtClean="0"/>
              <a:t>Faculté de Médecine d’Alger</a:t>
            </a:r>
          </a:p>
          <a:p>
            <a:pPr algn="ctr"/>
            <a:r>
              <a:rPr lang="fr-FR" b="1" dirty="0" smtClean="0"/>
              <a:t>Département de médecine dentaire </a:t>
            </a:r>
          </a:p>
          <a:p>
            <a:pPr algn="ctr"/>
            <a:r>
              <a:rPr lang="fr-FR" b="1" dirty="0" smtClean="0"/>
              <a:t>Cours  de Pharmacologie</a:t>
            </a:r>
          </a:p>
          <a:p>
            <a:pPr algn="ctr"/>
            <a:endParaRPr lang="fr-FR" b="1" dirty="0" smtClean="0"/>
          </a:p>
          <a:p>
            <a:pPr algn="ctr"/>
            <a:endParaRPr lang="fr-FR" b="1" dirty="0" smtClean="0"/>
          </a:p>
          <a:p>
            <a:pPr algn="ctr"/>
            <a:r>
              <a:rPr lang="fr-FR" b="1" dirty="0" smtClean="0"/>
              <a:t>3</a:t>
            </a:r>
            <a:r>
              <a:rPr lang="fr-FR" b="1" baseline="30000" dirty="0" smtClean="0"/>
              <a:t>ième</a:t>
            </a:r>
            <a:r>
              <a:rPr lang="fr-FR" b="1" dirty="0" smtClean="0"/>
              <a:t> année médecine dentaire </a:t>
            </a:r>
          </a:p>
          <a:p>
            <a:pPr algn="ctr"/>
            <a:endParaRPr lang="fr-FR" b="1" dirty="0" smtClean="0"/>
          </a:p>
          <a:p>
            <a:pPr algn="ctr"/>
            <a:endParaRPr lang="fr-FR" b="1" dirty="0" smtClean="0"/>
          </a:p>
          <a:p>
            <a:pPr algn="ctr"/>
            <a:endParaRPr lang="fr-FR" b="1" dirty="0" smtClean="0"/>
          </a:p>
          <a:p>
            <a:pPr algn="ctr"/>
            <a:endParaRPr lang="fr-FR" b="1" dirty="0" smtClean="0"/>
          </a:p>
          <a:p>
            <a:pPr algn="ctr"/>
            <a:endParaRPr lang="fr-FR" b="1" dirty="0" smtClean="0"/>
          </a:p>
          <a:p>
            <a:pPr algn="ctr"/>
            <a:endParaRPr lang="fr-FR" b="1" dirty="0" smtClean="0"/>
          </a:p>
          <a:p>
            <a:pPr algn="ctr"/>
            <a:endParaRPr lang="fr-FR" b="1" dirty="0" smtClean="0"/>
          </a:p>
          <a:p>
            <a:pPr algn="ctr"/>
            <a:endParaRPr lang="fr-FR" b="1" dirty="0" smtClean="0"/>
          </a:p>
          <a:p>
            <a:pPr algn="ctr"/>
            <a:endParaRPr lang="fr-FR" b="1" dirty="0" smtClean="0"/>
          </a:p>
          <a:p>
            <a:pPr algn="ctr"/>
            <a:endParaRPr lang="fr-FR" b="1" dirty="0" smtClean="0"/>
          </a:p>
          <a:p>
            <a:pPr algn="ctr"/>
            <a:endParaRPr lang="fr-FR" b="1" dirty="0" smtClean="0"/>
          </a:p>
          <a:p>
            <a:pPr algn="ctr"/>
            <a:endParaRPr lang="fr-FR" b="1" dirty="0" smtClean="0"/>
          </a:p>
          <a:p>
            <a:pPr algn="ctr"/>
            <a:endParaRPr lang="fr-FR" b="1" dirty="0" smtClean="0"/>
          </a:p>
          <a:p>
            <a:pPr algn="ctr"/>
            <a:r>
              <a:rPr lang="fr-FR" b="1" dirty="0" smtClean="0"/>
              <a:t>Année </a:t>
            </a:r>
            <a:r>
              <a:rPr lang="fr-FR" b="1" smtClean="0"/>
              <a:t>universitaire </a:t>
            </a:r>
            <a:r>
              <a:rPr lang="fr-FR" b="1" smtClean="0"/>
              <a:t>2024 </a:t>
            </a:r>
            <a:r>
              <a:rPr lang="fr-FR" b="1" smtClean="0"/>
              <a:t>-</a:t>
            </a:r>
            <a:r>
              <a:rPr lang="fr-FR" b="1" smtClean="0"/>
              <a:t>2025 </a:t>
            </a:r>
            <a:endParaRPr lang="fr-FR" b="1"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lstStyle/>
          <a:p>
            <a:r>
              <a:rPr lang="fr-FR" dirty="0" smtClean="0"/>
              <a:t>Plan </a:t>
            </a:r>
            <a:endParaRPr lang="fr-FR" dirty="0"/>
          </a:p>
        </p:txBody>
      </p:sp>
      <p:sp>
        <p:nvSpPr>
          <p:cNvPr id="5" name="Rectangle 4"/>
          <p:cNvSpPr/>
          <p:nvPr/>
        </p:nvSpPr>
        <p:spPr>
          <a:xfrm>
            <a:off x="428596" y="1714488"/>
            <a:ext cx="8072494" cy="6155531"/>
          </a:xfrm>
          <a:prstGeom prst="rect">
            <a:avLst/>
          </a:prstGeom>
        </p:spPr>
        <p:txBody>
          <a:bodyPr wrap="square">
            <a:spAutoFit/>
          </a:bodyPr>
          <a:lstStyle/>
          <a:p>
            <a:r>
              <a:rPr lang="fr-FR" sz="2000" dirty="0" smtClean="0"/>
              <a:t>I-Rappels physiologiques(1): rôle du rein</a:t>
            </a:r>
          </a:p>
          <a:p>
            <a:r>
              <a:rPr lang="fr-FR" sz="2000" dirty="0" smtClean="0"/>
              <a:t>I-Rappels physiologiques(2): insuffisance rénale</a:t>
            </a:r>
          </a:p>
          <a:p>
            <a:r>
              <a:rPr lang="fr-FR" sz="2000" dirty="0" smtClean="0"/>
              <a:t>II-insuffisance rénale chronique et incidence en odontologie</a:t>
            </a:r>
          </a:p>
          <a:p>
            <a:r>
              <a:rPr lang="fr-FR" sz="2000" dirty="0" smtClean="0"/>
              <a:t>1- Manifestations cliniques  bucco-dentaires liées à l’IRC</a:t>
            </a:r>
          </a:p>
          <a:p>
            <a:r>
              <a:rPr lang="fr-FR" sz="2000" dirty="0" smtClean="0"/>
              <a:t>2-Modification de la pharmacocinétique des médicaments </a:t>
            </a:r>
          </a:p>
          <a:p>
            <a:pPr lvl="0"/>
            <a:r>
              <a:rPr lang="fr-FR" sz="2000" dirty="0" smtClean="0"/>
              <a:t>3-conséquences de l’IRC sur la prescription des médicaments  </a:t>
            </a:r>
          </a:p>
          <a:p>
            <a:pPr lvl="0"/>
            <a:r>
              <a:rPr lang="fr-FR" sz="2000" dirty="0" smtClean="0"/>
              <a:t>III-Adaptation de la posologie de certains médicaments utilisés en odontologie</a:t>
            </a:r>
          </a:p>
          <a:p>
            <a:pPr lvl="0"/>
            <a:r>
              <a:rPr lang="fr-FR" sz="2000" dirty="0" smtClean="0"/>
              <a:t>1- les antibiotiques</a:t>
            </a:r>
          </a:p>
          <a:p>
            <a:pPr lvl="0"/>
            <a:r>
              <a:rPr lang="fr-FR" sz="2000" dirty="0" smtClean="0"/>
              <a:t>2-les antalgiques</a:t>
            </a:r>
          </a:p>
          <a:p>
            <a:pPr lvl="0"/>
            <a:r>
              <a:rPr lang="fr-FR" sz="2000" dirty="0" smtClean="0"/>
              <a:t>3-les anti-inflammatoires </a:t>
            </a:r>
          </a:p>
          <a:p>
            <a:pPr lvl="0"/>
            <a:r>
              <a:rPr lang="fr-FR" sz="2000" dirty="0" smtClean="0"/>
              <a:t>IV -Cas particulier  du patient dialysé :  </a:t>
            </a:r>
          </a:p>
          <a:p>
            <a:endParaRPr lang="fr-FR" sz="2000" b="1" dirty="0" smtClean="0"/>
          </a:p>
          <a:p>
            <a:endParaRPr lang="fr-FR" sz="2000" b="1" dirty="0" smtClean="0"/>
          </a:p>
          <a:p>
            <a:endParaRPr lang="fr-FR" sz="2000" b="1" dirty="0" smtClean="0"/>
          </a:p>
          <a:p>
            <a:endParaRPr lang="fr-FR" sz="2000" b="1" dirty="0" smtClean="0"/>
          </a:p>
          <a:p>
            <a:r>
              <a:rPr lang="fr-FR" sz="2000" dirty="0" smtClean="0"/>
              <a:t>  </a:t>
            </a:r>
          </a:p>
          <a:p>
            <a:endParaRPr lang="fr-FR" dirty="0" smtClean="0"/>
          </a:p>
          <a:p>
            <a:r>
              <a:rPr lang="fr-FR" dirty="0" smtClean="0"/>
              <a:t> </a:t>
            </a:r>
          </a:p>
          <a:p>
            <a:endParaRPr lang="fr-FR" dirty="0"/>
          </a:p>
        </p:txBody>
      </p:sp>
      <p:sp>
        <p:nvSpPr>
          <p:cNvPr id="6" name="Espace réservé du numéro de diapositive 5"/>
          <p:cNvSpPr>
            <a:spLocks noGrp="1"/>
          </p:cNvSpPr>
          <p:nvPr>
            <p:ph type="sldNum" sz="quarter" idx="12"/>
          </p:nvPr>
        </p:nvSpPr>
        <p:spPr/>
        <p:txBody>
          <a:bodyPr/>
          <a:lstStyle/>
          <a:p>
            <a:fld id="{90854C7C-2833-44F3-B2D3-08F1845B606C}" type="slidenum">
              <a:rPr lang="fr-FR" smtClean="0"/>
              <a:pPr/>
              <a:t>2</a:t>
            </a:fld>
            <a:endParaRPr lang="fr-F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idx="4294967295"/>
          </p:nvPr>
        </p:nvSpPr>
        <p:spPr>
          <a:xfrm>
            <a:off x="285720" y="0"/>
            <a:ext cx="8229600" cy="914400"/>
          </a:xfrm>
        </p:spPr>
        <p:txBody>
          <a:bodyPr/>
          <a:lstStyle/>
          <a:p>
            <a:r>
              <a:rPr lang="fr-FR" dirty="0" smtClean="0"/>
              <a:t>I-Rappels physiologiques(1): rôle du rein </a:t>
            </a:r>
            <a:endParaRPr lang="fr-FR" dirty="0"/>
          </a:p>
        </p:txBody>
      </p:sp>
      <p:pic>
        <p:nvPicPr>
          <p:cNvPr id="3074" name="Picture 2"/>
          <p:cNvPicPr>
            <a:picLocks noChangeAspect="1" noChangeArrowheads="1"/>
          </p:cNvPicPr>
          <p:nvPr/>
        </p:nvPicPr>
        <p:blipFill>
          <a:blip r:embed="rId3"/>
          <a:srcRect/>
          <a:stretch>
            <a:fillRect/>
          </a:stretch>
        </p:blipFill>
        <p:spPr bwMode="auto">
          <a:xfrm>
            <a:off x="3286116" y="1000108"/>
            <a:ext cx="2490784" cy="1785950"/>
          </a:xfrm>
          <a:prstGeom prst="rect">
            <a:avLst/>
          </a:prstGeom>
          <a:noFill/>
          <a:ln w="9525">
            <a:noFill/>
            <a:miter lim="800000"/>
            <a:headEnd/>
            <a:tailEnd/>
          </a:ln>
          <a:effectLst/>
        </p:spPr>
      </p:pic>
      <p:cxnSp>
        <p:nvCxnSpPr>
          <p:cNvPr id="5" name="Connecteur droit avec flèche 4"/>
          <p:cNvCxnSpPr/>
          <p:nvPr/>
        </p:nvCxnSpPr>
        <p:spPr>
          <a:xfrm rot="5400000">
            <a:off x="2428860" y="2786058"/>
            <a:ext cx="714380" cy="428628"/>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cxnSp>
        <p:nvCxnSpPr>
          <p:cNvPr id="8" name="Connecteur droit avec flèche 7"/>
          <p:cNvCxnSpPr/>
          <p:nvPr/>
        </p:nvCxnSpPr>
        <p:spPr>
          <a:xfrm rot="16200000" flipH="1">
            <a:off x="4250529" y="3321843"/>
            <a:ext cx="857256" cy="71438"/>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cxnSp>
        <p:nvCxnSpPr>
          <p:cNvPr id="9" name="Connecteur droit avec flèche 8"/>
          <p:cNvCxnSpPr/>
          <p:nvPr/>
        </p:nvCxnSpPr>
        <p:spPr>
          <a:xfrm rot="16200000" flipH="1">
            <a:off x="6143636" y="2643182"/>
            <a:ext cx="642942" cy="642942"/>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214282" y="3357562"/>
            <a:ext cx="3143272" cy="230832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fr-FR" dirty="0" smtClean="0"/>
              <a:t>EXCRÉTION </a:t>
            </a:r>
          </a:p>
          <a:p>
            <a:pPr algn="just">
              <a:buFont typeface="Arial" pitchFamily="34" charset="0"/>
              <a:buChar char="•"/>
            </a:pPr>
            <a:r>
              <a:rPr lang="fr-FR" dirty="0" smtClean="0"/>
              <a:t>Elimination des déchets (urée, créatinine) </a:t>
            </a:r>
          </a:p>
          <a:p>
            <a:pPr algn="just">
              <a:buFont typeface="Arial" pitchFamily="34" charset="0"/>
              <a:buChar char="•"/>
            </a:pPr>
            <a:r>
              <a:rPr lang="fr-FR" dirty="0" smtClean="0"/>
              <a:t>Maintien de l’homéostasie du milieu intérieur ( normalisation des volumes liquidiens et équilibre </a:t>
            </a:r>
            <a:r>
              <a:rPr lang="fr-FR" dirty="0" err="1" smtClean="0"/>
              <a:t>éléctrolytique</a:t>
            </a:r>
            <a:r>
              <a:rPr lang="fr-FR" dirty="0" smtClean="0"/>
              <a:t> K+, Na+, phosphates…) </a:t>
            </a:r>
            <a:endParaRPr lang="fr-FR" dirty="0"/>
          </a:p>
        </p:txBody>
      </p:sp>
      <p:sp>
        <p:nvSpPr>
          <p:cNvPr id="3076" name="Rectangle 4"/>
          <p:cNvSpPr>
            <a:spLocks noChangeArrowheads="1"/>
          </p:cNvSpPr>
          <p:nvPr/>
        </p:nvSpPr>
        <p:spPr bwMode="auto">
          <a:xfrm>
            <a:off x="3500430" y="3786190"/>
            <a:ext cx="2928958" cy="1477328"/>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b="0" u="none" strike="noStrike" cap="none" normalizeH="0" baseline="0" dirty="0" smtClean="0">
                <a:ln>
                  <a:noFill/>
                </a:ln>
                <a:solidFill>
                  <a:schemeClr val="tx1"/>
                </a:solidFill>
                <a:effectLst/>
                <a:ea typeface="Calibri" pitchFamily="34" charset="0"/>
                <a:cs typeface="Arial" pitchFamily="34" charset="0"/>
              </a:rPr>
              <a:t>SÉCRÉTION ENDOCRINE </a:t>
            </a:r>
            <a:endParaRPr lang="fr-FR" dirty="0" smtClean="0">
              <a:ea typeface="Calibri" pitchFamily="34" charset="0"/>
              <a:cs typeface="Arial" pitchFamily="34" charset="0"/>
            </a:endParaRPr>
          </a:p>
          <a:p>
            <a:pPr marL="0" marR="0" lvl="0" indent="0" algn="just" defTabSz="914400" rtl="0" eaLnBrk="1" fontAlgn="base" latinLnBrk="0" hangingPunct="1">
              <a:lnSpc>
                <a:spcPct val="100000"/>
              </a:lnSpc>
              <a:spcBef>
                <a:spcPct val="0"/>
              </a:spcBef>
              <a:spcAft>
                <a:spcPct val="0"/>
              </a:spcAft>
              <a:buClrTx/>
              <a:buSzTx/>
              <a:buFont typeface="Arial" pitchFamily="34" charset="0"/>
              <a:buChar char="•"/>
              <a:tabLst/>
            </a:pPr>
            <a:r>
              <a:rPr lang="fr-FR" dirty="0" smtClean="0">
                <a:ea typeface="Calibri" pitchFamily="34" charset="0"/>
                <a:cs typeface="Arial" pitchFamily="34" charset="0"/>
              </a:rPr>
              <a:t>E</a:t>
            </a:r>
            <a:r>
              <a:rPr kumimoji="0" lang="fr-FR" b="0" u="none" strike="noStrike" cap="none" normalizeH="0" baseline="0" dirty="0" smtClean="0">
                <a:ln>
                  <a:noFill/>
                </a:ln>
                <a:solidFill>
                  <a:schemeClr val="tx1"/>
                </a:solidFill>
                <a:effectLst/>
                <a:ea typeface="Calibri" pitchFamily="34" charset="0"/>
                <a:cs typeface="Arial" pitchFamily="34" charset="0"/>
              </a:rPr>
              <a:t>rythropoïétine</a:t>
            </a:r>
            <a:r>
              <a:rPr kumimoji="0" lang="fr-FR" b="0" u="none" strike="noStrike" cap="none" normalizeH="0" dirty="0" smtClean="0">
                <a:ln>
                  <a:noFill/>
                </a:ln>
                <a:solidFill>
                  <a:schemeClr val="tx1"/>
                </a:solidFill>
                <a:effectLst/>
                <a:ea typeface="Calibri" pitchFamily="34" charset="0"/>
                <a:cs typeface="Arial" pitchFamily="34" charset="0"/>
              </a:rPr>
              <a:t> </a:t>
            </a:r>
            <a:r>
              <a:rPr lang="fr-FR" dirty="0" smtClean="0">
                <a:ea typeface="Calibri" pitchFamily="34" charset="0"/>
                <a:cs typeface="Arial" pitchFamily="34" charset="0"/>
              </a:rPr>
              <a:t>: facteur de croissance des hématies .</a:t>
            </a:r>
          </a:p>
          <a:p>
            <a:pPr marL="0" marR="0" lvl="0" indent="0" algn="just" defTabSz="914400" rtl="0" eaLnBrk="1" fontAlgn="base" latinLnBrk="0" hangingPunct="1">
              <a:lnSpc>
                <a:spcPct val="100000"/>
              </a:lnSpc>
              <a:spcBef>
                <a:spcPct val="0"/>
              </a:spcBef>
              <a:spcAft>
                <a:spcPct val="0"/>
              </a:spcAft>
              <a:buClrTx/>
              <a:buSzTx/>
              <a:buFont typeface="Arial" pitchFamily="34" charset="0"/>
              <a:buChar char="•"/>
              <a:tabLst/>
            </a:pPr>
            <a:r>
              <a:rPr lang="fr-FR" dirty="0" smtClean="0">
                <a:ea typeface="Calibri" pitchFamily="34" charset="0"/>
                <a:cs typeface="Arial" pitchFamily="34" charset="0"/>
              </a:rPr>
              <a:t>R</a:t>
            </a:r>
            <a:r>
              <a:rPr kumimoji="0" lang="fr-FR" b="0" u="none" strike="noStrike" cap="none" normalizeH="0" baseline="0" dirty="0" smtClean="0">
                <a:ln>
                  <a:noFill/>
                </a:ln>
                <a:solidFill>
                  <a:schemeClr val="tx1"/>
                </a:solidFill>
                <a:effectLst/>
                <a:ea typeface="Calibri" pitchFamily="34" charset="0"/>
                <a:cs typeface="Arial" pitchFamily="34" charset="0"/>
              </a:rPr>
              <a:t>énine</a:t>
            </a:r>
            <a:r>
              <a:rPr kumimoji="0" lang="fr-FR" b="0" u="none" strike="noStrike" cap="none" normalizeH="0" dirty="0" smtClean="0">
                <a:ln>
                  <a:noFill/>
                </a:ln>
                <a:solidFill>
                  <a:schemeClr val="tx1"/>
                </a:solidFill>
                <a:effectLst/>
                <a:ea typeface="Calibri" pitchFamily="34" charset="0"/>
                <a:cs typeface="Arial" pitchFamily="34" charset="0"/>
              </a:rPr>
              <a:t> </a:t>
            </a:r>
            <a:r>
              <a:rPr lang="fr-FR" dirty="0" smtClean="0">
                <a:ea typeface="Calibri" pitchFamily="34" charset="0"/>
                <a:cs typeface="Arial" pitchFamily="34" charset="0"/>
              </a:rPr>
              <a:t>:</a:t>
            </a:r>
            <a:r>
              <a:rPr kumimoji="0" lang="fr-FR" b="0" u="none" strike="noStrike" cap="none" normalizeH="0" baseline="0" dirty="0" smtClean="0">
                <a:ln>
                  <a:noFill/>
                </a:ln>
                <a:solidFill>
                  <a:schemeClr val="tx1"/>
                </a:solidFill>
                <a:effectLst/>
                <a:ea typeface="Calibri" pitchFamily="34" charset="0"/>
                <a:cs typeface="Arial" pitchFamily="34" charset="0"/>
              </a:rPr>
              <a:t>régulation</a:t>
            </a:r>
            <a:r>
              <a:rPr kumimoji="0" lang="fr-FR" b="0" u="none" strike="noStrike" cap="none" normalizeH="0" dirty="0" smtClean="0">
                <a:ln>
                  <a:noFill/>
                </a:ln>
                <a:solidFill>
                  <a:schemeClr val="tx1"/>
                </a:solidFill>
                <a:effectLst/>
                <a:ea typeface="Calibri" pitchFamily="34" charset="0"/>
                <a:cs typeface="Arial" pitchFamily="34" charset="0"/>
              </a:rPr>
              <a:t> de </a:t>
            </a:r>
            <a:r>
              <a:rPr kumimoji="0" lang="fr-FR" b="0" u="none" strike="noStrike" cap="none" normalizeH="0" baseline="0" dirty="0" smtClean="0">
                <a:ln>
                  <a:noFill/>
                </a:ln>
                <a:solidFill>
                  <a:schemeClr val="tx1"/>
                </a:solidFill>
                <a:effectLst/>
                <a:ea typeface="Calibri" pitchFamily="34" charset="0"/>
                <a:cs typeface="Arial" pitchFamily="34" charset="0"/>
              </a:rPr>
              <a:t>la tension artérielle.</a:t>
            </a:r>
            <a:endParaRPr kumimoji="0" lang="fr-FR" b="0" u="none" strike="noStrike" cap="none" normalizeH="0" baseline="0" dirty="0" smtClean="0">
              <a:ln>
                <a:noFill/>
              </a:ln>
              <a:solidFill>
                <a:schemeClr val="tx1"/>
              </a:solidFill>
              <a:effectLst/>
              <a:cs typeface="Arial" pitchFamily="34" charset="0"/>
            </a:endParaRPr>
          </a:p>
        </p:txBody>
      </p:sp>
      <p:sp>
        <p:nvSpPr>
          <p:cNvPr id="15" name="Rectangle 14"/>
          <p:cNvSpPr/>
          <p:nvPr/>
        </p:nvSpPr>
        <p:spPr>
          <a:xfrm>
            <a:off x="6572264" y="3357562"/>
            <a:ext cx="2357453" cy="120032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fr-FR" dirty="0" smtClean="0"/>
              <a:t>MÉTABOLISME</a:t>
            </a:r>
            <a:r>
              <a:rPr lang="fr-FR" i="1" dirty="0" smtClean="0"/>
              <a:t> </a:t>
            </a:r>
            <a:r>
              <a:rPr lang="fr-FR" dirty="0" smtClean="0"/>
              <a:t>Transformation de la vitamine D en forme active </a:t>
            </a:r>
            <a:endParaRPr lang="fr-FR" dirty="0"/>
          </a:p>
        </p:txBody>
      </p:sp>
      <p:sp>
        <p:nvSpPr>
          <p:cNvPr id="10" name="Espace réservé du numéro de diapositive 9"/>
          <p:cNvSpPr>
            <a:spLocks noGrp="1"/>
          </p:cNvSpPr>
          <p:nvPr>
            <p:ph type="sldNum" sz="quarter" idx="12"/>
          </p:nvPr>
        </p:nvSpPr>
        <p:spPr/>
        <p:txBody>
          <a:bodyPr/>
          <a:lstStyle/>
          <a:p>
            <a:fld id="{41FC8BE2-ABBC-4B9F-BC74-4C794D0A135E}" type="slidenum">
              <a:rPr lang="fr-FR" smtClean="0"/>
              <a:pPr/>
              <a:t>3</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ox(in)">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ox(in)">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076"/>
                                        </p:tgtEl>
                                        <p:attrNameLst>
                                          <p:attrName>style.visibility</p:attrName>
                                        </p:attrNameLst>
                                      </p:cBhvr>
                                      <p:to>
                                        <p:strVal val="visible"/>
                                      </p:to>
                                    </p:set>
                                    <p:animEffect transition="in" filter="box(in)">
                                      <p:cBhvr>
                                        <p:cTn id="22" dur="500"/>
                                        <p:tgtEl>
                                          <p:spTgt spid="3076"/>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ox(in)">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box(in)">
                                      <p:cBhvr>
                                        <p:cTn id="3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3076" grpId="0" animBg="1"/>
      <p:bldP spid="1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285720" y="0"/>
            <a:ext cx="8229600" cy="914400"/>
          </a:xfrm>
          <a:prstGeom prst="rect">
            <a:avLst/>
          </a:prstGeom>
        </p:spPr>
        <p:txBody>
          <a:bodyPr vert="horz" anchor="b" anchorCtr="0">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fr-FR" sz="3200" b="0" i="0" u="none" strike="noStrike" kern="1200" cap="none" spc="0" normalizeH="0" baseline="0" noProof="0" dirty="0" smtClean="0">
                <a:ln>
                  <a:noFill/>
                </a:ln>
                <a:solidFill>
                  <a:schemeClr val="tx2"/>
                </a:solidFill>
                <a:effectLst/>
                <a:uLnTx/>
                <a:uFillTx/>
                <a:latin typeface="+mj-lt"/>
                <a:ea typeface="+mj-ea"/>
                <a:cs typeface="+mj-cs"/>
              </a:rPr>
              <a:t>I-Rappels physiologiques(1): rôle du rein </a:t>
            </a:r>
            <a:endParaRPr kumimoji="0" lang="fr-FR" sz="3200" b="0" i="0" u="none" strike="noStrike" kern="1200" cap="none" spc="0" normalizeH="0" baseline="0" noProof="0" dirty="0">
              <a:ln>
                <a:noFill/>
              </a:ln>
              <a:solidFill>
                <a:schemeClr val="tx2"/>
              </a:solidFill>
              <a:effectLst/>
              <a:uLnTx/>
              <a:uFillTx/>
              <a:latin typeface="+mj-lt"/>
              <a:ea typeface="+mj-ea"/>
              <a:cs typeface="+mj-cs"/>
            </a:endParaRPr>
          </a:p>
        </p:txBody>
      </p:sp>
      <p:pic>
        <p:nvPicPr>
          <p:cNvPr id="1026" name="Picture 2" descr="RÃ©sultat de recherche d'images pour &quot;dÃ©bit de filtration glomÃ©rulaire&quot;"/>
          <p:cNvPicPr>
            <a:picLocks noChangeAspect="1" noChangeArrowheads="1"/>
          </p:cNvPicPr>
          <p:nvPr/>
        </p:nvPicPr>
        <p:blipFill>
          <a:blip r:embed="rId3"/>
          <a:srcRect/>
          <a:stretch>
            <a:fillRect/>
          </a:stretch>
        </p:blipFill>
        <p:spPr bwMode="auto">
          <a:xfrm>
            <a:off x="428596" y="1571612"/>
            <a:ext cx="4429156" cy="4329093"/>
          </a:xfrm>
          <a:prstGeom prst="rect">
            <a:avLst/>
          </a:prstGeom>
          <a:noFill/>
        </p:spPr>
      </p:pic>
      <p:sp>
        <p:nvSpPr>
          <p:cNvPr id="4" name="Rectangle 3"/>
          <p:cNvSpPr/>
          <p:nvPr/>
        </p:nvSpPr>
        <p:spPr>
          <a:xfrm>
            <a:off x="4857752" y="1857364"/>
            <a:ext cx="4000528" cy="3416320"/>
          </a:xfrm>
          <a:prstGeom prst="rect">
            <a:avLst/>
          </a:prstGeom>
        </p:spPr>
        <p:txBody>
          <a:bodyPr wrap="square">
            <a:spAutoFit/>
          </a:bodyPr>
          <a:lstStyle/>
          <a:p>
            <a:pPr algn="just"/>
            <a:r>
              <a:rPr lang="fr-FR" sz="2800" dirty="0" smtClean="0"/>
              <a:t> </a:t>
            </a:r>
            <a:r>
              <a:rPr lang="fr-FR" sz="2800" dirty="0" smtClean="0">
                <a:latin typeface="Calibri"/>
              </a:rPr>
              <a:t>→capacité d’excrétion quantifiée par: le </a:t>
            </a:r>
            <a:r>
              <a:rPr lang="fr-FR" sz="2800" dirty="0" smtClean="0"/>
              <a:t> </a:t>
            </a:r>
            <a:r>
              <a:rPr lang="fr-FR" sz="2800" b="1" dirty="0" smtClean="0"/>
              <a:t>débit de filtration glomérulaire</a:t>
            </a:r>
            <a:r>
              <a:rPr lang="fr-FR" sz="2800" dirty="0" smtClean="0"/>
              <a:t> (</a:t>
            </a:r>
            <a:r>
              <a:rPr lang="fr-FR" sz="2800" b="1" dirty="0" smtClean="0"/>
              <a:t>DFG</a:t>
            </a:r>
            <a:r>
              <a:rPr lang="fr-FR" sz="2800" dirty="0" smtClean="0"/>
              <a:t>)</a:t>
            </a:r>
          </a:p>
          <a:p>
            <a:pPr algn="just"/>
            <a:r>
              <a:rPr lang="fr-FR" sz="2800" dirty="0" smtClean="0">
                <a:latin typeface="Calibri"/>
              </a:rPr>
              <a:t>→</a:t>
            </a:r>
            <a:r>
              <a:rPr lang="fr-FR" sz="2800" dirty="0" smtClean="0"/>
              <a:t> le volume de liquide filtré par le rein par unité de temps. </a:t>
            </a:r>
          </a:p>
          <a:p>
            <a:pPr algn="just"/>
            <a:endParaRPr lang="fr-FR" sz="2000" dirty="0"/>
          </a:p>
        </p:txBody>
      </p:sp>
      <p:sp>
        <p:nvSpPr>
          <p:cNvPr id="5" name="Espace réservé du numéro de diapositive 4"/>
          <p:cNvSpPr>
            <a:spLocks noGrp="1"/>
          </p:cNvSpPr>
          <p:nvPr>
            <p:ph type="sldNum" sz="quarter" idx="12"/>
          </p:nvPr>
        </p:nvSpPr>
        <p:spPr/>
        <p:txBody>
          <a:bodyPr/>
          <a:lstStyle/>
          <a:p>
            <a:fld id="{41FC8BE2-ABBC-4B9F-BC74-4C794D0A135E}" type="slidenum">
              <a:rPr lang="fr-FR" smtClean="0"/>
              <a:pPr/>
              <a:t>4</a:t>
            </a:fld>
            <a:endParaRPr lang="fr-FR"/>
          </a:p>
        </p:txBody>
      </p:sp>
      <p:sp>
        <p:nvSpPr>
          <p:cNvPr id="6" name="ZoneTexte 5"/>
          <p:cNvSpPr txBox="1"/>
          <p:nvPr/>
        </p:nvSpPr>
        <p:spPr>
          <a:xfrm>
            <a:off x="357158" y="928670"/>
            <a:ext cx="5431423" cy="523220"/>
          </a:xfrm>
          <a:prstGeom prst="rect">
            <a:avLst/>
          </a:prstGeom>
          <a:noFill/>
        </p:spPr>
        <p:txBody>
          <a:bodyPr wrap="none" rtlCol="0">
            <a:spAutoFit/>
          </a:bodyPr>
          <a:lstStyle/>
          <a:p>
            <a:r>
              <a:rPr lang="fr-FR" sz="2800" dirty="0" smtClean="0"/>
              <a:t>Excrétion urinaire : 03 mécanismes :</a:t>
            </a:r>
            <a:endParaRPr lang="fr-FR" sz="28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idx="4294967295"/>
          </p:nvPr>
        </p:nvSpPr>
        <p:spPr>
          <a:xfrm>
            <a:off x="214282" y="-214338"/>
            <a:ext cx="8929718" cy="914400"/>
          </a:xfrm>
        </p:spPr>
        <p:txBody>
          <a:bodyPr>
            <a:normAutofit fontScale="90000"/>
          </a:bodyPr>
          <a:lstStyle/>
          <a:p>
            <a:r>
              <a:rPr lang="fr-FR" dirty="0" smtClean="0"/>
              <a:t>I-Rappels physiologiques(2): insuffisance rénale </a:t>
            </a:r>
            <a:endParaRPr lang="fr-FR" dirty="0"/>
          </a:p>
        </p:txBody>
      </p:sp>
      <p:sp>
        <p:nvSpPr>
          <p:cNvPr id="11" name="Rectangle 10"/>
          <p:cNvSpPr/>
          <p:nvPr/>
        </p:nvSpPr>
        <p:spPr>
          <a:xfrm>
            <a:off x="214282" y="928670"/>
            <a:ext cx="8572560" cy="4893647"/>
          </a:xfrm>
          <a:prstGeom prst="rect">
            <a:avLst/>
          </a:prstGeom>
        </p:spPr>
        <p:txBody>
          <a:bodyPr wrap="square">
            <a:spAutoFit/>
          </a:bodyPr>
          <a:lstStyle/>
          <a:p>
            <a:pPr algn="just"/>
            <a:r>
              <a:rPr lang="fr-FR" sz="2000" dirty="0" smtClean="0"/>
              <a:t>-</a:t>
            </a:r>
            <a:r>
              <a:rPr lang="fr-FR" sz="2400" dirty="0" smtClean="0"/>
              <a:t>C’est l’incapacité du rein à accomplir ses fonctions :</a:t>
            </a:r>
          </a:p>
          <a:p>
            <a:pPr algn="just"/>
            <a:r>
              <a:rPr lang="fr-FR" sz="2400" dirty="0" smtClean="0"/>
              <a:t>-Diminution du débit de filtration glomérulaire suie à la destruction anatomique irréversible (pas de régénération) des unités fonctionnelles des reins : les néphrons. </a:t>
            </a:r>
          </a:p>
          <a:p>
            <a:pPr algn="just"/>
            <a:r>
              <a:rPr lang="fr-FR" sz="2400" dirty="0" smtClean="0"/>
              <a:t>-Le diagnostic d’une insuffisance rénale chroniqu</a:t>
            </a:r>
            <a:r>
              <a:rPr lang="fr-FR" sz="2400" dirty="0"/>
              <a:t>e</a:t>
            </a:r>
            <a:r>
              <a:rPr lang="fr-FR" sz="2400" dirty="0" smtClean="0"/>
              <a:t>  se fait lorsque   les capacités de  filtration glomérulaire  diminue  de plus de 75 %.</a:t>
            </a:r>
          </a:p>
          <a:p>
            <a:pPr algn="just"/>
            <a:r>
              <a:rPr lang="fr-FR" sz="2400" dirty="0"/>
              <a:t> </a:t>
            </a:r>
            <a:r>
              <a:rPr lang="fr-FR" sz="2400" dirty="0" smtClean="0"/>
              <a:t>- A ce moment là , le rein ne pourra plus assurer  ses fonctions de détoxifications d’une manière correcte.</a:t>
            </a:r>
          </a:p>
          <a:p>
            <a:pPr algn="just"/>
            <a:r>
              <a:rPr lang="fr-FR" sz="2400" dirty="0"/>
              <a:t> </a:t>
            </a:r>
            <a:r>
              <a:rPr lang="fr-FR" sz="2400" dirty="0" smtClean="0"/>
              <a:t>il  est nécessaire de déterminer le stade de l’insuffisance rénale  pour évaluer la fonction rénale et ses répercussions sur les capacités  du rein à  </a:t>
            </a:r>
            <a:r>
              <a:rPr lang="fr-FR" sz="2400" dirty="0" err="1" smtClean="0"/>
              <a:t>détoxifier</a:t>
            </a:r>
            <a:r>
              <a:rPr lang="fr-FR" sz="2400" dirty="0" smtClean="0"/>
              <a:t> les déchets et les médicaments </a:t>
            </a:r>
          </a:p>
          <a:p>
            <a:pPr algn="just"/>
            <a:endParaRPr lang="fr-FR" sz="2400" dirty="0" smtClean="0"/>
          </a:p>
          <a:p>
            <a:pPr algn="just"/>
            <a:r>
              <a:rPr lang="fr-FR" sz="2400" dirty="0" smtClean="0"/>
              <a:t> </a:t>
            </a:r>
            <a:endParaRPr lang="fr-FR" sz="2400" dirty="0"/>
          </a:p>
        </p:txBody>
      </p:sp>
      <p:sp>
        <p:nvSpPr>
          <p:cNvPr id="13" name="Espace réservé du numéro de diapositive 12"/>
          <p:cNvSpPr>
            <a:spLocks noGrp="1"/>
          </p:cNvSpPr>
          <p:nvPr>
            <p:ph type="sldNum" sz="quarter" idx="12"/>
          </p:nvPr>
        </p:nvSpPr>
        <p:spPr/>
        <p:txBody>
          <a:bodyPr/>
          <a:lstStyle/>
          <a:p>
            <a:fld id="{41FC8BE2-ABBC-4B9F-BC74-4C794D0A135E}" type="slidenum">
              <a:rPr lang="fr-FR" smtClean="0"/>
              <a:pPr/>
              <a:t>5</a:t>
            </a:fld>
            <a:endParaRPr lang="fr-F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idx="4294967295"/>
          </p:nvPr>
        </p:nvSpPr>
        <p:spPr>
          <a:xfrm>
            <a:off x="285720" y="-285776"/>
            <a:ext cx="8858280" cy="914400"/>
          </a:xfrm>
        </p:spPr>
        <p:txBody>
          <a:bodyPr>
            <a:normAutofit fontScale="90000"/>
          </a:bodyPr>
          <a:lstStyle/>
          <a:p>
            <a:r>
              <a:rPr lang="fr-FR" dirty="0" smtClean="0"/>
              <a:t>I-Rappels physiologiques(2):insuffisance rénale  </a:t>
            </a:r>
            <a:endParaRPr lang="fr-FR" dirty="0"/>
          </a:p>
        </p:txBody>
      </p:sp>
      <p:sp>
        <p:nvSpPr>
          <p:cNvPr id="5" name="Espace réservé du numéro de diapositive 4"/>
          <p:cNvSpPr>
            <a:spLocks noGrp="1"/>
          </p:cNvSpPr>
          <p:nvPr>
            <p:ph type="sldNum" sz="quarter" idx="12"/>
          </p:nvPr>
        </p:nvSpPr>
        <p:spPr/>
        <p:txBody>
          <a:bodyPr/>
          <a:lstStyle/>
          <a:p>
            <a:fld id="{41FC8BE2-ABBC-4B9F-BC74-4C794D0A135E}" type="slidenum">
              <a:rPr lang="fr-FR" smtClean="0"/>
              <a:pPr/>
              <a:t>6</a:t>
            </a:fld>
            <a:endParaRPr lang="fr-FR"/>
          </a:p>
        </p:txBody>
      </p:sp>
      <p:sp>
        <p:nvSpPr>
          <p:cNvPr id="6" name="Rectangle 5"/>
          <p:cNvSpPr/>
          <p:nvPr/>
        </p:nvSpPr>
        <p:spPr>
          <a:xfrm>
            <a:off x="428596" y="857232"/>
            <a:ext cx="7786742" cy="1323439"/>
          </a:xfrm>
          <a:prstGeom prst="rect">
            <a:avLst/>
          </a:prstGeom>
        </p:spPr>
        <p:txBody>
          <a:bodyPr wrap="square">
            <a:spAutoFit/>
          </a:bodyPr>
          <a:lstStyle/>
          <a:p>
            <a:pPr algn="just"/>
            <a:r>
              <a:rPr lang="fr-FR" sz="2000" b="1" dirty="0" smtClean="0"/>
              <a:t>L’É</a:t>
            </a:r>
            <a:r>
              <a:rPr lang="fr-FR" sz="2000" dirty="0" smtClean="0"/>
              <a:t>valuation de la fonction rénale se fait par le  calcul du débit de filtration glomérulaire </a:t>
            </a:r>
            <a:r>
              <a:rPr lang="fr-FR" sz="2000" dirty="0">
                <a:latin typeface="Calibri"/>
              </a:rPr>
              <a:t> </a:t>
            </a:r>
            <a:r>
              <a:rPr lang="fr-FR" sz="2000" dirty="0" smtClean="0">
                <a:latin typeface="Calibri"/>
              </a:rPr>
              <a:t>( DFG)  en utilisant  des formules mathématiques prenant en compte la </a:t>
            </a:r>
            <a:r>
              <a:rPr lang="fr-FR" sz="2000" dirty="0" err="1" smtClean="0">
                <a:latin typeface="Calibri"/>
              </a:rPr>
              <a:t>créatininémie</a:t>
            </a:r>
            <a:r>
              <a:rPr lang="fr-FR" sz="2000" dirty="0" smtClean="0">
                <a:latin typeface="Calibri"/>
              </a:rPr>
              <a:t> </a:t>
            </a:r>
          </a:p>
          <a:p>
            <a:pPr algn="just"/>
            <a:endParaRPr lang="fr-FR" sz="2000" dirty="0" smtClean="0"/>
          </a:p>
        </p:txBody>
      </p:sp>
      <p:pic>
        <p:nvPicPr>
          <p:cNvPr id="1026" name="Picture 2"/>
          <p:cNvPicPr>
            <a:picLocks noChangeAspect="1" noChangeArrowheads="1"/>
          </p:cNvPicPr>
          <p:nvPr/>
        </p:nvPicPr>
        <p:blipFill>
          <a:blip r:embed="rId2"/>
          <a:srcRect/>
          <a:stretch>
            <a:fillRect/>
          </a:stretch>
        </p:blipFill>
        <p:spPr bwMode="auto">
          <a:xfrm>
            <a:off x="0" y="2000240"/>
            <a:ext cx="4357718" cy="3714776"/>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4357654" y="1928802"/>
            <a:ext cx="4786346" cy="3857652"/>
          </a:xfrm>
          <a:prstGeom prst="rect">
            <a:avLst/>
          </a:prstGeom>
          <a:noFill/>
          <a:ln w="9525">
            <a:noFill/>
            <a:miter lim="800000"/>
            <a:headEnd/>
            <a:tailEnd/>
          </a:ln>
          <a:effectLst/>
        </p:spPr>
      </p:pic>
      <p:sp>
        <p:nvSpPr>
          <p:cNvPr id="11" name="ZoneTexte 10"/>
          <p:cNvSpPr txBox="1"/>
          <p:nvPr/>
        </p:nvSpPr>
        <p:spPr>
          <a:xfrm>
            <a:off x="285720" y="5857892"/>
            <a:ext cx="3625673" cy="369332"/>
          </a:xfrm>
          <a:prstGeom prst="rect">
            <a:avLst/>
          </a:prstGeom>
          <a:noFill/>
        </p:spPr>
        <p:txBody>
          <a:bodyPr wrap="none" rtlCol="0">
            <a:spAutoFit/>
          </a:bodyPr>
          <a:lstStyle/>
          <a:p>
            <a:r>
              <a:rPr lang="fr-FR" b="1" dirty="0" smtClean="0">
                <a:solidFill>
                  <a:schemeClr val="accent2">
                    <a:lumMod val="75000"/>
                  </a:schemeClr>
                </a:solidFill>
              </a:rPr>
              <a:t>Cl </a:t>
            </a:r>
            <a:r>
              <a:rPr lang="fr-FR" b="1" dirty="0" err="1" smtClean="0">
                <a:solidFill>
                  <a:schemeClr val="accent2">
                    <a:lumMod val="75000"/>
                  </a:schemeClr>
                </a:solidFill>
              </a:rPr>
              <a:t>cr</a:t>
            </a:r>
            <a:r>
              <a:rPr lang="fr-FR" b="1" dirty="0" smtClean="0">
                <a:solidFill>
                  <a:schemeClr val="accent2">
                    <a:lumMod val="75000"/>
                  </a:schemeClr>
                </a:solidFill>
              </a:rPr>
              <a:t> : clairance de la créatinine </a:t>
            </a:r>
            <a:endParaRPr lang="fr-FR" b="1" dirty="0">
              <a:solidFill>
                <a:schemeClr val="accent2">
                  <a:lumMod val="75000"/>
                </a:schemeClr>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idx="4294967295"/>
          </p:nvPr>
        </p:nvSpPr>
        <p:spPr>
          <a:xfrm>
            <a:off x="285720" y="-285776"/>
            <a:ext cx="8858280" cy="914400"/>
          </a:xfrm>
        </p:spPr>
        <p:txBody>
          <a:bodyPr>
            <a:normAutofit fontScale="90000"/>
          </a:bodyPr>
          <a:lstStyle/>
          <a:p>
            <a:r>
              <a:rPr lang="fr-FR" dirty="0" smtClean="0"/>
              <a:t>I-Rappels physiologiques(2):insuffisance rénale  </a:t>
            </a:r>
            <a:endParaRPr lang="fr-FR" dirty="0"/>
          </a:p>
        </p:txBody>
      </p:sp>
      <p:sp>
        <p:nvSpPr>
          <p:cNvPr id="5" name="Espace réservé du numéro de diapositive 4"/>
          <p:cNvSpPr>
            <a:spLocks noGrp="1"/>
          </p:cNvSpPr>
          <p:nvPr>
            <p:ph type="sldNum" sz="quarter" idx="12"/>
          </p:nvPr>
        </p:nvSpPr>
        <p:spPr/>
        <p:txBody>
          <a:bodyPr/>
          <a:lstStyle/>
          <a:p>
            <a:fld id="{41FC8BE2-ABBC-4B9F-BC74-4C794D0A135E}" type="slidenum">
              <a:rPr lang="fr-FR" smtClean="0"/>
              <a:pPr/>
              <a:t>7</a:t>
            </a:fld>
            <a:endParaRPr lang="fr-FR"/>
          </a:p>
        </p:txBody>
      </p:sp>
      <p:sp>
        <p:nvSpPr>
          <p:cNvPr id="6" name="Rectangle 5"/>
          <p:cNvSpPr/>
          <p:nvPr/>
        </p:nvSpPr>
        <p:spPr>
          <a:xfrm>
            <a:off x="428596" y="857232"/>
            <a:ext cx="7786742" cy="707886"/>
          </a:xfrm>
          <a:prstGeom prst="rect">
            <a:avLst/>
          </a:prstGeom>
        </p:spPr>
        <p:txBody>
          <a:bodyPr wrap="square">
            <a:spAutoFit/>
          </a:bodyPr>
          <a:lstStyle/>
          <a:p>
            <a:pPr algn="just"/>
            <a:r>
              <a:rPr lang="fr-FR" sz="2000" dirty="0" smtClean="0"/>
              <a:t>Selon la valeur obtenue ,  on définit le stade de l’insuffisance rénale comme ceci : </a:t>
            </a:r>
          </a:p>
        </p:txBody>
      </p:sp>
      <p:pic>
        <p:nvPicPr>
          <p:cNvPr id="7" name="Picture 2"/>
          <p:cNvPicPr>
            <a:picLocks noChangeAspect="1" noChangeArrowheads="1"/>
          </p:cNvPicPr>
          <p:nvPr/>
        </p:nvPicPr>
        <p:blipFill>
          <a:blip r:embed="rId2"/>
          <a:srcRect/>
          <a:stretch>
            <a:fillRect/>
          </a:stretch>
        </p:blipFill>
        <p:spPr bwMode="auto">
          <a:xfrm>
            <a:off x="428596" y="1714488"/>
            <a:ext cx="8143932" cy="392909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idx="4294967295"/>
          </p:nvPr>
        </p:nvSpPr>
        <p:spPr>
          <a:xfrm>
            <a:off x="214282" y="-457200"/>
            <a:ext cx="9286940" cy="914400"/>
          </a:xfrm>
        </p:spPr>
        <p:txBody>
          <a:bodyPr>
            <a:normAutofit/>
          </a:bodyPr>
          <a:lstStyle/>
          <a:p>
            <a:r>
              <a:rPr lang="fr-FR" sz="2400" dirty="0" smtClean="0"/>
              <a:t>II-insuffisance rénale chronique et incidence en odontologie </a:t>
            </a:r>
            <a:endParaRPr lang="fr-FR" sz="2400" dirty="0"/>
          </a:p>
        </p:txBody>
      </p:sp>
      <p:sp>
        <p:nvSpPr>
          <p:cNvPr id="8" name="Espace réservé du numéro de diapositive 7"/>
          <p:cNvSpPr>
            <a:spLocks noGrp="1"/>
          </p:cNvSpPr>
          <p:nvPr>
            <p:ph type="sldNum" sz="quarter" idx="12"/>
          </p:nvPr>
        </p:nvSpPr>
        <p:spPr/>
        <p:txBody>
          <a:bodyPr/>
          <a:lstStyle/>
          <a:p>
            <a:fld id="{41FC8BE2-ABBC-4B9F-BC74-4C794D0A135E}" type="slidenum">
              <a:rPr lang="fr-FR" smtClean="0"/>
              <a:pPr/>
              <a:t>8</a:t>
            </a:fld>
            <a:endParaRPr lang="fr-FR"/>
          </a:p>
        </p:txBody>
      </p:sp>
      <p:sp>
        <p:nvSpPr>
          <p:cNvPr id="9" name="Rectangle 8"/>
          <p:cNvSpPr/>
          <p:nvPr/>
        </p:nvSpPr>
        <p:spPr>
          <a:xfrm>
            <a:off x="357158" y="714356"/>
            <a:ext cx="8786842" cy="5201424"/>
          </a:xfrm>
          <a:prstGeom prst="rect">
            <a:avLst/>
          </a:prstGeom>
        </p:spPr>
        <p:txBody>
          <a:bodyPr wrap="square">
            <a:spAutoFit/>
          </a:bodyPr>
          <a:lstStyle/>
          <a:p>
            <a:r>
              <a:rPr lang="fr-FR" sz="2000" b="1" dirty="0" smtClean="0"/>
              <a:t>1- Manifestations cliniques  bucco-dentaires liées à l’IRC: </a:t>
            </a:r>
            <a:r>
              <a:rPr lang="fr-FR" sz="2000" dirty="0" smtClean="0"/>
              <a:t/>
            </a:r>
            <a:br>
              <a:rPr lang="fr-FR" sz="2000" dirty="0" smtClean="0"/>
            </a:br>
            <a:r>
              <a:rPr lang="fr-FR" sz="2000" dirty="0" smtClean="0"/>
              <a:t> </a:t>
            </a:r>
            <a:r>
              <a:rPr lang="fr-FR" sz="2400" dirty="0" smtClean="0"/>
              <a:t>les patients IRC souffrent de signes et de symptômes oraux affectant à la fois les structures osseuses et tissulaires molles. </a:t>
            </a:r>
          </a:p>
          <a:p>
            <a:r>
              <a:rPr lang="fr-FR" sz="2400" dirty="0" smtClean="0"/>
              <a:t>On retrouve parmi ces signes: </a:t>
            </a:r>
          </a:p>
          <a:p>
            <a:pPr>
              <a:buFont typeface="Wingdings" pitchFamily="2" charset="2"/>
              <a:buChar char="Ø"/>
            </a:pPr>
            <a:r>
              <a:rPr lang="fr-FR" dirty="0" smtClean="0"/>
              <a:t> </a:t>
            </a:r>
            <a:r>
              <a:rPr lang="fr-FR" sz="2400" dirty="0" smtClean="0"/>
              <a:t>Le goût métallique </a:t>
            </a:r>
          </a:p>
          <a:p>
            <a:pPr>
              <a:buFont typeface="Wingdings" pitchFamily="2" charset="2"/>
              <a:buChar char="Ø"/>
            </a:pPr>
            <a:r>
              <a:rPr lang="fr-FR" sz="2400" dirty="0" smtClean="0"/>
              <a:t>La pâleur des muqueuses en raison de l'anémie </a:t>
            </a:r>
          </a:p>
          <a:p>
            <a:pPr>
              <a:buFont typeface="Wingdings" pitchFamily="2" charset="2"/>
              <a:buChar char="Ø"/>
            </a:pPr>
            <a:r>
              <a:rPr lang="fr-FR" sz="2400" dirty="0" smtClean="0"/>
              <a:t>La xérostomie</a:t>
            </a:r>
          </a:p>
          <a:p>
            <a:pPr>
              <a:buFont typeface="Wingdings" pitchFamily="2" charset="2"/>
              <a:buChar char="Ø"/>
            </a:pPr>
            <a:r>
              <a:rPr lang="fr-FR" sz="2400" dirty="0" smtClean="0"/>
              <a:t>L’hyperplasie gingivale. </a:t>
            </a:r>
          </a:p>
          <a:p>
            <a:pPr>
              <a:buFont typeface="Wingdings" pitchFamily="2" charset="2"/>
              <a:buChar char="Ø"/>
            </a:pPr>
            <a:r>
              <a:rPr lang="fr-FR" sz="2400" dirty="0" smtClean="0"/>
              <a:t>Les pétéchies, ecchymoses et saignements gingivaux.</a:t>
            </a:r>
          </a:p>
          <a:p>
            <a:pPr>
              <a:buFont typeface="Wingdings" pitchFamily="2" charset="2"/>
              <a:buChar char="Ø"/>
            </a:pPr>
            <a:r>
              <a:rPr lang="fr-FR" sz="2400" dirty="0" smtClean="0"/>
              <a:t>L’augmentation de la formation de tartre.</a:t>
            </a:r>
          </a:p>
          <a:p>
            <a:pPr>
              <a:buFont typeface="Wingdings" pitchFamily="2" charset="2"/>
              <a:buChar char="Ø"/>
            </a:pPr>
            <a:r>
              <a:rPr lang="fr-FR" sz="2400" dirty="0" smtClean="0"/>
              <a:t>Les érosions sur les surfaces linguales des dents. </a:t>
            </a:r>
          </a:p>
          <a:p>
            <a:pPr>
              <a:buFont typeface="Wingdings" pitchFamily="2" charset="2"/>
              <a:buChar char="Ø"/>
            </a:pPr>
            <a:r>
              <a:rPr lang="fr-FR" sz="2400" dirty="0" smtClean="0"/>
              <a:t>L’</a:t>
            </a:r>
            <a:r>
              <a:rPr lang="fr-FR" sz="2400" dirty="0" err="1" smtClean="0"/>
              <a:t>ostéodystrophie</a:t>
            </a:r>
            <a:r>
              <a:rPr lang="fr-FR" sz="2400" dirty="0" smtClean="0"/>
              <a:t> de l'os maxillaire </a:t>
            </a:r>
          </a:p>
          <a:p>
            <a:pPr>
              <a:buFont typeface="Wingdings" pitchFamily="2" charset="2"/>
              <a:buChar char="Ø"/>
            </a:pPr>
            <a:r>
              <a:rPr lang="fr-FR" sz="2400" dirty="0" smtClean="0"/>
              <a:t> maladies parodontales, de perte des dents et d’inflammation des glandes salivaires. </a:t>
            </a:r>
            <a:endParaRPr lang="fr-FR" sz="24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idx="4294967295"/>
          </p:nvPr>
        </p:nvSpPr>
        <p:spPr>
          <a:xfrm>
            <a:off x="0" y="-457200"/>
            <a:ext cx="9144000" cy="914400"/>
          </a:xfrm>
        </p:spPr>
        <p:txBody>
          <a:bodyPr>
            <a:normAutofit/>
          </a:bodyPr>
          <a:lstStyle/>
          <a:p>
            <a:r>
              <a:rPr lang="fr-FR" sz="2400" dirty="0" smtClean="0"/>
              <a:t>II-insuffisance rénale chronique et incidence en odontologie </a:t>
            </a:r>
            <a:endParaRPr lang="fr-FR" sz="2400" dirty="0"/>
          </a:p>
        </p:txBody>
      </p:sp>
      <p:sp>
        <p:nvSpPr>
          <p:cNvPr id="8" name="Espace réservé du numéro de diapositive 7"/>
          <p:cNvSpPr>
            <a:spLocks noGrp="1"/>
          </p:cNvSpPr>
          <p:nvPr>
            <p:ph type="sldNum" sz="quarter" idx="12"/>
          </p:nvPr>
        </p:nvSpPr>
        <p:spPr/>
        <p:txBody>
          <a:bodyPr/>
          <a:lstStyle/>
          <a:p>
            <a:fld id="{41FC8BE2-ABBC-4B9F-BC74-4C794D0A135E}" type="slidenum">
              <a:rPr lang="fr-FR" smtClean="0"/>
              <a:pPr/>
              <a:t>9</a:t>
            </a:fld>
            <a:endParaRPr lang="fr-FR"/>
          </a:p>
        </p:txBody>
      </p:sp>
      <p:sp>
        <p:nvSpPr>
          <p:cNvPr id="9" name="Rectangle 8"/>
          <p:cNvSpPr/>
          <p:nvPr/>
        </p:nvSpPr>
        <p:spPr>
          <a:xfrm>
            <a:off x="357158" y="428604"/>
            <a:ext cx="8786842" cy="1323439"/>
          </a:xfrm>
          <a:prstGeom prst="rect">
            <a:avLst/>
          </a:prstGeom>
        </p:spPr>
        <p:txBody>
          <a:bodyPr wrap="square">
            <a:spAutoFit/>
          </a:bodyPr>
          <a:lstStyle/>
          <a:p>
            <a:r>
              <a:rPr lang="fr-FR" sz="2000" b="1" dirty="0" smtClean="0"/>
              <a:t>2-Modification de la pharmacocinétique des médicaments :</a:t>
            </a:r>
          </a:p>
          <a:p>
            <a:r>
              <a:rPr lang="fr-FR" sz="2000" b="1" dirty="0" smtClean="0"/>
              <a:t> </a:t>
            </a:r>
            <a:r>
              <a:rPr lang="fr-FR" sz="2000" dirty="0" smtClean="0"/>
              <a:t>L’IRC peut avoir des conséquences sur la pharmacocinétique de certains  médicaments  :</a:t>
            </a:r>
            <a:br>
              <a:rPr lang="fr-FR" sz="2000" dirty="0" smtClean="0"/>
            </a:br>
            <a:endParaRPr lang="fr-FR" sz="2000" dirty="0"/>
          </a:p>
        </p:txBody>
      </p:sp>
      <p:sp>
        <p:nvSpPr>
          <p:cNvPr id="5" name="Rectangle 4"/>
          <p:cNvSpPr/>
          <p:nvPr/>
        </p:nvSpPr>
        <p:spPr>
          <a:xfrm>
            <a:off x="357158" y="1357298"/>
            <a:ext cx="8501122" cy="3477875"/>
          </a:xfrm>
          <a:prstGeom prst="rect">
            <a:avLst/>
          </a:prstGeom>
        </p:spPr>
        <p:txBody>
          <a:bodyPr wrap="square">
            <a:spAutoFit/>
          </a:bodyPr>
          <a:lstStyle/>
          <a:p>
            <a:pPr algn="just">
              <a:buFont typeface="Wingdings" pitchFamily="2" charset="2"/>
              <a:buChar char="§"/>
            </a:pPr>
            <a:r>
              <a:rPr lang="fr-FR" sz="2000" dirty="0" smtClean="0"/>
              <a:t>Modifications de la fixation protéique des médicaments. La conséquence est une augmentation de la fraction libre des médicaments : </a:t>
            </a:r>
            <a:r>
              <a:rPr lang="fr-FR" sz="2000" dirty="0" smtClean="0">
                <a:latin typeface="Calibri"/>
              </a:rPr>
              <a:t>→↗</a:t>
            </a:r>
            <a:r>
              <a:rPr lang="fr-FR" sz="2000" dirty="0" smtClean="0"/>
              <a:t> fraction libre </a:t>
            </a:r>
            <a:r>
              <a:rPr lang="fr-FR" sz="2000" dirty="0" err="1" smtClean="0"/>
              <a:t>pharmacologiquement</a:t>
            </a:r>
            <a:r>
              <a:rPr lang="fr-FR" sz="2000" dirty="0" smtClean="0"/>
              <a:t> active </a:t>
            </a:r>
          </a:p>
          <a:p>
            <a:pPr algn="just">
              <a:buFont typeface="Wingdings" pitchFamily="2" charset="2"/>
              <a:buChar char="§"/>
            </a:pPr>
            <a:r>
              <a:rPr lang="fr-FR" sz="2000" dirty="0" smtClean="0"/>
              <a:t> possible ralentissement du métabolisme du à la compétition des toxines urémiques  avec les médicaments </a:t>
            </a:r>
          </a:p>
          <a:p>
            <a:pPr algn="just">
              <a:buFont typeface="Wingdings" pitchFamily="2" charset="2"/>
              <a:buChar char="§"/>
            </a:pPr>
            <a:r>
              <a:rPr lang="fr-FR" sz="2000" dirty="0" smtClean="0"/>
              <a:t>Baisse de l’excrétion urinaire du médicament (et de ses métabolites), avec comme conséquence, une augmentation du pic plasmatique et un allongement de la demi-vie d’élimination </a:t>
            </a:r>
          </a:p>
          <a:p>
            <a:endParaRPr lang="fr-FR" sz="2000" dirty="0" smtClean="0"/>
          </a:p>
          <a:p>
            <a:endParaRPr lang="fr-FR" sz="2000" dirty="0" smtClean="0"/>
          </a:p>
          <a:p>
            <a:endParaRPr lang="fr-FR" sz="2000" dirty="0"/>
          </a:p>
        </p:txBody>
      </p:sp>
      <p:pic>
        <p:nvPicPr>
          <p:cNvPr id="6" name="Picture 3"/>
          <p:cNvPicPr>
            <a:picLocks noChangeAspect="1" noChangeArrowheads="1"/>
          </p:cNvPicPr>
          <p:nvPr/>
        </p:nvPicPr>
        <p:blipFill>
          <a:blip r:embed="rId3" cstate="print"/>
          <a:srcRect/>
          <a:stretch>
            <a:fillRect/>
          </a:stretch>
        </p:blipFill>
        <p:spPr bwMode="auto">
          <a:xfrm>
            <a:off x="3357554" y="3571876"/>
            <a:ext cx="4929222" cy="307181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idx="4294967295"/>
          </p:nvPr>
        </p:nvSpPr>
        <p:spPr>
          <a:xfrm>
            <a:off x="214282" y="-457200"/>
            <a:ext cx="9358378" cy="914400"/>
          </a:xfrm>
        </p:spPr>
        <p:txBody>
          <a:bodyPr>
            <a:normAutofit/>
          </a:bodyPr>
          <a:lstStyle/>
          <a:p>
            <a:r>
              <a:rPr lang="fr-FR" sz="2400" dirty="0" smtClean="0"/>
              <a:t>II-insuffisance rénale chronique et incidence en odontologie </a:t>
            </a:r>
            <a:endParaRPr lang="fr-FR" sz="2400" dirty="0"/>
          </a:p>
        </p:txBody>
      </p:sp>
      <p:sp>
        <p:nvSpPr>
          <p:cNvPr id="8" name="Espace réservé du numéro de diapositive 7"/>
          <p:cNvSpPr>
            <a:spLocks noGrp="1"/>
          </p:cNvSpPr>
          <p:nvPr>
            <p:ph type="sldNum" sz="quarter" idx="12"/>
          </p:nvPr>
        </p:nvSpPr>
        <p:spPr/>
        <p:txBody>
          <a:bodyPr/>
          <a:lstStyle/>
          <a:p>
            <a:fld id="{41FC8BE2-ABBC-4B9F-BC74-4C794D0A135E}" type="slidenum">
              <a:rPr lang="fr-FR" smtClean="0"/>
              <a:pPr/>
              <a:t>10</a:t>
            </a:fld>
            <a:endParaRPr lang="fr-FR"/>
          </a:p>
        </p:txBody>
      </p:sp>
      <p:sp>
        <p:nvSpPr>
          <p:cNvPr id="9" name="Rectangle 8"/>
          <p:cNvSpPr/>
          <p:nvPr/>
        </p:nvSpPr>
        <p:spPr>
          <a:xfrm>
            <a:off x="357158" y="428604"/>
            <a:ext cx="8786842" cy="707886"/>
          </a:xfrm>
          <a:prstGeom prst="rect">
            <a:avLst/>
          </a:prstGeom>
        </p:spPr>
        <p:txBody>
          <a:bodyPr wrap="square">
            <a:spAutoFit/>
          </a:bodyPr>
          <a:lstStyle/>
          <a:p>
            <a:r>
              <a:rPr lang="fr-FR" sz="2000" b="1" dirty="0" smtClean="0"/>
              <a:t>3-conséquences de l’IRC sur la prescription des médicaments  :</a:t>
            </a:r>
          </a:p>
          <a:p>
            <a:r>
              <a:rPr lang="fr-FR" sz="2000" b="1" dirty="0" smtClean="0"/>
              <a:t> </a:t>
            </a:r>
            <a:endParaRPr lang="fr-FR" sz="2400" dirty="0"/>
          </a:p>
        </p:txBody>
      </p:sp>
      <p:sp>
        <p:nvSpPr>
          <p:cNvPr id="7" name="Rectangle 6"/>
          <p:cNvSpPr/>
          <p:nvPr/>
        </p:nvSpPr>
        <p:spPr>
          <a:xfrm>
            <a:off x="571472" y="928670"/>
            <a:ext cx="7786742" cy="2677656"/>
          </a:xfrm>
          <a:prstGeom prst="rect">
            <a:avLst/>
          </a:prstGeom>
        </p:spPr>
        <p:txBody>
          <a:bodyPr wrap="square">
            <a:spAutoFit/>
          </a:bodyPr>
          <a:lstStyle/>
          <a:p>
            <a:pPr lvl="0" algn="just" eaLnBrk="0" fontAlgn="base" hangingPunct="0">
              <a:spcBef>
                <a:spcPct val="0"/>
              </a:spcBef>
              <a:spcAft>
                <a:spcPct val="0"/>
              </a:spcAft>
            </a:pPr>
            <a:r>
              <a:rPr lang="fr-FR" sz="2400" dirty="0" smtClean="0">
                <a:ea typeface="Times New Roman" pitchFamily="18" charset="0"/>
                <a:cs typeface="Arial" pitchFamily="34" charset="0"/>
              </a:rPr>
              <a:t>Chez le patient IRC  la posologie usuelle peut être trop importante: il y a un risque de surdosage et/ou d’accumulation au cours du traitement</a:t>
            </a:r>
          </a:p>
          <a:p>
            <a:pPr lvl="0" algn="just" eaLnBrk="0" fontAlgn="base" hangingPunct="0">
              <a:spcBef>
                <a:spcPct val="0"/>
              </a:spcBef>
              <a:spcAft>
                <a:spcPct val="0"/>
              </a:spcAft>
            </a:pPr>
            <a:r>
              <a:rPr lang="fr-FR" sz="2400" dirty="0" smtClean="0">
                <a:ea typeface="Times New Roman" pitchFamily="18" charset="0"/>
                <a:cs typeface="Arial" pitchFamily="34" charset="0"/>
              </a:rPr>
              <a:t>Ceci concerne les médicaments  dont le  principe actif et/ou  les métabolites  sont  éliminés par voie  rénale principalement </a:t>
            </a:r>
          </a:p>
          <a:p>
            <a:pPr lvl="0" algn="just" eaLnBrk="0" fontAlgn="base" hangingPunct="0">
              <a:spcBef>
                <a:spcPct val="0"/>
              </a:spcBef>
              <a:spcAft>
                <a:spcPct val="0"/>
              </a:spcAft>
            </a:pPr>
            <a:r>
              <a:rPr lang="fr-FR" sz="2400" dirty="0" smtClean="0">
                <a:ea typeface="Times New Roman" pitchFamily="18" charset="0"/>
                <a:cs typeface="Arial" pitchFamily="34" charset="0"/>
              </a:rPr>
              <a:t>                      </a:t>
            </a:r>
            <a:endParaRPr lang="fr-FR" sz="2400" dirty="0"/>
          </a:p>
        </p:txBody>
      </p:sp>
      <p:pic>
        <p:nvPicPr>
          <p:cNvPr id="1026" name="Picture 2"/>
          <p:cNvPicPr>
            <a:picLocks noChangeAspect="1" noChangeArrowheads="1"/>
          </p:cNvPicPr>
          <p:nvPr/>
        </p:nvPicPr>
        <p:blipFill>
          <a:blip r:embed="rId3"/>
          <a:srcRect/>
          <a:stretch>
            <a:fillRect/>
          </a:stretch>
        </p:blipFill>
        <p:spPr bwMode="auto">
          <a:xfrm>
            <a:off x="2857488" y="2857496"/>
            <a:ext cx="3800475" cy="2971800"/>
          </a:xfrm>
          <a:prstGeom prst="rect">
            <a:avLst/>
          </a:prstGeom>
          <a:noFill/>
          <a:ln w="9525">
            <a:noFill/>
            <a:miter lim="800000"/>
            <a:headEnd/>
            <a:tailEnd/>
          </a:ln>
          <a:effectLst/>
        </p:spPr>
      </p:pic>
      <p:sp>
        <p:nvSpPr>
          <p:cNvPr id="10" name="ZoneTexte 9"/>
          <p:cNvSpPr txBox="1"/>
          <p:nvPr/>
        </p:nvSpPr>
        <p:spPr>
          <a:xfrm>
            <a:off x="1285852" y="5786454"/>
            <a:ext cx="7286644" cy="646331"/>
          </a:xfrm>
          <a:prstGeom prst="rect">
            <a:avLst/>
          </a:prstGeom>
          <a:noFill/>
        </p:spPr>
        <p:txBody>
          <a:bodyPr wrap="square" rtlCol="0">
            <a:spAutoFit/>
          </a:bodyPr>
          <a:lstStyle/>
          <a:p>
            <a:pPr algn="ctr"/>
            <a:r>
              <a:rPr lang="fr-FR" b="1" dirty="0" smtClean="0">
                <a:solidFill>
                  <a:schemeClr val="accent4">
                    <a:lumMod val="75000"/>
                  </a:schemeClr>
                </a:solidFill>
              </a:rPr>
              <a:t>Graphe représentant l’évolution des  concentrations plasmatiques après prise répétée d’un médicament X </a:t>
            </a:r>
            <a:endParaRPr lang="fr-FR" b="1" dirty="0">
              <a:solidFill>
                <a:schemeClr val="accent4">
                  <a:lumMod val="75000"/>
                </a:schemeClr>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idx="4294967295"/>
          </p:nvPr>
        </p:nvSpPr>
        <p:spPr>
          <a:xfrm>
            <a:off x="0" y="-457200"/>
            <a:ext cx="9215502" cy="914400"/>
          </a:xfrm>
        </p:spPr>
        <p:txBody>
          <a:bodyPr>
            <a:normAutofit/>
          </a:bodyPr>
          <a:lstStyle/>
          <a:p>
            <a:r>
              <a:rPr lang="fr-FR" sz="2400" dirty="0" smtClean="0"/>
              <a:t>II-insuffisance rénale chronique et incidence en odontologie </a:t>
            </a:r>
            <a:endParaRPr lang="fr-FR" sz="2400" dirty="0"/>
          </a:p>
        </p:txBody>
      </p:sp>
      <p:sp>
        <p:nvSpPr>
          <p:cNvPr id="8" name="Espace réservé du numéro de diapositive 7"/>
          <p:cNvSpPr>
            <a:spLocks noGrp="1"/>
          </p:cNvSpPr>
          <p:nvPr>
            <p:ph type="sldNum" sz="quarter" idx="12"/>
          </p:nvPr>
        </p:nvSpPr>
        <p:spPr/>
        <p:txBody>
          <a:bodyPr/>
          <a:lstStyle/>
          <a:p>
            <a:fld id="{41FC8BE2-ABBC-4B9F-BC74-4C794D0A135E}" type="slidenum">
              <a:rPr lang="fr-FR" smtClean="0"/>
              <a:pPr/>
              <a:t>11</a:t>
            </a:fld>
            <a:endParaRPr lang="fr-FR"/>
          </a:p>
        </p:txBody>
      </p:sp>
      <p:sp>
        <p:nvSpPr>
          <p:cNvPr id="9" name="Rectangle 8"/>
          <p:cNvSpPr/>
          <p:nvPr/>
        </p:nvSpPr>
        <p:spPr>
          <a:xfrm>
            <a:off x="357158" y="428604"/>
            <a:ext cx="8786842" cy="707886"/>
          </a:xfrm>
          <a:prstGeom prst="rect">
            <a:avLst/>
          </a:prstGeom>
        </p:spPr>
        <p:txBody>
          <a:bodyPr wrap="square">
            <a:spAutoFit/>
          </a:bodyPr>
          <a:lstStyle/>
          <a:p>
            <a:r>
              <a:rPr lang="fr-FR" sz="2000" b="1" dirty="0" smtClean="0"/>
              <a:t>3-conséquences de l’IRC sur la prescription des médicaments  :</a:t>
            </a:r>
          </a:p>
          <a:p>
            <a:r>
              <a:rPr lang="fr-FR" sz="2000" b="1" dirty="0" smtClean="0"/>
              <a:t> </a:t>
            </a:r>
            <a:endParaRPr lang="fr-FR" sz="2400" dirty="0"/>
          </a:p>
        </p:txBody>
      </p:sp>
      <p:sp>
        <p:nvSpPr>
          <p:cNvPr id="11" name="Rectangle 10"/>
          <p:cNvSpPr/>
          <p:nvPr/>
        </p:nvSpPr>
        <p:spPr>
          <a:xfrm>
            <a:off x="357158" y="857232"/>
            <a:ext cx="8072494" cy="5170646"/>
          </a:xfrm>
          <a:prstGeom prst="rect">
            <a:avLst/>
          </a:prstGeom>
        </p:spPr>
        <p:txBody>
          <a:bodyPr wrap="square">
            <a:spAutoFit/>
          </a:bodyPr>
          <a:lstStyle/>
          <a:p>
            <a:pPr algn="just"/>
            <a:r>
              <a:rPr lang="fr-FR" sz="2000" dirty="0" smtClean="0">
                <a:cs typeface="Times New Roman" pitchFamily="18" charset="0"/>
              </a:rPr>
              <a:t>De ce fait la prescription des médicaments avec une élimination essentiellement rénale nécessite une  adaptation de leur posologie </a:t>
            </a:r>
          </a:p>
          <a:p>
            <a:pPr algn="just"/>
            <a:r>
              <a:rPr lang="fr-FR" sz="2000" b="1" dirty="0" smtClean="0">
                <a:solidFill>
                  <a:srgbClr val="C00000"/>
                </a:solidFill>
                <a:cs typeface="Times New Roman" pitchFamily="18" charset="0"/>
              </a:rPr>
              <a:t>Qu’est ce que l’adaptation de la posologie?</a:t>
            </a:r>
          </a:p>
          <a:p>
            <a:pPr algn="just">
              <a:lnSpc>
                <a:spcPct val="150000"/>
              </a:lnSpc>
            </a:pPr>
            <a:r>
              <a:rPr lang="fr-FR" sz="2000" dirty="0" smtClean="0">
                <a:cs typeface="Times New Roman" pitchFamily="18" charset="0"/>
              </a:rPr>
              <a:t>Elle consiste à adapter la prescription à l’état du patient au lieu d’appliquer les doses standard. Cette adaptation peut se faire soit en ; </a:t>
            </a:r>
          </a:p>
          <a:p>
            <a:pPr marL="442913" indent="279400" algn="just">
              <a:lnSpc>
                <a:spcPct val="150000"/>
              </a:lnSpc>
              <a:buFont typeface="Wingdings" pitchFamily="2" charset="2"/>
              <a:buChar char="Ø"/>
            </a:pPr>
            <a:r>
              <a:rPr lang="fr-FR" sz="2000" dirty="0" smtClean="0">
                <a:cs typeface="Times New Roman" pitchFamily="18" charset="0"/>
              </a:rPr>
              <a:t>réduisant les doses journalières ou</a:t>
            </a:r>
          </a:p>
          <a:p>
            <a:pPr marL="442913" indent="279400" algn="just">
              <a:buFont typeface="Wingdings" pitchFamily="2" charset="2"/>
              <a:buChar char="Ø"/>
            </a:pPr>
            <a:r>
              <a:rPr lang="fr-FR" sz="2000" dirty="0" smtClean="0">
                <a:cs typeface="Times New Roman" pitchFamily="18" charset="0"/>
              </a:rPr>
              <a:t>espaçant les prises</a:t>
            </a:r>
          </a:p>
          <a:p>
            <a:pPr marL="442913" indent="279400" algn="just">
              <a:buFont typeface="Wingdings" pitchFamily="2" charset="2"/>
              <a:buChar char="Ø"/>
            </a:pPr>
            <a:r>
              <a:rPr lang="fr-FR" sz="2000" dirty="0" smtClean="0">
                <a:cs typeface="Times New Roman" pitchFamily="18" charset="0"/>
              </a:rPr>
              <a:t>ou de faire les deux. </a:t>
            </a:r>
          </a:p>
          <a:p>
            <a:pPr algn="just">
              <a:buNone/>
            </a:pPr>
            <a:r>
              <a:rPr lang="fr-FR" sz="2000" dirty="0" smtClean="0">
                <a:cs typeface="Times New Roman" pitchFamily="18" charset="0"/>
              </a:rPr>
              <a:t>Certains facteurs pharmacocinétiques et biologiques vont guider cette décision :</a:t>
            </a:r>
          </a:p>
          <a:p>
            <a:pPr marL="722313" indent="-279400" algn="just">
              <a:buFont typeface="Wingdings" pitchFamily="2" charset="2"/>
              <a:buChar char="ü"/>
            </a:pPr>
            <a:r>
              <a:rPr lang="fr-FR" sz="2000" dirty="0" smtClean="0">
                <a:cs typeface="Times New Roman" pitchFamily="18" charset="0"/>
              </a:rPr>
              <a:t> La durée de la demi-vie du médicament chez le sujet </a:t>
            </a:r>
            <a:r>
              <a:rPr lang="fr-FR" sz="2000" dirty="0" err="1" smtClean="0">
                <a:cs typeface="Times New Roman" pitchFamily="18" charset="0"/>
              </a:rPr>
              <a:t>normorénal</a:t>
            </a:r>
            <a:endParaRPr lang="fr-FR" sz="2000" dirty="0" smtClean="0">
              <a:cs typeface="Times New Roman" pitchFamily="18" charset="0"/>
            </a:endParaRPr>
          </a:p>
          <a:p>
            <a:pPr marL="722313" indent="-279400" algn="just">
              <a:buFont typeface="Wingdings" pitchFamily="2" charset="2"/>
              <a:buChar char="ü"/>
            </a:pPr>
            <a:r>
              <a:rPr lang="fr-FR" sz="2000" dirty="0" smtClean="0">
                <a:cs typeface="Times New Roman" pitchFamily="18" charset="0"/>
              </a:rPr>
              <a:t> Le rôle des reins dans l’élimination et la métabolisation des médicaments</a:t>
            </a:r>
          </a:p>
          <a:p>
            <a:pPr marL="722313" indent="-279400" algn="just">
              <a:buFont typeface="Wingdings" pitchFamily="2" charset="2"/>
              <a:buChar char="ü"/>
            </a:pPr>
            <a:r>
              <a:rPr lang="fr-FR" sz="2000" dirty="0" smtClean="0">
                <a:cs typeface="Times New Roman" pitchFamily="18" charset="0"/>
              </a:rPr>
              <a:t> La </a:t>
            </a:r>
            <a:r>
              <a:rPr lang="fr-FR" sz="2000" dirty="0" err="1" smtClean="0">
                <a:cs typeface="Times New Roman" pitchFamily="18" charset="0"/>
              </a:rPr>
              <a:t>néphrotoxicité</a:t>
            </a:r>
            <a:r>
              <a:rPr lang="fr-FR" sz="2000" dirty="0" smtClean="0">
                <a:cs typeface="Times New Roman" pitchFamily="18" charset="0"/>
              </a:rPr>
              <a:t> du médicament et de ses métabolites</a:t>
            </a:r>
          </a:p>
          <a:p>
            <a:pPr marL="722313" indent="-279400" algn="just">
              <a:buFont typeface="Wingdings" pitchFamily="2" charset="2"/>
              <a:buChar char="ü"/>
            </a:pPr>
            <a:r>
              <a:rPr lang="fr-FR" sz="2000" dirty="0" smtClean="0">
                <a:cs typeface="Times New Roman" pitchFamily="18" charset="0"/>
              </a:rPr>
              <a:t>La  valeur du DFG </a:t>
            </a:r>
            <a:endParaRPr lang="fr-FR" sz="2000" dirty="0">
              <a:cs typeface="Times New Roman"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txBox="1">
            <a:spLocks/>
          </p:cNvSpPr>
          <p:nvPr/>
        </p:nvSpPr>
        <p:spPr>
          <a:xfrm>
            <a:off x="0" y="-214338"/>
            <a:ext cx="9501254" cy="914400"/>
          </a:xfrm>
          <a:prstGeom prst="rect">
            <a:avLst/>
          </a:prstGeom>
        </p:spPr>
        <p:txBody>
          <a:bodyPr vert="horz" anchor="b" anchorCtr="0">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fr-FR" sz="2000" dirty="0" smtClean="0">
                <a:solidFill>
                  <a:schemeClr val="tx2"/>
                </a:solidFill>
                <a:latin typeface="+mj-lt"/>
                <a:ea typeface="+mj-ea"/>
                <a:cs typeface="+mj-cs"/>
              </a:rPr>
              <a:t>III-Adaptation de la posologie de certains médicaments utilisés en odontologie </a:t>
            </a:r>
            <a:r>
              <a:rPr kumimoji="0" lang="fr-FR" sz="2000" b="0" i="0" u="none" strike="noStrike" kern="1200" cap="none" spc="0" normalizeH="0" baseline="0" noProof="0" dirty="0" smtClean="0">
                <a:ln>
                  <a:noFill/>
                </a:ln>
                <a:solidFill>
                  <a:schemeClr val="tx2"/>
                </a:solidFill>
                <a:effectLst/>
                <a:uLnTx/>
                <a:uFillTx/>
                <a:latin typeface="+mj-lt"/>
                <a:ea typeface="+mj-ea"/>
                <a:cs typeface="+mj-cs"/>
              </a:rPr>
              <a:t> </a:t>
            </a:r>
            <a:endParaRPr kumimoji="0" lang="fr-FR" sz="2000" b="0" i="0" u="none" strike="noStrike" kern="1200" cap="none" spc="0" normalizeH="0" baseline="0" noProof="0" dirty="0">
              <a:ln>
                <a:noFill/>
              </a:ln>
              <a:solidFill>
                <a:schemeClr val="tx2"/>
              </a:solidFill>
              <a:effectLst/>
              <a:uLnTx/>
              <a:uFillTx/>
              <a:latin typeface="+mj-lt"/>
              <a:ea typeface="+mj-ea"/>
              <a:cs typeface="+mj-cs"/>
            </a:endParaRPr>
          </a:p>
        </p:txBody>
      </p:sp>
      <p:sp>
        <p:nvSpPr>
          <p:cNvPr id="4" name="Rectangle à coins arrondis 3"/>
          <p:cNvSpPr/>
          <p:nvPr/>
        </p:nvSpPr>
        <p:spPr>
          <a:xfrm>
            <a:off x="500034" y="642918"/>
            <a:ext cx="3214710" cy="428628"/>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fr-FR" sz="2400" dirty="0" smtClean="0"/>
              <a:t>Les  antibiotiques </a:t>
            </a:r>
            <a:endParaRPr lang="fr-FR" sz="2400" dirty="0"/>
          </a:p>
        </p:txBody>
      </p:sp>
      <p:sp>
        <p:nvSpPr>
          <p:cNvPr id="5" name="Rectangle 4"/>
          <p:cNvSpPr/>
          <p:nvPr/>
        </p:nvSpPr>
        <p:spPr>
          <a:xfrm>
            <a:off x="500034" y="1285860"/>
            <a:ext cx="1933927" cy="400110"/>
          </a:xfrm>
          <a:prstGeom prst="rect">
            <a:avLst/>
          </a:prstGeom>
        </p:spPr>
        <p:txBody>
          <a:bodyPr wrap="none">
            <a:spAutoFit/>
          </a:bodyPr>
          <a:lstStyle/>
          <a:p>
            <a:r>
              <a:rPr lang="fr-FR" sz="2000" b="1" u="sng" dirty="0" err="1" smtClean="0">
                <a:solidFill>
                  <a:schemeClr val="accent4"/>
                </a:solidFill>
                <a:cs typeface="Times New Roman" pitchFamily="18" charset="0"/>
              </a:rPr>
              <a:t>Amoxicilline</a:t>
            </a:r>
            <a:r>
              <a:rPr lang="fr-FR" sz="2000" b="1" u="sng" dirty="0" smtClean="0">
                <a:solidFill>
                  <a:schemeClr val="accent4"/>
                </a:solidFill>
                <a:cs typeface="Times New Roman" pitchFamily="18" charset="0"/>
              </a:rPr>
              <a:t> :  </a:t>
            </a:r>
            <a:endParaRPr lang="fr-FR" sz="2000" u="sng" dirty="0">
              <a:solidFill>
                <a:schemeClr val="accent4"/>
              </a:solidFill>
            </a:endParaRPr>
          </a:p>
        </p:txBody>
      </p:sp>
      <p:sp>
        <p:nvSpPr>
          <p:cNvPr id="6" name="ZoneTexte 5"/>
          <p:cNvSpPr txBox="1"/>
          <p:nvPr/>
        </p:nvSpPr>
        <p:spPr>
          <a:xfrm>
            <a:off x="571472" y="1785926"/>
            <a:ext cx="7786742" cy="1323439"/>
          </a:xfrm>
          <a:prstGeom prst="rect">
            <a:avLst/>
          </a:prstGeom>
          <a:noFill/>
        </p:spPr>
        <p:txBody>
          <a:bodyPr wrap="square" rtlCol="0">
            <a:spAutoFit/>
          </a:bodyPr>
          <a:lstStyle/>
          <a:p>
            <a:pPr algn="just"/>
            <a:r>
              <a:rPr lang="fr-FR" sz="2000" dirty="0" smtClean="0"/>
              <a:t>Élimination rénale (80%) principalement sous forme inchangée, Le T1/2 d’élimination de cette molécule  est augmentée en cas d’IRC  : il y aura risque d’accumulation  c’est un surdosage qui se manifeste par des troubles neurologiques  , nécessité d’adapter la  posologie : </a:t>
            </a:r>
            <a:endParaRPr lang="fr-FR" sz="2000" dirty="0"/>
          </a:p>
        </p:txBody>
      </p:sp>
      <p:sp>
        <p:nvSpPr>
          <p:cNvPr id="10" name="Rectangle 9"/>
          <p:cNvSpPr/>
          <p:nvPr/>
        </p:nvSpPr>
        <p:spPr>
          <a:xfrm>
            <a:off x="642910" y="3286124"/>
            <a:ext cx="7572428" cy="923330"/>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gn="just"/>
            <a:r>
              <a:rPr lang="fr-FR" dirty="0" smtClean="0"/>
              <a:t> </a:t>
            </a:r>
            <a:r>
              <a:rPr lang="fr-FR" b="1" dirty="0" smtClean="0"/>
              <a:t>Chez le  patient normo rénal : 1g  chaque 8h ou chaque 12h</a:t>
            </a:r>
          </a:p>
          <a:p>
            <a:pPr algn="just"/>
            <a:r>
              <a:rPr lang="fr-FR" b="1" dirty="0" smtClean="0"/>
              <a:t>Chez   le patient IRC : une dose d’attaque de 1g ensuite 750 mg  par 24h ( stade 4)  et500mg/24h(stade5)	</a:t>
            </a:r>
          </a:p>
        </p:txBody>
      </p:sp>
      <p:sp>
        <p:nvSpPr>
          <p:cNvPr id="11" name="ZoneTexte 10"/>
          <p:cNvSpPr txBox="1"/>
          <p:nvPr/>
        </p:nvSpPr>
        <p:spPr>
          <a:xfrm>
            <a:off x="571472" y="4500570"/>
            <a:ext cx="7715304" cy="646331"/>
          </a:xfrm>
          <a:prstGeom prst="rect">
            <a:avLst/>
          </a:prstGeom>
          <a:noFill/>
        </p:spPr>
        <p:txBody>
          <a:bodyPr wrap="square" rtlCol="0">
            <a:spAutoFit/>
          </a:bodyPr>
          <a:lstStyle/>
          <a:p>
            <a:r>
              <a:rPr lang="fr-FR" b="1" dirty="0" smtClean="0">
                <a:solidFill>
                  <a:srgbClr val="FF0000"/>
                </a:solidFill>
              </a:rPr>
              <a:t>Attention risque de </a:t>
            </a:r>
            <a:r>
              <a:rPr lang="fr-FR" b="1" dirty="0" err="1" smtClean="0">
                <a:solidFill>
                  <a:srgbClr val="FF0000"/>
                </a:solidFill>
              </a:rPr>
              <a:t>nephrotoxicité</a:t>
            </a:r>
            <a:r>
              <a:rPr lang="fr-FR" b="1" dirty="0" smtClean="0">
                <a:solidFill>
                  <a:srgbClr val="FF0000"/>
                </a:solidFill>
              </a:rPr>
              <a:t> de l’</a:t>
            </a:r>
            <a:r>
              <a:rPr lang="fr-FR" b="1" dirty="0" err="1" smtClean="0">
                <a:solidFill>
                  <a:srgbClr val="FF0000"/>
                </a:solidFill>
              </a:rPr>
              <a:t>amoxicilline</a:t>
            </a:r>
            <a:r>
              <a:rPr lang="fr-FR" b="1" dirty="0" smtClean="0">
                <a:solidFill>
                  <a:srgbClr val="FF0000"/>
                </a:solidFill>
              </a:rPr>
              <a:t> par mécanisme </a:t>
            </a:r>
            <a:r>
              <a:rPr lang="fr-FR" b="1" dirty="0" err="1" smtClean="0">
                <a:solidFill>
                  <a:srgbClr val="FF0000"/>
                </a:solidFill>
              </a:rPr>
              <a:t>immunoallergique</a:t>
            </a:r>
            <a:r>
              <a:rPr lang="fr-FR" b="1" dirty="0" smtClean="0">
                <a:solidFill>
                  <a:srgbClr val="FF0000"/>
                </a:solidFill>
              </a:rPr>
              <a:t> ( rare et imprévisible)</a:t>
            </a:r>
            <a:endParaRPr lang="fr-FR" b="1" dirty="0">
              <a:solidFill>
                <a:srgbClr val="FF0000"/>
              </a:solidFill>
            </a:endParaRPr>
          </a:p>
        </p:txBody>
      </p:sp>
      <p:sp>
        <p:nvSpPr>
          <p:cNvPr id="12" name="ZoneTexte 11"/>
          <p:cNvSpPr txBox="1"/>
          <p:nvPr/>
        </p:nvSpPr>
        <p:spPr>
          <a:xfrm>
            <a:off x="3929058" y="714356"/>
            <a:ext cx="4369081" cy="369332"/>
          </a:xfrm>
          <a:prstGeom prst="rect">
            <a:avLst/>
          </a:prstGeom>
          <a:noFill/>
        </p:spPr>
        <p:txBody>
          <a:bodyPr wrap="none" rtlCol="0">
            <a:spAutoFit/>
          </a:bodyPr>
          <a:lstStyle/>
          <a:p>
            <a:r>
              <a:rPr lang="fr-FR" dirty="0" smtClean="0"/>
              <a:t>= réduire la dose à administrer si nécessaire </a:t>
            </a:r>
            <a:endParaRPr lang="fr-FR" dirty="0"/>
          </a:p>
        </p:txBody>
      </p:sp>
      <p:sp>
        <p:nvSpPr>
          <p:cNvPr id="13" name="Rectangle 12"/>
          <p:cNvSpPr/>
          <p:nvPr/>
        </p:nvSpPr>
        <p:spPr>
          <a:xfrm>
            <a:off x="500034" y="5286388"/>
            <a:ext cx="5779852" cy="707886"/>
          </a:xfrm>
          <a:prstGeom prst="rect">
            <a:avLst/>
          </a:prstGeom>
        </p:spPr>
        <p:txBody>
          <a:bodyPr wrap="none">
            <a:spAutoFit/>
          </a:bodyPr>
          <a:lstStyle/>
          <a:p>
            <a:r>
              <a:rPr lang="fr-FR" sz="2000" b="1" u="sng" dirty="0" err="1" smtClean="0">
                <a:solidFill>
                  <a:schemeClr val="accent4"/>
                </a:solidFill>
                <a:cs typeface="Times New Roman" pitchFamily="18" charset="0"/>
              </a:rPr>
              <a:t>tetracyclines</a:t>
            </a:r>
            <a:r>
              <a:rPr lang="fr-FR" sz="2000" b="1" u="sng" dirty="0" smtClean="0">
                <a:solidFill>
                  <a:schemeClr val="accent4"/>
                </a:solidFill>
                <a:cs typeface="Times New Roman" pitchFamily="18" charset="0"/>
              </a:rPr>
              <a:t> :</a:t>
            </a:r>
          </a:p>
          <a:p>
            <a:r>
              <a:rPr lang="fr-FR" sz="2000" dirty="0" smtClean="0">
                <a:cs typeface="Times New Roman" pitchFamily="18" charset="0"/>
              </a:rPr>
              <a:t>Elles ne nécessite aucune adaptation de la posologie   </a:t>
            </a:r>
            <a:endParaRPr lang="fr-FR" sz="2000" dirty="0"/>
          </a:p>
        </p:txBody>
      </p:sp>
      <p:sp>
        <p:nvSpPr>
          <p:cNvPr id="14" name="Espace réservé du numéro de diapositive 13"/>
          <p:cNvSpPr>
            <a:spLocks noGrp="1"/>
          </p:cNvSpPr>
          <p:nvPr>
            <p:ph type="sldNum" sz="quarter" idx="12"/>
          </p:nvPr>
        </p:nvSpPr>
        <p:spPr/>
        <p:txBody>
          <a:bodyPr/>
          <a:lstStyle/>
          <a:p>
            <a:fld id="{90854C7C-2833-44F3-B2D3-08F1845B606C}" type="slidenum">
              <a:rPr lang="fr-FR" smtClean="0"/>
              <a:pPr/>
              <a:t>12</a:t>
            </a:fld>
            <a:endParaRPr lang="fr-F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txBox="1">
            <a:spLocks/>
          </p:cNvSpPr>
          <p:nvPr/>
        </p:nvSpPr>
        <p:spPr>
          <a:xfrm>
            <a:off x="0" y="-214338"/>
            <a:ext cx="9501254" cy="914400"/>
          </a:xfrm>
          <a:prstGeom prst="rect">
            <a:avLst/>
          </a:prstGeom>
        </p:spPr>
        <p:txBody>
          <a:bodyPr vert="horz" anchor="b" anchorCtr="0">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fr-FR" sz="2000" dirty="0" smtClean="0">
                <a:solidFill>
                  <a:schemeClr val="tx2"/>
                </a:solidFill>
                <a:latin typeface="+mj-lt"/>
                <a:ea typeface="+mj-ea"/>
                <a:cs typeface="+mj-cs"/>
              </a:rPr>
              <a:t>III-Adaptation de la posologie de certains médicaments utilisés en odontologie </a:t>
            </a:r>
            <a:r>
              <a:rPr kumimoji="0" lang="fr-FR" sz="2000" b="0" i="0" u="none" strike="noStrike" kern="1200" cap="none" spc="0" normalizeH="0" baseline="0" noProof="0" dirty="0" smtClean="0">
                <a:ln>
                  <a:noFill/>
                </a:ln>
                <a:solidFill>
                  <a:schemeClr val="tx2"/>
                </a:solidFill>
                <a:effectLst/>
                <a:uLnTx/>
                <a:uFillTx/>
                <a:latin typeface="+mj-lt"/>
                <a:ea typeface="+mj-ea"/>
                <a:cs typeface="+mj-cs"/>
              </a:rPr>
              <a:t> </a:t>
            </a:r>
            <a:endParaRPr kumimoji="0" lang="fr-FR" sz="2000" b="0" i="0" u="none" strike="noStrike" kern="1200" cap="none" spc="0" normalizeH="0" baseline="0" noProof="0" dirty="0">
              <a:ln>
                <a:noFill/>
              </a:ln>
              <a:solidFill>
                <a:schemeClr val="tx2"/>
              </a:solidFill>
              <a:effectLst/>
              <a:uLnTx/>
              <a:uFillTx/>
              <a:latin typeface="+mj-lt"/>
              <a:ea typeface="+mj-ea"/>
              <a:cs typeface="+mj-cs"/>
            </a:endParaRPr>
          </a:p>
        </p:txBody>
      </p:sp>
      <p:sp>
        <p:nvSpPr>
          <p:cNvPr id="4" name="Rectangle à coins arrondis 3"/>
          <p:cNvSpPr/>
          <p:nvPr/>
        </p:nvSpPr>
        <p:spPr>
          <a:xfrm>
            <a:off x="500034" y="642918"/>
            <a:ext cx="3214710" cy="428628"/>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fr-FR" sz="2400" dirty="0" smtClean="0"/>
              <a:t>Les  antibiotiques </a:t>
            </a:r>
            <a:endParaRPr lang="fr-FR" sz="2400" dirty="0"/>
          </a:p>
        </p:txBody>
      </p:sp>
      <p:sp>
        <p:nvSpPr>
          <p:cNvPr id="6" name="Rectangle 5"/>
          <p:cNvSpPr/>
          <p:nvPr/>
        </p:nvSpPr>
        <p:spPr>
          <a:xfrm>
            <a:off x="571472" y="1214422"/>
            <a:ext cx="4572000" cy="400110"/>
          </a:xfrm>
          <a:prstGeom prst="rect">
            <a:avLst/>
          </a:prstGeom>
        </p:spPr>
        <p:txBody>
          <a:bodyPr>
            <a:spAutoFit/>
          </a:bodyPr>
          <a:lstStyle/>
          <a:p>
            <a:r>
              <a:rPr lang="fr-FR" sz="2000" b="1" u="sng" dirty="0" smtClean="0">
                <a:solidFill>
                  <a:schemeClr val="accent4"/>
                </a:solidFill>
                <a:cs typeface="Times New Roman" pitchFamily="18" charset="0"/>
              </a:rPr>
              <a:t>Les macrolides et apparentés </a:t>
            </a:r>
            <a:endParaRPr lang="fr-FR" sz="2000" u="sng" dirty="0">
              <a:solidFill>
                <a:schemeClr val="accent4"/>
              </a:solidFill>
            </a:endParaRPr>
          </a:p>
        </p:txBody>
      </p:sp>
      <p:sp>
        <p:nvSpPr>
          <p:cNvPr id="7" name="Rectangle 6"/>
          <p:cNvSpPr/>
          <p:nvPr/>
        </p:nvSpPr>
        <p:spPr>
          <a:xfrm>
            <a:off x="285720" y="1714488"/>
            <a:ext cx="8358214" cy="1938992"/>
          </a:xfrm>
          <a:prstGeom prst="rect">
            <a:avLst/>
          </a:prstGeom>
        </p:spPr>
        <p:txBody>
          <a:bodyPr wrap="square">
            <a:spAutoFit/>
          </a:bodyPr>
          <a:lstStyle/>
          <a:p>
            <a:pPr algn="just">
              <a:buNone/>
            </a:pPr>
            <a:r>
              <a:rPr lang="fr-FR" sz="2000" dirty="0" err="1" smtClean="0">
                <a:solidFill>
                  <a:schemeClr val="accent4"/>
                </a:solidFill>
                <a:cs typeface="Times New Roman" pitchFamily="18" charset="0"/>
              </a:rPr>
              <a:t>Spiramycine</a:t>
            </a:r>
            <a:r>
              <a:rPr lang="fr-FR" sz="2000" dirty="0" smtClean="0">
                <a:solidFill>
                  <a:schemeClr val="accent4"/>
                </a:solidFill>
                <a:cs typeface="Times New Roman" pitchFamily="18" charset="0"/>
              </a:rPr>
              <a:t> , Clindamycine </a:t>
            </a:r>
            <a:r>
              <a:rPr lang="fr-FR" sz="2000" dirty="0" smtClean="0">
                <a:solidFill>
                  <a:srgbClr val="00B050"/>
                </a:solidFill>
                <a:cs typeface="Times New Roman" pitchFamily="18" charset="0"/>
              </a:rPr>
              <a:t>: </a:t>
            </a:r>
            <a:r>
              <a:rPr lang="fr-FR" sz="2000" dirty="0" smtClean="0">
                <a:cs typeface="Times New Roman" pitchFamily="18" charset="0"/>
              </a:rPr>
              <a:t>métabolisme</a:t>
            </a:r>
            <a:r>
              <a:rPr lang="fr-FR" sz="2000" dirty="0" smtClean="0">
                <a:solidFill>
                  <a:srgbClr val="00B050"/>
                </a:solidFill>
                <a:cs typeface="Times New Roman" pitchFamily="18" charset="0"/>
              </a:rPr>
              <a:t> </a:t>
            </a:r>
            <a:r>
              <a:rPr lang="fr-FR" sz="2000" dirty="0" smtClean="0">
                <a:cs typeface="Times New Roman" pitchFamily="18" charset="0"/>
              </a:rPr>
              <a:t>hépatique et élimination biliaire  principalement  , sans accumulation  si IRC </a:t>
            </a:r>
            <a:r>
              <a:rPr lang="fr-FR" sz="2000" dirty="0" smtClean="0">
                <a:solidFill>
                  <a:srgbClr val="002060"/>
                </a:solidFill>
                <a:cs typeface="Times New Roman" pitchFamily="18" charset="0"/>
                <a:sym typeface="Wingdings 3"/>
              </a:rPr>
              <a:t> </a:t>
            </a:r>
            <a:r>
              <a:rPr lang="fr-FR" sz="2000" dirty="0" smtClean="0">
                <a:cs typeface="Times New Roman" pitchFamily="18" charset="0"/>
              </a:rPr>
              <a:t>aucune adaptation </a:t>
            </a:r>
            <a:r>
              <a:rPr lang="fr-FR" sz="2000" dirty="0" err="1" smtClean="0">
                <a:cs typeface="Times New Roman" pitchFamily="18" charset="0"/>
              </a:rPr>
              <a:t>posologique</a:t>
            </a:r>
            <a:r>
              <a:rPr lang="fr-FR" sz="2000" dirty="0" smtClean="0">
                <a:cs typeface="Times New Roman" pitchFamily="18" charset="0"/>
              </a:rPr>
              <a:t> n’est indiquée en cas d’IR.</a:t>
            </a:r>
          </a:p>
          <a:p>
            <a:pPr algn="just">
              <a:buNone/>
            </a:pPr>
            <a:r>
              <a:rPr lang="fr-FR" sz="2000" i="1" dirty="0" err="1" smtClean="0">
                <a:solidFill>
                  <a:schemeClr val="accent4"/>
                </a:solidFill>
                <a:cs typeface="Times New Roman" pitchFamily="18" charset="0"/>
              </a:rPr>
              <a:t>Azithromycine</a:t>
            </a:r>
            <a:r>
              <a:rPr lang="fr-FR" sz="2000" i="1" dirty="0" smtClean="0">
                <a:solidFill>
                  <a:schemeClr val="accent4"/>
                </a:solidFill>
                <a:cs typeface="Times New Roman" pitchFamily="18" charset="0"/>
              </a:rPr>
              <a:t> :</a:t>
            </a:r>
            <a:r>
              <a:rPr lang="fr-FR" sz="2000" i="1" dirty="0" smtClean="0">
                <a:solidFill>
                  <a:srgbClr val="00B050"/>
                </a:solidFill>
                <a:cs typeface="Times New Roman" pitchFamily="18" charset="0"/>
              </a:rPr>
              <a:t> </a:t>
            </a:r>
            <a:r>
              <a:rPr lang="fr-FR" sz="2000" dirty="0" smtClean="0">
                <a:cs typeface="Times New Roman" pitchFamily="18" charset="0"/>
              </a:rPr>
              <a:t>métabolisme</a:t>
            </a:r>
            <a:r>
              <a:rPr lang="fr-FR" sz="2000" dirty="0" smtClean="0">
                <a:solidFill>
                  <a:srgbClr val="00B050"/>
                </a:solidFill>
                <a:cs typeface="Times New Roman" pitchFamily="18" charset="0"/>
              </a:rPr>
              <a:t> </a:t>
            </a:r>
            <a:r>
              <a:rPr lang="fr-FR" sz="2000" dirty="0" smtClean="0">
                <a:cs typeface="Times New Roman" pitchFamily="18" charset="0"/>
              </a:rPr>
              <a:t>hépatique et élimination biliaire  principalement ( T/2 élimination  long ) augmentation de 30 % de la fraction libre  </a:t>
            </a:r>
            <a:r>
              <a:rPr lang="fr-FR" sz="2000" dirty="0" smtClean="0">
                <a:solidFill>
                  <a:schemeClr val="accent4"/>
                </a:solidFill>
                <a:cs typeface="Times New Roman" pitchFamily="18" charset="0"/>
              </a:rPr>
              <a:t>lors de IRC stade 5 : nécessité  de précaution d’emploi : max 250 mg / 24h </a:t>
            </a:r>
            <a:endParaRPr lang="fr-FR" sz="2000" dirty="0">
              <a:solidFill>
                <a:schemeClr val="accent4"/>
              </a:solidFill>
              <a:cs typeface="Times New Roman" pitchFamily="18" charset="0"/>
            </a:endParaRPr>
          </a:p>
        </p:txBody>
      </p:sp>
      <p:sp>
        <p:nvSpPr>
          <p:cNvPr id="8" name="Rectangle 7"/>
          <p:cNvSpPr/>
          <p:nvPr/>
        </p:nvSpPr>
        <p:spPr>
          <a:xfrm>
            <a:off x="285720" y="3786190"/>
            <a:ext cx="8572528" cy="1600438"/>
          </a:xfrm>
          <a:prstGeom prst="rect">
            <a:avLst/>
          </a:prstGeom>
        </p:spPr>
        <p:txBody>
          <a:bodyPr wrap="square">
            <a:spAutoFit/>
          </a:bodyPr>
          <a:lstStyle/>
          <a:p>
            <a:r>
              <a:rPr lang="fr-FR" sz="2000" b="1" u="sng" dirty="0" smtClean="0">
                <a:solidFill>
                  <a:schemeClr val="accent4"/>
                </a:solidFill>
                <a:cs typeface="Times New Roman" pitchFamily="18" charset="0"/>
              </a:rPr>
              <a:t>Le </a:t>
            </a:r>
            <a:r>
              <a:rPr lang="fr-FR" sz="2000" b="1" u="sng" dirty="0" err="1" smtClean="0">
                <a:solidFill>
                  <a:schemeClr val="accent4"/>
                </a:solidFill>
                <a:cs typeface="Times New Roman" pitchFamily="18" charset="0"/>
              </a:rPr>
              <a:t>métronidazole</a:t>
            </a:r>
            <a:endParaRPr lang="fr-FR" sz="2000" b="1" u="sng" dirty="0" smtClean="0">
              <a:solidFill>
                <a:schemeClr val="accent4"/>
              </a:solidFill>
              <a:cs typeface="Times New Roman" pitchFamily="18" charset="0"/>
            </a:endParaRPr>
          </a:p>
          <a:p>
            <a:r>
              <a:rPr lang="fr-FR" sz="2000" dirty="0" smtClean="0">
                <a:cs typeface="Times New Roman" pitchFamily="18" charset="0"/>
              </a:rPr>
              <a:t>C’est un médicament : métabolisme hépatique , à élimination biliaire, certains de ses métabolites ( toxiques)  sont éliminés par voie rénale, en cas de surdosage il y a risque de troubles neurologiques et digestifs </a:t>
            </a:r>
            <a:endParaRPr lang="fr-FR" b="1" dirty="0" smtClean="0">
              <a:solidFill>
                <a:srgbClr val="00B050"/>
              </a:solidFill>
              <a:latin typeface="Times New Roman" pitchFamily="18" charset="0"/>
              <a:cs typeface="Times New Roman" pitchFamily="18" charset="0"/>
            </a:endParaRPr>
          </a:p>
          <a:p>
            <a:r>
              <a:rPr lang="fr-FR" b="1" dirty="0" smtClean="0">
                <a:solidFill>
                  <a:srgbClr val="00B050"/>
                </a:solidFill>
                <a:latin typeface="Times New Roman" pitchFamily="18" charset="0"/>
                <a:cs typeface="Times New Roman" pitchFamily="18" charset="0"/>
              </a:rPr>
              <a:t> </a:t>
            </a:r>
            <a:endParaRPr lang="fr-FR" dirty="0"/>
          </a:p>
        </p:txBody>
      </p:sp>
      <p:sp>
        <p:nvSpPr>
          <p:cNvPr id="9" name="Rectangle 8"/>
          <p:cNvSpPr/>
          <p:nvPr/>
        </p:nvSpPr>
        <p:spPr>
          <a:xfrm>
            <a:off x="500034" y="5214950"/>
            <a:ext cx="8143932" cy="707886"/>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fr-FR" sz="2000" b="1" dirty="0" smtClean="0">
                <a:solidFill>
                  <a:schemeClr val="tx1"/>
                </a:solidFill>
                <a:cs typeface="Times New Roman" pitchFamily="18" charset="0"/>
              </a:rPr>
              <a:t>posologie  patient normo rénal :  500 mg/8h </a:t>
            </a:r>
          </a:p>
          <a:p>
            <a:r>
              <a:rPr lang="fr-FR" sz="2000" b="1" dirty="0" smtClean="0">
                <a:solidFill>
                  <a:schemeClr val="tx1"/>
                </a:solidFill>
                <a:cs typeface="Times New Roman" pitchFamily="18" charset="0"/>
              </a:rPr>
              <a:t> nécessité de diminué la dose à 250 mg / chaque 8h  (  IRC stade 5) </a:t>
            </a:r>
            <a:endParaRPr lang="fr-FR" sz="2000" dirty="0">
              <a:solidFill>
                <a:schemeClr val="tx1"/>
              </a:solidFill>
            </a:endParaRPr>
          </a:p>
        </p:txBody>
      </p:sp>
      <p:sp>
        <p:nvSpPr>
          <p:cNvPr id="10" name="Espace réservé du numéro de diapositive 9"/>
          <p:cNvSpPr>
            <a:spLocks noGrp="1"/>
          </p:cNvSpPr>
          <p:nvPr>
            <p:ph type="sldNum" sz="quarter" idx="12"/>
          </p:nvPr>
        </p:nvSpPr>
        <p:spPr/>
        <p:txBody>
          <a:bodyPr/>
          <a:lstStyle/>
          <a:p>
            <a:fld id="{90854C7C-2833-44F3-B2D3-08F1845B606C}" type="slidenum">
              <a:rPr lang="fr-FR" smtClean="0"/>
              <a:pPr/>
              <a:t>13</a:t>
            </a:fld>
            <a:endParaRPr lang="fr-F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txBox="1">
            <a:spLocks/>
          </p:cNvSpPr>
          <p:nvPr/>
        </p:nvSpPr>
        <p:spPr>
          <a:xfrm>
            <a:off x="0" y="-214338"/>
            <a:ext cx="9501254" cy="914400"/>
          </a:xfrm>
          <a:prstGeom prst="rect">
            <a:avLst/>
          </a:prstGeom>
        </p:spPr>
        <p:txBody>
          <a:bodyPr vert="horz" anchor="b" anchorCtr="0">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fr-FR" sz="2000" dirty="0" smtClean="0">
                <a:solidFill>
                  <a:schemeClr val="tx2"/>
                </a:solidFill>
                <a:latin typeface="+mj-lt"/>
                <a:ea typeface="+mj-ea"/>
                <a:cs typeface="+mj-cs"/>
              </a:rPr>
              <a:t>III-Adaptation de la posologie de certains médicaments utilisés en odontologie </a:t>
            </a:r>
            <a:r>
              <a:rPr kumimoji="0" lang="fr-FR" sz="2000" b="0" i="0" u="none" strike="noStrike" kern="1200" cap="none" spc="0" normalizeH="0" baseline="0" noProof="0" dirty="0" smtClean="0">
                <a:ln>
                  <a:noFill/>
                </a:ln>
                <a:solidFill>
                  <a:schemeClr val="tx2"/>
                </a:solidFill>
                <a:effectLst/>
                <a:uLnTx/>
                <a:uFillTx/>
                <a:latin typeface="+mj-lt"/>
                <a:ea typeface="+mj-ea"/>
                <a:cs typeface="+mj-cs"/>
              </a:rPr>
              <a:t> </a:t>
            </a:r>
            <a:endParaRPr kumimoji="0" lang="fr-FR" sz="2000" b="0" i="0" u="none" strike="noStrike" kern="1200" cap="none" spc="0" normalizeH="0" baseline="0" noProof="0" dirty="0">
              <a:ln>
                <a:noFill/>
              </a:ln>
              <a:solidFill>
                <a:schemeClr val="tx2"/>
              </a:solidFill>
              <a:effectLst/>
              <a:uLnTx/>
              <a:uFillTx/>
              <a:latin typeface="+mj-lt"/>
              <a:ea typeface="+mj-ea"/>
              <a:cs typeface="+mj-cs"/>
            </a:endParaRPr>
          </a:p>
        </p:txBody>
      </p:sp>
      <p:sp>
        <p:nvSpPr>
          <p:cNvPr id="4" name="Rectangle à coins arrondis 3"/>
          <p:cNvSpPr/>
          <p:nvPr/>
        </p:nvSpPr>
        <p:spPr>
          <a:xfrm>
            <a:off x="500034" y="642918"/>
            <a:ext cx="3214710" cy="428628"/>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fr-FR" sz="2400" dirty="0" smtClean="0"/>
              <a:t>Les  antalgiques  </a:t>
            </a:r>
            <a:endParaRPr lang="fr-FR" sz="2400" dirty="0"/>
          </a:p>
        </p:txBody>
      </p:sp>
      <p:sp>
        <p:nvSpPr>
          <p:cNvPr id="5" name="Rectangle 4"/>
          <p:cNvSpPr/>
          <p:nvPr/>
        </p:nvSpPr>
        <p:spPr>
          <a:xfrm>
            <a:off x="571472" y="1142984"/>
            <a:ext cx="4572000" cy="400110"/>
          </a:xfrm>
          <a:prstGeom prst="rect">
            <a:avLst/>
          </a:prstGeom>
        </p:spPr>
        <p:txBody>
          <a:bodyPr>
            <a:spAutoFit/>
          </a:bodyPr>
          <a:lstStyle/>
          <a:p>
            <a:r>
              <a:rPr lang="fr-FR" sz="2000" b="1" u="sng" dirty="0" err="1" smtClean="0">
                <a:solidFill>
                  <a:schemeClr val="accent3">
                    <a:lumMod val="60000"/>
                    <a:lumOff val="40000"/>
                  </a:schemeClr>
                </a:solidFill>
                <a:cs typeface="Times New Roman" pitchFamily="18" charset="0"/>
              </a:rPr>
              <a:t>Tramadol</a:t>
            </a:r>
            <a:r>
              <a:rPr lang="fr-FR" sz="2000" b="1" u="sng" dirty="0" smtClean="0">
                <a:solidFill>
                  <a:schemeClr val="accent3">
                    <a:lumMod val="60000"/>
                    <a:lumOff val="40000"/>
                  </a:schemeClr>
                </a:solidFill>
                <a:cs typeface="Times New Roman" pitchFamily="18" charset="0"/>
              </a:rPr>
              <a:t>  </a:t>
            </a:r>
            <a:endParaRPr lang="fr-FR" sz="2000" u="sng" dirty="0">
              <a:solidFill>
                <a:schemeClr val="accent3">
                  <a:lumMod val="60000"/>
                  <a:lumOff val="40000"/>
                </a:schemeClr>
              </a:solidFill>
            </a:endParaRPr>
          </a:p>
        </p:txBody>
      </p:sp>
      <p:sp>
        <p:nvSpPr>
          <p:cNvPr id="6" name="Rectangle 5"/>
          <p:cNvSpPr/>
          <p:nvPr/>
        </p:nvSpPr>
        <p:spPr>
          <a:xfrm>
            <a:off x="285720" y="1500174"/>
            <a:ext cx="8215370" cy="1631216"/>
          </a:xfrm>
          <a:prstGeom prst="rect">
            <a:avLst/>
          </a:prstGeom>
        </p:spPr>
        <p:txBody>
          <a:bodyPr wrap="square">
            <a:spAutoFit/>
          </a:bodyPr>
          <a:lstStyle/>
          <a:p>
            <a:pPr algn="just"/>
            <a:r>
              <a:rPr lang="fr-FR" sz="2000" dirty="0" smtClean="0"/>
              <a:t>La molécule et ses métabolites actifs  sont principalement éliminés par voie  rénale,  leurs demie vie d’élimination  doublent à partir du stade 3   d’IRC : risque de surdosage  ( dépression respiratoire) </a:t>
            </a:r>
          </a:p>
          <a:p>
            <a:pPr algn="just"/>
            <a:endParaRPr lang="fr-FR" sz="2000" dirty="0" smtClean="0"/>
          </a:p>
          <a:p>
            <a:pPr algn="just"/>
            <a:endParaRPr lang="fr-FR" sz="2000" dirty="0"/>
          </a:p>
        </p:txBody>
      </p:sp>
      <p:sp>
        <p:nvSpPr>
          <p:cNvPr id="7" name="Rectangle 6"/>
          <p:cNvSpPr/>
          <p:nvPr/>
        </p:nvSpPr>
        <p:spPr>
          <a:xfrm>
            <a:off x="285720" y="2500306"/>
            <a:ext cx="8001056" cy="9144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fr-FR" b="1" dirty="0" smtClean="0"/>
              <a:t>Chez le </a:t>
            </a:r>
            <a:r>
              <a:rPr lang="fr-FR" b="1" dirty="0" err="1" smtClean="0"/>
              <a:t>normorénal</a:t>
            </a:r>
            <a:r>
              <a:rPr lang="fr-FR" b="1" dirty="0" smtClean="0"/>
              <a:t> 50 a 100mg  chaque 4à 6h </a:t>
            </a:r>
          </a:p>
          <a:p>
            <a:r>
              <a:rPr lang="fr-FR" b="1" dirty="0" smtClean="0"/>
              <a:t>Chez patient IRC stade 3, 4, ou 5  :50 à 100mg chaque 12h sans  dépasser 200mg/24h et éviter les formes LP</a:t>
            </a:r>
          </a:p>
        </p:txBody>
      </p:sp>
      <p:sp>
        <p:nvSpPr>
          <p:cNvPr id="8" name="ZoneTexte 7"/>
          <p:cNvSpPr txBox="1"/>
          <p:nvPr/>
        </p:nvSpPr>
        <p:spPr>
          <a:xfrm>
            <a:off x="3929058" y="714356"/>
            <a:ext cx="3764620" cy="369332"/>
          </a:xfrm>
          <a:prstGeom prst="rect">
            <a:avLst/>
          </a:prstGeom>
          <a:noFill/>
        </p:spPr>
        <p:txBody>
          <a:bodyPr wrap="none" rtlCol="0">
            <a:spAutoFit/>
          </a:bodyPr>
          <a:lstStyle/>
          <a:p>
            <a:r>
              <a:rPr lang="fr-FR" dirty="0" smtClean="0"/>
              <a:t>= prolonger l’intervalle thérapeutique </a:t>
            </a:r>
            <a:endParaRPr lang="fr-FR" dirty="0"/>
          </a:p>
        </p:txBody>
      </p:sp>
      <p:sp>
        <p:nvSpPr>
          <p:cNvPr id="9" name="Rectangle 8"/>
          <p:cNvSpPr/>
          <p:nvPr/>
        </p:nvSpPr>
        <p:spPr>
          <a:xfrm>
            <a:off x="285720" y="3786190"/>
            <a:ext cx="8286808" cy="1938992"/>
          </a:xfrm>
          <a:prstGeom prst="rect">
            <a:avLst/>
          </a:prstGeom>
        </p:spPr>
        <p:txBody>
          <a:bodyPr wrap="square">
            <a:spAutoFit/>
          </a:bodyPr>
          <a:lstStyle/>
          <a:p>
            <a:pPr algn="just"/>
            <a:r>
              <a:rPr lang="fr-FR" sz="2000" dirty="0" smtClean="0"/>
              <a:t>Elle  est métabolisée en morphine par le CYTP2D6 . La demi-vie de la morphine  peut quadrupler en cas d’IRC stade 3  aussi , il existe un polymorphisme génétique  pour le </a:t>
            </a:r>
            <a:r>
              <a:rPr lang="fr-FR" sz="2000" dirty="0" err="1" smtClean="0"/>
              <a:t>le</a:t>
            </a:r>
            <a:r>
              <a:rPr lang="fr-FR" sz="2000" dirty="0" smtClean="0"/>
              <a:t> CYTP2D6 cette molécule  est délicate à utiliser et expose à des effets imprévisibles. </a:t>
            </a:r>
          </a:p>
          <a:p>
            <a:pPr algn="just"/>
            <a:r>
              <a:rPr lang="fr-FR" sz="2000" dirty="0" smtClean="0"/>
              <a:t>Du fait d’une balance </a:t>
            </a:r>
            <a:r>
              <a:rPr lang="fr-FR" sz="2000" dirty="0" err="1" smtClean="0"/>
              <a:t>bénéfices—risques</a:t>
            </a:r>
            <a:r>
              <a:rPr lang="fr-FR" sz="2000" dirty="0" smtClean="0"/>
              <a:t> incertaine, il semble préférable d’éviter la codéine en cas d’IRC</a:t>
            </a:r>
            <a:endParaRPr lang="fr-FR" sz="2000" dirty="0"/>
          </a:p>
        </p:txBody>
      </p:sp>
      <p:sp>
        <p:nvSpPr>
          <p:cNvPr id="10" name="Rectangle 9"/>
          <p:cNvSpPr/>
          <p:nvPr/>
        </p:nvSpPr>
        <p:spPr>
          <a:xfrm>
            <a:off x="428596" y="3429000"/>
            <a:ext cx="4572000" cy="400110"/>
          </a:xfrm>
          <a:prstGeom prst="rect">
            <a:avLst/>
          </a:prstGeom>
        </p:spPr>
        <p:txBody>
          <a:bodyPr>
            <a:spAutoFit/>
          </a:bodyPr>
          <a:lstStyle/>
          <a:p>
            <a:r>
              <a:rPr lang="fr-FR" sz="2000" b="1" u="sng" dirty="0" smtClean="0">
                <a:solidFill>
                  <a:schemeClr val="accent3">
                    <a:lumMod val="60000"/>
                    <a:lumOff val="40000"/>
                  </a:schemeClr>
                </a:solidFill>
                <a:cs typeface="Times New Roman" pitchFamily="18" charset="0"/>
              </a:rPr>
              <a:t>Codéine :  </a:t>
            </a:r>
            <a:endParaRPr lang="fr-FR" sz="2000" u="sng" dirty="0">
              <a:solidFill>
                <a:schemeClr val="accent3">
                  <a:lumMod val="60000"/>
                  <a:lumOff val="40000"/>
                </a:schemeClr>
              </a:solidFill>
            </a:endParaRPr>
          </a:p>
        </p:txBody>
      </p:sp>
      <p:sp>
        <p:nvSpPr>
          <p:cNvPr id="11" name="Rectangle 10"/>
          <p:cNvSpPr/>
          <p:nvPr/>
        </p:nvSpPr>
        <p:spPr>
          <a:xfrm>
            <a:off x="357158" y="5715016"/>
            <a:ext cx="8786842" cy="707886"/>
          </a:xfrm>
          <a:prstGeom prst="rect">
            <a:avLst/>
          </a:prstGeom>
        </p:spPr>
        <p:txBody>
          <a:bodyPr wrap="square">
            <a:spAutoFit/>
          </a:bodyPr>
          <a:lstStyle/>
          <a:p>
            <a:r>
              <a:rPr lang="fr-FR" sz="2000" b="1" u="sng" dirty="0" smtClean="0">
                <a:solidFill>
                  <a:schemeClr val="accent3">
                    <a:lumMod val="60000"/>
                    <a:lumOff val="40000"/>
                  </a:schemeClr>
                </a:solidFill>
                <a:cs typeface="Times New Roman" pitchFamily="18" charset="0"/>
              </a:rPr>
              <a:t>paracétamol :  </a:t>
            </a:r>
            <a:r>
              <a:rPr lang="fr-FR" sz="2000" dirty="0" smtClean="0">
                <a:cs typeface="Times New Roman" pitchFamily="18" charset="0"/>
              </a:rPr>
              <a:t>ne nécessite pas d’adaptation de posologie si IRC car   métabolisme hépatique et élimination biliaire    sans dépasser 3g/ j </a:t>
            </a:r>
            <a:endParaRPr lang="fr-FR" sz="2000" dirty="0"/>
          </a:p>
        </p:txBody>
      </p:sp>
      <p:sp>
        <p:nvSpPr>
          <p:cNvPr id="12" name="Espace réservé du numéro de diapositive 11"/>
          <p:cNvSpPr>
            <a:spLocks noGrp="1"/>
          </p:cNvSpPr>
          <p:nvPr>
            <p:ph type="sldNum" sz="quarter" idx="12"/>
          </p:nvPr>
        </p:nvSpPr>
        <p:spPr/>
        <p:txBody>
          <a:bodyPr/>
          <a:lstStyle/>
          <a:p>
            <a:fld id="{90854C7C-2833-44F3-B2D3-08F1845B606C}" type="slidenum">
              <a:rPr lang="fr-FR" smtClean="0"/>
              <a:pPr/>
              <a:t>14</a:t>
            </a:fld>
            <a:endParaRPr lang="fr-F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txBox="1">
            <a:spLocks/>
          </p:cNvSpPr>
          <p:nvPr/>
        </p:nvSpPr>
        <p:spPr>
          <a:xfrm>
            <a:off x="0" y="-214338"/>
            <a:ext cx="9501254" cy="914400"/>
          </a:xfrm>
          <a:prstGeom prst="rect">
            <a:avLst/>
          </a:prstGeom>
        </p:spPr>
        <p:txBody>
          <a:bodyPr vert="horz" anchor="b" anchorCtr="0">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fr-FR" sz="2000" dirty="0" smtClean="0">
                <a:solidFill>
                  <a:schemeClr val="tx2"/>
                </a:solidFill>
                <a:latin typeface="+mj-lt"/>
                <a:ea typeface="+mj-ea"/>
                <a:cs typeface="+mj-cs"/>
              </a:rPr>
              <a:t>III-Adaptation de la posologie de certains médicaments utilisés en odontologie </a:t>
            </a:r>
            <a:r>
              <a:rPr kumimoji="0" lang="fr-FR" sz="2000" b="0" i="0" u="none" strike="noStrike" kern="1200" cap="none" spc="0" normalizeH="0" baseline="0" noProof="0" dirty="0" smtClean="0">
                <a:ln>
                  <a:noFill/>
                </a:ln>
                <a:solidFill>
                  <a:schemeClr val="tx2"/>
                </a:solidFill>
                <a:effectLst/>
                <a:uLnTx/>
                <a:uFillTx/>
                <a:latin typeface="+mj-lt"/>
                <a:ea typeface="+mj-ea"/>
                <a:cs typeface="+mj-cs"/>
              </a:rPr>
              <a:t> </a:t>
            </a:r>
            <a:endParaRPr kumimoji="0" lang="fr-FR" sz="2000" b="0" i="0" u="none" strike="noStrike" kern="1200" cap="none" spc="0" normalizeH="0" baseline="0" noProof="0" dirty="0">
              <a:ln>
                <a:noFill/>
              </a:ln>
              <a:solidFill>
                <a:schemeClr val="tx2"/>
              </a:solidFill>
              <a:effectLst/>
              <a:uLnTx/>
              <a:uFillTx/>
              <a:latin typeface="+mj-lt"/>
              <a:ea typeface="+mj-ea"/>
              <a:cs typeface="+mj-cs"/>
            </a:endParaRPr>
          </a:p>
        </p:txBody>
      </p:sp>
      <p:sp>
        <p:nvSpPr>
          <p:cNvPr id="4" name="Rectangle à coins arrondis 3"/>
          <p:cNvSpPr/>
          <p:nvPr/>
        </p:nvSpPr>
        <p:spPr>
          <a:xfrm>
            <a:off x="500034" y="642918"/>
            <a:ext cx="3214710" cy="428628"/>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fr-FR" sz="2400" dirty="0" smtClean="0"/>
              <a:t>Les  anti-inflammatoires  </a:t>
            </a:r>
            <a:endParaRPr lang="fr-FR" sz="2400" dirty="0"/>
          </a:p>
        </p:txBody>
      </p:sp>
      <p:sp>
        <p:nvSpPr>
          <p:cNvPr id="5" name="Rectangle 4"/>
          <p:cNvSpPr/>
          <p:nvPr/>
        </p:nvSpPr>
        <p:spPr>
          <a:xfrm>
            <a:off x="571472" y="1142984"/>
            <a:ext cx="4572000" cy="400110"/>
          </a:xfrm>
          <a:prstGeom prst="rect">
            <a:avLst/>
          </a:prstGeom>
        </p:spPr>
        <p:txBody>
          <a:bodyPr>
            <a:spAutoFit/>
          </a:bodyPr>
          <a:lstStyle/>
          <a:p>
            <a:r>
              <a:rPr lang="fr-FR" sz="2000" b="1" u="sng" dirty="0" smtClean="0">
                <a:solidFill>
                  <a:schemeClr val="accent1">
                    <a:lumMod val="50000"/>
                  </a:schemeClr>
                </a:solidFill>
                <a:cs typeface="Times New Roman" pitchFamily="18" charset="0"/>
              </a:rPr>
              <a:t> les AINS :  </a:t>
            </a:r>
            <a:endParaRPr lang="fr-FR" sz="2000" u="sng" dirty="0">
              <a:solidFill>
                <a:schemeClr val="accent1">
                  <a:lumMod val="50000"/>
                </a:schemeClr>
              </a:solidFill>
            </a:endParaRPr>
          </a:p>
        </p:txBody>
      </p:sp>
      <p:sp>
        <p:nvSpPr>
          <p:cNvPr id="6" name="ZoneTexte 5"/>
          <p:cNvSpPr txBox="1"/>
          <p:nvPr/>
        </p:nvSpPr>
        <p:spPr>
          <a:xfrm>
            <a:off x="357158" y="1571612"/>
            <a:ext cx="8286808" cy="1938992"/>
          </a:xfrm>
          <a:prstGeom prst="rect">
            <a:avLst/>
          </a:prstGeom>
          <a:noFill/>
        </p:spPr>
        <p:txBody>
          <a:bodyPr wrap="square" rtlCol="0">
            <a:spAutoFit/>
          </a:bodyPr>
          <a:lstStyle/>
          <a:p>
            <a:pPr algn="just"/>
            <a:r>
              <a:rPr lang="fr-FR" sz="2000" dirty="0" smtClean="0"/>
              <a:t>Les AINS  ne nécessitent pas d’adaptation de posologie en cas IRC néanmoins c’est des médicaments </a:t>
            </a:r>
            <a:r>
              <a:rPr lang="fr-FR" sz="2000" dirty="0" err="1" smtClean="0"/>
              <a:t>nephrotoxiques</a:t>
            </a:r>
            <a:r>
              <a:rPr lang="fr-FR" sz="2000" dirty="0" smtClean="0"/>
              <a:t>  surtout chez les patients dont la fonction rénale est altérée , il est recommandé  de ne pas les prescrire chez Ces patients pour des durées de traitement longues .</a:t>
            </a:r>
          </a:p>
          <a:p>
            <a:pPr algn="just"/>
            <a:r>
              <a:rPr lang="fr-FR" sz="2000" dirty="0" smtClean="0"/>
              <a:t>En odontologie , il faudra les </a:t>
            </a:r>
            <a:r>
              <a:rPr lang="fr-FR" sz="2000" dirty="0" smtClean="0">
                <a:cs typeface="Times New Roman" pitchFamily="18" charset="0"/>
              </a:rPr>
              <a:t>il  faudra les utiliser pour une  durée de 3 à 5jours</a:t>
            </a:r>
            <a:r>
              <a:rPr lang="fr-FR" sz="2000" dirty="0" smtClean="0">
                <a:latin typeface="Times New Roman" pitchFamily="18" charset="0"/>
                <a:cs typeface="Times New Roman" pitchFamily="18" charset="0"/>
              </a:rPr>
              <a:t>.</a:t>
            </a:r>
            <a:endParaRPr lang="fr-FR" sz="2000" dirty="0"/>
          </a:p>
        </p:txBody>
      </p:sp>
      <p:sp>
        <p:nvSpPr>
          <p:cNvPr id="7" name="Rectangle 6"/>
          <p:cNvSpPr/>
          <p:nvPr/>
        </p:nvSpPr>
        <p:spPr>
          <a:xfrm>
            <a:off x="357158" y="4143380"/>
            <a:ext cx="8501090" cy="1323439"/>
          </a:xfrm>
          <a:prstGeom prst="rect">
            <a:avLst/>
          </a:prstGeom>
        </p:spPr>
        <p:txBody>
          <a:bodyPr wrap="square">
            <a:spAutoFit/>
          </a:bodyPr>
          <a:lstStyle/>
          <a:p>
            <a:pPr algn="just"/>
            <a:r>
              <a:rPr lang="fr-FR" sz="2000" dirty="0" smtClean="0">
                <a:cs typeface="Times New Roman" pitchFamily="18" charset="0"/>
              </a:rPr>
              <a:t>Les AIS seront utilisés avec la plus grande prudence en raison de leur tendance à induire une rétention </a:t>
            </a:r>
            <a:r>
              <a:rPr lang="fr-FR" sz="2000" dirty="0" err="1" smtClean="0">
                <a:cs typeface="Times New Roman" pitchFamily="18" charset="0"/>
              </a:rPr>
              <a:t>hydrosodée</a:t>
            </a:r>
            <a:r>
              <a:rPr lang="fr-FR" sz="2000" dirty="0" smtClean="0">
                <a:cs typeface="Times New Roman" pitchFamily="18" charset="0"/>
              </a:rPr>
              <a:t>.</a:t>
            </a:r>
          </a:p>
          <a:p>
            <a:pPr algn="just"/>
            <a:r>
              <a:rPr lang="fr-FR" sz="2000" dirty="0" smtClean="0">
                <a:cs typeface="Times New Roman" pitchFamily="18" charset="0"/>
              </a:rPr>
              <a:t>pas de toxicité rénale intrinsèque</a:t>
            </a:r>
            <a:endParaRPr lang="fr-FR" sz="2000" dirty="0" smtClean="0">
              <a:solidFill>
                <a:srgbClr val="00B050"/>
              </a:solidFill>
              <a:cs typeface="Times New Roman" pitchFamily="18" charset="0"/>
            </a:endParaRPr>
          </a:p>
          <a:p>
            <a:pPr algn="just"/>
            <a:r>
              <a:rPr lang="fr-FR" sz="2000" dirty="0" smtClean="0">
                <a:cs typeface="Times New Roman" pitchFamily="18" charset="0"/>
              </a:rPr>
              <a:t>Aucune adaptation </a:t>
            </a:r>
            <a:r>
              <a:rPr lang="fr-FR" sz="2000" dirty="0" err="1" smtClean="0">
                <a:cs typeface="Times New Roman" pitchFamily="18" charset="0"/>
              </a:rPr>
              <a:t>posologique</a:t>
            </a:r>
            <a:r>
              <a:rPr lang="fr-FR" sz="2000" dirty="0" smtClean="0">
                <a:cs typeface="Times New Roman" pitchFamily="18" charset="0"/>
              </a:rPr>
              <a:t> ne sera indiquée en cas d’IR</a:t>
            </a:r>
            <a:endParaRPr lang="fr-FR" sz="2000" dirty="0">
              <a:cs typeface="Times New Roman" pitchFamily="18" charset="0"/>
            </a:endParaRPr>
          </a:p>
        </p:txBody>
      </p:sp>
      <p:sp>
        <p:nvSpPr>
          <p:cNvPr id="8" name="Rectangle 7"/>
          <p:cNvSpPr/>
          <p:nvPr/>
        </p:nvSpPr>
        <p:spPr>
          <a:xfrm>
            <a:off x="428596" y="3643314"/>
            <a:ext cx="4572000" cy="400110"/>
          </a:xfrm>
          <a:prstGeom prst="rect">
            <a:avLst/>
          </a:prstGeom>
        </p:spPr>
        <p:txBody>
          <a:bodyPr>
            <a:spAutoFit/>
          </a:bodyPr>
          <a:lstStyle/>
          <a:p>
            <a:r>
              <a:rPr lang="fr-FR" sz="2000" b="1" u="sng" dirty="0" smtClean="0">
                <a:solidFill>
                  <a:schemeClr val="accent1">
                    <a:lumMod val="50000"/>
                  </a:schemeClr>
                </a:solidFill>
                <a:cs typeface="Times New Roman" pitchFamily="18" charset="0"/>
              </a:rPr>
              <a:t> les AIS :  </a:t>
            </a:r>
            <a:endParaRPr lang="fr-FR" sz="2000" u="sng" dirty="0">
              <a:solidFill>
                <a:schemeClr val="accent1">
                  <a:lumMod val="50000"/>
                </a:schemeClr>
              </a:solidFill>
            </a:endParaRPr>
          </a:p>
        </p:txBody>
      </p:sp>
      <p:sp>
        <p:nvSpPr>
          <p:cNvPr id="10" name="Espace réservé du numéro de diapositive 9"/>
          <p:cNvSpPr>
            <a:spLocks noGrp="1"/>
          </p:cNvSpPr>
          <p:nvPr>
            <p:ph type="sldNum" sz="quarter" idx="12"/>
          </p:nvPr>
        </p:nvSpPr>
        <p:spPr/>
        <p:txBody>
          <a:bodyPr/>
          <a:lstStyle/>
          <a:p>
            <a:fld id="{90854C7C-2833-44F3-B2D3-08F1845B606C}" type="slidenum">
              <a:rPr lang="fr-FR" smtClean="0"/>
              <a:pPr/>
              <a:t>15</a:t>
            </a:fld>
            <a:endParaRPr lang="fr-F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p:cNvSpPr>
            <a:spLocks noGrp="1"/>
          </p:cNvSpPr>
          <p:nvPr>
            <p:ph type="sldNum" sz="quarter" idx="12"/>
          </p:nvPr>
        </p:nvSpPr>
        <p:spPr/>
        <p:txBody>
          <a:bodyPr/>
          <a:lstStyle/>
          <a:p>
            <a:fld id="{90854C7C-2833-44F3-B2D3-08F1845B606C}" type="slidenum">
              <a:rPr lang="fr-FR" smtClean="0"/>
              <a:pPr/>
              <a:t>16</a:t>
            </a:fld>
            <a:endParaRPr lang="fr-FR"/>
          </a:p>
        </p:txBody>
      </p:sp>
      <p:sp>
        <p:nvSpPr>
          <p:cNvPr id="2" name="Titre 1"/>
          <p:cNvSpPr>
            <a:spLocks noGrp="1"/>
          </p:cNvSpPr>
          <p:nvPr>
            <p:ph type="title" idx="4294967295"/>
          </p:nvPr>
        </p:nvSpPr>
        <p:spPr>
          <a:xfrm>
            <a:off x="571472" y="0"/>
            <a:ext cx="8229600" cy="914400"/>
          </a:xfrm>
        </p:spPr>
        <p:txBody>
          <a:bodyPr/>
          <a:lstStyle/>
          <a:p>
            <a:r>
              <a:rPr lang="fr-FR" dirty="0" smtClean="0"/>
              <a:t>IV -Cas particulier  du patient dialysé :</a:t>
            </a:r>
            <a:endParaRPr lang="fr-FR" dirty="0"/>
          </a:p>
        </p:txBody>
      </p:sp>
      <p:sp>
        <p:nvSpPr>
          <p:cNvPr id="4" name="Rectangle 3"/>
          <p:cNvSpPr/>
          <p:nvPr/>
        </p:nvSpPr>
        <p:spPr>
          <a:xfrm>
            <a:off x="0" y="1500174"/>
            <a:ext cx="8358246" cy="4425827"/>
          </a:xfrm>
          <a:prstGeom prst="rect">
            <a:avLst/>
          </a:prstGeom>
        </p:spPr>
        <p:txBody>
          <a:bodyPr wrap="square">
            <a:spAutoFit/>
          </a:bodyPr>
          <a:lstStyle/>
          <a:p>
            <a:pPr lvl="1" algn="just">
              <a:lnSpc>
                <a:spcPct val="80000"/>
              </a:lnSpc>
              <a:buClr>
                <a:schemeClr val="tx1"/>
              </a:buClr>
              <a:buFont typeface="Wingdings" pitchFamily="2" charset="2"/>
              <a:buChar char="Ø"/>
              <a:defRPr/>
            </a:pPr>
            <a:r>
              <a:rPr lang="fr-FR" altLang="fr-FR" sz="3200" dirty="0" smtClean="0">
                <a:solidFill>
                  <a:srgbClr val="000000"/>
                </a:solidFill>
                <a:ea typeface="Calibri" pitchFamily="34" charset="0"/>
                <a:cs typeface="Arial" pitchFamily="34" charset="0"/>
              </a:rPr>
              <a:t>Dialyse : rein artificiel : méthode d’excrétion chez IR en phase terminale → patients </a:t>
            </a:r>
            <a:r>
              <a:rPr lang="fr-FR" sz="3200" dirty="0" smtClean="0"/>
              <a:t>exposés à un risque d’accumulation du médicament</a:t>
            </a:r>
          </a:p>
          <a:p>
            <a:pPr lvl="1" algn="just">
              <a:lnSpc>
                <a:spcPct val="80000"/>
              </a:lnSpc>
              <a:buClr>
                <a:schemeClr val="tx1"/>
              </a:buClr>
              <a:buFont typeface="Wingdings" pitchFamily="2" charset="2"/>
              <a:buChar char="Ø"/>
              <a:defRPr/>
            </a:pPr>
            <a:r>
              <a:rPr lang="fr-FR" sz="3200" dirty="0" smtClean="0"/>
              <a:t>Choix du moment d’administration par rapport aux séances de dialyse:</a:t>
            </a:r>
          </a:p>
          <a:p>
            <a:pPr lvl="1" algn="just">
              <a:lnSpc>
                <a:spcPct val="80000"/>
              </a:lnSpc>
              <a:buClr>
                <a:schemeClr val="tx1"/>
              </a:buClr>
              <a:buFont typeface="Arial" pitchFamily="34" charset="0"/>
              <a:buChar char="•"/>
              <a:defRPr/>
            </a:pPr>
            <a:r>
              <a:rPr lang="fr-FR" altLang="fr-FR" sz="3200" dirty="0" smtClean="0">
                <a:solidFill>
                  <a:srgbClr val="000000"/>
                </a:solidFill>
                <a:ea typeface="Calibri" pitchFamily="34" charset="0"/>
                <a:cs typeface="Arial" pitchFamily="34" charset="0"/>
              </a:rPr>
              <a:t> après la séance de dialyse pour les </a:t>
            </a:r>
            <a:r>
              <a:rPr lang="fr-FR" altLang="fr-FR" sz="3200" dirty="0" err="1" smtClean="0">
                <a:solidFill>
                  <a:srgbClr val="000000"/>
                </a:solidFill>
                <a:ea typeface="Calibri" pitchFamily="34" charset="0"/>
                <a:cs typeface="Arial" pitchFamily="34" charset="0"/>
              </a:rPr>
              <a:t>mdts</a:t>
            </a:r>
            <a:r>
              <a:rPr lang="fr-FR" altLang="fr-FR" sz="3200" dirty="0" smtClean="0">
                <a:solidFill>
                  <a:srgbClr val="000000"/>
                </a:solidFill>
                <a:ea typeface="Calibri" pitchFamily="34" charset="0"/>
                <a:cs typeface="Arial" pitchFamily="34" charset="0"/>
              </a:rPr>
              <a:t> épurés de façon </a:t>
            </a:r>
            <a:r>
              <a:rPr lang="fr-FR" altLang="fr-FR" sz="3200" dirty="0" err="1" smtClean="0">
                <a:solidFill>
                  <a:srgbClr val="000000"/>
                </a:solidFill>
                <a:ea typeface="Calibri" pitchFamily="34" charset="0"/>
                <a:cs typeface="Arial" pitchFamily="34" charset="0"/>
              </a:rPr>
              <a:t>signiﬁcative</a:t>
            </a:r>
            <a:r>
              <a:rPr lang="fr-FR" altLang="fr-FR" sz="3200" dirty="0" smtClean="0">
                <a:solidFill>
                  <a:srgbClr val="000000"/>
                </a:solidFill>
                <a:ea typeface="Calibri" pitchFamily="34" charset="0"/>
                <a:cs typeface="Arial" pitchFamily="34" charset="0"/>
              </a:rPr>
              <a:t> </a:t>
            </a:r>
            <a:r>
              <a:rPr lang="fr-FR" altLang="fr-FR" sz="3200" dirty="0" smtClean="0">
                <a:solidFill>
                  <a:srgbClr val="FF0000"/>
                </a:solidFill>
                <a:ea typeface="Calibri" pitchFamily="34" charset="0"/>
                <a:cs typeface="Arial" pitchFamily="34" charset="0"/>
              </a:rPr>
              <a:t>( </a:t>
            </a:r>
            <a:r>
              <a:rPr lang="fr-FR" altLang="fr-FR" sz="3200" dirty="0" err="1" smtClean="0">
                <a:solidFill>
                  <a:srgbClr val="FF0000"/>
                </a:solidFill>
                <a:ea typeface="Calibri" pitchFamily="34" charset="0"/>
                <a:cs typeface="Arial" pitchFamily="34" charset="0"/>
              </a:rPr>
              <a:t>amoxiciline</a:t>
            </a:r>
            <a:r>
              <a:rPr lang="fr-FR" altLang="fr-FR" sz="3200" dirty="0" smtClean="0">
                <a:solidFill>
                  <a:srgbClr val="FF0000"/>
                </a:solidFill>
                <a:ea typeface="Calibri" pitchFamily="34" charset="0"/>
                <a:cs typeface="Arial" pitchFamily="34" charset="0"/>
              </a:rPr>
              <a:t> ) </a:t>
            </a:r>
          </a:p>
          <a:p>
            <a:pPr lvl="1" algn="just">
              <a:lnSpc>
                <a:spcPct val="80000"/>
              </a:lnSpc>
              <a:buClr>
                <a:schemeClr val="tx1"/>
              </a:buClr>
              <a:buFont typeface="Arial" pitchFamily="34" charset="0"/>
              <a:buChar char="•"/>
              <a:defRPr/>
            </a:pPr>
            <a:r>
              <a:rPr lang="fr-FR" altLang="fr-FR" sz="3200" dirty="0" smtClean="0">
                <a:solidFill>
                  <a:srgbClr val="000000"/>
                </a:solidFill>
                <a:ea typeface="Calibri" pitchFamily="34" charset="0"/>
                <a:cs typeface="Arial" pitchFamily="34" charset="0"/>
              </a:rPr>
              <a:t>indépendante de la séance de dialyse si </a:t>
            </a:r>
            <a:r>
              <a:rPr lang="fr-FR" altLang="fr-FR" sz="3200" dirty="0" err="1" smtClean="0">
                <a:solidFill>
                  <a:srgbClr val="000000"/>
                </a:solidFill>
                <a:ea typeface="Calibri" pitchFamily="34" charset="0"/>
                <a:cs typeface="Arial" pitchFamily="34" charset="0"/>
              </a:rPr>
              <a:t>mdts</a:t>
            </a:r>
            <a:r>
              <a:rPr lang="fr-FR" altLang="fr-FR" sz="3200" dirty="0" smtClean="0">
                <a:solidFill>
                  <a:srgbClr val="000000"/>
                </a:solidFill>
                <a:ea typeface="Calibri" pitchFamily="34" charset="0"/>
                <a:cs typeface="Arial" pitchFamily="34" charset="0"/>
              </a:rPr>
              <a:t> non épurés </a:t>
            </a:r>
            <a:r>
              <a:rPr lang="fr-FR" altLang="fr-FR" sz="3200" dirty="0" err="1" smtClean="0">
                <a:solidFill>
                  <a:srgbClr val="000000"/>
                </a:solidFill>
                <a:ea typeface="Calibri" pitchFamily="34" charset="0"/>
                <a:cs typeface="Arial" pitchFamily="34" charset="0"/>
              </a:rPr>
              <a:t>pdt</a:t>
            </a:r>
            <a:r>
              <a:rPr lang="fr-FR" altLang="fr-FR" sz="3200" dirty="0" smtClean="0">
                <a:solidFill>
                  <a:srgbClr val="000000"/>
                </a:solidFill>
                <a:ea typeface="Calibri" pitchFamily="34" charset="0"/>
                <a:cs typeface="Arial" pitchFamily="34" charset="0"/>
              </a:rPr>
              <a:t>  la séance </a:t>
            </a:r>
          </a:p>
          <a:p>
            <a:pPr algn="just">
              <a:lnSpc>
                <a:spcPct val="80000"/>
              </a:lnSpc>
              <a:buFont typeface="Wingdings" pitchFamily="2" charset="2"/>
              <a:buChar char="Ø"/>
              <a:defRPr/>
            </a:pPr>
            <a:endParaRPr lang="fr-FR" altLang="fr-FR" sz="3200" dirty="0">
              <a:solidFill>
                <a:srgbClr val="000000"/>
              </a:solidFill>
              <a:ea typeface="Calibri" pitchFamily="34" charset="0"/>
              <a:cs typeface="Arial" pitchFamily="34" charset="0"/>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e">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Origine">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e">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1664</TotalTime>
  <Words>1747</Words>
  <Application>Microsoft Office PowerPoint</Application>
  <PresentationFormat>Affichage à l'écran (4:3)</PresentationFormat>
  <Paragraphs>199</Paragraphs>
  <Slides>16</Slides>
  <Notes>7</Notes>
  <HiddenSlides>0</HiddenSlides>
  <MMClips>0</MMClips>
  <ScaleCrop>false</ScaleCrop>
  <HeadingPairs>
    <vt:vector size="4" baseType="variant">
      <vt:variant>
        <vt:lpstr>Thème</vt:lpstr>
      </vt:variant>
      <vt:variant>
        <vt:i4>1</vt:i4>
      </vt:variant>
      <vt:variant>
        <vt:lpstr>Titres des diapositives</vt:lpstr>
      </vt:variant>
      <vt:variant>
        <vt:i4>16</vt:i4>
      </vt:variant>
    </vt:vector>
  </HeadingPairs>
  <TitlesOfParts>
    <vt:vector size="17" baseType="lpstr">
      <vt:lpstr>Origine</vt:lpstr>
      <vt:lpstr>Patient souffrant d’insuffisance rénale chronique  et incidences   odontologiques</vt:lpstr>
      <vt:lpstr>Plan </vt:lpstr>
      <vt:lpstr>I-Rappels physiologiques(1): rôle du rein </vt:lpstr>
      <vt:lpstr>Diapositive 4</vt:lpstr>
      <vt:lpstr>I-Rappels physiologiques(2): insuffisance rénale </vt:lpstr>
      <vt:lpstr>I-Rappels physiologiques(2):insuffisance rénale  </vt:lpstr>
      <vt:lpstr>I-Rappels physiologiques(2):insuffisance rénale  </vt:lpstr>
      <vt:lpstr>II-insuffisance rénale chronique et incidence en odontologie </vt:lpstr>
      <vt:lpstr>II-insuffisance rénale chronique et incidence en odontologie </vt:lpstr>
      <vt:lpstr>II-insuffisance rénale chronique et incidence en odontologie </vt:lpstr>
      <vt:lpstr>II-insuffisance rénale chronique et incidence en odontologie </vt:lpstr>
      <vt:lpstr>Diapositive 12</vt:lpstr>
      <vt:lpstr>Diapositive 13</vt:lpstr>
      <vt:lpstr>Diapositive 14</vt:lpstr>
      <vt:lpstr>Diapositive 15</vt:lpstr>
      <vt:lpstr>IV -Cas particulier  du patient dialysé :</vt:lpstr>
    </vt:vector>
  </TitlesOfParts>
  <Company>HP</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Médicaments de l’appareil urinaire et incidences   odontologiques</dc:title>
  <dc:creator>HP</dc:creator>
  <cp:lastModifiedBy>tassili</cp:lastModifiedBy>
  <cp:revision>24</cp:revision>
  <dcterms:created xsi:type="dcterms:W3CDTF">2020-04-05T08:52:45Z</dcterms:created>
  <dcterms:modified xsi:type="dcterms:W3CDTF">2025-04-06T09:40:03Z</dcterms:modified>
</cp:coreProperties>
</file>