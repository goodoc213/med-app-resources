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98" r:id="rId6"/>
    <p:sldId id="271" r:id="rId7"/>
    <p:sldId id="297" r:id="rId8"/>
    <p:sldId id="273" r:id="rId9"/>
    <p:sldId id="263" r:id="rId10"/>
    <p:sldId id="310" r:id="rId11"/>
    <p:sldId id="311" r:id="rId12"/>
    <p:sldId id="293" r:id="rId13"/>
    <p:sldId id="262" r:id="rId14"/>
    <p:sldId id="284" r:id="rId15"/>
    <p:sldId id="275" r:id="rId16"/>
    <p:sldId id="274" r:id="rId17"/>
    <p:sldId id="312" r:id="rId18"/>
    <p:sldId id="276" r:id="rId19"/>
    <p:sldId id="277" r:id="rId20"/>
    <p:sldId id="286" r:id="rId21"/>
    <p:sldId id="278" r:id="rId22"/>
    <p:sldId id="280" r:id="rId23"/>
    <p:sldId id="282" r:id="rId24"/>
    <p:sldId id="283" r:id="rId25"/>
    <p:sldId id="285" r:id="rId26"/>
    <p:sldId id="267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5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7" autoAdjust="0"/>
    <p:restoredTop sz="91398" autoAdjust="0"/>
  </p:normalViewPr>
  <p:slideViewPr>
    <p:cSldViewPr>
      <p:cViewPr>
        <p:scale>
          <a:sx n="80" d="100"/>
          <a:sy n="80" d="100"/>
        </p:scale>
        <p:origin x="-1002" y="6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78" y="1275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03172-3A05-414F-9AA4-58346A14B2BB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CE456-3108-4B4C-88A6-FAC12E87DEF4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E456-3108-4B4C-88A6-FAC12E87DEF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 voies descendantes   de la douleur</a:t>
            </a:r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Plusieurs régions supérieures sont impliquées</a:t>
            </a:r>
            <a:endParaRPr lang="fr-FR" sz="1200" i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Cortex et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hypothalamusMésencéphale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(substances grises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péri-aqueducale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périventriculaire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Bulbe</a:t>
            </a:r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(noyau raphé et bulbe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rostroventral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reçoivent des influx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sérotoninergique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noradrénergique des systèmes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mésencéphaliques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</a:t>
            </a:r>
            <a:r>
              <a:rPr lang="fr-FR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 projettent sur les relais de la corne dorsale</a:t>
            </a:r>
            <a:endParaRPr lang="fr-FR" sz="1200" i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où s’opère un contrôle inhibiteur sur des neurones et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interneurones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nociceptifs</a:t>
            </a:r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E456-3108-4B4C-88A6-FAC12E87DEF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CE456-3108-4B4C-88A6-FAC12E87DEF4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91BC8-E7C5-4264-9C60-AFA928A6E637}" type="datetime1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122F-FFA3-4D0B-9F09-DF9E614D32B8}" type="datetime1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EB61D-50DC-4F64-A158-2906ABDD35E9}" type="datetime1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A0BF-7D75-46BB-9BD5-CDC00885B4C0}" type="datetime1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59AE-302A-4CC3-A5BA-4E46250FDF45}" type="datetime1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F3B83-9130-4195-BAEB-B983102C8DE6}" type="datetime1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BE331-6528-4C60-9C07-6CEBFA84DCBB}" type="datetime1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C79D0-C5C2-4D64-8776-B2FA65505FAD}" type="datetime1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  <a:endParaRPr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CE9C-ABE1-4188-B0CF-FF6A180AAF9F}" type="datetime1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DB73-412B-44CE-950E-DCBB7818BC5A}" type="datetime1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D40BE-A943-440A-B958-0DC604BFCD28}" type="datetime1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r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Cliquez pour modifier le style du titre</a:t>
            </a:r>
          </a:p>
        </p:txBody>
      </p:sp>
      <p:sp>
        <p:nvSpPr>
          <p:cNvPr id="1027" name="Espace réservé du texte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Cliquez pour modifier les styles du texte du masque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1028" name="Espace réservé de la date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058FDBBC-0894-4D93-A16A-CCCBA3998DCF}" type="datetime1">
              <a:rPr lang="fr-FR" smtClean="0"/>
            </a:fld>
            <a:endParaRPr lang="fr-FR"/>
          </a:p>
        </p:txBody>
      </p:sp>
      <p:sp>
        <p:nvSpPr>
          <p:cNvPr id="1029" name="Espace réservé du pied de page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Espace réservé du numéro de diapositive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E4838739-A8A7-4989-B0FE-B5047DE0A6C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28728" y="5072074"/>
            <a:ext cx="6843738" cy="785818"/>
          </a:xfrm>
        </p:spPr>
        <p:txBody>
          <a:bodyPr>
            <a:normAutofit/>
          </a:bodyPr>
          <a:lstStyle/>
          <a:p>
            <a:pPr algn="r"/>
            <a:r>
              <a:rPr lang="fr-FR" dirty="0" smtClean="0"/>
              <a:t>Dr Ammi </a:t>
            </a:r>
            <a:endParaRPr lang="fr-FR" dirty="0" smtClean="0"/>
          </a:p>
          <a:p>
            <a:pPr algn="r"/>
            <a:r>
              <a:rPr lang="fr-FR" dirty="0"/>
              <a:t>Maitre de conf B- Parmacologie pharmaceutique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899160" y="1484630"/>
            <a:ext cx="6840855" cy="1587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fr-FR" sz="4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</a:rPr>
              <a:t>Medicaments de la douleur et incidences odontologiques:  Analgésiques centraux </a:t>
            </a:r>
            <a:endParaRPr lang="fr-FR" sz="4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j-lt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987824" y="6165304"/>
            <a:ext cx="3294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+mj-lt"/>
              </a:rPr>
              <a:t>Année </a:t>
            </a:r>
            <a:r>
              <a:rPr lang="fr-FR" dirty="0" smtClean="0">
                <a:latin typeface="+mj-lt"/>
              </a:rPr>
              <a:t>universitaire 2024-2025</a:t>
            </a:r>
            <a:endParaRPr lang="fr-FR" dirty="0">
              <a:latin typeface="+mj-lt"/>
            </a:endParaRPr>
          </a:p>
        </p:txBody>
      </p:sp>
      <p:sp>
        <p:nvSpPr>
          <p:cNvPr id="2" name="Zone de texte 1"/>
          <p:cNvSpPr txBox="1"/>
          <p:nvPr/>
        </p:nvSpPr>
        <p:spPr>
          <a:xfrm>
            <a:off x="2087245" y="617855"/>
            <a:ext cx="5076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/>
              <a:t>Cours de 3° année Medecine dentaire</a:t>
            </a:r>
            <a:endParaRPr lang="fr-FR" altLang="en-US"/>
          </a:p>
          <a:p>
            <a:r>
              <a:rPr lang="fr-FR" altLang="en-US"/>
              <a:t>Module: Pharmacologie </a:t>
            </a:r>
            <a:endParaRPr lang="fr-F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4120"/>
            <a:ext cx="8229600" cy="545846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67500" lnSpcReduction="20000"/>
          </a:bodyPr>
          <a:lstStyle/>
          <a:p>
            <a:pPr>
              <a:buNone/>
            </a:pPr>
            <a:r>
              <a:rPr lang="fr-FR" sz="6400" u="sng" dirty="0" smtClean="0">
                <a:solidFill>
                  <a:schemeClr val="accent6">
                    <a:lumMod val="50000"/>
                  </a:schemeClr>
                </a:solidFill>
              </a:rPr>
              <a:t>Historique</a:t>
            </a:r>
            <a:endParaRPr lang="fr-FR" dirty="0" smtClean="0"/>
          </a:p>
          <a:p>
            <a:pPr indent="377825" algn="just">
              <a:buNone/>
            </a:pPr>
            <a:r>
              <a:rPr lang="fr-FR" dirty="0" smtClean="0"/>
              <a:t>Hughes et </a:t>
            </a:r>
            <a:r>
              <a:rPr lang="fr-FR" dirty="0" err="1" smtClean="0"/>
              <a:t>Kosterlitz</a:t>
            </a:r>
            <a:r>
              <a:rPr lang="fr-FR" dirty="0" smtClean="0"/>
              <a:t> (1975) ont isolé des polypeptides extraits du cerveau, et qui sont doués de propriétés analgésiques: les enképhalines</a:t>
            </a:r>
            <a:endParaRPr lang="fr-FR" dirty="0" smtClean="0"/>
          </a:p>
          <a:p>
            <a:pPr indent="377825" algn="just">
              <a:buNone/>
            </a:pPr>
            <a:endParaRPr lang="fr-FR" dirty="0" smtClean="0"/>
          </a:p>
          <a:p>
            <a:pPr indent="377825" algn="just">
              <a:buNone/>
            </a:pPr>
            <a:r>
              <a:rPr lang="fr-FR" dirty="0" smtClean="0"/>
              <a:t>Il a été démontré en 76  (Guillemin) que l’</a:t>
            </a:r>
            <a:r>
              <a:rPr lang="fr-FR" dirty="0" err="1" smtClean="0"/>
              <a:t>alphaendorphine</a:t>
            </a:r>
            <a:r>
              <a:rPr lang="fr-FR" dirty="0" smtClean="0"/>
              <a:t> (</a:t>
            </a:r>
            <a:r>
              <a:rPr lang="fr-FR" dirty="0" err="1" smtClean="0"/>
              <a:t>héxadéxapeptide</a:t>
            </a:r>
            <a:r>
              <a:rPr lang="fr-FR" dirty="0" smtClean="0"/>
              <a:t>) était également un analgésique central</a:t>
            </a:r>
            <a:endParaRPr lang="fr-FR" dirty="0" smtClean="0"/>
          </a:p>
          <a:p>
            <a:pPr indent="377825" algn="just">
              <a:buNone/>
            </a:pPr>
            <a:endParaRPr lang="fr-FR" dirty="0" smtClean="0"/>
          </a:p>
          <a:p>
            <a:pPr indent="377825" algn="just">
              <a:buNone/>
            </a:pPr>
            <a:r>
              <a:rPr lang="fr-FR" dirty="0" smtClean="0"/>
              <a:t>Par la suite  été mis en évidence une série de polypeptides drives de </a:t>
            </a:r>
            <a:r>
              <a:rPr lang="fr-FR" dirty="0" err="1" smtClean="0"/>
              <a:t>lipotropine</a:t>
            </a:r>
            <a:r>
              <a:rPr lang="fr-FR" dirty="0" smtClean="0"/>
              <a:t> et des fragments d’ACTH qui ont plus ou moins un effet analgésique</a:t>
            </a:r>
            <a:endParaRPr lang="fr-FR" dirty="0" smtClean="0"/>
          </a:p>
          <a:p>
            <a:pPr indent="377825" algn="just">
              <a:buNone/>
            </a:pPr>
            <a:endParaRPr lang="fr-FR" dirty="0" smtClean="0"/>
          </a:p>
          <a:p>
            <a:pPr indent="377825" algn="just">
              <a:buNone/>
            </a:pPr>
            <a:r>
              <a:rPr lang="fr-FR" dirty="0" smtClean="0"/>
              <a:t>Dans les années 90 ont été isolées les endomorphines 1 et 2</a:t>
            </a:r>
            <a:endParaRPr lang="fr-FR" dirty="0" smtClean="0"/>
          </a:p>
          <a:p>
            <a:endParaRPr lang="fr-FR" dirty="0" smtClean="0"/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          </a:t>
            </a:r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457200" y="274638"/>
            <a:ext cx="8229600" cy="511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I. Opioïdes endogènes </a:t>
            </a:r>
            <a:endParaRPr kumimoji="0" lang="fr-FR" sz="4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1196752"/>
            <a:ext cx="96845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Trois familles distinctes de peptides opioïdes qui ≠ par le précurseur protéique spécifique dont elles sont issues par protéolyse. </a:t>
            </a:r>
            <a:endParaRPr lang="fr-F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59832" y="2060848"/>
            <a:ext cx="2446504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les endorphines 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12160" y="2060848"/>
            <a:ext cx="242887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fr-F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dynorphines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cteur droit avec flèche 11"/>
          <p:cNvCxnSpPr/>
          <p:nvPr/>
        </p:nvCxnSpPr>
        <p:spPr>
          <a:xfrm>
            <a:off x="1475656" y="2852936"/>
            <a:ext cx="0" cy="1800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4283968" y="2852936"/>
            <a:ext cx="0" cy="28083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7164288" y="2852936"/>
            <a:ext cx="0" cy="19442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55776" y="5877272"/>
            <a:ext cx="3390672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Prépro-</a:t>
            </a:r>
            <a:r>
              <a:rPr lang="fr-FR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opiomélanocortine</a:t>
            </a:r>
            <a:endParaRPr lang="fr-FR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(POMC)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68144" y="4869160"/>
            <a:ext cx="285046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Préprodynorphine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1520" y="2060848"/>
            <a:ext cx="248177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les enképhalines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3528" y="4797152"/>
            <a:ext cx="293702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Préproenképhaline</a:t>
            </a:r>
            <a:endParaRPr lang="fr-FR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I. Opioïdes endogènes </a:t>
            </a:r>
            <a:endParaRPr lang="fr-FR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une autre classe découverte:  Il s'agit de </a:t>
            </a:r>
            <a:r>
              <a:rPr lang="fr-FR" b="1" dirty="0" smtClean="0">
                <a:solidFill>
                  <a:srgbClr val="00B0F0"/>
                </a:solidFill>
              </a:rPr>
              <a:t>l'endomorphine 1 et 2</a:t>
            </a:r>
            <a:r>
              <a:rPr lang="fr-FR" dirty="0" smtClean="0"/>
              <a:t>, qui ont </a:t>
            </a:r>
            <a:r>
              <a:rPr lang="fr-FR" u="sng" dirty="0" smtClean="0">
                <a:solidFill>
                  <a:srgbClr val="FF0000"/>
                </a:solidFill>
              </a:rPr>
              <a:t>la plus grande affinité connue </a:t>
            </a:r>
            <a:r>
              <a:rPr lang="fr-FR" dirty="0" smtClean="0"/>
              <a:t>avec le récepteur µ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Endomorphine 1: Tyr-Pro-</a:t>
            </a:r>
            <a:r>
              <a:rPr lang="fr-FR" dirty="0" err="1" smtClean="0"/>
              <a:t>Trp</a:t>
            </a:r>
            <a:r>
              <a:rPr lang="fr-FR" dirty="0" smtClean="0"/>
              <a:t>-</a:t>
            </a:r>
            <a:r>
              <a:rPr lang="fr-FR" dirty="0" err="1" smtClean="0"/>
              <a:t>Phe</a:t>
            </a:r>
            <a:r>
              <a:rPr lang="fr-FR" dirty="0" smtClean="0"/>
              <a:t> NH2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Endomorphine 2: Tyr-Pro-</a:t>
            </a:r>
            <a:r>
              <a:rPr lang="fr-FR" dirty="0" err="1" smtClean="0"/>
              <a:t>Phe</a:t>
            </a:r>
            <a:r>
              <a:rPr lang="fr-FR" dirty="0" smtClean="0"/>
              <a:t>-</a:t>
            </a:r>
            <a:r>
              <a:rPr lang="fr-FR" dirty="0" err="1" smtClean="0"/>
              <a:t>Phe</a:t>
            </a:r>
            <a:r>
              <a:rPr lang="fr-FR" dirty="0" smtClean="0"/>
              <a:t> NH2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NB: la </a:t>
            </a:r>
            <a:r>
              <a:rPr lang="fr-FR" dirty="0" err="1" smtClean="0"/>
              <a:t>nocistatine</a:t>
            </a:r>
            <a:r>
              <a:rPr lang="fr-FR" dirty="0" smtClean="0"/>
              <a:t>: un opioïde endogène impliqué dans la transmission de la douleur : </a:t>
            </a:r>
            <a:r>
              <a:rPr lang="fr-FR" dirty="0" err="1" smtClean="0"/>
              <a:t>algésique</a:t>
            </a:r>
            <a:r>
              <a:rPr lang="fr-FR" dirty="0" smtClean="0"/>
              <a:t> : récepteur </a:t>
            </a:r>
            <a:r>
              <a:rPr lang="fr-FR" dirty="0" smtClean="0">
                <a:latin typeface="+mj-lt"/>
              </a:rPr>
              <a:t>ORL1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500034" y="500042"/>
            <a:ext cx="8229600" cy="5111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I. Opioïdes endogènes </a:t>
            </a:r>
            <a:endParaRPr kumimoji="0" lang="fr-FR" sz="4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5536" y="2132856"/>
            <a:ext cx="7757293" cy="374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II. Récepteurs des opioïdes </a:t>
            </a:r>
            <a:endParaRPr lang="fr-FR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23528" y="1412776"/>
            <a:ext cx="15032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Localisation  : </a:t>
            </a:r>
            <a:endParaRPr lang="fr-FR" dirty="0"/>
          </a:p>
        </p:txBody>
      </p:sp>
      <p:sp>
        <p:nvSpPr>
          <p:cNvPr id="10" name="Accolade fermante 9"/>
          <p:cNvSpPr/>
          <p:nvPr/>
        </p:nvSpPr>
        <p:spPr>
          <a:xfrm>
            <a:off x="5652120" y="2780928"/>
            <a:ext cx="1152128" cy="13681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7092280" y="321297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SNC 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115616" y="4005064"/>
            <a:ext cx="4600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32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FR" sz="2000" dirty="0" smtClean="0"/>
              <a:t>tractus gastro-intestinal et vessie  : SNP </a:t>
            </a:r>
            <a:endParaRPr lang="fr-FR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1268760"/>
            <a:ext cx="4248472" cy="897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2060848"/>
            <a:ext cx="7920880" cy="4104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8"/>
          <p:cNvSpPr txBox="1"/>
          <p:nvPr/>
        </p:nvSpPr>
        <p:spPr>
          <a:xfrm>
            <a:off x="3995936" y="4509120"/>
            <a:ext cx="498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→↓ hyperexcitabilité neuronale ( post synaptique)  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3059832" y="5661248"/>
            <a:ext cx="6049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→↓ libération neurotransmetteurs (nociceptifs =de la douleur </a:t>
            </a:r>
            <a:endParaRPr lang="fr-FR" dirty="0" smtClean="0"/>
          </a:p>
          <a:p>
            <a:r>
              <a:rPr lang="fr-FR" dirty="0" smtClean="0"/>
              <a:t>         et autres)  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347864" y="5085184"/>
            <a:ext cx="4159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→↓ potentiel d’action  ( post synaptique)  </a:t>
            </a:r>
            <a:endParaRPr lang="fr-FR" dirty="0"/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2699792" y="5013176"/>
            <a:ext cx="28803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179512" y="1340768"/>
            <a:ext cx="21749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Mécanisme d’action : </a:t>
            </a:r>
            <a:endParaRPr lang="fr-FR" dirty="0"/>
          </a:p>
        </p:txBody>
      </p:sp>
      <p:sp>
        <p:nvSpPr>
          <p:cNvPr id="16" name="Titre 1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II. Récepteurs des opioïdes 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79712" y="1268760"/>
            <a:ext cx="9540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680" algn="just"/>
            <a:r>
              <a:rPr lang="fr-FR" sz="2400" dirty="0" smtClean="0"/>
              <a:t>R </a:t>
            </a:r>
            <a:r>
              <a:rPr lang="fr-FR" sz="2400" dirty="0" err="1" smtClean="0"/>
              <a:t>métabotropiques</a:t>
            </a:r>
            <a:r>
              <a:rPr lang="fr-FR" sz="2400" dirty="0" smtClean="0"/>
              <a:t>: récepteur couplé à la protéine  G.</a:t>
            </a:r>
            <a:endParaRPr lang="fr-F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85720" y="1600200"/>
            <a:ext cx="8715436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fr-FR" dirty="0" smtClean="0">
              <a:latin typeface="Times New Roman" panose="02020603050405020304"/>
              <a:cs typeface="Times New Roman" panose="02020603050405020304"/>
            </a:endParaRPr>
          </a:p>
          <a:p>
            <a:pPr>
              <a:buNone/>
            </a:pPr>
            <a:endParaRPr lang="fr-FR" dirty="0"/>
          </a:p>
        </p:txBody>
      </p:sp>
      <p:sp>
        <p:nvSpPr>
          <p:cNvPr id="4" name="Titre 1"/>
          <p:cNvSpPr txBox="1"/>
          <p:nvPr/>
        </p:nvSpPr>
        <p:spPr>
          <a:xfrm>
            <a:off x="457200" y="274638"/>
            <a:ext cx="8229600" cy="6340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II.</a:t>
            </a:r>
            <a:r>
              <a:rPr kumimoji="0" lang="fr-FR" sz="4400" b="1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Récepteurs des  </a:t>
            </a:r>
            <a:r>
              <a:rPr kumimoji="0" lang="fr-FR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opioïdes</a:t>
            </a:r>
            <a:endParaRPr kumimoji="0" lang="fr-FR" sz="4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827584" y="1700808"/>
          <a:ext cx="7500990" cy="46634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482891"/>
                <a:gridCol w="5018099"/>
              </a:tblGrid>
              <a:tr h="462087">
                <a:tc rowSpan="2">
                  <a:txBody>
                    <a:bodyPr/>
                    <a:lstStyle/>
                    <a:p>
                      <a:r>
                        <a:rPr lang="fr-FR" dirty="0" smtClean="0"/>
                        <a:t>Récepteurs µ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endorphines </a:t>
                      </a:r>
                      <a:endParaRPr lang="fr-FR" dirty="0" smtClean="0"/>
                    </a:p>
                    <a:p>
                      <a:r>
                        <a:rPr lang="fr-FR" dirty="0" err="1" smtClean="0"/>
                        <a:t>enképhlines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endomorphines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0" dirty="0" smtClean="0"/>
                        <a:t>(µ1)</a:t>
                      </a:r>
                      <a:endParaRPr lang="fr-FR" b="0" dirty="0" smtClean="0"/>
                    </a:p>
                    <a:p>
                      <a:r>
                        <a:rPr lang="fr-FR" b="0" dirty="0" smtClean="0"/>
                        <a:t>Analgésie  </a:t>
                      </a:r>
                      <a:r>
                        <a:rPr lang="fr-FR" b="0" dirty="0" err="1" smtClean="0"/>
                        <a:t>supraspinale</a:t>
                      </a:r>
                      <a:r>
                        <a:rPr lang="fr-FR" b="0" dirty="0" smtClean="0"/>
                        <a:t>  ( au niveau du cerveau)</a:t>
                      </a:r>
                      <a:endParaRPr lang="fr-FR" b="0" dirty="0" smtClean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1452274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(µ2)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Analgésie spinale</a:t>
                      </a:r>
                      <a:r>
                        <a:rPr lang="fr-FR" baseline="0" dirty="0" smtClean="0"/>
                        <a:t>  ( au niveau de la moelle épinière)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Dépression </a:t>
                      </a:r>
                      <a:r>
                        <a:rPr lang="fr-FR" dirty="0" smtClean="0"/>
                        <a:t>respiratoire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Myosis</a:t>
                      </a:r>
                      <a:r>
                        <a:rPr lang="fr-FR" dirty="0" smtClean="0"/>
                        <a:t>, 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Constipation</a:t>
                      </a:r>
                      <a:r>
                        <a:rPr lang="fr-FR" dirty="0" smtClean="0"/>
                        <a:t>, 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Euphorie</a:t>
                      </a:r>
                      <a:r>
                        <a:rPr lang="fr-FR" dirty="0" smtClean="0"/>
                        <a:t>.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Dépendance physique</a:t>
                      </a:r>
                      <a:endParaRPr lang="fr-FR" dirty="0" smtClean="0"/>
                    </a:p>
                    <a:p>
                      <a:endParaRPr lang="fr-FR" dirty="0"/>
                    </a:p>
                  </a:txBody>
                  <a:tcPr anchor="ctr"/>
                </a:tc>
              </a:tr>
              <a:tr h="462087">
                <a:tc>
                  <a:txBody>
                    <a:bodyPr/>
                    <a:lstStyle/>
                    <a:p>
                      <a:r>
                        <a:rPr lang="fr-FR" b="1" dirty="0" smtClean="0"/>
                        <a:t>Récepteurs δ</a:t>
                      </a:r>
                      <a:endParaRPr lang="fr-FR" b="1" dirty="0" smtClean="0"/>
                    </a:p>
                    <a:p>
                      <a:r>
                        <a:rPr lang="fr-FR" b="1" dirty="0" smtClean="0"/>
                        <a:t>enképhalines</a:t>
                      </a:r>
                      <a:endParaRPr lang="fr-F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Analgésie spinale</a:t>
                      </a:r>
                      <a:endParaRPr lang="fr-FR" dirty="0"/>
                    </a:p>
                  </a:txBody>
                  <a:tcPr anchor="ctr"/>
                </a:tc>
              </a:tr>
              <a:tr h="264050">
                <a:tc rowSpan="3">
                  <a:txBody>
                    <a:bodyPr/>
                    <a:lstStyle/>
                    <a:p>
                      <a:r>
                        <a:rPr lang="fr-FR" b="1" dirty="0" smtClean="0"/>
                        <a:t>Récepteurs κ</a:t>
                      </a:r>
                      <a:endParaRPr lang="fr-FR" b="1" dirty="0" smtClean="0"/>
                    </a:p>
                    <a:p>
                      <a:r>
                        <a:rPr lang="fr-FR" b="1" dirty="0" err="1" smtClean="0"/>
                        <a:t>dynorphines</a:t>
                      </a:r>
                      <a:endParaRPr lang="fr-FR" b="1" dirty="0" smtClean="0"/>
                    </a:p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smtClean="0"/>
                        <a:t>κ1  Analgésie</a:t>
                      </a:r>
                      <a:r>
                        <a:rPr lang="fr-FR" baseline="0" dirty="0" smtClean="0"/>
                        <a:t> spinale, myosis</a:t>
                      </a:r>
                      <a:endParaRPr lang="fr-FR" dirty="0"/>
                    </a:p>
                  </a:txBody>
                  <a:tcPr anchor="ctr"/>
                </a:tc>
              </a:tr>
              <a:tr h="2640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κ2</a:t>
                      </a:r>
                      <a:r>
                        <a:rPr lang="fr-FR" baseline="0" dirty="0" smtClean="0"/>
                        <a:t>  Dysphorie</a:t>
                      </a:r>
                      <a:endParaRPr lang="fr-FR" dirty="0"/>
                    </a:p>
                  </a:txBody>
                  <a:tcPr anchor="ctr"/>
                </a:tc>
              </a:tr>
              <a:tr h="2640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κ3</a:t>
                      </a:r>
                      <a:r>
                        <a:rPr lang="fr-FR" baseline="0" dirty="0" smtClean="0"/>
                        <a:t>  analgésie </a:t>
                      </a:r>
                      <a:r>
                        <a:rPr lang="fr-FR" baseline="0" dirty="0" err="1" smtClean="0"/>
                        <a:t>supraspinale</a:t>
                      </a:r>
                      <a:endParaRPr lang="fr-FR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899592" y="1268760"/>
            <a:ext cx="567527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Effets </a:t>
            </a:r>
            <a:r>
              <a:rPr lang="fr-FR" dirty="0" err="1" smtClean="0"/>
              <a:t>médiés</a:t>
            </a:r>
            <a:r>
              <a:rPr lang="fr-FR" dirty="0" smtClean="0"/>
              <a:t> par les récepteurs  des opioïdes endogènes :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</a:t>
            </a:r>
            <a:endParaRPr lang="fr-FR" b="1" dirty="0"/>
          </a:p>
        </p:txBody>
      </p:sp>
      <p:sp>
        <p:nvSpPr>
          <p:cNvPr id="8" name="Espace réservé de la date 1"/>
          <p:cNvSpPr txBox="1"/>
          <p:nvPr/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B82D7E-422D-49E3-AEF7-3FB73B782694}" type="datetime1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numéro de diapositive 2"/>
          <p:cNvSpPr txBox="1"/>
          <p:nvPr/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4838739-A8A7-4989-B0FE-B5047DE0A6C1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908720"/>
            <a:ext cx="5760640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0" y="4725144"/>
            <a:ext cx="2699792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fr-FR" sz="1600" dirty="0" smtClean="0"/>
              <a:t>stimuli nociceptifs excitent d'abord les fibres primaires afférentes qui atteignent les neurones relais de la corne postérieure de la moelle épinière ( niveau spinal) </a:t>
            </a:r>
            <a:endParaRPr lang="fr-FR" sz="1600" dirty="0" smtClean="0"/>
          </a:p>
        </p:txBody>
      </p:sp>
      <p:cxnSp>
        <p:nvCxnSpPr>
          <p:cNvPr id="12" name="Connecteur droit avec flèche 11"/>
          <p:cNvCxnSpPr/>
          <p:nvPr/>
        </p:nvCxnSpPr>
        <p:spPr>
          <a:xfrm flipV="1">
            <a:off x="1763688" y="1412776"/>
            <a:ext cx="0" cy="295232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0" y="1628800"/>
            <a:ext cx="1331640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400" dirty="0" smtClean="0"/>
              <a:t>Transmission de l’information </a:t>
            </a:r>
            <a:endParaRPr lang="fr-FR" sz="1400" dirty="0" smtClean="0"/>
          </a:p>
          <a:p>
            <a:pPr algn="ctr"/>
            <a:r>
              <a:rPr lang="fr-FR" sz="1400" dirty="0" smtClean="0"/>
              <a:t>Douloureuse au cerveau : bulbe, mésencéphale, cortex (structures supra spinales)  via des neurones relais  afférents </a:t>
            </a:r>
            <a:endParaRPr lang="fr-FR" sz="1400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548680"/>
            <a:ext cx="3923928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ZoneTexte 14"/>
          <p:cNvSpPr txBox="1"/>
          <p:nvPr/>
        </p:nvSpPr>
        <p:spPr>
          <a:xfrm>
            <a:off x="5508104" y="548680"/>
            <a:ext cx="19739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Rappel : la douleur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pic>
        <p:nvPicPr>
          <p:cNvPr id="4" name="Image 3" descr="pyramideoms.jpg (20669 octets)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28662" y="3071810"/>
            <a:ext cx="6858048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 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508104" y="548680"/>
            <a:ext cx="19739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Rappel : la douleur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467544" y="1628800"/>
            <a:ext cx="6829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Douleur →</a:t>
            </a:r>
            <a:r>
              <a:rPr lang="fr-FR" dirty="0" smtClean="0">
                <a:ea typeface="Calibri" panose="020F0502020204030204"/>
              </a:rPr>
              <a:t> une sensation désagréable et une expérience émotionnelle</a:t>
            </a:r>
            <a:endParaRPr lang="fr-FR" dirty="0" smtClean="0">
              <a:ea typeface="Calibri" panose="020F0502020204030204"/>
            </a:endParaRPr>
          </a:p>
          <a:p>
            <a:r>
              <a:rPr lang="fr-FR" dirty="0" smtClean="0">
                <a:ea typeface="Calibri" panose="020F0502020204030204"/>
              </a:rPr>
              <a:t> en réponse à une atteinte tissulaire réelle ou potentielle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5786" y="1556792"/>
            <a:ext cx="8106694" cy="478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Interdiction 8"/>
          <p:cNvSpPr/>
          <p:nvPr/>
        </p:nvSpPr>
        <p:spPr>
          <a:xfrm>
            <a:off x="6012160" y="3861048"/>
            <a:ext cx="576064" cy="432048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55976" y="620688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fr-FR" sz="2000" dirty="0" err="1" smtClean="0"/>
              <a:t>Mdts</a:t>
            </a:r>
            <a:r>
              <a:rPr lang="fr-FR" sz="2000" dirty="0" smtClean="0"/>
              <a:t> destinés à  - ou à  la douleur sans perte de conscience </a:t>
            </a:r>
            <a:r>
              <a:rPr lang="fr-FR" sz="2000" dirty="0" smtClean="0">
                <a:latin typeface="Monotype Corsiva" panose="03010101010201010101" pitchFamily="66" charset="0"/>
              </a:rPr>
              <a:t>.</a:t>
            </a:r>
            <a:endParaRPr lang="fr-FR" sz="2000" dirty="0" smtClean="0">
              <a:latin typeface="Monotype Corsiva" panose="03010101010201010101" pitchFamily="66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  <p:sp>
        <p:nvSpPr>
          <p:cNvPr id="17" name="Rectangle 16"/>
          <p:cNvSpPr/>
          <p:nvPr/>
        </p:nvSpPr>
        <p:spPr>
          <a:xfrm>
            <a:off x="7812360" y="2780928"/>
            <a:ext cx="1152128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/>
          <p:cNvSpPr/>
          <p:nvPr/>
        </p:nvSpPr>
        <p:spPr>
          <a:xfrm>
            <a:off x="7596336" y="2780928"/>
            <a:ext cx="1224136" cy="36004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100" dirty="0" smtClean="0"/>
              <a:t>Analgésique </a:t>
            </a:r>
            <a:r>
              <a:rPr lang="fr-FR" sz="1100" dirty="0" err="1" smtClean="0"/>
              <a:t>opioide</a:t>
            </a:r>
            <a:endParaRPr lang="fr-FR" sz="1100" dirty="0"/>
          </a:p>
        </p:txBody>
      </p:sp>
      <p:sp>
        <p:nvSpPr>
          <p:cNvPr id="19" name="Multiplier 18"/>
          <p:cNvSpPr/>
          <p:nvPr/>
        </p:nvSpPr>
        <p:spPr>
          <a:xfrm>
            <a:off x="8172400" y="5229200"/>
            <a:ext cx="554360" cy="9144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1331640" y="6309320"/>
            <a:ext cx="781236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fr-FR" dirty="0" smtClean="0"/>
              <a:t>  </a:t>
            </a:r>
            <a:r>
              <a:rPr lang="fr-FR" dirty="0" smtClean="0">
                <a:latin typeface="Century Schoolbook" panose="02040604050505020304"/>
              </a:rPr>
              <a:t>→</a:t>
            </a:r>
            <a:r>
              <a:rPr lang="fr-FR" sz="1400" dirty="0" smtClean="0"/>
              <a:t>Action dépressive spinale directe et </a:t>
            </a:r>
            <a:r>
              <a:rPr lang="fr-FR" sz="1400" dirty="0" err="1" smtClean="0"/>
              <a:t>supraspinale</a:t>
            </a:r>
            <a:r>
              <a:rPr lang="fr-FR" sz="1400" dirty="0" smtClean="0"/>
              <a:t> sur la transmission des messages nociceptifs</a:t>
            </a:r>
            <a:endParaRPr lang="fr-FR" sz="1400" dirty="0" smtClean="0"/>
          </a:p>
        </p:txBody>
      </p:sp>
      <p:cxnSp>
        <p:nvCxnSpPr>
          <p:cNvPr id="12" name="Connecteur droit avec flèche 11"/>
          <p:cNvCxnSpPr/>
          <p:nvPr/>
        </p:nvCxnSpPr>
        <p:spPr>
          <a:xfrm rot="5400000">
            <a:off x="6929454" y="928670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323528" y="908720"/>
            <a:ext cx="8643937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--  Chef de fil = Morphine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R1 =R2= OH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b="1" u="sng" dirty="0" smtClean="0"/>
          </a:p>
          <a:p>
            <a:pPr>
              <a:buNone/>
            </a:pPr>
            <a:r>
              <a:rPr lang="fr-FR" dirty="0" smtClean="0"/>
              <a:t> </a:t>
            </a:r>
            <a:endParaRPr lang="fr-FR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  <p:pic>
        <p:nvPicPr>
          <p:cNvPr id="12" name="Image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5536" y="1916832"/>
            <a:ext cx="8352927" cy="4248472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5508104" y="692696"/>
            <a:ext cx="16339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Opiacé naturel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0" y="1052736"/>
          <a:ext cx="8892480" cy="542129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39040"/>
                <a:gridCol w="5953440"/>
              </a:tblGrid>
              <a:tr h="936258">
                <a:tc>
                  <a:txBody>
                    <a:bodyPr/>
                    <a:lstStyle/>
                    <a:p>
                      <a:r>
                        <a:rPr lang="fr-FR" b="0" dirty="0" smtClean="0"/>
                        <a:t>SNC</a:t>
                      </a:r>
                      <a:r>
                        <a:rPr lang="fr-FR" dirty="0" smtClean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fr-FR" b="0" dirty="0" smtClean="0"/>
                        <a:t>Action analgésique</a:t>
                      </a:r>
                      <a:endParaRPr lang="fr-FR" b="0" dirty="0" smtClean="0"/>
                    </a:p>
                    <a:p>
                      <a:pPr>
                        <a:buFontTx/>
                        <a:buChar char="-"/>
                      </a:pPr>
                      <a:r>
                        <a:rPr lang="fr-FR" b="0" dirty="0" smtClean="0"/>
                        <a:t>Action psychomotrice: stimulation de courte durée suivie de sédation</a:t>
                      </a:r>
                      <a:endParaRPr lang="fr-FR" b="0" dirty="0" smtClean="0"/>
                    </a:p>
                    <a:p>
                      <a:r>
                        <a:rPr lang="fr-FR" b="0" dirty="0" smtClean="0"/>
                        <a:t>-Effet psychodysleptique</a:t>
                      </a:r>
                      <a:endParaRPr lang="fr-FR" b="0" dirty="0" smtClean="0"/>
                    </a:p>
                    <a:p>
                      <a:r>
                        <a:rPr lang="fr-FR" b="0" dirty="0" smtClean="0"/>
                        <a:t>-Dépression respiratoire</a:t>
                      </a:r>
                      <a:endParaRPr lang="fr-FR" b="0" dirty="0" smtClean="0"/>
                    </a:p>
                    <a:p>
                      <a:r>
                        <a:rPr lang="fr-FR" b="0" dirty="0" smtClean="0"/>
                        <a:t>- Effet antitussif puissant </a:t>
                      </a:r>
                      <a:endParaRPr lang="fr-FR" b="0" dirty="0" smtClean="0"/>
                    </a:p>
                    <a:p>
                      <a:pPr>
                        <a:buFontTx/>
                        <a:buChar char="-"/>
                      </a:pPr>
                      <a:endParaRPr lang="fr-FR" dirty="0"/>
                    </a:p>
                  </a:txBody>
                  <a:tcPr/>
                </a:tc>
              </a:tr>
              <a:tr h="436592">
                <a:tc>
                  <a:txBody>
                    <a:bodyPr/>
                    <a:lstStyle/>
                    <a:p>
                      <a:r>
                        <a:rPr lang="fr-FR" dirty="0" smtClean="0"/>
                        <a:t>Action périphérique :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504139">
                <a:tc>
                  <a:txBody>
                    <a:bodyPr/>
                    <a:lstStyle/>
                    <a:p>
                      <a:r>
                        <a:rPr lang="fr-FR" dirty="0" smtClean="0"/>
                        <a:t>SNA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Hypotension , bradycardie , myosis </a:t>
                      </a:r>
                      <a:endParaRPr lang="fr-FR" dirty="0"/>
                    </a:p>
                  </a:txBody>
                  <a:tcPr/>
                </a:tc>
              </a:tr>
              <a:tr h="5041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CTZ</a:t>
                      </a:r>
                      <a:r>
                        <a:rPr lang="fr-FR" baseline="0" dirty="0" smtClean="0"/>
                        <a:t> </a:t>
                      </a:r>
                      <a:endParaRPr lang="fr-FR" dirty="0" smtClean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- Émétisant</a:t>
                      </a:r>
                      <a:r>
                        <a:rPr lang="fr-FR" baseline="0" dirty="0" smtClean="0"/>
                        <a:t> à faible dose</a:t>
                      </a:r>
                      <a:endParaRPr lang="fr-FR" baseline="0" dirty="0" smtClean="0"/>
                    </a:p>
                    <a:p>
                      <a:r>
                        <a:rPr lang="fr-FR" baseline="0" dirty="0" smtClean="0"/>
                        <a:t>- Anti-vomitif à fortes doses</a:t>
                      </a:r>
                      <a:endParaRPr lang="fr-FR" dirty="0" smtClean="0"/>
                    </a:p>
                  </a:txBody>
                  <a:tcPr/>
                </a:tc>
              </a:tr>
              <a:tr h="504139">
                <a:tc>
                  <a:txBody>
                    <a:bodyPr/>
                    <a:lstStyle/>
                    <a:p>
                      <a:r>
                        <a:rPr lang="fr-FR" dirty="0" smtClean="0"/>
                        <a:t>Muscles lisses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- Baisse du péristaltisme intestinal  et des sécrétions 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- Augmentation du tonus des sphincters (anus, vessie)</a:t>
                      </a:r>
                      <a:endParaRPr lang="fr-FR" dirty="0"/>
                    </a:p>
                  </a:txBody>
                  <a:tcPr/>
                </a:tc>
              </a:tr>
              <a:tr h="1152318">
                <a:tc>
                  <a:txBody>
                    <a:bodyPr/>
                    <a:lstStyle/>
                    <a:p>
                      <a:r>
                        <a:rPr lang="fr-FR" dirty="0" smtClean="0"/>
                        <a:t>Autres effets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- Action</a:t>
                      </a:r>
                      <a:r>
                        <a:rPr lang="fr-FR" baseline="0" dirty="0" smtClean="0"/>
                        <a:t> su</a:t>
                      </a:r>
                      <a:r>
                        <a:rPr lang="fr-FR" dirty="0" smtClean="0"/>
                        <a:t> la sécrétion d'hormones hypophysaires : diminution de  LH, FSH, ACTH</a:t>
                      </a:r>
                      <a:r>
                        <a:rPr lang="fr-FR" baseline="0" dirty="0" smtClean="0"/>
                        <a:t> et </a:t>
                      </a:r>
                      <a:r>
                        <a:rPr lang="fr-FR" dirty="0" smtClean="0"/>
                        <a:t> augmentation de la prolactine.</a:t>
                      </a:r>
                      <a:endParaRPr lang="fr-FR" dirty="0" smtClean="0"/>
                    </a:p>
                    <a:p>
                      <a:r>
                        <a:rPr lang="fr-FR" dirty="0" smtClean="0"/>
                        <a:t>- Hypothermie à forte dose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5292080" y="404664"/>
            <a:ext cx="254845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smtClean="0"/>
              <a:t>Effets pharmacologiques :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0" y="1219200"/>
            <a:ext cx="8229600" cy="4937125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Les </a:t>
            </a:r>
            <a:r>
              <a:rPr lang="fr-FR" dirty="0" smtClean="0"/>
              <a:t>opioïdes </a:t>
            </a:r>
            <a:r>
              <a:rPr lang="fr-FR" dirty="0" smtClean="0"/>
              <a:t>sont divisés en plusieurs classes :</a:t>
            </a:r>
            <a:endParaRPr lang="fr-FR" dirty="0"/>
          </a:p>
        </p:txBody>
      </p:sp>
      <p:pic>
        <p:nvPicPr>
          <p:cNvPr id="3074" name="Picture 2" descr="G:\image_classification_des_opiacés.jpe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00100" y="2357431"/>
            <a:ext cx="6643734" cy="4143404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323528" y="1196752"/>
            <a:ext cx="8229600" cy="4740275"/>
          </a:xfrm>
        </p:spPr>
        <p:txBody>
          <a:bodyPr>
            <a:normAutofit lnSpcReduction="20000"/>
          </a:bodyPr>
          <a:lstStyle/>
          <a:p>
            <a:pPr>
              <a:buNone/>
            </a:pPr>
            <a:endParaRPr lang="fr-FR" dirty="0" smtClean="0"/>
          </a:p>
          <a:p>
            <a:pPr algn="just">
              <a:buNone/>
            </a:pPr>
            <a:r>
              <a:rPr lang="fr-FR" sz="2160" dirty="0" smtClean="0"/>
              <a:t>1/  </a:t>
            </a:r>
            <a:r>
              <a:rPr lang="fr-FR" sz="2160" b="1" u="sng" dirty="0" smtClean="0">
                <a:solidFill>
                  <a:schemeClr val="accent6">
                    <a:lumMod val="75000"/>
                  </a:schemeClr>
                </a:solidFill>
              </a:rPr>
              <a:t>les agonistes purs </a:t>
            </a:r>
            <a:r>
              <a:rPr lang="fr-FR" sz="2160" dirty="0" smtClean="0"/>
              <a:t>: ce sont les produits qui possèdent les effets de la morphine (agonistes </a:t>
            </a:r>
            <a:r>
              <a:rPr lang="el-GR" sz="2160" dirty="0" smtClean="0">
                <a:latin typeface="Times New Roman" panose="02020603050405020304"/>
                <a:cs typeface="Times New Roman" panose="02020603050405020304"/>
              </a:rPr>
              <a:t>μ</a:t>
            </a:r>
            <a:r>
              <a:rPr lang="fr-FR" sz="2160" dirty="0" smtClean="0">
                <a:latin typeface="Times New Roman" panose="02020603050405020304"/>
                <a:cs typeface="Times New Roman" panose="02020603050405020304"/>
              </a:rPr>
              <a:t> et </a:t>
            </a:r>
            <a:r>
              <a:rPr lang="el-GR" sz="2160" dirty="0" smtClean="0">
                <a:latin typeface="Times New Roman" panose="02020603050405020304"/>
                <a:cs typeface="Times New Roman" panose="02020603050405020304"/>
              </a:rPr>
              <a:t>κ</a:t>
            </a:r>
            <a:r>
              <a:rPr lang="fr-FR" sz="2160" dirty="0" smtClean="0">
                <a:latin typeface="Times New Roman" panose="02020603050405020304"/>
                <a:cs typeface="Times New Roman" panose="02020603050405020304"/>
              </a:rPr>
              <a:t> );</a:t>
            </a:r>
            <a:endParaRPr lang="fr-FR" sz="2160" dirty="0" smtClean="0">
              <a:latin typeface="Times New Roman" panose="02020603050405020304"/>
              <a:cs typeface="Times New Roman" panose="02020603050405020304"/>
            </a:endParaRPr>
          </a:p>
          <a:p>
            <a:pPr algn="just">
              <a:buNone/>
            </a:pPr>
            <a:endParaRPr lang="fr-FR" sz="2160" dirty="0" smtClean="0"/>
          </a:p>
          <a:p>
            <a:pPr algn="just">
              <a:buNone/>
            </a:pPr>
            <a:r>
              <a:rPr lang="fr-FR" sz="2160" dirty="0" smtClean="0"/>
              <a:t>2/ </a:t>
            </a:r>
            <a:r>
              <a:rPr lang="fr-FR" sz="2160" b="1" u="sng" dirty="0" smtClean="0">
                <a:solidFill>
                  <a:schemeClr val="accent6">
                    <a:lumMod val="75000"/>
                  </a:schemeClr>
                </a:solidFill>
              </a:rPr>
              <a:t>les agonistes partiels</a:t>
            </a:r>
            <a:r>
              <a:rPr lang="fr-FR" sz="2160" dirty="0" smtClean="0"/>
              <a:t>, comme la </a:t>
            </a:r>
            <a:r>
              <a:rPr lang="fr-FR" sz="2160" dirty="0" err="1" smtClean="0"/>
              <a:t>buprénorphine</a:t>
            </a:r>
            <a:r>
              <a:rPr lang="fr-FR" sz="2160" dirty="0" smtClean="0"/>
              <a:t>, </a:t>
            </a:r>
            <a:r>
              <a:rPr lang="fr-FR" sz="2160" dirty="0" smtClean="0">
                <a:solidFill>
                  <a:srgbClr val="FF0000"/>
                </a:solidFill>
              </a:rPr>
              <a:t>qui se lie au récepteur µ, qui l’active mais l’effet maximal est moindre qu’avec l’agoniste plein</a:t>
            </a:r>
            <a:r>
              <a:rPr lang="fr-FR" sz="2160" dirty="0" smtClean="0"/>
              <a:t> (lorsque l’on augmente la dose, l’on n’augmente pas l’effet analgésique) ;</a:t>
            </a:r>
            <a:endParaRPr lang="fr-FR" sz="2160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endParaRPr lang="fr-FR" sz="2160" dirty="0" smtClean="0"/>
          </a:p>
          <a:p>
            <a:pPr algn="just">
              <a:buNone/>
            </a:pPr>
            <a:r>
              <a:rPr lang="fr-FR" sz="2160" dirty="0" smtClean="0"/>
              <a:t>3/ </a:t>
            </a:r>
            <a:r>
              <a:rPr lang="fr-FR" sz="2160" b="1" u="sng" dirty="0" smtClean="0">
                <a:solidFill>
                  <a:schemeClr val="accent6">
                    <a:lumMod val="75000"/>
                  </a:schemeClr>
                </a:solidFill>
              </a:rPr>
              <a:t>les agonistes-antagonistes</a:t>
            </a:r>
            <a:r>
              <a:rPr lang="fr-FR" sz="2160" dirty="0" smtClean="0"/>
              <a:t>, comme la </a:t>
            </a:r>
            <a:r>
              <a:rPr lang="fr-FR" sz="2160" dirty="0" err="1" smtClean="0"/>
              <a:t>nalbuphine</a:t>
            </a:r>
            <a:r>
              <a:rPr lang="fr-FR" sz="2160" dirty="0" smtClean="0"/>
              <a:t> agoniste </a:t>
            </a:r>
            <a:r>
              <a:rPr lang="el-GR" sz="2160" dirty="0" smtClean="0">
                <a:latin typeface="Times New Roman" panose="02020603050405020304"/>
                <a:cs typeface="Times New Roman" panose="02020603050405020304"/>
              </a:rPr>
              <a:t>κ</a:t>
            </a:r>
            <a:r>
              <a:rPr lang="fr-FR" sz="216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fr-FR" sz="2160" dirty="0" smtClean="0"/>
              <a:t> et antagoniste </a:t>
            </a:r>
            <a:r>
              <a:rPr lang="fr-FR" sz="216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l-GR" sz="2160" dirty="0" smtClean="0">
                <a:latin typeface="Times New Roman" panose="02020603050405020304"/>
                <a:cs typeface="Times New Roman" panose="02020603050405020304"/>
              </a:rPr>
              <a:t>μ</a:t>
            </a:r>
            <a:r>
              <a:rPr lang="fr-FR" sz="2160" dirty="0" smtClean="0">
                <a:latin typeface="Times New Roman" panose="02020603050405020304"/>
                <a:cs typeface="Times New Roman" panose="02020603050405020304"/>
              </a:rPr>
              <a:t> </a:t>
            </a:r>
            <a:endParaRPr lang="fr-FR" sz="2160" dirty="0" smtClean="0"/>
          </a:p>
          <a:p>
            <a:pPr algn="just">
              <a:buNone/>
            </a:pPr>
            <a:r>
              <a:rPr lang="fr-FR" sz="2160" dirty="0" smtClean="0"/>
              <a:t>4/ </a:t>
            </a:r>
            <a:r>
              <a:rPr lang="fr-FR" sz="2160" b="1" u="sng" dirty="0" smtClean="0">
                <a:solidFill>
                  <a:schemeClr val="accent6">
                    <a:lumMod val="75000"/>
                  </a:schemeClr>
                </a:solidFill>
              </a:rPr>
              <a:t>les antagonistes</a:t>
            </a:r>
            <a:r>
              <a:rPr lang="fr-FR" sz="2160" dirty="0" smtClean="0"/>
              <a:t>, comme la </a:t>
            </a:r>
            <a:r>
              <a:rPr lang="fr-FR" sz="2160" dirty="0" err="1" smtClean="0"/>
              <a:t>naloxone</a:t>
            </a:r>
            <a:r>
              <a:rPr lang="fr-FR" sz="2160" dirty="0" smtClean="0"/>
              <a:t> qui n’a aucune activité intrinsèque utilisé comme antidote si surdosage aux dérivés morphiniques.</a:t>
            </a:r>
            <a:endParaRPr lang="fr-FR" sz="2160" dirty="0" smtClean="0"/>
          </a:p>
          <a:p>
            <a:pPr algn="just">
              <a:buNone/>
            </a:pPr>
            <a:endParaRPr lang="fr-FR" sz="2160" dirty="0"/>
          </a:p>
        </p:txBody>
      </p:sp>
      <p:sp>
        <p:nvSpPr>
          <p:cNvPr id="7" name="Rectangle 6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OPIACÉS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1520" y="764704"/>
            <a:ext cx="8143875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0" y="1857375"/>
            <a:ext cx="851535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 err="1" smtClean="0"/>
              <a:t>Morphinomimétiques</a:t>
            </a:r>
            <a:endParaRPr lang="fr-F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Entrainent une analgésie intense par fixation sur les récepteurs µ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On distingue classiquement:</a:t>
            </a:r>
            <a:endParaRPr lang="fr-FR" dirty="0" smtClean="0"/>
          </a:p>
          <a:p>
            <a:pPr marL="514350" indent="-514350">
              <a:buAutoNum type="alphaLcPeriod"/>
            </a:pPr>
            <a:r>
              <a:rPr lang="fr-FR" dirty="0" smtClean="0"/>
              <a:t>Les analgésiques morphiniques faibles</a:t>
            </a:r>
            <a:endParaRPr lang="fr-FR" dirty="0" smtClean="0"/>
          </a:p>
          <a:p>
            <a:pPr marL="514350" indent="-514350">
              <a:buAutoNum type="alphaLcPeriod"/>
            </a:pPr>
            <a:r>
              <a:rPr lang="fr-FR" dirty="0" smtClean="0"/>
              <a:t>Les analgésiques morphiniques majeurs</a:t>
            </a:r>
            <a:endParaRPr lang="fr-FR" dirty="0" smtClean="0"/>
          </a:p>
          <a:p>
            <a:pPr>
              <a:buFont typeface="Arial" panose="020B0604020202020204" pitchFamily="34" charset="0"/>
              <a:buChar char="•"/>
            </a:pPr>
            <a:endParaRPr lang="fr-FR" dirty="0" smtClean="0"/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1214414" y="114298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A/  les agonistes purs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0" y="1857375"/>
            <a:ext cx="8515350" cy="3462020"/>
          </a:xfrm>
        </p:spPr>
        <p:txBody>
          <a:bodyPr>
            <a:normAutofit fontScale="70000"/>
          </a:bodyPr>
          <a:lstStyle/>
          <a:p>
            <a:pPr algn="ctr">
              <a:buNone/>
            </a:pPr>
            <a:r>
              <a:rPr lang="fr-FR" u="sng" dirty="0" smtClean="0">
                <a:solidFill>
                  <a:schemeClr val="accent2">
                    <a:lumMod val="75000"/>
                  </a:schemeClr>
                </a:solidFill>
              </a:rPr>
              <a:t>Les analgésiques morphiniques faibles:</a:t>
            </a:r>
            <a:endParaRPr lang="fr-FR" u="sng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buNone/>
            </a:pPr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Codéine- </a:t>
            </a: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dextroprpoxyphène</a:t>
            </a:r>
            <a:endParaRPr lang="fr-FR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 smtClean="0"/>
              <a:t> Liste I:</a:t>
            </a:r>
            <a:endParaRPr lang="fr-F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Correspondent au palier II de l’OMS, sont utilisés en association avec des antalgiques périphériques:</a:t>
            </a:r>
            <a:endParaRPr lang="fr-F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Paracétamol + </a:t>
            </a:r>
            <a:r>
              <a:rPr lang="fr-FR" dirty="0" err="1" smtClean="0"/>
              <a:t>dextrpropoxyphène</a:t>
            </a:r>
            <a:r>
              <a:rPr lang="fr-FR" dirty="0" smtClean="0"/>
              <a:t> : </a:t>
            </a:r>
            <a:r>
              <a:rPr lang="fr-FR" dirty="0" smtClean="0">
                <a:solidFill>
                  <a:srgbClr val="FF0000"/>
                </a:solidFill>
              </a:rPr>
              <a:t>Di </a:t>
            </a:r>
            <a:r>
              <a:rPr lang="fr-FR" dirty="0" err="1" smtClean="0">
                <a:solidFill>
                  <a:srgbClr val="FF0000"/>
                </a:solidFill>
              </a:rPr>
              <a:t>antalvic</a:t>
            </a:r>
            <a:r>
              <a:rPr lang="fr-FR" dirty="0" smtClean="0">
                <a:solidFill>
                  <a:srgbClr val="FF0000"/>
                </a:solidFill>
              </a:rPr>
              <a:t> : retiré  du marché </a:t>
            </a:r>
            <a:endParaRPr lang="fr-FR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>
                <a:ea typeface="Calibri" panose="020F0502020204030204"/>
              </a:rPr>
              <a:t>Codéine interdite au moins de 12 ans  </a:t>
            </a:r>
            <a:r>
              <a:rPr lang="fr-FR" dirty="0" smtClean="0">
                <a:solidFill>
                  <a:srgbClr val="FF0000"/>
                </a:solidFill>
                <a:ea typeface="Calibri" panose="020F0502020204030204"/>
              </a:rPr>
              <a:t>(</a:t>
            </a:r>
            <a:r>
              <a:rPr lang="fr-FR" dirty="0" err="1" smtClean="0">
                <a:solidFill>
                  <a:srgbClr val="FF0000"/>
                </a:solidFill>
                <a:ea typeface="Calibri" panose="020F0502020204030204"/>
              </a:rPr>
              <a:t>métaboliseurs</a:t>
            </a:r>
            <a:r>
              <a:rPr lang="fr-FR" dirty="0" smtClean="0">
                <a:solidFill>
                  <a:srgbClr val="FF0000"/>
                </a:solidFill>
                <a:ea typeface="Calibri" panose="020F0502020204030204"/>
              </a:rPr>
              <a:t> rapides codéine  CYP2D6  en morphine→ détresse respiratoire).</a:t>
            </a:r>
            <a:endParaRPr lang="fr-FR" dirty="0" smtClean="0">
              <a:solidFill>
                <a:srgbClr val="FF0000"/>
              </a:solidFill>
              <a:ea typeface="Calibri" panose="020F0502020204030204"/>
              <a:cs typeface="Arial" panose="020B0604020202020204"/>
            </a:endParaRPr>
          </a:p>
          <a:p>
            <a:pPr>
              <a:buNone/>
            </a:pPr>
            <a:endParaRPr lang="fr-FR" dirty="0" smtClean="0"/>
          </a:p>
          <a:p>
            <a:pPr>
              <a:buFontTx/>
              <a:buChar char="-"/>
            </a:pPr>
            <a:endParaRPr lang="fr-FR" dirty="0" smtClean="0"/>
          </a:p>
          <a:p>
            <a:pPr>
              <a:buNone/>
            </a:pP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OPIACÉS 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1214414" y="114298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A/  les agonistes purs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0" y="1857375"/>
            <a:ext cx="8515350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u="sng" dirty="0" smtClean="0">
                <a:solidFill>
                  <a:schemeClr val="accent2">
                    <a:lumMod val="75000"/>
                  </a:schemeClr>
                </a:solidFill>
              </a:rPr>
              <a:t>Les analgésiques morphiniques faibles:</a:t>
            </a:r>
            <a:endParaRPr lang="fr-FR" u="sng" dirty="0" smtClean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Tx/>
              <a:buChar char="-"/>
            </a:pPr>
            <a:r>
              <a:rPr lang="fr-FR" dirty="0" err="1" smtClean="0">
                <a:solidFill>
                  <a:schemeClr val="accent6">
                    <a:lumMod val="75000"/>
                  </a:schemeClr>
                </a:solidFill>
              </a:rPr>
              <a:t>Tramadol</a:t>
            </a: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fr-FR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fr-FR" dirty="0" smtClean="0"/>
              <a:t>Analgésique central par action sur les récepteurs µ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Inhibiteur de recapture de NA et sérotonine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Aux doses recommandées, ne donne ni dépression respiratoire, ni constipation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OPIACÉS 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1214414" y="114298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A/  les agonistes purs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0" y="1857375"/>
            <a:ext cx="8515350" cy="3733165"/>
          </a:xfrm>
        </p:spPr>
        <p:txBody>
          <a:bodyPr>
            <a:normAutofit fontScale="60000"/>
          </a:bodyPr>
          <a:lstStyle/>
          <a:p>
            <a:pPr algn="ctr">
              <a:buNone/>
            </a:pPr>
            <a:r>
              <a:rPr lang="fr-FR" u="sng" dirty="0" smtClean="0">
                <a:solidFill>
                  <a:schemeClr val="accent2">
                    <a:lumMod val="75000"/>
                  </a:schemeClr>
                </a:solidFill>
              </a:rPr>
              <a:t>Les analgésiques morphiniques forts:</a:t>
            </a:r>
            <a:endParaRPr lang="fr-FR" u="sng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buNone/>
            </a:pP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Oxycodone</a:t>
            </a:r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 - </a:t>
            </a: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fentanyl</a:t>
            </a:r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- méthadone</a:t>
            </a:r>
            <a:endParaRPr lang="fr-FR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 smtClean="0"/>
              <a:t>Stupéfiants</a:t>
            </a:r>
            <a:endParaRPr lang="fr-FR" dirty="0" smtClean="0"/>
          </a:p>
          <a:p>
            <a:r>
              <a:rPr lang="fr-FR" dirty="0" smtClean="0"/>
              <a:t>Correspondent au palier III de l’OMS.</a:t>
            </a:r>
            <a:endParaRPr lang="fr-FR" dirty="0" smtClean="0"/>
          </a:p>
          <a:p>
            <a:r>
              <a:rPr lang="fr-FR" dirty="0" smtClean="0"/>
              <a:t>Réservés au traitement des douleurs intenses (douleurs aigues intenses (OAP, IDM, coliques, </a:t>
            </a:r>
            <a:r>
              <a:rPr lang="fr-FR" dirty="0" err="1" smtClean="0"/>
              <a:t>etc</a:t>
            </a:r>
            <a:r>
              <a:rPr lang="fr-FR" dirty="0" smtClean="0"/>
              <a:t>) et/ou rebelles aux antalgiques de pallier 1 ou 2 , douleurs chroniques non cancéreuses , douleurs cancéreuses ..)</a:t>
            </a:r>
            <a:endParaRPr lang="fr-FR" dirty="0" smtClean="0"/>
          </a:p>
          <a:p>
            <a:r>
              <a:rPr lang="fr-FR" dirty="0" smtClean="0"/>
              <a:t>Utilisés également en anesthésiologie : induction et entretien des anesthésies générales, </a:t>
            </a:r>
            <a:endParaRPr lang="fr-FR" dirty="0" smtClean="0"/>
          </a:p>
          <a:p>
            <a:pPr>
              <a:buNone/>
            </a:pP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 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1214414" y="114298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A/  les agonistes purs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0" y="1857375"/>
            <a:ext cx="5715000" cy="3634740"/>
          </a:xfrm>
        </p:spPr>
        <p:txBody>
          <a:bodyPr>
            <a:normAutofit fontScale="70000"/>
          </a:bodyPr>
          <a:lstStyle/>
          <a:p>
            <a:pPr algn="ctr">
              <a:buNone/>
            </a:pP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Buprénorphine</a:t>
            </a:r>
            <a:endParaRPr lang="fr-FR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fr-FR" dirty="0" smtClean="0"/>
              <a:t>Elle est agoniste partielle des récepteurs µ</a:t>
            </a:r>
            <a:endParaRPr lang="fr-FR" dirty="0" smtClean="0"/>
          </a:p>
          <a:p>
            <a:pPr algn="just"/>
            <a:r>
              <a:rPr lang="fr-FR" dirty="0" smtClean="0"/>
              <a:t>Possède une très forte affinité pour ces récepteurs, mais a une activité stimulante intrinsèque plus faible que celle de la morphine</a:t>
            </a:r>
            <a:endParaRPr lang="fr-FR" dirty="0" smtClean="0"/>
          </a:p>
          <a:p>
            <a:pPr algn="just"/>
            <a:r>
              <a:rPr lang="fr-FR" dirty="0" smtClean="0"/>
              <a:t>Elle est antagoniste des récepteurs kappa</a:t>
            </a:r>
            <a:endParaRPr lang="fr-FR" dirty="0" smtClean="0"/>
          </a:p>
          <a:p>
            <a:pPr algn="just"/>
            <a:endParaRPr lang="fr-FR" dirty="0" smtClean="0"/>
          </a:p>
          <a:p>
            <a:pPr algn="just"/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1214414" y="114298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B/ les agonistes partiels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72198" y="2928934"/>
            <a:ext cx="2857520" cy="3324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  <p:sp>
        <p:nvSpPr>
          <p:cNvPr id="8" name="Rectangle 7"/>
          <p:cNvSpPr/>
          <p:nvPr/>
        </p:nvSpPr>
        <p:spPr>
          <a:xfrm>
            <a:off x="179512" y="5733256"/>
            <a:ext cx="5976664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sz="2400" dirty="0" smtClean="0">
                <a:latin typeface="Calibri" panose="020F0502020204030204"/>
                <a:ea typeface="Calibri" panose="020F0502020204030204"/>
                <a:cs typeface="Arial" panose="020B0604020202020204"/>
              </a:rPr>
              <a:t>Utilisée palier III traitement de la douleur </a:t>
            </a:r>
            <a:endParaRPr lang="fr-FR" sz="2400" dirty="0">
              <a:latin typeface="Calibri" panose="020F050202020403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214313" y="1857375"/>
            <a:ext cx="8929687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Nalbuphine</a:t>
            </a:r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 – </a:t>
            </a: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nalorphine</a:t>
            </a:r>
            <a:endParaRPr lang="fr-FR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dirty="0" smtClean="0"/>
              <a:t>sont  antagonistes des récepteurs µ(</a:t>
            </a:r>
            <a:r>
              <a:rPr lang="fr-FR" dirty="0" err="1" smtClean="0"/>
              <a:t>réversent</a:t>
            </a:r>
            <a:r>
              <a:rPr lang="fr-FR" dirty="0" smtClean="0"/>
              <a:t> les effets de la morphine ) et  agonistes des récepteurs κ(analgésiques)</a:t>
            </a:r>
            <a:endParaRPr lang="fr-FR" dirty="0" smtClean="0"/>
          </a:p>
          <a:p>
            <a:r>
              <a:rPr lang="fr-FR" dirty="0" smtClean="0"/>
              <a:t>Ils possèdent </a:t>
            </a:r>
            <a:r>
              <a:rPr lang="fr-FR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 effet analgésique </a:t>
            </a:r>
            <a:r>
              <a:rPr lang="fr-FR" dirty="0" smtClean="0"/>
              <a:t>en l’absence de morphine mais en présence de celle-ci ils se comporteront comme des </a:t>
            </a:r>
            <a:r>
              <a:rPr lang="fr-FR" u="sng" dirty="0" smtClean="0">
                <a:solidFill>
                  <a:srgbClr val="FF0000"/>
                </a:solidFill>
              </a:rPr>
              <a:t>antagonistes</a:t>
            </a:r>
            <a:endParaRPr lang="fr-FR" u="sng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14414" y="114298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C/ les agonistes -antagonistes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3528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  <p:sp>
        <p:nvSpPr>
          <p:cNvPr id="10" name="Rectangle 9"/>
          <p:cNvSpPr/>
          <p:nvPr/>
        </p:nvSpPr>
        <p:spPr>
          <a:xfrm>
            <a:off x="899592" y="4653136"/>
            <a:ext cx="5976664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fr-FR" sz="2400" dirty="0" smtClean="0">
                <a:latin typeface="Calibri" panose="020F0502020204030204"/>
                <a:ea typeface="Calibri" panose="020F0502020204030204"/>
                <a:cs typeface="Arial" panose="020B0604020202020204"/>
              </a:rPr>
              <a:t>Utilisés palier III traitement de la douleur </a:t>
            </a:r>
            <a:endParaRPr lang="fr-FR" sz="2400" dirty="0">
              <a:latin typeface="Calibri" panose="020F050202020403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214313" y="1857375"/>
            <a:ext cx="8929687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Naloxone</a:t>
            </a:r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- </a:t>
            </a:r>
            <a:r>
              <a:rPr lang="fr-FR" dirty="0" err="1" smtClean="0">
                <a:solidFill>
                  <a:schemeClr val="accent2">
                    <a:lumMod val="75000"/>
                  </a:schemeClr>
                </a:solidFill>
              </a:rPr>
              <a:t>naltrexone</a:t>
            </a:r>
            <a:endParaRPr lang="fr-FR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/>
            <a:r>
              <a:rPr lang="fr-FR" dirty="0" smtClean="0"/>
              <a:t> Ils se fixent sur les récepteurs µ, κ, et δ sans les activer. </a:t>
            </a:r>
            <a:endParaRPr lang="fr-FR" dirty="0" smtClean="0"/>
          </a:p>
          <a:p>
            <a:pPr marL="0" indent="0"/>
            <a:r>
              <a:rPr lang="fr-FR" dirty="0" smtClean="0"/>
              <a:t> Ils n’auront une action antagoniste qu’en présence de morphine.</a:t>
            </a:r>
            <a:endParaRPr lang="fr-FR" dirty="0" smtClean="0"/>
          </a:p>
        </p:txBody>
      </p:sp>
      <p:sp>
        <p:nvSpPr>
          <p:cNvPr id="5" name="ZoneTexte 4"/>
          <p:cNvSpPr txBox="1"/>
          <p:nvPr/>
        </p:nvSpPr>
        <p:spPr>
          <a:xfrm>
            <a:off x="1214414" y="114298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D/ les antagonistes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7544" y="4077072"/>
            <a:ext cx="7776864" cy="2219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fr-FR" sz="2400" dirty="0" smtClean="0">
                <a:ea typeface="Calibri" panose="020F0502020204030204"/>
              </a:rPr>
              <a:t>Ils sont utilisés comme antidotes de la dépression respiratoire en cas d'une intoxication par des doses trop élevées et de </a:t>
            </a:r>
            <a:r>
              <a:rPr lang="fr-FR" sz="2400" dirty="0" smtClean="0">
                <a:ea typeface="Calibri" panose="020F0502020204030204"/>
                <a:cs typeface="Times New Roman" panose="02020603050405020304"/>
              </a:rPr>
              <a:t>dépression respiratoire néonatale d'origine morphinique</a:t>
            </a:r>
            <a:endParaRPr lang="fr-FR" sz="2400" dirty="0" smtClean="0">
              <a:ea typeface="Calibri" panose="020F0502020204030204"/>
              <a:cs typeface="Times New Roman" panose="02020603050405020304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endParaRPr lang="fr-FR" dirty="0">
              <a:latin typeface="Calibri" panose="020F050202020403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18864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214313" y="1357313"/>
            <a:ext cx="8929687" cy="64293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fr-FR" dirty="0" smtClean="0"/>
              <a:t>Il existe une relation entre la dose administrée et l'effet analgésique obtenu, jusqu'à un plateau au niveau duquel l'antalgie est maximale                                          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</p:txBody>
      </p:sp>
      <p:sp>
        <p:nvSpPr>
          <p:cNvPr id="5" name="ZoneTexte 4"/>
          <p:cNvSpPr txBox="1"/>
          <p:nvPr/>
        </p:nvSpPr>
        <p:spPr>
          <a:xfrm>
            <a:off x="1187624" y="836712"/>
            <a:ext cx="7462042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Classification des </a:t>
            </a:r>
            <a:r>
              <a:rPr lang="fr-FR" sz="2400" b="1" dirty="0" err="1" smtClean="0">
                <a:solidFill>
                  <a:schemeClr val="accent6">
                    <a:lumMod val="75000"/>
                  </a:schemeClr>
                </a:solidFill>
              </a:rPr>
              <a:t>opioides</a:t>
            </a:r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 selon leur puissance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428596" y="2071678"/>
          <a:ext cx="8501121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92"/>
                <a:gridCol w="1714512"/>
                <a:gridCol w="4357717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Opioïdes</a:t>
                      </a:r>
                      <a:r>
                        <a:rPr lang="fr-FR" baseline="0" dirty="0" smtClean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Puissance analgésique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Equivalents </a:t>
                      </a:r>
                      <a:r>
                        <a:rPr lang="fr-FR" dirty="0" err="1" smtClean="0"/>
                        <a:t>posologiques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Morphine per os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Morphine IV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 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3.3 mg = 10 mg morphine per os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Codéine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0.15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60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dirty="0" smtClean="0"/>
                        <a:t>mg = 10 mg morphine per os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Tramadol</a:t>
                      </a:r>
                      <a:r>
                        <a:rPr lang="fr-FR" dirty="0" smtClean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0.2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baseline="0" dirty="0" smtClean="0"/>
                        <a:t>50 </a:t>
                      </a:r>
                      <a:r>
                        <a:rPr lang="fr-FR" dirty="0" smtClean="0"/>
                        <a:t>mg = 10 mg morphine per os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dextropropoxyphène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0.15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60 mg = 10 mg morphine per os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err="1" smtClean="0"/>
                        <a:t>oxycodone</a:t>
                      </a:r>
                      <a:endParaRPr lang="fr-F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5mg = 10 mg morphine per os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err="1" smtClean="0"/>
                        <a:t>nalbuphine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10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dirty="0" smtClean="0"/>
                        <a:t>mg = 20 mg morphine per os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Buprénorphine</a:t>
                      </a:r>
                      <a:r>
                        <a:rPr lang="fr-FR" dirty="0" smtClean="0"/>
                        <a:t>  </a:t>
                      </a:r>
                      <a:r>
                        <a:rPr lang="fr-FR" dirty="0" err="1" smtClean="0"/>
                        <a:t>sublng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50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0.2 mg = 10 mg morphine per os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Fentanyl</a:t>
                      </a:r>
                      <a:r>
                        <a:rPr lang="fr-FR" dirty="0" smtClean="0"/>
                        <a:t>  transdermique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* 100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dirty="0" smtClean="0"/>
                        <a:t>25µg/h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dirty="0" smtClean="0"/>
                        <a:t> = 60 mg morphine per os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8739-A8A7-4989-B0FE-B5047DE0A6C1}" type="slidenum">
              <a:rPr lang="fr-FR" smtClean="0"/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4294967295"/>
          </p:nvPr>
        </p:nvSpPr>
        <p:spPr>
          <a:xfrm>
            <a:off x="457200" y="1600200"/>
            <a:ext cx="8686800" cy="3947160"/>
          </a:xfrm>
        </p:spPr>
        <p:txBody>
          <a:bodyPr>
            <a:normAutofit fontScale="70000"/>
          </a:bodyPr>
          <a:lstStyle/>
          <a:p>
            <a:pPr>
              <a:buNone/>
            </a:pPr>
            <a:endParaRPr lang="fr-FR" dirty="0" smtClean="0"/>
          </a:p>
          <a:p>
            <a:r>
              <a:rPr lang="fr-FR" dirty="0" smtClean="0"/>
              <a:t>Dépression respiratoire</a:t>
            </a:r>
            <a:endParaRPr lang="fr-FR" dirty="0" smtClean="0"/>
          </a:p>
          <a:p>
            <a:pPr lvl="0"/>
            <a:r>
              <a:rPr lang="fr-FR" dirty="0" smtClean="0"/>
              <a:t>Constipation</a:t>
            </a:r>
            <a:endParaRPr lang="fr-FR" dirty="0" smtClean="0"/>
          </a:p>
          <a:p>
            <a:pPr lvl="0"/>
            <a:r>
              <a:rPr lang="fr-FR" dirty="0" smtClean="0"/>
              <a:t>Nausées et vomissements</a:t>
            </a:r>
            <a:endParaRPr lang="fr-FR" dirty="0" smtClean="0"/>
          </a:p>
          <a:p>
            <a:pPr lvl="0"/>
            <a:r>
              <a:rPr lang="fr-FR" dirty="0" smtClean="0"/>
              <a:t>Contraction pupillaire</a:t>
            </a:r>
            <a:endParaRPr lang="fr-FR" dirty="0" smtClean="0"/>
          </a:p>
          <a:p>
            <a:pPr lvl="0"/>
            <a:r>
              <a:rPr lang="fr-FR" dirty="0" smtClean="0"/>
              <a:t>Développement de la tolérance et 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accoutumance (nécessité d’augmenter les doses pour obtenir les mêmes effets)</a:t>
            </a:r>
            <a:endParaRPr lang="fr-FR" dirty="0" smtClean="0"/>
          </a:p>
          <a:p>
            <a:pPr lvl="0"/>
            <a:r>
              <a:rPr lang="fr-FR" dirty="0" smtClean="0"/>
              <a:t>Dépendance physique, psychique  et syndrome de</a:t>
            </a:r>
            <a:endParaRPr lang="fr-FR" dirty="0" smtClean="0"/>
          </a:p>
          <a:p>
            <a:pPr lvl="0">
              <a:buNone/>
            </a:pPr>
            <a:r>
              <a:rPr lang="fr-FR" dirty="0" smtClean="0"/>
              <a:t> sevrage à l’arrêt  du TRT</a:t>
            </a:r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42910" y="1500174"/>
            <a:ext cx="642942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6">
                    <a:lumMod val="75000"/>
                  </a:schemeClr>
                </a:solidFill>
              </a:rPr>
              <a:t>Effets indésirables</a:t>
            </a:r>
            <a:endParaRPr lang="fr-FR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16632"/>
            <a:ext cx="4355976" cy="692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LES ANALGÉSIQUES CENTRAUX OPIOIDES </a:t>
            </a:r>
            <a:endParaRPr lang="fr-FR" b="1" dirty="0"/>
          </a:p>
        </p:txBody>
      </p:sp>
      <p:sp>
        <p:nvSpPr>
          <p:cNvPr id="9" name="Accolade fermante 8"/>
          <p:cNvSpPr/>
          <p:nvPr/>
        </p:nvSpPr>
        <p:spPr>
          <a:xfrm>
            <a:off x="7524328" y="3501008"/>
            <a:ext cx="864096" cy="252028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8028384" y="4293096"/>
            <a:ext cx="1383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Stupéfiants++ 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7969</Words>
  <Application>WPS Presentation</Application>
  <PresentationFormat>Affichage à l'écran (4:3)</PresentationFormat>
  <Paragraphs>433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SimSun</vt:lpstr>
      <vt:lpstr>Wingdings</vt:lpstr>
      <vt:lpstr>Wingdings 3</vt:lpstr>
      <vt:lpstr>Wingdings</vt:lpstr>
      <vt:lpstr>Times New Roman</vt:lpstr>
      <vt:lpstr>Calibri</vt:lpstr>
      <vt:lpstr>Monotype Corsiva</vt:lpstr>
      <vt:lpstr>Century Schoolbook</vt:lpstr>
      <vt:lpstr>Gill Sans MT</vt:lpstr>
      <vt:lpstr>Bookman Old Style</vt:lpstr>
      <vt:lpstr>Microsoft YaHei</vt:lpstr>
      <vt:lpstr>Arial Unicode MS</vt:lpstr>
      <vt:lpstr>Arial</vt:lpstr>
      <vt:lpstr>Default Design</vt:lpstr>
      <vt:lpstr>PowerPoint 演示文稿</vt:lpstr>
      <vt:lpstr>PowerPoint 演示文稿</vt:lpstr>
      <vt:lpstr>I. Opioïdes endogènes </vt:lpstr>
      <vt:lpstr>PowerPoint 演示文稿</vt:lpstr>
      <vt:lpstr>II. Récepteurs des opioïdes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hp</dc:creator>
  <cp:lastModifiedBy>ammi nassima</cp:lastModifiedBy>
  <cp:revision>162</cp:revision>
  <dcterms:created xsi:type="dcterms:W3CDTF">2014-04-18T17:07:00Z</dcterms:created>
  <dcterms:modified xsi:type="dcterms:W3CDTF">2025-04-11T22:45:23Z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E26247E8BC5F4C728EBB60B296F0030E_12</vt:lpwstr>
  </property>
  <property fmtid="{D5CDD505-2E9C-101B-9397-08002B2CF9AE}" pid="3" name="KSOProductBuildVer">
    <vt:lpwstr>1036-12.2.0.20782</vt:lpwstr>
  </property>
</Properties>
</file>