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y="6858000" cx="9144000"/>
  <p:notesSz cx="6858000" cy="9144000"/>
  <p:embeddedFontLst>
    <p:embeddedFont>
      <p:font typeface="Tahoma"/>
      <p:regular r:id="rId49"/>
      <p:bold r:id="rId50"/>
    </p:embeddedFont>
    <p:embeddedFont>
      <p:font typeface="Gill Sans"/>
      <p:regular r:id="rId51"/>
      <p:bold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jGbUxH59UCdT2VKbM3K7dmV+DQ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1971B0-C5D7-4A00-8589-500C9A013EC0}">
  <a:tblStyle styleId="{CA1971B0-C5D7-4A00-8589-500C9A013EC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font" Target="fonts/Tahoma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GillSans-regular.fntdata"/><Relationship Id="rId50" Type="http://schemas.openxmlformats.org/officeDocument/2006/relationships/font" Target="fonts/Tahoma-bold.fntdata"/><Relationship Id="rId53" Type="http://schemas.openxmlformats.org/officeDocument/2006/relationships/font" Target="fonts/OpenSans-regular.fntdata"/><Relationship Id="rId52" Type="http://schemas.openxmlformats.org/officeDocument/2006/relationships/font" Target="fonts/GillSans-bold.fntdata"/><Relationship Id="rId11" Type="http://schemas.openxmlformats.org/officeDocument/2006/relationships/slide" Target="slides/slide4.xml"/><Relationship Id="rId55" Type="http://schemas.openxmlformats.org/officeDocument/2006/relationships/font" Target="fonts/OpenSans-italic.fntdata"/><Relationship Id="rId10" Type="http://schemas.openxmlformats.org/officeDocument/2006/relationships/slide" Target="slides/slide3.xml"/><Relationship Id="rId54" Type="http://schemas.openxmlformats.org/officeDocument/2006/relationships/font" Target="fonts/OpenSans-bold.fntdata"/><Relationship Id="rId13" Type="http://schemas.openxmlformats.org/officeDocument/2006/relationships/slide" Target="slides/slide6.xml"/><Relationship Id="rId57" Type="http://customschemas.google.com/relationships/presentationmetadata" Target="metadata"/><Relationship Id="rId12" Type="http://schemas.openxmlformats.org/officeDocument/2006/relationships/slide" Target="slides/slide5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faut faire la différence entre 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«Interaction» médicamenteuse : le terme d’«interaction» est réservé pour décrire des événements se passant à l’intérieur de l’organisme.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«Incompatibilité» entre 2 médicaments : réaction physico-chimique entre deux médicaments mélangés dans une seringue ou une perfusion --&gt; précipité, coloration, inactivation ….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NTERACTION </a:t>
            </a:r>
            <a:endParaRPr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elles se traduisent par des modifications des concentrations plasmatiques (augmentations ou diminutions) [1, 2]. Toutefois, les répercussions de telles interactions peuvent se manifester par des modifications des concentrations dans d’autres tissus ou liquides de l’organisme (SNC, LCR) sans altération des concentrations sanguines [1-3]</a:t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 </a:t>
            </a:r>
            <a:r>
              <a:rPr b="1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chélation</a:t>
            </a: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(prononcer </a:t>
            </a:r>
            <a:r>
              <a:rPr b="0" i="1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kélassion, </a:t>
            </a: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 grec </a:t>
            </a:r>
            <a:r>
              <a:rPr b="0" i="1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khêlê</a:t>
            </a: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: «pince») est un processus physico-chimique au cours duquel est constitué un complexe, le chélate, entre un ligand, dit chélateur (ou chélatant), et un cation (ou atome) métallique, alors complexé, dit chélaté.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«</a:t>
            </a:r>
            <a:r>
              <a:rPr b="0" i="1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chélate</a:t>
            </a: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» se distingue du simple </a:t>
            </a:r>
            <a:r>
              <a:rPr b="0" i="1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«complexe»</a:t>
            </a: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par le fait que le cation métallique est fixé au chélateur par au moins deux liaisons de coordination définissant un cycle avec le métal, à la manière d'une pince, d'où le nom.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colestyramine, principe actif de Questran®, un hypocholestérolémiant, est une résine basique synthétique échangeuse d’ions possédant une forte affinité pour les acides biliaires. Elle est destinée à fixer ces acides sous forme d’un complexe insoluble, inhibant ainsi leur cycle entéro-hépatique et augmentant leur élimination fécale.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 mécanisme d’action explique pourquoi Questran® peut générer des interactions médicamenteuses par réduction de l’absorption intestinale de certains médicaments pris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simultanément. Son association avec les acides biliaires cholélitholytiques (ursodésoxycholique et chénodésoxycholique) est déconseillée : l’effet de ces derniers serait diminué car ils sont fixés par la colestyramine, puis éliminés  dans les matières fécales</a:t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la ceftriaxone ne devra pas être mélangée ou administrée simultanément avec toute solution intraveineuse contenant du calcium, même en utilisant des lignes de perfusion ou des sites de perfusion distincts</a:t>
            </a:r>
            <a:endParaRPr/>
          </a:p>
        </p:txBody>
      </p:sp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transporteurs SLC forment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canal au travers de la membrane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plasmique permettant 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lever la plupart des contraintes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physico-chimiques s’opposant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franchissement membranaire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figure 1 ). Le transport se fait sans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apport extérieur d’énergie. Celle-ci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provient de la molécule trans portée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(énergie dégagée en diffu sant vers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milieu d’arrivée) ou d’un gradient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chimique ou électro chimique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préexistant, et entretenu par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transporteur actif dans le cas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 transport actif secondaire.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transport actif primaire repose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 l’hydrolyse d’adénosine triphosphate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(ATP) comme source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d’énergie : il peut donc intervenir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contre un gradient 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concen tration cellulaire </a:t>
            </a:r>
            <a:r>
              <a:rPr i="1"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figure 1 ).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transporteurs actifs sont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ratta chés à la superfamille 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ATP-binding cassette (ABC), qui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comporte plusieurs sous-familles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dont les ABCC, ou </a:t>
            </a:r>
            <a:r>
              <a:rPr i="1" lang="fr-FR" sz="11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multidrug</a:t>
            </a:r>
            <a:endParaRPr sz="1110"/>
          </a:p>
        </p:txBody>
      </p:sp>
      <p:sp>
        <p:nvSpPr>
          <p:cNvPr id="328" name="Google Shape;328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comprendre et anticiper les IMPD, il faut donc avoir une bonne connaissance du (des) mécanisme(s) de l’effet obtenu avec chacun des médicaments de l’association.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L’effet produit par un médicament: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-résulte de son interaction avec un système ; or, celui-ci peut également être sous l’influence d’autres voies de régulation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-Plusieurs systèmes peuvent réguler le même effet, chacun étant sous l’influence de ses propres voies de régulation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-La régulation d’un système passe un mécanisme d’action particulier faisant intervenir une cible cellulaire, par exemple l’activation d’un récepteur ; or, cette cible cellulaire peut également être modulée par d’autres substances.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sulfamides hypoglycémiants agissent en bloquant le canal potassique sensible à de l’ATP sur les cellules bêta pancréatiques.. En bloquant les canaux potassiques de la cellule bêta pancréatique, les sulfamides hypoglycémiants déclenchent une dépolarisation membranaire responsable de l’ouverture des canaux calciques voltage-dépendants avec entrée du calcium et en conséquence une libération d’insuline.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Les plus importants mécanismes de l’hyperglycémie induite par les glucocorticoïdes sont une moins bonne sensibilité à l’insuline des tissus périphériques et une augmentation de la production hépatique de glucose</a:t>
            </a:r>
            <a:endParaRPr/>
          </a:p>
        </p:txBody>
      </p:sp>
      <p:sp>
        <p:nvSpPr>
          <p:cNvPr id="558" name="Google Shape;558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/>
          <p:nvPr>
            <p:ph type="ctrTitle"/>
          </p:nvPr>
        </p:nvSpPr>
        <p:spPr>
          <a:xfrm>
            <a:off x="1102240" y="2386744"/>
            <a:ext cx="693952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  <a:defRPr sz="35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 txBox="1"/>
          <p:nvPr>
            <p:ph idx="1" type="subTitle"/>
          </p:nvPr>
        </p:nvSpPr>
        <p:spPr>
          <a:xfrm>
            <a:off x="2021396" y="4352544"/>
            <a:ext cx="5101209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5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6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7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1" type="body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7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7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7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8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8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bg>
      <p:bgPr>
        <a:solidFill>
          <a:schemeClr val="accent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/>
          <p:nvPr>
            <p:ph type="ctrTitle"/>
          </p:nvPr>
        </p:nvSpPr>
        <p:spPr>
          <a:xfrm>
            <a:off x="1102240" y="2386744"/>
            <a:ext cx="693952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  <a:defRPr sz="35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" type="subTitle"/>
          </p:nvPr>
        </p:nvSpPr>
        <p:spPr>
          <a:xfrm>
            <a:off x="2021396" y="4352544"/>
            <a:ext cx="5101209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bg>
      <p:bgPr>
        <a:solidFill>
          <a:schemeClr val="accen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9"/>
          <p:cNvSpPr txBox="1"/>
          <p:nvPr>
            <p:ph type="title"/>
          </p:nvPr>
        </p:nvSpPr>
        <p:spPr>
          <a:xfrm>
            <a:off x="1106424" y="2386744"/>
            <a:ext cx="6940296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500"/>
              <a:buFont typeface="Gill Sans"/>
              <a:buNone/>
              <a:defRPr sz="35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9"/>
          <p:cNvSpPr txBox="1"/>
          <p:nvPr>
            <p:ph idx="1" type="body"/>
          </p:nvPr>
        </p:nvSpPr>
        <p:spPr>
          <a:xfrm>
            <a:off x="2021396" y="4352465"/>
            <a:ext cx="5101209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49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" type="body"/>
          </p:nvPr>
        </p:nvSpPr>
        <p:spPr>
          <a:xfrm>
            <a:off x="1102239" y="2638044"/>
            <a:ext cx="3288023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50"/>
          <p:cNvSpPr txBox="1"/>
          <p:nvPr>
            <p:ph idx="2" type="body"/>
          </p:nvPr>
        </p:nvSpPr>
        <p:spPr>
          <a:xfrm>
            <a:off x="4753737" y="2638044"/>
            <a:ext cx="3290516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0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/>
          <p:nvPr>
            <p:ph idx="1" type="body"/>
          </p:nvPr>
        </p:nvSpPr>
        <p:spPr>
          <a:xfrm>
            <a:off x="1102239" y="2313434"/>
            <a:ext cx="3288024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51"/>
          <p:cNvSpPr txBox="1"/>
          <p:nvPr>
            <p:ph idx="2" type="body"/>
          </p:nvPr>
        </p:nvSpPr>
        <p:spPr>
          <a:xfrm>
            <a:off x="1102239" y="3143250"/>
            <a:ext cx="328802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51"/>
          <p:cNvSpPr txBox="1"/>
          <p:nvPr>
            <p:ph idx="3" type="body"/>
          </p:nvPr>
        </p:nvSpPr>
        <p:spPr>
          <a:xfrm>
            <a:off x="4753737" y="3143250"/>
            <a:ext cx="3290516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1"/>
          <p:cNvSpPr txBox="1"/>
          <p:nvPr>
            <p:ph idx="4" type="body"/>
          </p:nvPr>
        </p:nvSpPr>
        <p:spPr>
          <a:xfrm>
            <a:off x="4753737" y="2313434"/>
            <a:ext cx="3290516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51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1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9" name="Google Shape;69;p51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2"/>
          <p:cNvSpPr txBox="1"/>
          <p:nvPr>
            <p:ph type="title"/>
          </p:nvPr>
        </p:nvSpPr>
        <p:spPr>
          <a:xfrm>
            <a:off x="640703" y="2243829"/>
            <a:ext cx="3290594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None/>
              <a:defRPr sz="21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" type="body"/>
          </p:nvPr>
        </p:nvSpPr>
        <p:spPr>
          <a:xfrm>
            <a:off x="5052060" y="804672"/>
            <a:ext cx="361188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52"/>
          <p:cNvSpPr txBox="1"/>
          <p:nvPr>
            <p:ph idx="2" type="body"/>
          </p:nvPr>
        </p:nvSpPr>
        <p:spPr>
          <a:xfrm>
            <a:off x="862965" y="3549918"/>
            <a:ext cx="284607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52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1" type="ftr"/>
          </p:nvPr>
        </p:nvSpPr>
        <p:spPr>
          <a:xfrm>
            <a:off x="640703" y="6236208"/>
            <a:ext cx="38063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2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3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3"/>
          <p:cNvSpPr txBox="1"/>
          <p:nvPr>
            <p:ph type="title"/>
          </p:nvPr>
        </p:nvSpPr>
        <p:spPr>
          <a:xfrm>
            <a:off x="640080" y="2243828"/>
            <a:ext cx="329184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Gill Sans"/>
              <a:buNone/>
              <a:defRPr sz="21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3"/>
          <p:cNvSpPr/>
          <p:nvPr>
            <p:ph idx="2" type="pic"/>
          </p:nvPr>
        </p:nvSpPr>
        <p:spPr>
          <a:xfrm>
            <a:off x="4572000" y="-42172"/>
            <a:ext cx="4576573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53"/>
          <p:cNvSpPr txBox="1"/>
          <p:nvPr>
            <p:ph idx="1" type="body"/>
          </p:nvPr>
        </p:nvSpPr>
        <p:spPr>
          <a:xfrm>
            <a:off x="862965" y="3549919"/>
            <a:ext cx="284607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53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3"/>
          <p:cNvSpPr txBox="1"/>
          <p:nvPr>
            <p:ph idx="11" type="ftr"/>
          </p:nvPr>
        </p:nvSpPr>
        <p:spPr>
          <a:xfrm>
            <a:off x="640080" y="6236208"/>
            <a:ext cx="3803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3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4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4"/>
          <p:cNvSpPr txBox="1"/>
          <p:nvPr>
            <p:ph idx="1" type="body"/>
          </p:nvPr>
        </p:nvSpPr>
        <p:spPr>
          <a:xfrm rot="5400000">
            <a:off x="3023931" y="1220159"/>
            <a:ext cx="3101983" cy="5937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54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4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4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5"/>
          <p:cNvSpPr txBox="1"/>
          <p:nvPr>
            <p:ph type="title"/>
          </p:nvPr>
        </p:nvSpPr>
        <p:spPr>
          <a:xfrm rot="5400000">
            <a:off x="4525077" y="2902017"/>
            <a:ext cx="4983480" cy="1053966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5"/>
          <p:cNvSpPr txBox="1"/>
          <p:nvPr>
            <p:ph idx="1" type="body"/>
          </p:nvPr>
        </p:nvSpPr>
        <p:spPr>
          <a:xfrm rot="5400000">
            <a:off x="1472393" y="1070913"/>
            <a:ext cx="4983480" cy="4716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55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5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5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  <a:defRPr b="0" i="0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3"/>
          <p:cNvSpPr txBox="1"/>
          <p:nvPr>
            <p:ph idx="1" type="body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43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2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  <a:defRPr b="0" i="0" sz="2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42"/>
          <p:cNvSpPr txBox="1"/>
          <p:nvPr>
            <p:ph idx="1" type="body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" name="Google Shape;24;p42"/>
          <p:cNvSpPr txBox="1"/>
          <p:nvPr>
            <p:ph idx="10" type="dt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5" name="Google Shape;25;p42"/>
          <p:cNvSpPr txBox="1"/>
          <p:nvPr>
            <p:ph idx="11" type="ftr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6" name="Google Shape;26;p42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100" u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100" u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100" u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100" u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100" u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100" u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100" u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100" u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100" u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/>
          <p:nvPr>
            <p:ph type="ctrTitle"/>
          </p:nvPr>
        </p:nvSpPr>
        <p:spPr>
          <a:xfrm>
            <a:off x="1102240" y="2163165"/>
            <a:ext cx="6939520" cy="1869499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500"/>
              <a:buFont typeface="Times New Roman"/>
              <a:buNone/>
            </a:pPr>
            <a:r>
              <a:rPr b="1" i="1" lang="fr-FR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INTERACTIONS MÉDICAMENTEUSES</a:t>
            </a:r>
            <a:endParaRPr/>
          </a:p>
        </p:txBody>
      </p:sp>
      <p:sp>
        <p:nvSpPr>
          <p:cNvPr id="103" name="Google Shape;103;p1"/>
          <p:cNvSpPr txBox="1"/>
          <p:nvPr>
            <p:ph idx="1" type="subTitle"/>
          </p:nvPr>
        </p:nvSpPr>
        <p:spPr>
          <a:xfrm>
            <a:off x="4860032" y="4975188"/>
            <a:ext cx="5101209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fr-FR">
                <a:solidFill>
                  <a:srgbClr val="002060"/>
                </a:solidFill>
              </a:rPr>
              <a:t>Dr S. Behloul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  <p:sp>
        <p:nvSpPr>
          <p:cNvPr id="104" name="Google Shape;104;p1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2000232" y="285728"/>
            <a:ext cx="5143536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-FR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Université des sciences de la santé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-FR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Faculté de Pharmacie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-FR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Laboratoire de pharmacologie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-FR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3ème année médecine dentaire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C67C07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2928926" y="6215082"/>
            <a:ext cx="30608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rgbClr val="002060"/>
                </a:solidFill>
                <a:latin typeface="Gill Sans"/>
                <a:ea typeface="Gill Sans"/>
                <a:cs typeface="Gill Sans"/>
                <a:sym typeface="Gill Sans"/>
              </a:rPr>
              <a:t>Année universitaire 2024-2025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/>
          <p:nvPr/>
        </p:nvSpPr>
        <p:spPr>
          <a:xfrm>
            <a:off x="3071802" y="3429000"/>
            <a:ext cx="3071834" cy="11430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928794" y="5143512"/>
            <a:ext cx="5105400" cy="114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4038600" y="4724400"/>
            <a:ext cx="762000" cy="381000"/>
          </a:xfrm>
          <a:prstGeom prst="downArrow">
            <a:avLst>
              <a:gd fmla="val 50000" name="adj1"/>
              <a:gd fmla="val 25000" name="adj2"/>
            </a:avLst>
          </a:prstGeom>
          <a:solidFill>
            <a:srgbClr val="FF3300"/>
          </a:solidFill>
          <a:ln cap="flat" cmpd="sng" w="12700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5562600" y="1524000"/>
            <a:ext cx="2743200" cy="1447800"/>
          </a:xfrm>
          <a:prstGeom prst="wedgeRoundRectCallout">
            <a:avLst>
              <a:gd fmla="val -61690" name="adj1"/>
              <a:gd fmla="val 80593" name="adj2"/>
              <a:gd fmla="val 16667" name="adj3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762000" y="1571625"/>
            <a:ext cx="2743200" cy="1447800"/>
          </a:xfrm>
          <a:prstGeom prst="wedgeRoundRectCallout">
            <a:avLst>
              <a:gd fmla="val 58856" name="adj1"/>
              <a:gd fmla="val 78727" name="adj2"/>
              <a:gd fmla="val 16667" name="adj3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3386138" y="3752850"/>
            <a:ext cx="2614622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C0C0C"/>
                </a:solidFill>
                <a:latin typeface="Gill Sans"/>
                <a:ea typeface="Gill Sans"/>
                <a:cs typeface="Gill Sans"/>
                <a:sym typeface="Gill Sans"/>
              </a:rPr>
              <a:t>Polymédication</a:t>
            </a:r>
            <a:endParaRPr b="1" sz="2400">
              <a:solidFill>
                <a:srgbClr val="0C0C0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2209800" y="5334000"/>
            <a:ext cx="4572000" cy="100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3300"/>
                </a:solidFill>
                <a:latin typeface="Gill Sans"/>
                <a:ea typeface="Gill Sans"/>
                <a:cs typeface="Gill Sans"/>
                <a:sym typeface="Gill Sans"/>
              </a:rPr>
              <a:t>Interactions médicamenteuses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(bénéfiques ou néfastes)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928662" y="1714488"/>
            <a:ext cx="24384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Vieillissement de la population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5748338" y="1708150"/>
            <a:ext cx="2362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Émergence de pathologies</a:t>
            </a:r>
            <a:endParaRPr/>
          </a:p>
        </p:txBody>
      </p:sp>
      <p:sp>
        <p:nvSpPr>
          <p:cNvPr id="120" name="Google Shape;120;p2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214282" y="-214338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Introduction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1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428596" y="785794"/>
            <a:ext cx="828680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On parle d’interaction médicamenteuse quand l’administration simultanée </a:t>
            </a:r>
            <a:r>
              <a:rPr lang="fr-FR" sz="24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chez l’homme  </a:t>
            </a: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 deux médicaments, ou plus, conduit à potentialiser ou à opposer les effets désirés ou indésirables d’au moins un de ces médicaments.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214282" y="-214338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lang="fr-FR" sz="32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Défini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tion </a:t>
            </a:r>
            <a:endParaRPr/>
          </a:p>
        </p:txBody>
      </p:sp>
      <p:sp>
        <p:nvSpPr>
          <p:cNvPr id="129" name="Google Shape;129;p3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571472" y="3000372"/>
            <a:ext cx="81359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INTERACTION MEDICAMENTEUSE </a:t>
            </a:r>
            <a:r>
              <a:rPr lang="fr-FR" sz="32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≠ </a:t>
            </a:r>
            <a:r>
              <a:rPr lang="fr-FR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INCOMPATIBILITE ENTRE DEUX MEDICAMENTS </a:t>
            </a:r>
            <a:endParaRPr sz="16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429256" y="3643314"/>
            <a:ext cx="484632" cy="978408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4572000" y="4857760"/>
            <a:ext cx="295042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002060"/>
                </a:solidFill>
                <a:latin typeface="Gill Sans"/>
                <a:ea typeface="Gill Sans"/>
                <a:cs typeface="Gill Sans"/>
                <a:sym typeface="Gill Sans"/>
              </a:rPr>
              <a:t>réaction physico chimique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357158" y="1214422"/>
            <a:ext cx="828680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Certaines interactions médicamenteuses ont des conséquences cliniques graves. D’autres n’ont que des effets anodins</a:t>
            </a: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285720" y="2285992"/>
            <a:ext cx="8358246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Pour être retenue, une interaction doit avoir une traduction clinique significative, décrite ou potentiellement grave, c'est-à-dire susceptible de : </a:t>
            </a:r>
            <a:endParaRPr/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Provoquer ou majorer des effets indésirables, </a:t>
            </a:r>
            <a:endParaRPr/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Ou provoquer une toxicité,</a:t>
            </a:r>
            <a:endParaRPr/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Ou entraîner, par réduction de l'activité, une moindre efficacité des traitements.</a:t>
            </a:r>
            <a:r>
              <a:rPr b="1"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ceci va nécessiter : </a:t>
            </a: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modification de la posologie, arrêt du trt  ou une autre intervention médicale.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214282" y="-214338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lang="fr-FR" sz="32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Défini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tion </a:t>
            </a:r>
            <a:endParaRPr/>
          </a:p>
        </p:txBody>
      </p:sp>
      <p:sp>
        <p:nvSpPr>
          <p:cNvPr id="140" name="Google Shape;140;p4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/>
        </p:nvSpPr>
        <p:spPr>
          <a:xfrm>
            <a:off x="0" y="-214338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Types d’interactions</a:t>
            </a:r>
            <a:endParaRPr b="0" i="0" sz="32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6" name="Google Shape;146;p5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71472" y="1428736"/>
            <a:ext cx="2071702" cy="485772"/>
          </a:xfrm>
          <a:prstGeom prst="rect">
            <a:avLst/>
          </a:prstGeom>
          <a:gradFill>
            <a:gsLst>
              <a:gs pos="0">
                <a:srgbClr val="B9C7CB"/>
              </a:gs>
              <a:gs pos="100000">
                <a:srgbClr val="B7C5C9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Souhaitées 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857884" y="1428736"/>
            <a:ext cx="2071702" cy="485772"/>
          </a:xfrm>
          <a:prstGeom prst="rect">
            <a:avLst/>
          </a:prstGeom>
          <a:gradFill>
            <a:gsLst>
              <a:gs pos="0">
                <a:srgbClr val="B9BEA9"/>
              </a:gs>
              <a:gs pos="100000">
                <a:srgbClr val="B7BCA6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Indésirables  </a:t>
            </a:r>
            <a:endParaRPr/>
          </a:p>
        </p:txBody>
      </p:sp>
      <p:cxnSp>
        <p:nvCxnSpPr>
          <p:cNvPr id="149" name="Google Shape;149;p5"/>
          <p:cNvCxnSpPr/>
          <p:nvPr/>
        </p:nvCxnSpPr>
        <p:spPr>
          <a:xfrm rot="5400000">
            <a:off x="1750596" y="3964388"/>
            <a:ext cx="4643470" cy="79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5"/>
          <p:cNvSpPr/>
          <p:nvPr/>
        </p:nvSpPr>
        <p:spPr>
          <a:xfrm>
            <a:off x="0" y="1918186"/>
            <a:ext cx="4000496" cy="4662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-Améliorer l’efficacité thérapeutique et diminuer les résistances :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(plusieurs antituberculeux)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-Rapport bénéfice /risque 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 association de 2 anti HTA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posologies faibles / meilleure tolérance)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</a:t>
            </a: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Renforcer l’effet pharmacologique :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(anti HIV: anti protéase / ritonavir 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071934" y="2000240"/>
            <a:ext cx="4857752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-Contre indication: 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 doit pas être transgressée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-Association déconseillée: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Elle doit être le plus souvent évitée,  et impose une surveillance étroite du patient.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-Précaution d'emploi: 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L'association est possible dès lors que sont respectées les recommandations permettant d'éviter la survenue de l'interaction (adaptation posologique, renforcement de la surveillance clinique, biologique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-A prendre en compte: 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aucune recommandation pratique ne peut être proposée. Il revient au médecin d'évaluer l'opportunité de l'association.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7356" y="2357430"/>
            <a:ext cx="4876800" cy="4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0" y="714356"/>
            <a:ext cx="878684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 médicament va modifier la pharmacocinétique d’un autre médicament  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modification de la concentration   en principe actif  disponible au niveau des récepteurs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Intensité  de réponse pharmaco modifiée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714876" y="2214554"/>
            <a:ext cx="2286016" cy="7000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rPr>
              <a:t>Biodisponibilité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rPr>
              <a:t>Cmax  , Tmax</a:t>
            </a:r>
            <a:endParaRPr b="1" sz="1800">
              <a:solidFill>
                <a:srgbClr val="6B889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6429388" y="3929066"/>
            <a:ext cx="1478482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rPr>
              <a:t>%  mdt libre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rPr>
              <a:t>% mdt lié  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285720" y="4143380"/>
            <a:ext cx="2177199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rPr>
              <a:t>CYP450 (- ou + 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rPr>
              <a:t>% mdt métabolisé 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4786314" y="5786454"/>
            <a:ext cx="2972289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rPr>
              <a:t>T ½ élimination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rPr>
              <a:t>Vitesse et % mdt éliminé  </a:t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0" y="1643050"/>
            <a:ext cx="9501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fr-FR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Dep caractéristiques physicochimiques propres à chaque substance médicamenteuse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357158" y="-214338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165" name="Google Shape;165;p6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Absorption 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14282" y="1000108"/>
            <a:ext cx="3046988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Modification du pH gastrique </a:t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214282" y="1500174"/>
            <a:ext cx="8358246" cy="2985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Modification de la solubilité des médicaments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Oméprazole :  anti sécrétoire gastrique ( ↓↓ H+)  →↑ pH  gastrique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Ketoconazole nécessite un pH  acide pour se dissoudre.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2000">
                <a:solidFill>
                  <a:srgbClr val="6433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</a:t>
            </a:r>
            <a:r>
              <a:rPr i="1" lang="fr-FR" sz="20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↑ pH  gastrique  → ↓ dissolution du ketoconazole →↓ biodisponibilité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 u="sng">
              <a:solidFill>
                <a:srgbClr val="643318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Modification de l’état d’ionisation des médicaments :</a:t>
            </a:r>
            <a:endParaRPr sz="20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643318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643318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20" y="4000504"/>
            <a:ext cx="40386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3428992" y="357166"/>
            <a:ext cx="1700218" cy="428628"/>
          </a:xfrm>
          <a:prstGeom prst="rect">
            <a:avLst/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Absorption </a:t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14282" y="785794"/>
            <a:ext cx="3768339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Adsorption, chélation et complexation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57158" y="4500570"/>
            <a:ext cx="6500858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Formation d’une  barrière physique gastro-duodénale protectrice </a:t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7143768" y="5286388"/>
            <a:ext cx="1225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  AINS </a:t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3714744" y="5286388"/>
            <a:ext cx="642942" cy="35719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ACA395"/>
              </a:gs>
              <a:gs pos="100000">
                <a:srgbClr val="A9A08F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357950" y="5286388"/>
            <a:ext cx="642942" cy="35719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ACA395"/>
              </a:gs>
              <a:gs pos="100000">
                <a:srgbClr val="A9A08F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214810" y="5000636"/>
            <a:ext cx="23574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formation d’un film protecteur sur la muqueuse digestive</a:t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0" y="5000636"/>
            <a:ext cx="392905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964D24"/>
                </a:solidFill>
                <a:latin typeface="Gill Sans"/>
                <a:ea typeface="Gill Sans"/>
                <a:cs typeface="Gill Sans"/>
                <a:sym typeface="Gill Sans"/>
              </a:rPr>
              <a:t>-Topiques gastro-intestinaux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(carbonates, citrates, gluconates , silicates,)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964D24"/>
                </a:solidFill>
                <a:latin typeface="Gill Sans"/>
                <a:ea typeface="Gill Sans"/>
                <a:cs typeface="Gill Sans"/>
                <a:sym typeface="Gill Sans"/>
              </a:rPr>
              <a:t>-Antiacides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(oxydes et hydroxydes d’aluminium, calcium et magnésium, alginates)</a:t>
            </a:r>
            <a:endParaRPr/>
          </a:p>
        </p:txBody>
      </p:sp>
      <p:sp>
        <p:nvSpPr>
          <p:cNvPr id="190" name="Google Shape;190;p8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graphicFrame>
        <p:nvGraphicFramePr>
          <p:cNvPr id="191" name="Google Shape;191;p8"/>
          <p:cNvGraphicFramePr/>
          <p:nvPr/>
        </p:nvGraphicFramePr>
        <p:xfrm>
          <a:off x="214282" y="12144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{CA1971B0-C5D7-4A00-8589-500C9A013EC0}</a:tableStyleId>
              </a:tblPr>
              <a:tblGrid>
                <a:gridCol w="1857400"/>
                <a:gridCol w="2928950"/>
                <a:gridCol w="3643300"/>
              </a:tblGrid>
              <a:tr h="31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Mdt affecté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Mdt incriminé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Mécanisme de l’IM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6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Levothyroxine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Warfarine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9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mdt à base de charbon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9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Adsorption du mdt sur le charbon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9F0"/>
                    </a:solidFill>
                  </a:tcPr>
                </a:tc>
              </a:tr>
              <a:tr h="473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Cholestiramine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Formation de complexes peu résorbables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Tetracyclines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9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Anti acides (contenant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Al3+, Ca2+, Mg2+), lait, Zn2+, Fe2+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9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Formation de chélates peu solubles entraînant une réduction de l'absorption des cyclines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9F0"/>
                    </a:solidFill>
                  </a:tcPr>
                </a:tc>
              </a:tr>
              <a:tr h="8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fr-FR" sz="14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furosémide</a:t>
                      </a:r>
                      <a:r>
                        <a:rPr lang="fr-FR" sz="14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i="1" lang="fr-FR" sz="14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ciclosporine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9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Sevelamer  (chélateur de phosphores)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9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cap="none" strike="noStrike">
                          <a:solidFill>
                            <a:srgbClr val="00000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Formation de chélates peu solubles entraînant une réduction de l'absorption du furosémide/ ciclosporine 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25" marB="31725" marR="63425" marL="63425">
                    <a:lnL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4D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E9F0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8"/>
          <p:cNvSpPr txBox="1"/>
          <p:nvPr/>
        </p:nvSpPr>
        <p:spPr>
          <a:xfrm>
            <a:off x="7143736" y="4000504"/>
            <a:ext cx="2000264" cy="1200329"/>
          </a:xfrm>
          <a:prstGeom prst="rect">
            <a:avLst/>
          </a:prstGeom>
          <a:gradFill>
            <a:gsLst>
              <a:gs pos="0">
                <a:srgbClr val="CB7249"/>
              </a:gs>
              <a:gs pos="50000">
                <a:srgbClr val="CB652D"/>
              </a:gs>
              <a:gs pos="100000">
                <a:srgbClr val="C65F26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biodisponibilité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qté  absorbée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→espacer les prises de deux heures </a:t>
            </a: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Absorption </a:t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285720" y="1000108"/>
            <a:ext cx="3850734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Modification du Péristaltisme intestinal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0" y="1428736"/>
            <a:ext cx="30003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accélérateurs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du transit intestinal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</a:t>
            </a:r>
            <a:r>
              <a:rPr b="1" lang="fr-FR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laxatifs: lactulose )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571868" y="1428736"/>
            <a:ext cx="27860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Diminution du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temps de contact entre  les </a:t>
            </a:r>
            <a:r>
              <a:rPr lang="fr-FR" sz="1800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vitamines liposolubles 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et la muqueuse digestive</a:t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2786050" y="1714488"/>
            <a:ext cx="642942" cy="35719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6929454" y="1571612"/>
            <a:ext cx="2000264" cy="646331"/>
          </a:xfrm>
          <a:prstGeom prst="rect">
            <a:avLst/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biodisponibilité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qté  absorbée</a:t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6286512" y="1714488"/>
            <a:ext cx="642942" cy="35719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0" y="2857496"/>
            <a:ext cx="30003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Ralentisseurs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du transit intestinal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</a:t>
            </a:r>
            <a:r>
              <a:rPr b="1" lang="fr-FR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antalgiques morphiniques)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2714612" y="3071810"/>
            <a:ext cx="642942" cy="35719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6929454" y="2643182"/>
            <a:ext cx="2000264" cy="1754326"/>
          </a:xfrm>
          <a:prstGeom prst="rect">
            <a:avLst/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↑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biodisponibilité </a:t>
            </a: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↑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qté  absorbée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Risque toxicité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OU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Altération/ estomac </a:t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3500430" y="2786058"/>
            <a:ext cx="27860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Augmentation du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temps de contact entre  les mdt  et la muqueuse digestive</a:t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6215074" y="3214686"/>
            <a:ext cx="642942" cy="35719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285720" y="4000504"/>
            <a:ext cx="5643602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Compétition   au niveau  d’un  système de transport actif </a:t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285720" y="4714884"/>
            <a:ext cx="21431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Transporteur des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AA: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phénylalanine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(fromage, oeuf)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000364" y="4929198"/>
            <a:ext cx="278608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Compétition et diminution du transport actif  de la L Dopa </a:t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2357422" y="5143512"/>
            <a:ext cx="642942" cy="35719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929322" y="5072074"/>
            <a:ext cx="642942" cy="35719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6858016" y="4857760"/>
            <a:ext cx="2000264" cy="1200329"/>
          </a:xfrm>
          <a:prstGeom prst="rect">
            <a:avLst/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biodisponibilité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qté  absorbée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Inefficacité thérapeutique </a:t>
            </a:r>
            <a:endParaRPr/>
          </a:p>
        </p:txBody>
      </p:sp>
      <p:sp>
        <p:nvSpPr>
          <p:cNvPr id="216" name="Google Shape;216;p9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B9BEA9"/>
              </a:gs>
              <a:gs pos="100000">
                <a:srgbClr val="B7BCA6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777E5D"/>
                </a:solidFill>
                <a:latin typeface="Gill Sans"/>
                <a:ea typeface="Gill Sans"/>
                <a:cs typeface="Gill Sans"/>
                <a:sym typeface="Gill Sans"/>
              </a:rPr>
              <a:t>Distribution</a:t>
            </a: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714348" y="1928802"/>
            <a:ext cx="2000264" cy="1071570"/>
          </a:xfrm>
          <a:prstGeom prst="flowChartOnlineStorage">
            <a:avLst/>
          </a:prstGeom>
          <a:gradFill>
            <a:gsLst>
              <a:gs pos="0">
                <a:srgbClr val="F6A83E"/>
              </a:gs>
              <a:gs pos="50000">
                <a:srgbClr val="F9A218"/>
              </a:gs>
              <a:gs pos="100000">
                <a:srgbClr val="F79C0E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Protéine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plasmatique</a:t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3571868" y="3500438"/>
            <a:ext cx="928694" cy="1000132"/>
          </a:xfrm>
          <a:prstGeom prst="ellipse">
            <a:avLst/>
          </a:prstGeom>
          <a:gradFill>
            <a:gsLst>
              <a:gs pos="0">
                <a:srgbClr val="A2B4B9"/>
              </a:gs>
              <a:gs pos="50000">
                <a:srgbClr val="99AFB5"/>
              </a:gs>
              <a:gs pos="100000">
                <a:srgbClr val="91A7AE"/>
              </a:gs>
            </a:gsLst>
            <a:lin ang="5400000" scaled="0"/>
          </a:gradFill>
          <a:ln>
            <a:noFill/>
          </a:ln>
          <a:effectLst>
            <a:outerShdw blurRad="55880" rotWithShape="0" algn="ctr" dir="5400000" dist="15240">
              <a:srgbClr val="000000">
                <a:alpha val="4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 2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4929190" y="1785926"/>
            <a:ext cx="928694" cy="1000132"/>
          </a:xfrm>
          <a:prstGeom prst="ellipse">
            <a:avLst/>
          </a:prstGeom>
          <a:gradFill>
            <a:gsLst>
              <a:gs pos="0">
                <a:srgbClr val="CB7249"/>
              </a:gs>
              <a:gs pos="50000">
                <a:srgbClr val="CB652D"/>
              </a:gs>
              <a:gs pos="100000">
                <a:srgbClr val="C65F26"/>
              </a:gs>
            </a:gsLst>
            <a:lin ang="5400000" scaled="0"/>
          </a:gradFill>
          <a:ln>
            <a:noFill/>
          </a:ln>
          <a:effectLst>
            <a:outerShdw blurRad="55880" rotWithShape="0" algn="ctr" dir="5400000" dist="15240">
              <a:srgbClr val="000000">
                <a:alpha val="4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 1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4500562" y="3071810"/>
            <a:ext cx="928694" cy="1000132"/>
          </a:xfrm>
          <a:prstGeom prst="ellipse">
            <a:avLst/>
          </a:prstGeom>
          <a:gradFill>
            <a:gsLst>
              <a:gs pos="0">
                <a:srgbClr val="CB7249"/>
              </a:gs>
              <a:gs pos="50000">
                <a:srgbClr val="CB652D"/>
              </a:gs>
              <a:gs pos="100000">
                <a:srgbClr val="C65F26"/>
              </a:gs>
            </a:gsLst>
            <a:lin ang="5400000" scaled="0"/>
          </a:gradFill>
          <a:ln>
            <a:noFill/>
          </a:ln>
          <a:effectLst>
            <a:outerShdw blurRad="55880" rotWithShape="0" algn="ctr" dir="5400000" dist="15240">
              <a:srgbClr val="000000">
                <a:alpha val="4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 1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357554" y="2571744"/>
            <a:ext cx="928694" cy="1000132"/>
          </a:xfrm>
          <a:prstGeom prst="ellipse">
            <a:avLst/>
          </a:prstGeom>
          <a:gradFill>
            <a:gsLst>
              <a:gs pos="0">
                <a:srgbClr val="CB7249"/>
              </a:gs>
              <a:gs pos="50000">
                <a:srgbClr val="CB652D"/>
              </a:gs>
              <a:gs pos="100000">
                <a:srgbClr val="C65F26"/>
              </a:gs>
            </a:gsLst>
            <a:lin ang="5400000" scaled="0"/>
          </a:gradFill>
          <a:ln>
            <a:noFill/>
          </a:ln>
          <a:effectLst>
            <a:outerShdw blurRad="55880" rotWithShape="0" algn="ctr" dir="5400000" dist="15240">
              <a:srgbClr val="000000">
                <a:alpha val="4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 1</a:t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5643570" y="2500306"/>
            <a:ext cx="928694" cy="1000132"/>
          </a:xfrm>
          <a:prstGeom prst="ellipse">
            <a:avLst/>
          </a:prstGeom>
          <a:gradFill>
            <a:gsLst>
              <a:gs pos="0">
                <a:srgbClr val="CB7249"/>
              </a:gs>
              <a:gs pos="50000">
                <a:srgbClr val="CB652D"/>
              </a:gs>
              <a:gs pos="100000">
                <a:srgbClr val="C65F26"/>
              </a:gs>
            </a:gsLst>
            <a:lin ang="5400000" scaled="0"/>
          </a:gradFill>
          <a:ln>
            <a:noFill/>
          </a:ln>
          <a:effectLst>
            <a:outerShdw blurRad="55880" rotWithShape="0" algn="ctr" dir="5400000" dist="15240">
              <a:srgbClr val="000000">
                <a:alpha val="4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 1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72000" y="1643050"/>
            <a:ext cx="928694" cy="1000132"/>
          </a:xfrm>
          <a:prstGeom prst="ellipse">
            <a:avLst/>
          </a:prstGeom>
          <a:gradFill>
            <a:gsLst>
              <a:gs pos="0">
                <a:srgbClr val="CB7249"/>
              </a:gs>
              <a:gs pos="50000">
                <a:srgbClr val="CB652D"/>
              </a:gs>
              <a:gs pos="100000">
                <a:srgbClr val="C65F26"/>
              </a:gs>
            </a:gsLst>
            <a:lin ang="5400000" scaled="0"/>
          </a:gradFill>
          <a:ln>
            <a:noFill/>
          </a:ln>
          <a:effectLst>
            <a:outerShdw blurRad="55880" rotWithShape="0" algn="ctr" dir="5400000" dist="15240">
              <a:srgbClr val="000000">
                <a:alpha val="4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 1</a:t>
            </a:r>
            <a:endParaRPr/>
          </a:p>
        </p:txBody>
      </p:sp>
      <p:sp>
        <p:nvSpPr>
          <p:cNvPr id="231" name="Google Shape;231;p10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357158" y="1071546"/>
            <a:ext cx="6996595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Compétition  pour la liaison aux PP pour les médicaments fortement liés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5572132" y="3714752"/>
            <a:ext cx="571504" cy="35719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6245834" y="3500438"/>
            <a:ext cx="289816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↑ fraction libre de M1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Risque d’exacerbation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effets pharmacologiques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642910" y="4714884"/>
            <a:ext cx="79019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AINS (M2) et  anticoagulants (warfarine )  (M1)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 risque d’accident hémorragique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714348" y="5357826"/>
            <a:ext cx="71577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AINS (M2) et  sulfamides hypoglycémiants  (M1)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 risque d’hypoglycémie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B9BEA9"/>
              </a:gs>
              <a:gs pos="100000">
                <a:srgbClr val="B7BCA6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777E5D"/>
                </a:solidFill>
                <a:latin typeface="Gill Sans"/>
                <a:ea typeface="Gill Sans"/>
                <a:cs typeface="Gill Sans"/>
                <a:sym typeface="Gill Sans"/>
              </a:rPr>
              <a:t>Distribution</a:t>
            </a: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</p:txBody>
      </p:sp>
      <p:sp>
        <p:nvSpPr>
          <p:cNvPr id="244" name="Google Shape;244;p11"/>
          <p:cNvSpPr txBox="1"/>
          <p:nvPr/>
        </p:nvSpPr>
        <p:spPr>
          <a:xfrm>
            <a:off x="357158" y="1071546"/>
            <a:ext cx="4804520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Formation de précipités au niveau intravasculaire </a:t>
            </a:r>
            <a:endParaRPr/>
          </a:p>
        </p:txBody>
      </p:sp>
      <p:pic>
        <p:nvPicPr>
          <p:cNvPr id="245" name="Google Shape;2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6116" y="1857365"/>
            <a:ext cx="2476500" cy="3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 txBox="1"/>
          <p:nvPr/>
        </p:nvSpPr>
        <p:spPr>
          <a:xfrm>
            <a:off x="1071538" y="1785926"/>
            <a:ext cx="18783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777E5D"/>
                </a:solidFill>
                <a:latin typeface="Gill Sans"/>
                <a:ea typeface="Gill Sans"/>
                <a:cs typeface="Gill Sans"/>
                <a:sym typeface="Gill Sans"/>
              </a:rPr>
              <a:t>IV : ceftriaxone </a:t>
            </a: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6429388" y="1857364"/>
            <a:ext cx="15577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777E5D"/>
                </a:solidFill>
                <a:latin typeface="Gill Sans"/>
                <a:ea typeface="Gill Sans"/>
                <a:cs typeface="Gill Sans"/>
                <a:sym typeface="Gill Sans"/>
              </a:rPr>
              <a:t>IV : calcium  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2000232" y="5572140"/>
            <a:ext cx="5179944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Administration simultanée →formation de précipités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nécessité d’une administration séquentielle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B9C7CB"/>
              </a:gs>
              <a:gs pos="100000">
                <a:srgbClr val="B7C5C9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524C43"/>
                </a:solidFill>
                <a:latin typeface="Gill Sans"/>
                <a:ea typeface="Gill Sans"/>
                <a:cs typeface="Gill Sans"/>
                <a:sym typeface="Gill Sans"/>
              </a:rPr>
              <a:t>Métabolisme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/>
          </a:p>
        </p:txBody>
      </p:sp>
      <p:sp>
        <p:nvSpPr>
          <p:cNvPr id="255" name="Google Shape;255;p12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214282" y="3000372"/>
            <a:ext cx="857256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L'induction ne consiste pas en une augmentation de la vitesse d'action des enzymes d'un pool, mais en l'augmentation du nombre d'enzymes au sein de ce pool.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Cette augmentation peut avoir lieu de deux façons : soit en  augmentant l'expression protéique du cytochrome, soit en  diminuant sa dégradation.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Il existe des mdts auto-inducteurs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Ce mécanisme complexe explique la durée importante nécessaire à l'apparition d'une induction : 7 à 10 jours.</a:t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285720" y="1285860"/>
            <a:ext cx="2971800" cy="53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845305"/>
                </a:solidFill>
                <a:latin typeface="Tahoma"/>
                <a:ea typeface="Tahoma"/>
                <a:cs typeface="Tahoma"/>
                <a:sym typeface="Tahoma"/>
              </a:rPr>
              <a:t>Induction enzymatique</a:t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5786446" y="1285860"/>
            <a:ext cx="2971800" cy="53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4F543E"/>
                </a:solidFill>
                <a:latin typeface="Tahoma"/>
                <a:ea typeface="Tahoma"/>
                <a:cs typeface="Tahoma"/>
                <a:sym typeface="Tahoma"/>
              </a:rPr>
              <a:t>Inhibition enzymatique</a:t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2643174" y="1928802"/>
            <a:ext cx="3357586" cy="1000132"/>
          </a:xfrm>
          <a:prstGeom prst="rect">
            <a:avLst/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CYP450 ++++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(3A4, 2D6, 2C9…..)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enz conjugaison ( rare 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B9C7CB"/>
              </a:gs>
              <a:gs pos="100000">
                <a:srgbClr val="B7C5C9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524C43"/>
                </a:solidFill>
                <a:latin typeface="Gill Sans"/>
                <a:ea typeface="Gill Sans"/>
                <a:cs typeface="Gill Sans"/>
                <a:sym typeface="Gill Sans"/>
              </a:rPr>
              <a:t>Métabolisme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/>
          </a:p>
        </p:txBody>
      </p:sp>
      <p:sp>
        <p:nvSpPr>
          <p:cNvPr id="266" name="Google Shape;266;p13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285720" y="1071546"/>
            <a:ext cx="2971800" cy="53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845305"/>
                </a:solidFill>
                <a:latin typeface="Tahoma"/>
                <a:ea typeface="Tahoma"/>
                <a:cs typeface="Tahoma"/>
                <a:sym typeface="Tahoma"/>
              </a:rPr>
              <a:t>Induction enzymatique</a:t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3286116" y="1571612"/>
            <a:ext cx="2500330" cy="571504"/>
          </a:xfrm>
          <a:prstGeom prst="rect">
            <a:avLst/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CYP450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(3A4, 2D6, 2C9…..) </a:t>
            </a:r>
            <a:endParaRPr/>
          </a:p>
        </p:txBody>
      </p:sp>
      <p:pic>
        <p:nvPicPr>
          <p:cNvPr id="269" name="Google Shape;2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72" y="2266950"/>
            <a:ext cx="7591425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/>
          <p:nvPr/>
        </p:nvSpPr>
        <p:spPr>
          <a:xfrm>
            <a:off x="6572264" y="5072074"/>
            <a:ext cx="2214578" cy="914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9C7CB"/>
              </a:gs>
              <a:gs pos="100000">
                <a:srgbClr val="B7C5C9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Sauf si A prodrogue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Risque de surdosage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B9C7CB"/>
              </a:gs>
              <a:gs pos="100000">
                <a:srgbClr val="B7C5C9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524C43"/>
                </a:solidFill>
                <a:latin typeface="Gill Sans"/>
                <a:ea typeface="Gill Sans"/>
                <a:cs typeface="Gill Sans"/>
                <a:sym typeface="Gill Sans"/>
              </a:rPr>
              <a:t>Métabolisme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/>
          </a:p>
        </p:txBody>
      </p:sp>
      <p:sp>
        <p:nvSpPr>
          <p:cNvPr id="278" name="Google Shape;278;p14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5786446" y="1285860"/>
            <a:ext cx="2971800" cy="53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4F543E"/>
                </a:solidFill>
                <a:latin typeface="Tahoma"/>
                <a:ea typeface="Tahoma"/>
                <a:cs typeface="Tahoma"/>
                <a:sym typeface="Tahoma"/>
              </a:rPr>
              <a:t>Inhibition enzymatique</a:t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3214678" y="1857364"/>
            <a:ext cx="2500330" cy="571504"/>
          </a:xfrm>
          <a:prstGeom prst="rect">
            <a:avLst/>
          </a:prstGeom>
          <a:gradFill>
            <a:gsLst>
              <a:gs pos="0">
                <a:srgbClr val="D99984"/>
              </a:gs>
              <a:gs pos="100000">
                <a:srgbClr val="DA967D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CYP450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(3A4, 2D6, 2C9) </a:t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357158" y="2643182"/>
            <a:ext cx="8501122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L'inhibition ne consiste pas en une diminution de la vitesse d'action des enzymes d'un pool, mais en la diminution du nombre d'enzymes fonctionnelles au sein de ce pool.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L'inhibition enzymatique peut être de deux types : réversibles ou </a:t>
            </a:r>
            <a:r>
              <a:rPr lang="fr-FR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irréversibles</a:t>
            </a: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(</a:t>
            </a:r>
            <a:r>
              <a:rPr lang="fr-FR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inhibition suicide, l'enzyme est  perdue, il faut une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resynthèse de cette dernière pour que ces fonctions soient restaurées)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En principe, l'inhibition enzymatique est plus dangereuse que l'induction du fait de son installation en 24 à 48 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B9C7CB"/>
              </a:gs>
              <a:gs pos="100000">
                <a:srgbClr val="B7C5C9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524C43"/>
                </a:solidFill>
                <a:latin typeface="Gill Sans"/>
                <a:ea typeface="Gill Sans"/>
                <a:cs typeface="Gill Sans"/>
                <a:sym typeface="Gill Sans"/>
              </a:rPr>
              <a:t>Métabolisme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/>
          </a:p>
        </p:txBody>
      </p:sp>
      <p:sp>
        <p:nvSpPr>
          <p:cNvPr id="288" name="Google Shape;288;p15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89" name="Google Shape;2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48" y="1500174"/>
            <a:ext cx="7591425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5"/>
          <p:cNvSpPr/>
          <p:nvPr/>
        </p:nvSpPr>
        <p:spPr>
          <a:xfrm>
            <a:off x="5857884" y="1000108"/>
            <a:ext cx="2971800" cy="53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4F543E"/>
                </a:solidFill>
                <a:latin typeface="Tahoma"/>
                <a:ea typeface="Tahoma"/>
                <a:cs typeface="Tahoma"/>
                <a:sym typeface="Tahoma"/>
              </a:rPr>
              <a:t>Inhibition enzymatique</a:t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6572264" y="5072074"/>
            <a:ext cx="2214578" cy="914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9C7CB"/>
              </a:gs>
              <a:gs pos="100000">
                <a:srgbClr val="B7C5C9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Sauf si A prodrogue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Risque d’inefficacité 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B9C7CB"/>
              </a:gs>
              <a:gs pos="100000">
                <a:srgbClr val="B7C5C9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524C43"/>
                </a:solidFill>
                <a:latin typeface="Gill Sans"/>
                <a:ea typeface="Gill Sans"/>
                <a:cs typeface="Gill Sans"/>
                <a:sym typeface="Gill Sans"/>
              </a:rPr>
              <a:t>Métabolisme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/>
          </a:p>
        </p:txBody>
      </p:sp>
      <p:sp>
        <p:nvSpPr>
          <p:cNvPr id="298" name="Google Shape;298;p16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5857884" y="1000108"/>
            <a:ext cx="2971800" cy="53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4F543E"/>
                </a:solidFill>
                <a:latin typeface="Tahoma"/>
                <a:ea typeface="Tahoma"/>
                <a:cs typeface="Tahoma"/>
                <a:sym typeface="Tahoma"/>
              </a:rPr>
              <a:t>Inhibition enzymatique</a:t>
            </a:r>
            <a:endParaRPr/>
          </a:p>
        </p:txBody>
      </p:sp>
      <p:pic>
        <p:nvPicPr>
          <p:cNvPr id="300" name="Google Shape;3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662" y="1857364"/>
            <a:ext cx="7362825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B9C7CB"/>
              </a:gs>
              <a:gs pos="100000">
                <a:srgbClr val="B7C5C9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524C43"/>
                </a:solidFill>
                <a:latin typeface="Gill Sans"/>
                <a:ea typeface="Gill Sans"/>
                <a:cs typeface="Gill Sans"/>
                <a:sym typeface="Gill Sans"/>
              </a:rPr>
              <a:t>Métabolisme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/>
          </a:p>
        </p:txBody>
      </p:sp>
      <p:sp>
        <p:nvSpPr>
          <p:cNvPr id="308" name="Google Shape;308;p17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09" name="Google Shape;309;p17"/>
          <p:cNvSpPr/>
          <p:nvPr/>
        </p:nvSpPr>
        <p:spPr>
          <a:xfrm>
            <a:off x="5857884" y="1000108"/>
            <a:ext cx="2971800" cy="53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4F543E"/>
                </a:solidFill>
                <a:latin typeface="Tahoma"/>
                <a:ea typeface="Tahoma"/>
                <a:cs typeface="Tahoma"/>
                <a:sym typeface="Tahoma"/>
              </a:rPr>
              <a:t>Inhibition enzymatique</a:t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285720" y="1071546"/>
            <a:ext cx="2971800" cy="53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845305"/>
                </a:solidFill>
                <a:latin typeface="Tahoma"/>
                <a:ea typeface="Tahoma"/>
                <a:cs typeface="Tahoma"/>
                <a:sym typeface="Tahoma"/>
              </a:rPr>
              <a:t>Induction enzymatique</a:t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5643602" y="1928802"/>
            <a:ext cx="14100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Macrolides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cxnSp>
        <p:nvCxnSpPr>
          <p:cNvPr id="312" name="Google Shape;312;p17"/>
          <p:cNvCxnSpPr/>
          <p:nvPr/>
        </p:nvCxnSpPr>
        <p:spPr>
          <a:xfrm rot="5400000">
            <a:off x="4858578" y="2428074"/>
            <a:ext cx="571504" cy="158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3" name="Google Shape;313;p17"/>
          <p:cNvSpPr txBox="1"/>
          <p:nvPr/>
        </p:nvSpPr>
        <p:spPr>
          <a:xfrm>
            <a:off x="3000396" y="1714488"/>
            <a:ext cx="327846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(+)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b="1" lang="fr-FR" sz="2000">
                <a:solidFill>
                  <a:srgbClr val="845305"/>
                </a:solidFill>
                <a:latin typeface="Gill Sans"/>
                <a:ea typeface="Gill Sans"/>
                <a:cs typeface="Gill Sans"/>
                <a:sym typeface="Gill Sans"/>
              </a:rPr>
              <a:t>CYP3A4   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b="1" lang="fr-FR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(-)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endParaRPr/>
          </a:p>
        </p:txBody>
      </p:sp>
      <p:sp>
        <p:nvSpPr>
          <p:cNvPr id="314" name="Google Shape;314;p17"/>
          <p:cNvSpPr txBox="1"/>
          <p:nvPr/>
        </p:nvSpPr>
        <p:spPr>
          <a:xfrm>
            <a:off x="4429124" y="2786058"/>
            <a:ext cx="1282915" cy="369332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Phénytoine </a:t>
            </a:r>
            <a:endParaRPr/>
          </a:p>
        </p:txBody>
      </p:sp>
      <p:sp>
        <p:nvSpPr>
          <p:cNvPr id="315" name="Google Shape;315;p17"/>
          <p:cNvSpPr txBox="1"/>
          <p:nvPr/>
        </p:nvSpPr>
        <p:spPr>
          <a:xfrm>
            <a:off x="6222750" y="2786058"/>
            <a:ext cx="26792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↑ toxicité : troubles de la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Conscience 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16" name="Google Shape;316;p17"/>
          <p:cNvCxnSpPr/>
          <p:nvPr/>
        </p:nvCxnSpPr>
        <p:spPr>
          <a:xfrm>
            <a:off x="5786446" y="3071810"/>
            <a:ext cx="571504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7" name="Google Shape;317;p17"/>
          <p:cNvSpPr txBox="1"/>
          <p:nvPr/>
        </p:nvSpPr>
        <p:spPr>
          <a:xfrm>
            <a:off x="1500198" y="1857364"/>
            <a:ext cx="1515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Rifampicine </a:t>
            </a:r>
            <a:endParaRPr/>
          </a:p>
        </p:txBody>
      </p:sp>
      <p:cxnSp>
        <p:nvCxnSpPr>
          <p:cNvPr id="318" name="Google Shape;318;p17"/>
          <p:cNvCxnSpPr/>
          <p:nvPr/>
        </p:nvCxnSpPr>
        <p:spPr>
          <a:xfrm rot="5400000">
            <a:off x="2786876" y="2428074"/>
            <a:ext cx="571504" cy="1588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9" name="Google Shape;319;p17"/>
          <p:cNvSpPr txBox="1"/>
          <p:nvPr/>
        </p:nvSpPr>
        <p:spPr>
          <a:xfrm>
            <a:off x="2285984" y="2786058"/>
            <a:ext cx="1717137" cy="646331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Contraceptifs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Oraux </a:t>
            </a:r>
            <a:endParaRPr/>
          </a:p>
        </p:txBody>
      </p:sp>
      <p:cxnSp>
        <p:nvCxnSpPr>
          <p:cNvPr id="320" name="Google Shape;320;p17"/>
          <p:cNvCxnSpPr/>
          <p:nvPr/>
        </p:nvCxnSpPr>
        <p:spPr>
          <a:xfrm rot="10800000">
            <a:off x="1500198" y="3071810"/>
            <a:ext cx="785818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1" name="Google Shape;321;p17"/>
          <p:cNvSpPr txBox="1"/>
          <p:nvPr/>
        </p:nvSpPr>
        <p:spPr>
          <a:xfrm>
            <a:off x="0" y="2857496"/>
            <a:ext cx="1422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Inefficacité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pic>
        <p:nvPicPr>
          <p:cNvPr id="322" name="Google Shape;3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44" y="3429000"/>
            <a:ext cx="4371975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3371850"/>
            <a:ext cx="449580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7"/>
          <p:cNvSpPr/>
          <p:nvPr/>
        </p:nvSpPr>
        <p:spPr>
          <a:xfrm>
            <a:off x="4643438" y="4572008"/>
            <a:ext cx="4214842" cy="9144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Ritonavir ( - CYP3A4)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Association voulue au lopinavir 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Booster l’inhibition de la protéase virale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331" name="Google Shape;331;p18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FCBD82"/>
              </a:gs>
              <a:gs pos="100000">
                <a:srgbClr val="FDBB7B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Excrétion </a:t>
            </a:r>
            <a:endParaRPr/>
          </a:p>
        </p:txBody>
      </p:sp>
      <p:pic>
        <p:nvPicPr>
          <p:cNvPr id="332" name="Google Shape;3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10" y="1428736"/>
            <a:ext cx="7920064" cy="413862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8"/>
          <p:cNvSpPr txBox="1"/>
          <p:nvPr/>
        </p:nvSpPr>
        <p:spPr>
          <a:xfrm>
            <a:off x="928662" y="5357826"/>
            <a:ext cx="650434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Deux type de transporteurs :  SLC  :OAT/OCT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                               ATP binding cassette : Pglycoprot…..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357158" y="1071546"/>
            <a:ext cx="6429420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Compétition pour l’excrétion biliaire ( captage hépatique)   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5072066" y="4714884"/>
            <a:ext cx="13866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OAT / OCT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FCBD82"/>
              </a:gs>
              <a:gs pos="100000">
                <a:srgbClr val="FDBB7B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Excrétion </a:t>
            </a:r>
            <a:endParaRPr/>
          </a:p>
        </p:txBody>
      </p:sp>
      <p:pic>
        <p:nvPicPr>
          <p:cNvPr id="342" name="Google Shape;3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786" y="1928802"/>
            <a:ext cx="7920064" cy="435294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9"/>
          <p:cNvSpPr/>
          <p:nvPr/>
        </p:nvSpPr>
        <p:spPr>
          <a:xfrm>
            <a:off x="357158" y="1071546"/>
            <a:ext cx="6429420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Compétition pour la excrétion biliaire ( captage hépatique)   </a:t>
            </a:r>
            <a:endParaRPr/>
          </a:p>
        </p:txBody>
      </p:sp>
      <p:sp>
        <p:nvSpPr>
          <p:cNvPr id="344" name="Google Shape;344;p19"/>
          <p:cNvSpPr/>
          <p:nvPr/>
        </p:nvSpPr>
        <p:spPr>
          <a:xfrm>
            <a:off x="2143108" y="2643182"/>
            <a:ext cx="1214446" cy="500066"/>
          </a:xfrm>
          <a:prstGeom prst="ellipse">
            <a:avLst/>
          </a:prstGeom>
          <a:gradFill>
            <a:gsLst>
              <a:gs pos="0">
                <a:srgbClr val="BCB8AF"/>
              </a:gs>
              <a:gs pos="100000">
                <a:srgbClr val="BAB5AC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2060"/>
                </a:solidFill>
                <a:latin typeface="Gill Sans"/>
                <a:ea typeface="Gill Sans"/>
                <a:cs typeface="Gill Sans"/>
                <a:sym typeface="Gill Sans"/>
              </a:rPr>
              <a:t>OATP 1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4643438" y="1785926"/>
            <a:ext cx="3609578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524C43"/>
                </a:solidFill>
                <a:latin typeface="Gill Sans"/>
                <a:ea typeface="Gill Sans"/>
                <a:cs typeface="Gill Sans"/>
                <a:sym typeface="Gill Sans"/>
              </a:rPr>
              <a:t>Ciclosporine : inhibiteur OATP1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524C43"/>
                </a:solidFill>
                <a:latin typeface="Gill Sans"/>
                <a:ea typeface="Gill Sans"/>
                <a:cs typeface="Gill Sans"/>
                <a:sym typeface="Gill Sans"/>
              </a:rPr>
              <a:t> / atorvastatine substrat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FCBD82"/>
              </a:gs>
              <a:gs pos="100000">
                <a:srgbClr val="FDBB7B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Excrétion </a:t>
            </a:r>
            <a:endParaRPr/>
          </a:p>
        </p:txBody>
      </p:sp>
      <p:pic>
        <p:nvPicPr>
          <p:cNvPr id="352" name="Google Shape;3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10" y="1428736"/>
            <a:ext cx="6434162" cy="4548207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0"/>
          <p:cNvSpPr/>
          <p:nvPr/>
        </p:nvSpPr>
        <p:spPr>
          <a:xfrm>
            <a:off x="357158" y="1071546"/>
            <a:ext cx="6429420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Compétition pour la sécrétion tubulaire (transport actif)  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FCBD82"/>
              </a:gs>
              <a:gs pos="100000">
                <a:srgbClr val="FDBB7B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Excrétion </a:t>
            </a:r>
            <a:endParaRPr/>
          </a:p>
        </p:txBody>
      </p:sp>
      <p:sp>
        <p:nvSpPr>
          <p:cNvPr id="360" name="Google Shape;360;p21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361" name="Google Shape;3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48" y="1500174"/>
            <a:ext cx="76581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1"/>
          <p:cNvSpPr/>
          <p:nvPr/>
        </p:nvSpPr>
        <p:spPr>
          <a:xfrm>
            <a:off x="5357818" y="2500306"/>
            <a:ext cx="914400" cy="571504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OAT </a:t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3857620" y="2571744"/>
            <a:ext cx="1200152" cy="42862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OCT </a:t>
            </a:r>
            <a:endParaRPr/>
          </a:p>
        </p:txBody>
      </p:sp>
      <p:sp>
        <p:nvSpPr>
          <p:cNvPr id="364" name="Google Shape;364;p21"/>
          <p:cNvSpPr/>
          <p:nvPr/>
        </p:nvSpPr>
        <p:spPr>
          <a:xfrm>
            <a:off x="357158" y="1071546"/>
            <a:ext cx="6429420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Compétition pour la sécrétion tubulaire (transport actif)   </a:t>
            </a:r>
            <a:endParaRPr/>
          </a:p>
        </p:txBody>
      </p:sp>
      <p:sp>
        <p:nvSpPr>
          <p:cNvPr id="365" name="Google Shape;365;p21"/>
          <p:cNvSpPr/>
          <p:nvPr/>
        </p:nvSpPr>
        <p:spPr>
          <a:xfrm>
            <a:off x="3428992" y="5214950"/>
            <a:ext cx="3214710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Mdt moins affinité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Mdt  le moins éliminé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↑ demi-vie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d’élimination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4F543E"/>
                </a:solidFill>
                <a:latin typeface="Calibri"/>
                <a:ea typeface="Calibri"/>
                <a:cs typeface="Calibri"/>
                <a:sym typeface="Calibri"/>
              </a:rPr>
              <a:t>RISQUE  DE TOXICITE</a:t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4000496" y="3071810"/>
            <a:ext cx="857256" cy="4286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924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M1</a:t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5500694" y="3071810"/>
            <a:ext cx="857256" cy="42862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7176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M2</a:t>
            </a:r>
            <a:endParaRPr/>
          </a:p>
        </p:txBody>
      </p:sp>
      <p:cxnSp>
        <p:nvCxnSpPr>
          <p:cNvPr id="368" name="Google Shape;368;p21"/>
          <p:cNvCxnSpPr/>
          <p:nvPr/>
        </p:nvCxnSpPr>
        <p:spPr>
          <a:xfrm>
            <a:off x="1643042" y="2428868"/>
            <a:ext cx="1214446" cy="158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21"/>
          <p:cNvCxnSpPr/>
          <p:nvPr/>
        </p:nvCxnSpPr>
        <p:spPr>
          <a:xfrm>
            <a:off x="2285984" y="2928934"/>
            <a:ext cx="1214446" cy="158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21"/>
          <p:cNvSpPr/>
          <p:nvPr/>
        </p:nvSpPr>
        <p:spPr>
          <a:xfrm>
            <a:off x="3786182" y="928670"/>
            <a:ext cx="592935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rgbClr val="777E5D"/>
                </a:solidFill>
                <a:latin typeface="Gill Sans"/>
                <a:ea typeface="Gill Sans"/>
                <a:cs typeface="Gill Sans"/>
                <a:sym typeface="Gill Sans"/>
              </a:rPr>
              <a:t>→Les transporteurs d’influx et d’efflux fonctionnent de manière coordonnée pour faciliter le transfert transcellulaire des anions et cations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2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376" name="Google Shape;376;p22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FCBD82"/>
              </a:gs>
              <a:gs pos="100000">
                <a:srgbClr val="FDBB7B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Excrétion </a:t>
            </a:r>
            <a:endParaRPr/>
          </a:p>
        </p:txBody>
      </p:sp>
      <p:sp>
        <p:nvSpPr>
          <p:cNvPr id="377" name="Google Shape;377;p22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378" name="Google Shape;3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48" y="1500174"/>
            <a:ext cx="76581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2"/>
          <p:cNvSpPr/>
          <p:nvPr/>
        </p:nvSpPr>
        <p:spPr>
          <a:xfrm>
            <a:off x="5357818" y="2643182"/>
            <a:ext cx="914400" cy="571504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OAT </a:t>
            </a: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3857620" y="2643182"/>
            <a:ext cx="1200152" cy="428628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OCT </a:t>
            </a: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357158" y="1071546"/>
            <a:ext cx="6429420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Compétition pour la sécrétion tubulaire (transport actif)   </a:t>
            </a: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5357818" y="4572008"/>
            <a:ext cx="3500430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Gill Sans"/>
              <a:buNone/>
            </a:pPr>
            <a:r>
              <a:rPr b="1" lang="fr-FR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méthotrexate/AINS= OAT2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Gill Sans"/>
              <a:buNone/>
            </a:pPr>
            <a:r>
              <a:rPr b="1" lang="fr-FR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Toxicité du méthotrexate</a:t>
            </a:r>
            <a:endParaRPr b="1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642910" y="4786322"/>
            <a:ext cx="4000528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cimétidine / metformine =OCT2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Toxicité de la metformine </a:t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5072066" y="5357826"/>
            <a:ext cx="3929090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Gill Sans"/>
              <a:buNone/>
            </a:pPr>
            <a:r>
              <a:rPr b="1" lang="fr-FR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probénécide/ penicilline=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Gill Sans"/>
              <a:buNone/>
            </a:pPr>
            <a:r>
              <a:rPr b="1" lang="fr-FR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↑↑demi vie penicillines  : recherchée </a:t>
            </a:r>
            <a:endParaRPr b="1"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85" name="Google Shape;385;p22"/>
          <p:cNvCxnSpPr/>
          <p:nvPr/>
        </p:nvCxnSpPr>
        <p:spPr>
          <a:xfrm>
            <a:off x="1500166" y="2428868"/>
            <a:ext cx="1214446" cy="158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391" name="Google Shape;391;p23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FCBD82"/>
              </a:gs>
              <a:gs pos="100000">
                <a:srgbClr val="FDBB7B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Excrétion </a:t>
            </a:r>
            <a:endParaRPr/>
          </a:p>
        </p:txBody>
      </p:sp>
      <p:sp>
        <p:nvSpPr>
          <p:cNvPr id="392" name="Google Shape;392;p23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393" name="Google Shape;3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48" y="1500174"/>
            <a:ext cx="76581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3"/>
          <p:cNvSpPr/>
          <p:nvPr/>
        </p:nvSpPr>
        <p:spPr>
          <a:xfrm>
            <a:off x="5286380" y="3429000"/>
            <a:ext cx="914400" cy="571504"/>
          </a:xfrm>
          <a:prstGeom prst="ellipse">
            <a:avLst/>
          </a:prstGeom>
          <a:solidFill>
            <a:srgbClr val="7030A0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MRP </a:t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4000496" y="3500438"/>
            <a:ext cx="1200152" cy="428628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MATE </a:t>
            </a: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357158" y="1071546"/>
            <a:ext cx="6429420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Compétition pour la sécrétion tubulaire (transport actif)   </a:t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5429256" y="4786322"/>
            <a:ext cx="3500430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Gill Sans"/>
              <a:buNone/>
            </a:pPr>
            <a:r>
              <a:rPr b="1" lang="fr-FR" sz="1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méthotrexate/AINS= MRP2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Gill Sans"/>
              <a:buNone/>
            </a:pPr>
            <a:r>
              <a:rPr b="1" lang="fr-FR" sz="1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 Toxicité du méthotrexate</a:t>
            </a:r>
            <a:endParaRPr b="1" sz="1800">
              <a:solidFill>
                <a:srgbClr val="7030A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642910" y="4786322"/>
            <a:ext cx="4000528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cimétidine / metformine  MATE1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Toxicité de la metformine </a:t>
            </a:r>
            <a:endParaRPr/>
          </a:p>
        </p:txBody>
      </p:sp>
      <p:cxnSp>
        <p:nvCxnSpPr>
          <p:cNvPr id="399" name="Google Shape;399;p23"/>
          <p:cNvCxnSpPr/>
          <p:nvPr/>
        </p:nvCxnSpPr>
        <p:spPr>
          <a:xfrm>
            <a:off x="2285984" y="2928934"/>
            <a:ext cx="1214446" cy="158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05" name="Google Shape;405;p24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gradFill>
            <a:gsLst>
              <a:gs pos="0">
                <a:srgbClr val="FCBD82"/>
              </a:gs>
              <a:gs pos="100000">
                <a:srgbClr val="FDBB7B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Excrétion </a:t>
            </a:r>
            <a:endParaRPr/>
          </a:p>
        </p:txBody>
      </p:sp>
      <p:sp>
        <p:nvSpPr>
          <p:cNvPr id="406" name="Google Shape;406;p24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07" name="Google Shape;407;p24"/>
          <p:cNvSpPr txBox="1"/>
          <p:nvPr/>
        </p:nvSpPr>
        <p:spPr>
          <a:xfrm>
            <a:off x="428596" y="1071546"/>
            <a:ext cx="2829814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Modification du pH urinaire </a:t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142812" y="1571612"/>
            <a:ext cx="9001188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Toute substance capable de  modifier le pH urinaire peut influencer l’excrétion des acides faibles ou des bases faibles qui lui sont associés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ce type d’interaction est exploité dans le traitement des intoxications médicamenteuses en accélérant l’excrétion rénale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642910" y="3286124"/>
            <a:ext cx="33575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Alcalinisation des urines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Augmentation de l’élimination des acides faibles (pKa: 2,5 -7,5)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5214942" y="3286124"/>
            <a:ext cx="36433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Acidification des urines: </a:t>
            </a:r>
            <a:endParaRPr b="1" sz="18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Augmentation de l’élimination des bases faibles (pKa : 5 -  11)</a:t>
            </a:r>
            <a:endParaRPr/>
          </a:p>
        </p:txBody>
      </p:sp>
      <p:sp>
        <p:nvSpPr>
          <p:cNvPr id="411" name="Google Shape;411;p24"/>
          <p:cNvSpPr/>
          <p:nvPr/>
        </p:nvSpPr>
        <p:spPr>
          <a:xfrm>
            <a:off x="2714612" y="4714884"/>
            <a:ext cx="4143404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B376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Bicarbonates / barbituriques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Hydratation alcaline / methotrexate 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4876" y="1785926"/>
            <a:ext cx="4271963" cy="3633798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5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19" name="Google Shape;419;p25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Glycoprotéine P  </a:t>
            </a:r>
            <a:endParaRPr/>
          </a:p>
        </p:txBody>
      </p:sp>
      <p:sp>
        <p:nvSpPr>
          <p:cNvPr id="420" name="Google Shape;420;p25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21" name="Google Shape;421;p25"/>
          <p:cNvSpPr/>
          <p:nvPr/>
        </p:nvSpPr>
        <p:spPr>
          <a:xfrm>
            <a:off x="0" y="1000108"/>
            <a:ext cx="3929058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Protéine de transport présente en grande quantité dans les intestins, la barrière hémato-méningée, les voies biliaires, les tubules rénaux, etc.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1270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Pompe présente dans les membranes de certaines cellules, qui expulse hors de la cellule toutes sortes de substrats, dont des médicaments : </a:t>
            </a:r>
            <a:r>
              <a:rPr lang="fr-FR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transporteur d’efflux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1270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 glycoprotéine P </a:t>
            </a:r>
            <a:r>
              <a:rPr lang="fr-FR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diminue l’absorption intestinale </a:t>
            </a: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 ces médicaments substrats, et </a:t>
            </a:r>
            <a:r>
              <a:rPr lang="fr-FR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augmente</a:t>
            </a: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leur </a:t>
            </a:r>
            <a:r>
              <a:rPr lang="fr-FR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excrétion rénale </a:t>
            </a: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et </a:t>
            </a:r>
            <a:r>
              <a:rPr lang="fr-FR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hépatique. </a:t>
            </a: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Elle </a:t>
            </a:r>
            <a:r>
              <a:rPr lang="fr-FR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s’oppose</a:t>
            </a: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à leur diffusion dans le </a:t>
            </a:r>
            <a:r>
              <a:rPr lang="fr-FR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cerveau</a:t>
            </a: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</p:txBody>
      </p:sp>
      <p:sp>
        <p:nvSpPr>
          <p:cNvPr id="422" name="Google Shape;422;p25"/>
          <p:cNvSpPr/>
          <p:nvPr/>
        </p:nvSpPr>
        <p:spPr>
          <a:xfrm rot="10800000">
            <a:off x="7215206" y="2714620"/>
            <a:ext cx="428628" cy="178595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B0F0"/>
          </a:solidFill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3" name="Google Shape;423;p25"/>
          <p:cNvSpPr txBox="1"/>
          <p:nvPr/>
        </p:nvSpPr>
        <p:spPr>
          <a:xfrm>
            <a:off x="7500958" y="2571744"/>
            <a:ext cx="13573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EFFLUX </a:t>
            </a:r>
            <a:endParaRPr/>
          </a:p>
        </p:txBody>
      </p:sp>
      <p:sp>
        <p:nvSpPr>
          <p:cNvPr id="424" name="Google Shape;424;p25"/>
          <p:cNvSpPr txBox="1"/>
          <p:nvPr/>
        </p:nvSpPr>
        <p:spPr>
          <a:xfrm>
            <a:off x="6786578" y="1000108"/>
            <a:ext cx="2190215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milieu extracellulaire </a:t>
            </a:r>
            <a:endParaRPr/>
          </a:p>
        </p:txBody>
      </p:sp>
      <p:sp>
        <p:nvSpPr>
          <p:cNvPr id="425" name="Google Shape;425;p25"/>
          <p:cNvSpPr txBox="1"/>
          <p:nvPr/>
        </p:nvSpPr>
        <p:spPr>
          <a:xfrm>
            <a:off x="6572264" y="5572140"/>
            <a:ext cx="2130904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milieu intracellulaire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6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31" name="Google Shape;431;p26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Glycoprotéine P  </a:t>
            </a:r>
            <a:endParaRPr/>
          </a:p>
        </p:txBody>
      </p:sp>
      <p:sp>
        <p:nvSpPr>
          <p:cNvPr id="432" name="Google Shape;432;p26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433" name="Google Shape;4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52" y="1071546"/>
            <a:ext cx="6596052" cy="28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7356" y="4071942"/>
            <a:ext cx="5572119" cy="2071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40" name="Google Shape;440;p27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Glycoprotéine P  </a:t>
            </a:r>
            <a:endParaRPr/>
          </a:p>
        </p:txBody>
      </p:sp>
      <p:sp>
        <p:nvSpPr>
          <p:cNvPr id="441" name="Google Shape;441;p27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42" name="Google Shape;442;p27"/>
          <p:cNvSpPr/>
          <p:nvPr/>
        </p:nvSpPr>
        <p:spPr>
          <a:xfrm>
            <a:off x="0" y="1214422"/>
            <a:ext cx="4143372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Inhibiteurs  P glycoprotéine =&gt; ↑ Cplasm des méd. substrats par augmentation de l’absorption intestinale ou diminution de l’élimination rénale ou hépatique</a:t>
            </a:r>
            <a:endParaRPr/>
          </a:p>
        </p:txBody>
      </p:sp>
      <p:sp>
        <p:nvSpPr>
          <p:cNvPr id="443" name="Google Shape;443;p27"/>
          <p:cNvSpPr/>
          <p:nvPr/>
        </p:nvSpPr>
        <p:spPr>
          <a:xfrm>
            <a:off x="4429124" y="1142984"/>
            <a:ext cx="4357686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Inducteurs P glycoprotéine =&gt; ↓ Cplasm des méd. substrats par réduction de l’absorption intestinale ou d’une augmentation de l’élimination rénale ou hépatique</a:t>
            </a:r>
            <a:endParaRPr/>
          </a:p>
        </p:txBody>
      </p:sp>
      <p:pic>
        <p:nvPicPr>
          <p:cNvPr id="444" name="Google Shape;4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52" y="2357430"/>
            <a:ext cx="2071702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7"/>
          <p:cNvSpPr/>
          <p:nvPr/>
        </p:nvSpPr>
        <p:spPr>
          <a:xfrm>
            <a:off x="1357290" y="3357562"/>
            <a:ext cx="1057276" cy="1485904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46" name="Google Shape;4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84" y="2357430"/>
            <a:ext cx="19145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7"/>
          <p:cNvSpPr txBox="1"/>
          <p:nvPr/>
        </p:nvSpPr>
        <p:spPr>
          <a:xfrm>
            <a:off x="928662" y="6072206"/>
            <a:ext cx="2474716" cy="369332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Pas de sortie du mdt </a:t>
            </a:r>
            <a:endParaRPr/>
          </a:p>
        </p:txBody>
      </p:sp>
      <p:sp>
        <p:nvSpPr>
          <p:cNvPr id="448" name="Google Shape;448;p27"/>
          <p:cNvSpPr/>
          <p:nvPr/>
        </p:nvSpPr>
        <p:spPr>
          <a:xfrm>
            <a:off x="5429256" y="3714752"/>
            <a:ext cx="857256" cy="164307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9" name="Google Shape;449;p27"/>
          <p:cNvSpPr txBox="1"/>
          <p:nvPr/>
        </p:nvSpPr>
        <p:spPr>
          <a:xfrm>
            <a:off x="5000628" y="6143644"/>
            <a:ext cx="3350404" cy="369332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Augmentation sortie du mdt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55" name="Google Shape;455;p28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Glycoprotéine P  </a:t>
            </a:r>
            <a:endParaRPr/>
          </a:p>
        </p:txBody>
      </p:sp>
      <p:sp>
        <p:nvSpPr>
          <p:cNvPr id="456" name="Google Shape;456;p28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457" name="Google Shape;45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8794" y="1000108"/>
            <a:ext cx="5314950" cy="5657847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8"/>
          <p:cNvSpPr txBox="1"/>
          <p:nvPr/>
        </p:nvSpPr>
        <p:spPr>
          <a:xfrm>
            <a:off x="285720" y="1714488"/>
            <a:ext cx="36930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METOCLOPRAMIDE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Substrat P Gly P et  il traverse la BHE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9"/>
          <p:cNvSpPr txBox="1"/>
          <p:nvPr/>
        </p:nvSpPr>
        <p:spPr>
          <a:xfrm>
            <a:off x="214282" y="-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ill Sans"/>
              <a:buNone/>
            </a:pP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IM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en phase pharmacocinétique?</a:t>
            </a:r>
            <a:r>
              <a:rPr b="0" i="0" lang="fr-FR" sz="3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464" name="Google Shape;464;p29"/>
          <p:cNvSpPr/>
          <p:nvPr/>
        </p:nvSpPr>
        <p:spPr>
          <a:xfrm>
            <a:off x="3428992" y="428604"/>
            <a:ext cx="1700218" cy="4286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643318"/>
                </a:solidFill>
                <a:latin typeface="Gill Sans"/>
                <a:ea typeface="Gill Sans"/>
                <a:cs typeface="Gill Sans"/>
                <a:sym typeface="Gill Sans"/>
              </a:rPr>
              <a:t>Glycoprotéine P  </a:t>
            </a:r>
            <a:endParaRPr/>
          </a:p>
        </p:txBody>
      </p:sp>
      <p:sp>
        <p:nvSpPr>
          <p:cNvPr id="465" name="Google Shape;465;p29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466" name="Google Shape;4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34" y="1071546"/>
            <a:ext cx="4400550" cy="4500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8" y="642918"/>
            <a:ext cx="3038475" cy="55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304800" y="228600"/>
            <a:ext cx="8229600" cy="11430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b="1" lang="fr-FR"/>
              <a:t>INTERACTIONS PHARMACODYNAMIQUES</a:t>
            </a:r>
            <a:endParaRPr/>
          </a:p>
        </p:txBody>
      </p:sp>
      <p:sp>
        <p:nvSpPr>
          <p:cNvPr id="473" name="Google Shape;473;p30"/>
          <p:cNvSpPr txBox="1"/>
          <p:nvPr>
            <p:ph idx="1" type="body"/>
          </p:nvPr>
        </p:nvSpPr>
        <p:spPr>
          <a:xfrm>
            <a:off x="428596" y="1214398"/>
            <a:ext cx="8501122" cy="5110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377825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sz="2400"/>
          </a:p>
          <a:p>
            <a:pPr indent="377825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377825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377825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377825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fr-FR" sz="9600">
                <a:latin typeface="Gill Sans"/>
                <a:ea typeface="Gill Sans"/>
                <a:cs typeface="Gill Sans"/>
                <a:sym typeface="Gill Sans"/>
              </a:rPr>
              <a:t>Modifications de la pharmacodynamie d’un médicament lors de la prise concomitante (en général) d’un autre ou plusieurs autres médicaments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sz="9600"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fr-FR" sz="9600">
                <a:latin typeface="Gill Sans"/>
                <a:ea typeface="Gill Sans"/>
                <a:cs typeface="Gill Sans"/>
                <a:sym typeface="Gill Sans"/>
              </a:rPr>
              <a:t>La modification peut avoir lieu au niveau :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sz="9600"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0000"/>
              <a:buFont typeface="Arial"/>
              <a:buChar char="•"/>
            </a:pPr>
            <a:r>
              <a:rPr lang="fr-FR" sz="9600">
                <a:latin typeface="Gill Sans"/>
                <a:ea typeface="Gill Sans"/>
                <a:cs typeface="Gill Sans"/>
                <a:sym typeface="Gill Sans"/>
              </a:rPr>
              <a:t>des récepteurs,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0000"/>
              <a:buFont typeface="Arial"/>
              <a:buChar char="•"/>
            </a:pPr>
            <a:r>
              <a:rPr lang="fr-FR" sz="9600">
                <a:latin typeface="Gill Sans"/>
                <a:ea typeface="Gill Sans"/>
                <a:cs typeface="Gill Sans"/>
                <a:sym typeface="Gill Sans"/>
              </a:rPr>
              <a:t>des systèmes effecteurs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0000"/>
              <a:buFont typeface="Arial"/>
              <a:buChar char="•"/>
            </a:pPr>
            <a:r>
              <a:rPr lang="fr-FR" sz="9600">
                <a:latin typeface="Gill Sans"/>
                <a:ea typeface="Gill Sans"/>
                <a:cs typeface="Gill Sans"/>
                <a:sym typeface="Gill Sans"/>
              </a:rPr>
              <a:t>des fonctions physiologiques,</a:t>
            </a:r>
            <a:endParaRPr/>
          </a:p>
          <a:p>
            <a:pPr indent="-442913" lvl="0" marL="44291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sz="9600" u="sng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42913" lvl="0" marL="44291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fr-FR" sz="9600">
                <a:latin typeface="Gill Sans"/>
                <a:ea typeface="Gill Sans"/>
                <a:cs typeface="Gill Sans"/>
                <a:sym typeface="Gill Sans"/>
              </a:rPr>
              <a:t>Pas de modification des concentrations plasmatiques du      premier médicament.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fr-FR" sz="9600">
                <a:latin typeface="Gill Sans"/>
                <a:ea typeface="Gill Sans"/>
                <a:cs typeface="Gill Sans"/>
                <a:sym typeface="Gill Sans"/>
              </a:rPr>
              <a:t>       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1"/>
          <p:cNvSpPr txBox="1"/>
          <p:nvPr>
            <p:ph type="title"/>
          </p:nvPr>
        </p:nvSpPr>
        <p:spPr>
          <a:xfrm>
            <a:off x="500034" y="0"/>
            <a:ext cx="8229600" cy="9144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fr-FR"/>
              <a:t>VI- IM PHARMACODYNAMIQUES :</a:t>
            </a:r>
            <a:endParaRPr/>
          </a:p>
        </p:txBody>
      </p:sp>
      <p:sp>
        <p:nvSpPr>
          <p:cNvPr id="480" name="Google Shape;480;p31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481" name="Google Shape;48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554" y="1357298"/>
            <a:ext cx="5786446" cy="500066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1"/>
          <p:cNvSpPr/>
          <p:nvPr/>
        </p:nvSpPr>
        <p:spPr>
          <a:xfrm>
            <a:off x="214282" y="1357298"/>
            <a:ext cx="3214678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 Interaction au niveau d’un même système, sur lequel les deux médicaments peuvent exercer des effets identiques ou opposés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-Interaction au niveau d’une même cible cellulaire, sur laquelle les deux médicaments peuvent exercer des effets identiques ou opposés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-Interaction par action au niveau de deux systèmes distincts, régulant le même effet</a:t>
            </a:r>
            <a:endParaRPr/>
          </a:p>
        </p:txBody>
      </p:sp>
      <p:sp>
        <p:nvSpPr>
          <p:cNvPr id="483" name="Google Shape;483;p31"/>
          <p:cNvSpPr txBox="1"/>
          <p:nvPr/>
        </p:nvSpPr>
        <p:spPr>
          <a:xfrm>
            <a:off x="1000100" y="5715016"/>
            <a:ext cx="37106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Antagonisme ou synergie d’action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2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fr-FR"/>
              <a:t>GLOSSAIRE : </a:t>
            </a:r>
            <a:endParaRPr/>
          </a:p>
        </p:txBody>
      </p:sp>
      <p:sp>
        <p:nvSpPr>
          <p:cNvPr id="489" name="Google Shape;489;p32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90" name="Google Shape;490;p32"/>
          <p:cNvSpPr txBox="1"/>
          <p:nvPr/>
        </p:nvSpPr>
        <p:spPr>
          <a:xfrm>
            <a:off x="285688" y="2818671"/>
            <a:ext cx="8858312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-R : récepteur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-R cholinergique : R de l’acétyl choline,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 médicaments parasympatholytiques :  ils ont l’effet inverse du système parasympathique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-Médicaments parasympathomimétique :   ils ont le même effet que le système parasympathique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-R B adrénergique : R du système sympathique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1" name="Google Shape;491;p32"/>
          <p:cNvSpPr/>
          <p:nvPr/>
        </p:nvSpPr>
        <p:spPr>
          <a:xfrm>
            <a:off x="357158" y="5291916"/>
            <a:ext cx="47070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-B-bloquant:  antagoniste des R B adrénergiques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3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br>
              <a:rPr b="1" lang="fr-FR"/>
            </a:br>
            <a:r>
              <a:rPr b="1" lang="fr-FR"/>
              <a:t>LES IM SYNERGIQUES </a:t>
            </a:r>
            <a:br>
              <a:rPr lang="fr-FR"/>
            </a:br>
            <a:endParaRPr/>
          </a:p>
        </p:txBody>
      </p:sp>
      <p:sp>
        <p:nvSpPr>
          <p:cNvPr id="497" name="Google Shape;497;p33"/>
          <p:cNvSpPr txBox="1"/>
          <p:nvPr>
            <p:ph idx="1" type="body"/>
          </p:nvPr>
        </p:nvSpPr>
        <p:spPr>
          <a:xfrm>
            <a:off x="457200" y="2311152"/>
            <a:ext cx="845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🡺 Obtention des mêmes effets pharmacologiques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98" name="Google Shape;498;p33"/>
          <p:cNvSpPr txBox="1"/>
          <p:nvPr/>
        </p:nvSpPr>
        <p:spPr>
          <a:xfrm>
            <a:off x="457200" y="3352800"/>
            <a:ext cx="8229600" cy="2362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/>
              <a:buChar char="•"/>
            </a:pPr>
            <a:r>
              <a:rPr b="1" i="0" lang="fr-FR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Médicament A                   Effet a</a:t>
            </a:r>
            <a:endParaRPr/>
          </a:p>
          <a:p>
            <a:pPr indent="-191770" lvl="0" marL="342900" marR="0" rtl="0" algn="l">
              <a:lnSpc>
                <a:spcPct val="90000"/>
              </a:lnSpc>
              <a:spcBef>
                <a:spcPts val="476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76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/>
              <a:buChar char="•"/>
            </a:pPr>
            <a:r>
              <a:rPr b="1" i="0" lang="fr-FR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Médicament B                   Effet b</a:t>
            </a:r>
            <a:endParaRPr/>
          </a:p>
          <a:p>
            <a:pPr indent="-191770" lvl="0" marL="342900" marR="0" rtl="0" algn="l">
              <a:lnSpc>
                <a:spcPct val="9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ctr">
              <a:lnSpc>
                <a:spcPct val="9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b="1" i="0" lang="fr-FR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Médicament A </a:t>
            </a:r>
            <a:r>
              <a:rPr b="1" i="0" lang="fr-FR" sz="4000" u="none" cap="none" strike="noStrike">
                <a:solidFill>
                  <a:srgbClr val="777E5D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r>
              <a:rPr b="1" i="0" lang="fr-FR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Médicament B donnent un effet  global c </a:t>
            </a:r>
            <a:r>
              <a:rPr b="1" i="0" lang="fr-FR" sz="2800" u="none" cap="none" strike="noStrike">
                <a:solidFill>
                  <a:srgbClr val="7B7265"/>
                </a:solidFill>
                <a:latin typeface="Gill Sans"/>
                <a:ea typeface="Gill Sans"/>
                <a:cs typeface="Gill Sans"/>
                <a:sym typeface="Gill Sans"/>
              </a:rPr>
              <a:t> =</a:t>
            </a:r>
            <a:r>
              <a:rPr b="1" i="0" lang="fr-FR" sz="2800" u="none" cap="none" strike="noStrike">
                <a:solidFill>
                  <a:srgbClr val="7B7265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i="0" lang="fr-FR" sz="2800" u="none" cap="none" strike="noStrike">
                <a:solidFill>
                  <a:srgbClr val="7B7265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i="0" lang="fr-FR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effet a </a:t>
            </a:r>
            <a:r>
              <a:rPr b="1" i="0" lang="fr-FR" sz="4000" u="none" cap="none" strike="noStrike">
                <a:solidFill>
                  <a:srgbClr val="F9C676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r>
              <a:rPr b="1" i="0" lang="fr-FR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effet b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4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br>
              <a:rPr b="1" lang="fr-FR"/>
            </a:br>
            <a:r>
              <a:rPr b="1" lang="fr-FR"/>
              <a:t>LES IM SYNERGIQUES </a:t>
            </a:r>
            <a:br>
              <a:rPr lang="fr-FR"/>
            </a:br>
            <a:endParaRPr/>
          </a:p>
        </p:txBody>
      </p:sp>
      <p:sp>
        <p:nvSpPr>
          <p:cNvPr id="504" name="Google Shape;504;p34"/>
          <p:cNvSpPr txBox="1"/>
          <p:nvPr/>
        </p:nvSpPr>
        <p:spPr>
          <a:xfrm>
            <a:off x="304800" y="2558009"/>
            <a:ext cx="8458200" cy="2743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fr-FR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🡺 Obtention des mêmes effets pharmacologiques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fr-FR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Exemple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fr-FR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Association d’un anticoagulant + AINS = réduction de la synthèse des facteurs de coagulation et inhibition et inhibition de l’agrégation plaquettaire</a:t>
            </a:r>
            <a:endParaRPr/>
          </a:p>
          <a:p>
            <a:pPr indent="-170180" lvl="0" marL="34290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5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b="1" lang="fr-FR"/>
              <a:t>LES IM PAR POTENTIALISATION</a:t>
            </a:r>
            <a:endParaRPr/>
          </a:p>
        </p:txBody>
      </p:sp>
      <p:sp>
        <p:nvSpPr>
          <p:cNvPr id="510" name="Google Shape;510;p35"/>
          <p:cNvSpPr txBox="1"/>
          <p:nvPr>
            <p:ph idx="1" type="body"/>
          </p:nvPr>
        </p:nvSpPr>
        <p:spPr>
          <a:xfrm>
            <a:off x="457200" y="3227041"/>
            <a:ext cx="8229600" cy="2362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/>
              <a:buChar char="•"/>
            </a:pPr>
            <a:r>
              <a:rPr b="1" lang="fr-FR" sz="2800">
                <a:latin typeface="Gill Sans"/>
                <a:ea typeface="Gill Sans"/>
                <a:cs typeface="Gill Sans"/>
                <a:sym typeface="Gill Sans"/>
              </a:rPr>
              <a:t>Médicament A                   Effet a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/>
              <a:buNone/>
            </a:pPr>
            <a:r>
              <a:t/>
            </a:r>
            <a:endParaRPr sz="2800"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/>
              <a:buChar char="•"/>
            </a:pPr>
            <a:r>
              <a:rPr b="1" lang="fr-FR" sz="2800">
                <a:latin typeface="Gill Sans"/>
                <a:ea typeface="Gill Sans"/>
                <a:cs typeface="Gill Sans"/>
                <a:sym typeface="Gill Sans"/>
              </a:rPr>
              <a:t>Médicament B                   Effet b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1" sz="2800"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rPr b="1" lang="fr-FR" sz="2800">
                <a:latin typeface="Gill Sans"/>
                <a:ea typeface="Gill Sans"/>
                <a:cs typeface="Gill Sans"/>
                <a:sym typeface="Gill Sans"/>
              </a:rPr>
              <a:t>Médicament A </a:t>
            </a:r>
            <a:r>
              <a:rPr b="1" lang="fr-FR" sz="4000">
                <a:solidFill>
                  <a:srgbClr val="777E5D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r>
              <a:rPr b="1" lang="fr-FR" sz="2800">
                <a:latin typeface="Gill Sans"/>
                <a:ea typeface="Gill Sans"/>
                <a:cs typeface="Gill Sans"/>
                <a:sym typeface="Gill Sans"/>
              </a:rPr>
              <a:t> Médicament B donnent un effet  global c </a:t>
            </a:r>
            <a:r>
              <a:rPr b="1" lang="fr-FR" sz="2800">
                <a:solidFill>
                  <a:srgbClr val="7B7265"/>
                </a:solidFill>
                <a:latin typeface="Gill Sans"/>
                <a:ea typeface="Gill Sans"/>
                <a:cs typeface="Gill Sans"/>
                <a:sym typeface="Gill Sans"/>
              </a:rPr>
              <a:t> &gt; </a:t>
            </a:r>
            <a:r>
              <a:rPr b="1" lang="fr-FR" sz="2800">
                <a:latin typeface="Gill Sans"/>
                <a:ea typeface="Gill Sans"/>
                <a:cs typeface="Gill Sans"/>
                <a:sym typeface="Gill Sans"/>
              </a:rPr>
              <a:t>effet a </a:t>
            </a:r>
            <a:r>
              <a:rPr b="1" lang="fr-FR" sz="4000">
                <a:solidFill>
                  <a:srgbClr val="F9C676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r>
              <a:rPr b="1" lang="fr-FR" sz="2800">
                <a:latin typeface="Gill Sans"/>
                <a:ea typeface="Gill Sans"/>
                <a:cs typeface="Gill Sans"/>
                <a:sym typeface="Gill Sans"/>
              </a:rPr>
              <a:t> effet b</a:t>
            </a:r>
            <a:endParaRPr/>
          </a:p>
        </p:txBody>
      </p:sp>
      <p:cxnSp>
        <p:nvCxnSpPr>
          <p:cNvPr id="511" name="Google Shape;511;p35"/>
          <p:cNvCxnSpPr/>
          <p:nvPr/>
        </p:nvCxnSpPr>
        <p:spPr>
          <a:xfrm>
            <a:off x="3429000" y="3455640"/>
            <a:ext cx="838200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2" name="Google Shape;512;p35"/>
          <p:cNvCxnSpPr/>
          <p:nvPr/>
        </p:nvCxnSpPr>
        <p:spPr>
          <a:xfrm>
            <a:off x="3429000" y="4293840"/>
            <a:ext cx="838200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6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518" name="Google Shape;518;p36"/>
          <p:cNvSpPr txBox="1"/>
          <p:nvPr>
            <p:ph idx="1" type="body"/>
          </p:nvPr>
        </p:nvSpPr>
        <p:spPr>
          <a:xfrm>
            <a:off x="457200" y="2681063"/>
            <a:ext cx="8229600" cy="31242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Exemple :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fr-FR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traitement contre l'hypertension artérielle qui peut associer plusieurs médicaments antihypertenseurs de classes différentes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fr-FR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🡺 majorer leur effet 🡺 réduire plus efficacement l'hypertension artérielle.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7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b="1" lang="fr-FR"/>
              <a:t>LES IM PAR ANTAGONISME</a:t>
            </a:r>
            <a:endParaRPr/>
          </a:p>
        </p:txBody>
      </p:sp>
      <p:sp>
        <p:nvSpPr>
          <p:cNvPr id="524" name="Google Shape;524;p37"/>
          <p:cNvSpPr txBox="1"/>
          <p:nvPr>
            <p:ph idx="1" type="body"/>
          </p:nvPr>
        </p:nvSpPr>
        <p:spPr>
          <a:xfrm>
            <a:off x="457200" y="2431429"/>
            <a:ext cx="8534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Antagonisme = Effets pharmacologiques opposés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fr-FR"/>
              <a:t>Exemples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fr-FR"/>
              <a:t>Levodopa et neuroleptiques: effets opposés sur le système dopaminergique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fr-FR"/>
              <a:t>Insuline et Glucagon : effet  hypoglycémiant et effet  hyperglycémiant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8"/>
          <p:cNvSpPr txBox="1"/>
          <p:nvPr>
            <p:ph type="title"/>
          </p:nvPr>
        </p:nvSpPr>
        <p:spPr>
          <a:xfrm>
            <a:off x="1606045" y="260648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fr-FR"/>
              <a:t>VI- IM PHARMACODYNAMIQUES :</a:t>
            </a:r>
            <a:endParaRPr/>
          </a:p>
        </p:txBody>
      </p:sp>
      <p:sp>
        <p:nvSpPr>
          <p:cNvPr id="530" name="Google Shape;530;p38"/>
          <p:cNvSpPr/>
          <p:nvPr>
            <p:ph idx="12" type="sldNum"/>
          </p:nvPr>
        </p:nvSpPr>
        <p:spPr>
          <a:xfrm>
            <a:off x="8240112" y="6705446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31" name="Google Shape;531;p38"/>
          <p:cNvSpPr/>
          <p:nvPr/>
        </p:nvSpPr>
        <p:spPr>
          <a:xfrm>
            <a:off x="1142976" y="1844824"/>
            <a:ext cx="65722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IMPD se produisant au niveau de la même cible cellulaire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2" name="Google Shape;532;p38"/>
          <p:cNvSpPr txBox="1"/>
          <p:nvPr/>
        </p:nvSpPr>
        <p:spPr>
          <a:xfrm>
            <a:off x="857224" y="2344890"/>
            <a:ext cx="1714512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i="1"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Antagonisme </a:t>
            </a:r>
            <a:endParaRPr/>
          </a:p>
        </p:txBody>
      </p:sp>
      <p:sp>
        <p:nvSpPr>
          <p:cNvPr id="533" name="Google Shape;533;p38"/>
          <p:cNvSpPr/>
          <p:nvPr/>
        </p:nvSpPr>
        <p:spPr>
          <a:xfrm>
            <a:off x="5286380" y="2344890"/>
            <a:ext cx="2874505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Synergie / addition d’effets</a:t>
            </a:r>
            <a:endParaRPr b="1" sz="1800">
              <a:solidFill>
                <a:srgbClr val="C67C0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4" name="Google Shape;534;p38"/>
          <p:cNvSpPr/>
          <p:nvPr/>
        </p:nvSpPr>
        <p:spPr>
          <a:xfrm>
            <a:off x="214282" y="2844956"/>
            <a:ext cx="42148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salbutamol (agoniste B2-adrénergique)   propranolol  (B-bloquant)</a:t>
            </a:r>
            <a:endParaRPr/>
          </a:p>
        </p:txBody>
      </p:sp>
      <p:cxnSp>
        <p:nvCxnSpPr>
          <p:cNvPr id="535" name="Google Shape;535;p38"/>
          <p:cNvCxnSpPr/>
          <p:nvPr/>
        </p:nvCxnSpPr>
        <p:spPr>
          <a:xfrm rot="5400000">
            <a:off x="1250927" y="3951451"/>
            <a:ext cx="785818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36" name="Google Shape;536;p38"/>
          <p:cNvSpPr txBox="1"/>
          <p:nvPr/>
        </p:nvSpPr>
        <p:spPr>
          <a:xfrm>
            <a:off x="1785918" y="3559336"/>
            <a:ext cx="18710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Compétition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B adrénergique </a:t>
            </a:r>
            <a:endParaRPr/>
          </a:p>
        </p:txBody>
      </p:sp>
      <p:sp>
        <p:nvSpPr>
          <p:cNvPr id="537" name="Google Shape;537;p38"/>
          <p:cNvSpPr/>
          <p:nvPr/>
        </p:nvSpPr>
        <p:spPr>
          <a:xfrm>
            <a:off x="357158" y="4630906"/>
            <a:ext cx="2605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effet bronchodilatateur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du salbutamol </a:t>
            </a:r>
            <a:endParaRPr/>
          </a:p>
        </p:txBody>
      </p:sp>
      <p:sp>
        <p:nvSpPr>
          <p:cNvPr id="538" name="Google Shape;538;p38"/>
          <p:cNvSpPr/>
          <p:nvPr/>
        </p:nvSpPr>
        <p:spPr>
          <a:xfrm>
            <a:off x="4572000" y="2916394"/>
            <a:ext cx="457200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addition d’ EII  parasympatolytiques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antagonisme R cholinergique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anti cholinergiques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(bradycardie, sécheresse buccale 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constipation ….)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Antihistaminiques ( cetirizine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Antiparkinsoniens  (Trihexyphénydile)</a:t>
            </a:r>
            <a:endParaRPr/>
          </a:p>
        </p:txBody>
      </p:sp>
      <p:cxnSp>
        <p:nvCxnSpPr>
          <p:cNvPr id="539" name="Google Shape;539;p38"/>
          <p:cNvCxnSpPr/>
          <p:nvPr/>
        </p:nvCxnSpPr>
        <p:spPr>
          <a:xfrm rot="5400000">
            <a:off x="6215868" y="4272922"/>
            <a:ext cx="285752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0" name="Google Shape;540;p38"/>
          <p:cNvCxnSpPr/>
          <p:nvPr/>
        </p:nvCxnSpPr>
        <p:spPr>
          <a:xfrm rot="5400000">
            <a:off x="6180149" y="5165897"/>
            <a:ext cx="500066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41" name="Google Shape;541;p38"/>
          <p:cNvSpPr txBox="1"/>
          <p:nvPr/>
        </p:nvSpPr>
        <p:spPr>
          <a:xfrm>
            <a:off x="4714876" y="6131104"/>
            <a:ext cx="3866058" cy="584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En plus de leurs actions ces deux médicaments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agissent sur les récepteur cholinergiques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9"/>
          <p:cNvSpPr txBox="1"/>
          <p:nvPr>
            <p:ph type="title"/>
          </p:nvPr>
        </p:nvSpPr>
        <p:spPr>
          <a:xfrm>
            <a:off x="500034" y="0"/>
            <a:ext cx="8229600" cy="9144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fr-FR"/>
              <a:t>VI- IM PHARMACODYNAMIQUES :</a:t>
            </a:r>
            <a:endParaRPr/>
          </a:p>
        </p:txBody>
      </p:sp>
      <p:sp>
        <p:nvSpPr>
          <p:cNvPr id="547" name="Google Shape;547;p39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48" name="Google Shape;548;p39"/>
          <p:cNvSpPr/>
          <p:nvPr/>
        </p:nvSpPr>
        <p:spPr>
          <a:xfrm>
            <a:off x="571472" y="1142984"/>
            <a:ext cx="81439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IMPD se produisant au niveau d’un même système, mais par des voies différentes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9" name="Google Shape;549;p39"/>
          <p:cNvSpPr txBox="1"/>
          <p:nvPr/>
        </p:nvSpPr>
        <p:spPr>
          <a:xfrm>
            <a:off x="857224" y="1857364"/>
            <a:ext cx="1714512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i="1"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Antagonisme </a:t>
            </a:r>
            <a:endParaRPr/>
          </a:p>
        </p:txBody>
      </p:sp>
      <p:sp>
        <p:nvSpPr>
          <p:cNvPr id="550" name="Google Shape;550;p39"/>
          <p:cNvSpPr/>
          <p:nvPr/>
        </p:nvSpPr>
        <p:spPr>
          <a:xfrm>
            <a:off x="5286380" y="1857364"/>
            <a:ext cx="2874505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Synergie / addition d’effets</a:t>
            </a:r>
            <a:endParaRPr b="1" sz="1800">
              <a:solidFill>
                <a:srgbClr val="C67C0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1" name="Google Shape;551;p39"/>
          <p:cNvSpPr txBox="1"/>
          <p:nvPr/>
        </p:nvSpPr>
        <p:spPr>
          <a:xfrm>
            <a:off x="642910" y="2571744"/>
            <a:ext cx="277768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Insuline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hypo glycémiante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(-) libération glucose/ foie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Glucagon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Hyper glycémiant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(+) libération glucose / foie </a:t>
            </a:r>
            <a:endParaRPr/>
          </a:p>
        </p:txBody>
      </p:sp>
      <p:sp>
        <p:nvSpPr>
          <p:cNvPr id="552" name="Google Shape;552;p39"/>
          <p:cNvSpPr txBox="1"/>
          <p:nvPr/>
        </p:nvSpPr>
        <p:spPr>
          <a:xfrm>
            <a:off x="4929190" y="2571744"/>
            <a:ext cx="299453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↑↑  risque d’hémorragie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antocoagulants : anti vit 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-AINS : aspirine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553" name="Google Shape;553;p39"/>
          <p:cNvCxnSpPr/>
          <p:nvPr/>
        </p:nvCxnSpPr>
        <p:spPr>
          <a:xfrm rot="5400000">
            <a:off x="1822431" y="3392487"/>
            <a:ext cx="214314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4" name="Google Shape;554;p39"/>
          <p:cNvCxnSpPr/>
          <p:nvPr/>
        </p:nvCxnSpPr>
        <p:spPr>
          <a:xfrm rot="5400000">
            <a:off x="1750993" y="4392619"/>
            <a:ext cx="214314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0"/>
          <p:cNvSpPr txBox="1"/>
          <p:nvPr>
            <p:ph type="title"/>
          </p:nvPr>
        </p:nvSpPr>
        <p:spPr>
          <a:xfrm>
            <a:off x="1606045" y="47667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fr-FR"/>
              <a:t>VI- IM PHARMACODYNAMIQUES :</a:t>
            </a:r>
            <a:endParaRPr/>
          </a:p>
        </p:txBody>
      </p:sp>
      <p:sp>
        <p:nvSpPr>
          <p:cNvPr id="561" name="Google Shape;561;p40"/>
          <p:cNvSpPr/>
          <p:nvPr>
            <p:ph idx="12" type="sldNum"/>
          </p:nvPr>
        </p:nvSpPr>
        <p:spPr>
          <a:xfrm>
            <a:off x="8240112" y="63093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62" name="Google Shape;562;p40"/>
          <p:cNvSpPr/>
          <p:nvPr/>
        </p:nvSpPr>
        <p:spPr>
          <a:xfrm>
            <a:off x="1428728" y="2090519"/>
            <a:ext cx="66437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IMPD se produisant au niveau de deux systèmes différents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3" name="Google Shape;563;p40"/>
          <p:cNvSpPr txBox="1"/>
          <p:nvPr/>
        </p:nvSpPr>
        <p:spPr>
          <a:xfrm>
            <a:off x="3500430" y="4876601"/>
            <a:ext cx="1714512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i="1"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Antagonisme </a:t>
            </a:r>
            <a:endParaRPr/>
          </a:p>
        </p:txBody>
      </p:sp>
      <p:sp>
        <p:nvSpPr>
          <p:cNvPr id="564" name="Google Shape;564;p40"/>
          <p:cNvSpPr/>
          <p:nvPr/>
        </p:nvSpPr>
        <p:spPr>
          <a:xfrm>
            <a:off x="3071802" y="2804899"/>
            <a:ext cx="2874505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-FR" sz="1800">
                <a:solidFill>
                  <a:srgbClr val="C67C07"/>
                </a:solidFill>
                <a:latin typeface="Gill Sans"/>
                <a:ea typeface="Gill Sans"/>
                <a:cs typeface="Gill Sans"/>
                <a:sym typeface="Gill Sans"/>
              </a:rPr>
              <a:t>Synergie / addition d’effets</a:t>
            </a:r>
            <a:endParaRPr b="1" sz="1800">
              <a:solidFill>
                <a:srgbClr val="C67C0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5" name="Google Shape;565;p40"/>
          <p:cNvSpPr/>
          <p:nvPr/>
        </p:nvSpPr>
        <p:spPr>
          <a:xfrm>
            <a:off x="785786" y="3447841"/>
            <a:ext cx="77867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Augmentation du risque hémorragique des anti-vitamines K  ( anti coagulants) par les antibiotiques qui altèrent la flore bactérienne productrice de vitamine K</a:t>
            </a:r>
            <a:endParaRPr/>
          </a:p>
        </p:txBody>
      </p:sp>
      <p:sp>
        <p:nvSpPr>
          <p:cNvPr id="566" name="Google Shape;566;p40"/>
          <p:cNvSpPr/>
          <p:nvPr/>
        </p:nvSpPr>
        <p:spPr>
          <a:xfrm>
            <a:off x="785786" y="5590981"/>
            <a:ext cx="77153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Les glucocorticoïdes, par leurs effets hyperglycémiants, diminuent l’effet des antidiabétiques oraux (metformine et sulfamides hypoglycémiants)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1"/>
          <p:cNvSpPr txBox="1"/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Gill Sans"/>
              <a:buNone/>
            </a:pPr>
            <a:r>
              <a:rPr lang="fr-FR"/>
              <a:t>CONCLUSION </a:t>
            </a:r>
            <a:endParaRPr/>
          </a:p>
        </p:txBody>
      </p:sp>
      <p:sp>
        <p:nvSpPr>
          <p:cNvPr id="572" name="Google Shape;572;p41"/>
          <p:cNvSpPr/>
          <p:nvPr>
            <p:ph idx="12" type="sldNum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73" name="Google Shape;573;p41"/>
          <p:cNvSpPr/>
          <p:nvPr/>
        </p:nvSpPr>
        <p:spPr>
          <a:xfrm>
            <a:off x="428596" y="2623552"/>
            <a:ext cx="828680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Le danger de ces  associations (toxicité, inefficacité) et leur mécanisme cinétique et/ou dynamique doivent donc être connus de l'odontologiste, afin que ses prescriptions ne mettent pas en péril la vie de ses patients et n'engagent pas sa responsabilité morale et médico-légale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2020-12-24T08:01:35Z</dcterms:created>
  <dc:creator>tassili</dc:creator>
</cp:coreProperties>
</file>