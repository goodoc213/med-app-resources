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62" r:id="rId3"/>
    <p:sldId id="273" r:id="rId4"/>
    <p:sldId id="258" r:id="rId5"/>
    <p:sldId id="259" r:id="rId6"/>
    <p:sldId id="260" r:id="rId7"/>
    <p:sldId id="261" r:id="rId8"/>
    <p:sldId id="263" r:id="rId9"/>
    <p:sldId id="266" r:id="rId10"/>
    <p:sldId id="267" r:id="rId11"/>
    <p:sldId id="264" r:id="rId12"/>
    <p:sldId id="268" r:id="rId13"/>
    <p:sldId id="265" r:id="rId14"/>
    <p:sldId id="270" r:id="rId15"/>
    <p:sldId id="269" r:id="rId16"/>
    <p:sldId id="272" r:id="rId17"/>
    <p:sldId id="275" r:id="rId18"/>
    <p:sldId id="276" r:id="rId19"/>
    <p:sldId id="278" r:id="rId20"/>
    <p:sldId id="277"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609" autoAdjust="0"/>
  </p:normalViewPr>
  <p:slideViewPr>
    <p:cSldViewPr>
      <p:cViewPr varScale="1">
        <p:scale>
          <a:sx n="71" d="100"/>
          <a:sy n="71" d="100"/>
        </p:scale>
        <p:origin x="17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0A50C6-86E9-475C-BCB6-5AE144F034CD}" type="doc">
      <dgm:prSet loTypeId="urn:microsoft.com/office/officeart/2005/8/layout/hList1" loCatId="list" qsTypeId="urn:microsoft.com/office/officeart/2005/8/quickstyle/simple2" qsCatId="simple" csTypeId="urn:microsoft.com/office/officeart/2005/8/colors/accent2_1" csCatId="accent2" phldr="1"/>
      <dgm:spPr/>
      <dgm:t>
        <a:bodyPr/>
        <a:lstStyle/>
        <a:p>
          <a:endParaRPr lang="fr-FR"/>
        </a:p>
      </dgm:t>
    </dgm:pt>
    <dgm:pt modelId="{F8696EDC-851B-4531-B1DE-ABD7E330217C}">
      <dgm:prSet phldrT="[Texte]" custT="1"/>
      <dgm:spPr/>
      <dgm:t>
        <a:bodyPr/>
        <a:lstStyle/>
        <a:p>
          <a:pPr algn="l"/>
          <a:r>
            <a:rPr lang="fr-FR" sz="1400" b="1" dirty="0">
              <a:solidFill>
                <a:schemeClr val="accent2">
                  <a:lumMod val="50000"/>
                </a:schemeClr>
              </a:solidFill>
            </a:rPr>
            <a:t>Oxydation: microsomes CYP450 </a:t>
          </a:r>
        </a:p>
      </dgm:t>
    </dgm:pt>
    <dgm:pt modelId="{71793F14-4B78-4732-9011-4DA2D0070A86}" type="parTrans" cxnId="{E7FDF15B-6A13-4BC6-80AE-2FE2062DAEB4}">
      <dgm:prSet/>
      <dgm:spPr/>
      <dgm:t>
        <a:bodyPr/>
        <a:lstStyle/>
        <a:p>
          <a:endParaRPr lang="fr-FR"/>
        </a:p>
      </dgm:t>
    </dgm:pt>
    <dgm:pt modelId="{460BDC22-E151-430A-817A-004E05532F78}" type="sibTrans" cxnId="{E7FDF15B-6A13-4BC6-80AE-2FE2062DAEB4}">
      <dgm:prSet/>
      <dgm:spPr/>
      <dgm:t>
        <a:bodyPr/>
        <a:lstStyle/>
        <a:p>
          <a:endParaRPr lang="fr-FR"/>
        </a:p>
      </dgm:t>
    </dgm:pt>
    <dgm:pt modelId="{5A42E326-D8B6-436C-A65E-9DADE3378C90}">
      <dgm:prSet phldrT="[Texte]" custT="1"/>
      <dgm:spPr/>
      <dgm:t>
        <a:bodyPr/>
        <a:lstStyle/>
        <a:p>
          <a:r>
            <a:rPr lang="fr-FR" sz="1400" b="1" dirty="0">
              <a:solidFill>
                <a:schemeClr val="accent2">
                  <a:lumMod val="50000"/>
                </a:schemeClr>
              </a:solidFill>
            </a:rPr>
            <a:t>Réduction: Peu explorée</a:t>
          </a:r>
        </a:p>
      </dgm:t>
    </dgm:pt>
    <dgm:pt modelId="{96DF0009-0233-4DA3-ABDF-221469C0DE81}" type="parTrans" cxnId="{61751B52-14D3-43AE-8C07-1DA00537FB9B}">
      <dgm:prSet/>
      <dgm:spPr/>
      <dgm:t>
        <a:bodyPr/>
        <a:lstStyle/>
        <a:p>
          <a:endParaRPr lang="fr-FR"/>
        </a:p>
      </dgm:t>
    </dgm:pt>
    <dgm:pt modelId="{1ECF4BCB-1592-4D66-89A0-6E3BA5847555}" type="sibTrans" cxnId="{61751B52-14D3-43AE-8C07-1DA00537FB9B}">
      <dgm:prSet/>
      <dgm:spPr/>
      <dgm:t>
        <a:bodyPr/>
        <a:lstStyle/>
        <a:p>
          <a:endParaRPr lang="fr-FR"/>
        </a:p>
      </dgm:t>
    </dgm:pt>
    <dgm:pt modelId="{5AD8D454-CEC2-42CD-97EF-EF0EF99BB5C4}">
      <dgm:prSet phldrT="[Texte]" custT="1"/>
      <dgm:spPr/>
      <dgm:t>
        <a:bodyPr/>
        <a:lstStyle/>
        <a:p>
          <a:r>
            <a:rPr lang="fr-FR" sz="1400" b="1" dirty="0">
              <a:solidFill>
                <a:schemeClr val="accent2">
                  <a:lumMod val="50000"/>
                </a:schemeClr>
              </a:solidFill>
            </a:rPr>
            <a:t>Hydrolyse: Organes + Plasma</a:t>
          </a:r>
        </a:p>
      </dgm:t>
    </dgm:pt>
    <dgm:pt modelId="{5806A148-33AE-47CB-B2C9-6D494EDA1E9A}" type="parTrans" cxnId="{82EA3780-6660-43EF-8729-0758E767CBD0}">
      <dgm:prSet/>
      <dgm:spPr/>
      <dgm:t>
        <a:bodyPr/>
        <a:lstStyle/>
        <a:p>
          <a:endParaRPr lang="fr-FR"/>
        </a:p>
      </dgm:t>
    </dgm:pt>
    <dgm:pt modelId="{54877FDA-0D0B-4BA3-A53E-67B60B1D075B}" type="sibTrans" cxnId="{82EA3780-6660-43EF-8729-0758E767CBD0}">
      <dgm:prSet/>
      <dgm:spPr/>
      <dgm:t>
        <a:bodyPr/>
        <a:lstStyle/>
        <a:p>
          <a:endParaRPr lang="fr-FR"/>
        </a:p>
      </dgm:t>
    </dgm:pt>
    <dgm:pt modelId="{155AEB09-2420-4DAD-9E58-7A8256457A33}">
      <dgm:prSet custT="1"/>
      <dgm:spPr/>
      <dgm:t>
        <a:bodyPr/>
        <a:lstStyle/>
        <a:p>
          <a:r>
            <a:rPr lang="fr-FR" sz="1600" dirty="0"/>
            <a:t>Foie++++</a:t>
          </a:r>
        </a:p>
      </dgm:t>
    </dgm:pt>
    <dgm:pt modelId="{FA4CE68E-D971-420A-80E7-E451D5BDF56D}" type="parTrans" cxnId="{92318A7F-57BA-49E9-85D2-9D8DC2F61AF1}">
      <dgm:prSet/>
      <dgm:spPr/>
      <dgm:t>
        <a:bodyPr/>
        <a:lstStyle/>
        <a:p>
          <a:endParaRPr lang="fr-FR"/>
        </a:p>
      </dgm:t>
    </dgm:pt>
    <dgm:pt modelId="{2C5220C8-70A4-43B3-810C-2DF0E63A00CA}" type="sibTrans" cxnId="{92318A7F-57BA-49E9-85D2-9D8DC2F61AF1}">
      <dgm:prSet/>
      <dgm:spPr/>
      <dgm:t>
        <a:bodyPr/>
        <a:lstStyle/>
        <a:p>
          <a:endParaRPr lang="fr-FR"/>
        </a:p>
      </dgm:t>
    </dgm:pt>
    <dgm:pt modelId="{E1EDE40D-F675-4167-AF31-95C76A44ADAA}">
      <dgm:prSet custT="1"/>
      <dgm:spPr/>
      <dgm:t>
        <a:bodyPr/>
        <a:lstStyle/>
        <a:p>
          <a:r>
            <a:rPr lang="fr-FR" sz="1600" dirty="0"/>
            <a:t>l’intestin, les reins et les poumons.</a:t>
          </a:r>
        </a:p>
      </dgm:t>
    </dgm:pt>
    <dgm:pt modelId="{10B20CCE-A97B-4567-84EE-C5FC10233DD2}" type="parTrans" cxnId="{F1AB5CA9-1C18-407A-A3BE-312CA4645239}">
      <dgm:prSet/>
      <dgm:spPr/>
      <dgm:t>
        <a:bodyPr/>
        <a:lstStyle/>
        <a:p>
          <a:endParaRPr lang="fr-FR"/>
        </a:p>
      </dgm:t>
    </dgm:pt>
    <dgm:pt modelId="{DE3A0E1C-DF00-4324-8104-F6F4D676F378}" type="sibTrans" cxnId="{F1AB5CA9-1C18-407A-A3BE-312CA4645239}">
      <dgm:prSet/>
      <dgm:spPr/>
      <dgm:t>
        <a:bodyPr/>
        <a:lstStyle/>
        <a:p>
          <a:endParaRPr lang="fr-FR"/>
        </a:p>
      </dgm:t>
    </dgm:pt>
    <dgm:pt modelId="{FF4487A2-8D9E-4365-AF8A-CEC9E5853AFD}">
      <dgm:prSet custT="1"/>
      <dgm:spPr/>
      <dgm:t>
        <a:bodyPr/>
        <a:lstStyle/>
        <a:p>
          <a:pPr algn="just"/>
          <a:r>
            <a:rPr lang="fr-FR" sz="1400" dirty="0"/>
            <a:t>lieu au niveau des organes (rein, foie, intestin, poumon..) par des estérases et des </a:t>
          </a:r>
          <a:r>
            <a:rPr lang="fr-FR" sz="1400" dirty="0" err="1"/>
            <a:t>amidases</a:t>
          </a:r>
          <a:r>
            <a:rPr lang="fr-FR" sz="1400" dirty="0"/>
            <a:t>.</a:t>
          </a:r>
        </a:p>
      </dgm:t>
    </dgm:pt>
    <dgm:pt modelId="{A836C0B4-17FE-4C75-8563-66FFC2EB5488}" type="parTrans" cxnId="{BCA3B83A-420C-405E-ABD8-C4448D85D2CE}">
      <dgm:prSet/>
      <dgm:spPr/>
      <dgm:t>
        <a:bodyPr/>
        <a:lstStyle/>
        <a:p>
          <a:endParaRPr lang="fr-FR"/>
        </a:p>
      </dgm:t>
    </dgm:pt>
    <dgm:pt modelId="{45EA0D95-A07B-4E03-8158-1DA180FCB2BF}" type="sibTrans" cxnId="{BCA3B83A-420C-405E-ABD8-C4448D85D2CE}">
      <dgm:prSet/>
      <dgm:spPr/>
      <dgm:t>
        <a:bodyPr/>
        <a:lstStyle/>
        <a:p>
          <a:endParaRPr lang="fr-FR"/>
        </a:p>
      </dgm:t>
    </dgm:pt>
    <dgm:pt modelId="{FB7AD10A-FDFE-4600-8573-B0897D48CA69}">
      <dgm:prSet custT="1"/>
      <dgm:spPr/>
      <dgm:t>
        <a:bodyPr/>
        <a:lstStyle/>
        <a:p>
          <a:pPr algn="just"/>
          <a:r>
            <a:rPr lang="fr-FR" sz="1400" dirty="0"/>
            <a:t> Les protéases des sucs digestifs hydrolysent les médicaments de structure peptidique (insuline)</a:t>
          </a:r>
        </a:p>
      </dgm:t>
    </dgm:pt>
    <dgm:pt modelId="{3EC2FF6E-7D52-491C-ACAD-19834602E95B}" type="parTrans" cxnId="{DF16CB36-1AEC-49C3-9ABC-BB2B7CCB5216}">
      <dgm:prSet/>
      <dgm:spPr/>
      <dgm:t>
        <a:bodyPr/>
        <a:lstStyle/>
        <a:p>
          <a:endParaRPr lang="fr-FR"/>
        </a:p>
      </dgm:t>
    </dgm:pt>
    <dgm:pt modelId="{865CF799-DFF7-45ED-ACF2-6A84820E6EBC}" type="sibTrans" cxnId="{DF16CB36-1AEC-49C3-9ABC-BB2B7CCB5216}">
      <dgm:prSet/>
      <dgm:spPr/>
      <dgm:t>
        <a:bodyPr/>
        <a:lstStyle/>
        <a:p>
          <a:endParaRPr lang="fr-FR"/>
        </a:p>
      </dgm:t>
    </dgm:pt>
    <dgm:pt modelId="{00D5C728-BB61-44AD-BE93-22517C8281B5}">
      <dgm:prSet custT="1"/>
      <dgm:spPr/>
      <dgm:t>
        <a:bodyPr/>
        <a:lstStyle/>
        <a:p>
          <a:r>
            <a:rPr lang="fr-FR" sz="1400" dirty="0">
              <a:solidFill>
                <a:srgbClr val="FF0000"/>
              </a:solidFill>
            </a:rPr>
            <a:t>Non spé et chevauchante </a:t>
          </a:r>
        </a:p>
      </dgm:t>
    </dgm:pt>
    <dgm:pt modelId="{F00A6FA1-D52B-4E29-B28D-2887742D2832}" type="parTrans" cxnId="{37721786-8502-4452-91AB-331D7A30E312}">
      <dgm:prSet/>
      <dgm:spPr/>
      <dgm:t>
        <a:bodyPr/>
        <a:lstStyle/>
        <a:p>
          <a:endParaRPr lang="fr-FR"/>
        </a:p>
      </dgm:t>
    </dgm:pt>
    <dgm:pt modelId="{491672F4-E308-4EC2-B328-27AEBDBE5333}" type="sibTrans" cxnId="{37721786-8502-4452-91AB-331D7A30E312}">
      <dgm:prSet/>
      <dgm:spPr/>
      <dgm:t>
        <a:bodyPr/>
        <a:lstStyle/>
        <a:p>
          <a:endParaRPr lang="fr-FR"/>
        </a:p>
      </dgm:t>
    </dgm:pt>
    <dgm:pt modelId="{92E7D40A-186A-43B4-AE1C-FD3F95BC024B}" type="pres">
      <dgm:prSet presAssocID="{660A50C6-86E9-475C-BCB6-5AE144F034CD}" presName="Name0" presStyleCnt="0">
        <dgm:presLayoutVars>
          <dgm:dir/>
          <dgm:animLvl val="lvl"/>
          <dgm:resizeHandles val="exact"/>
        </dgm:presLayoutVars>
      </dgm:prSet>
      <dgm:spPr/>
    </dgm:pt>
    <dgm:pt modelId="{7737EA01-AA9F-4424-99F3-3EC962C98760}" type="pres">
      <dgm:prSet presAssocID="{F8696EDC-851B-4531-B1DE-ABD7E330217C}" presName="composite" presStyleCnt="0"/>
      <dgm:spPr/>
    </dgm:pt>
    <dgm:pt modelId="{364B7FE9-E30A-4EFF-9743-A0093886CA15}" type="pres">
      <dgm:prSet presAssocID="{F8696EDC-851B-4531-B1DE-ABD7E330217C}" presName="parTx" presStyleLbl="alignNode1" presStyleIdx="0" presStyleCnt="3" custScaleX="131428" custScaleY="75474" custLinFactNeighborX="-2947" custLinFactNeighborY="-29017">
        <dgm:presLayoutVars>
          <dgm:chMax val="0"/>
          <dgm:chPref val="0"/>
          <dgm:bulletEnabled val="1"/>
        </dgm:presLayoutVars>
      </dgm:prSet>
      <dgm:spPr/>
    </dgm:pt>
    <dgm:pt modelId="{95DA7664-1218-449E-9059-C48FC707A2F6}" type="pres">
      <dgm:prSet presAssocID="{F8696EDC-851B-4531-B1DE-ABD7E330217C}" presName="desTx" presStyleLbl="alignAccFollowNode1" presStyleIdx="0" presStyleCnt="3" custScaleX="129589">
        <dgm:presLayoutVars>
          <dgm:bulletEnabled val="1"/>
        </dgm:presLayoutVars>
      </dgm:prSet>
      <dgm:spPr/>
    </dgm:pt>
    <dgm:pt modelId="{F79787A2-5A6B-4300-B75F-7E1DA8820B96}" type="pres">
      <dgm:prSet presAssocID="{460BDC22-E151-430A-817A-004E05532F78}" presName="space" presStyleCnt="0"/>
      <dgm:spPr/>
    </dgm:pt>
    <dgm:pt modelId="{8C6C9A96-FA69-4182-85A3-984D2CD3DD7A}" type="pres">
      <dgm:prSet presAssocID="{5A42E326-D8B6-436C-A65E-9DADE3378C90}" presName="composite" presStyleCnt="0"/>
      <dgm:spPr/>
    </dgm:pt>
    <dgm:pt modelId="{08E81708-C8D1-4F90-942E-DD2A2525E2F3}" type="pres">
      <dgm:prSet presAssocID="{5A42E326-D8B6-436C-A65E-9DADE3378C90}" presName="parTx" presStyleLbl="alignNode1" presStyleIdx="1" presStyleCnt="3" custScaleX="65461" custScaleY="51496" custLinFactNeighborX="-2171" custLinFactNeighborY="-5928">
        <dgm:presLayoutVars>
          <dgm:chMax val="0"/>
          <dgm:chPref val="0"/>
          <dgm:bulletEnabled val="1"/>
        </dgm:presLayoutVars>
      </dgm:prSet>
      <dgm:spPr/>
    </dgm:pt>
    <dgm:pt modelId="{0DB1899E-4B34-42E6-979B-A7CD73AF67D7}" type="pres">
      <dgm:prSet presAssocID="{5A42E326-D8B6-436C-A65E-9DADE3378C90}" presName="desTx" presStyleLbl="alignAccFollowNode1" presStyleIdx="1" presStyleCnt="3" custScaleX="50584" custLinFactNeighborX="-4680" custLinFactNeighborY="7342">
        <dgm:presLayoutVars>
          <dgm:bulletEnabled val="1"/>
        </dgm:presLayoutVars>
      </dgm:prSet>
      <dgm:spPr/>
    </dgm:pt>
    <dgm:pt modelId="{B9E468BA-E8C9-4460-9B5D-DDB437E89253}" type="pres">
      <dgm:prSet presAssocID="{1ECF4BCB-1592-4D66-89A0-6E3BA5847555}" presName="space" presStyleCnt="0"/>
      <dgm:spPr/>
    </dgm:pt>
    <dgm:pt modelId="{70D2945D-D233-472D-A0ED-B7296781297C}" type="pres">
      <dgm:prSet presAssocID="{5AD8D454-CEC2-42CD-97EF-EF0EF99BB5C4}" presName="composite" presStyleCnt="0"/>
      <dgm:spPr/>
    </dgm:pt>
    <dgm:pt modelId="{3C30B531-C206-4185-8D37-0B752DA03BB4}" type="pres">
      <dgm:prSet presAssocID="{5AD8D454-CEC2-42CD-97EF-EF0EF99BB5C4}" presName="parTx" presStyleLbl="alignNode1" presStyleIdx="2" presStyleCnt="3" custScaleY="80112">
        <dgm:presLayoutVars>
          <dgm:chMax val="0"/>
          <dgm:chPref val="0"/>
          <dgm:bulletEnabled val="1"/>
        </dgm:presLayoutVars>
      </dgm:prSet>
      <dgm:spPr/>
    </dgm:pt>
    <dgm:pt modelId="{9D6D2EFF-17FD-4F95-930A-A6902FC19180}" type="pres">
      <dgm:prSet presAssocID="{5AD8D454-CEC2-42CD-97EF-EF0EF99BB5C4}" presName="desTx" presStyleLbl="alignAccFollowNode1" presStyleIdx="2" presStyleCnt="3" custLinFactNeighborX="-939" custLinFactNeighborY="4721">
        <dgm:presLayoutVars>
          <dgm:bulletEnabled val="1"/>
        </dgm:presLayoutVars>
      </dgm:prSet>
      <dgm:spPr/>
    </dgm:pt>
  </dgm:ptLst>
  <dgm:cxnLst>
    <dgm:cxn modelId="{9B5FF913-4D61-46E2-83C5-0517650A72E6}" type="presOf" srcId="{5A42E326-D8B6-436C-A65E-9DADE3378C90}" destId="{08E81708-C8D1-4F90-942E-DD2A2525E2F3}" srcOrd="0" destOrd="0" presId="urn:microsoft.com/office/officeart/2005/8/layout/hList1"/>
    <dgm:cxn modelId="{DF16CB36-1AEC-49C3-9ABC-BB2B7CCB5216}" srcId="{5AD8D454-CEC2-42CD-97EF-EF0EF99BB5C4}" destId="{FB7AD10A-FDFE-4600-8573-B0897D48CA69}" srcOrd="1" destOrd="0" parTransId="{3EC2FF6E-7D52-491C-ACAD-19834602E95B}" sibTransId="{865CF799-DFF7-45ED-ACF2-6A84820E6EBC}"/>
    <dgm:cxn modelId="{BCA3B83A-420C-405E-ABD8-C4448D85D2CE}" srcId="{5AD8D454-CEC2-42CD-97EF-EF0EF99BB5C4}" destId="{FF4487A2-8D9E-4365-AF8A-CEC9E5853AFD}" srcOrd="0" destOrd="0" parTransId="{A836C0B4-17FE-4C75-8563-66FFC2EB5488}" sibTransId="{45EA0D95-A07B-4E03-8158-1DA180FCB2BF}"/>
    <dgm:cxn modelId="{69485B3E-F631-400C-AF57-0787444797B1}" type="presOf" srcId="{155AEB09-2420-4DAD-9E58-7A8256457A33}" destId="{95DA7664-1218-449E-9059-C48FC707A2F6}" srcOrd="0" destOrd="0" presId="urn:microsoft.com/office/officeart/2005/8/layout/hList1"/>
    <dgm:cxn modelId="{E7FDF15B-6A13-4BC6-80AE-2FE2062DAEB4}" srcId="{660A50C6-86E9-475C-BCB6-5AE144F034CD}" destId="{F8696EDC-851B-4531-B1DE-ABD7E330217C}" srcOrd="0" destOrd="0" parTransId="{71793F14-4B78-4732-9011-4DA2D0070A86}" sibTransId="{460BDC22-E151-430A-817A-004E05532F78}"/>
    <dgm:cxn modelId="{61751B52-14D3-43AE-8C07-1DA00537FB9B}" srcId="{660A50C6-86E9-475C-BCB6-5AE144F034CD}" destId="{5A42E326-D8B6-436C-A65E-9DADE3378C90}" srcOrd="1" destOrd="0" parTransId="{96DF0009-0233-4DA3-ABDF-221469C0DE81}" sibTransId="{1ECF4BCB-1592-4D66-89A0-6E3BA5847555}"/>
    <dgm:cxn modelId="{92318A7F-57BA-49E9-85D2-9D8DC2F61AF1}" srcId="{F8696EDC-851B-4531-B1DE-ABD7E330217C}" destId="{155AEB09-2420-4DAD-9E58-7A8256457A33}" srcOrd="0" destOrd="0" parTransId="{FA4CE68E-D971-420A-80E7-E451D5BDF56D}" sibTransId="{2C5220C8-70A4-43B3-810C-2DF0E63A00CA}"/>
    <dgm:cxn modelId="{82EA3780-6660-43EF-8729-0758E767CBD0}" srcId="{660A50C6-86E9-475C-BCB6-5AE144F034CD}" destId="{5AD8D454-CEC2-42CD-97EF-EF0EF99BB5C4}" srcOrd="2" destOrd="0" parTransId="{5806A148-33AE-47CB-B2C9-6D494EDA1E9A}" sibTransId="{54877FDA-0D0B-4BA3-A53E-67B60B1D075B}"/>
    <dgm:cxn modelId="{37721786-8502-4452-91AB-331D7A30E312}" srcId="{F8696EDC-851B-4531-B1DE-ABD7E330217C}" destId="{00D5C728-BB61-44AD-BE93-22517C8281B5}" srcOrd="2" destOrd="0" parTransId="{F00A6FA1-D52B-4E29-B28D-2887742D2832}" sibTransId="{491672F4-E308-4EC2-B328-27AEBDBE5333}"/>
    <dgm:cxn modelId="{9758E490-38D4-4AFB-8E3C-567C140EA6E4}" type="presOf" srcId="{5AD8D454-CEC2-42CD-97EF-EF0EF99BB5C4}" destId="{3C30B531-C206-4185-8D37-0B752DA03BB4}" srcOrd="0" destOrd="0" presId="urn:microsoft.com/office/officeart/2005/8/layout/hList1"/>
    <dgm:cxn modelId="{AE8E889C-11C0-4018-9AEB-17A4CABADF2B}" type="presOf" srcId="{F8696EDC-851B-4531-B1DE-ABD7E330217C}" destId="{364B7FE9-E30A-4EFF-9743-A0093886CA15}" srcOrd="0" destOrd="0" presId="urn:microsoft.com/office/officeart/2005/8/layout/hList1"/>
    <dgm:cxn modelId="{F1AB5CA9-1C18-407A-A3BE-312CA4645239}" srcId="{F8696EDC-851B-4531-B1DE-ABD7E330217C}" destId="{E1EDE40D-F675-4167-AF31-95C76A44ADAA}" srcOrd="1" destOrd="0" parTransId="{10B20CCE-A97B-4567-84EE-C5FC10233DD2}" sibTransId="{DE3A0E1C-DF00-4324-8104-F6F4D676F378}"/>
    <dgm:cxn modelId="{134866BC-9899-4E5D-84CF-D97050FA9EBB}" type="presOf" srcId="{00D5C728-BB61-44AD-BE93-22517C8281B5}" destId="{95DA7664-1218-449E-9059-C48FC707A2F6}" srcOrd="0" destOrd="2" presId="urn:microsoft.com/office/officeart/2005/8/layout/hList1"/>
    <dgm:cxn modelId="{8D3982C5-6E33-4DB9-BB29-1B0CFF875DD7}" type="presOf" srcId="{E1EDE40D-F675-4167-AF31-95C76A44ADAA}" destId="{95DA7664-1218-449E-9059-C48FC707A2F6}" srcOrd="0" destOrd="1" presId="urn:microsoft.com/office/officeart/2005/8/layout/hList1"/>
    <dgm:cxn modelId="{1EFB12CF-FD8A-4EB3-A67F-AEE0F7693882}" type="presOf" srcId="{660A50C6-86E9-475C-BCB6-5AE144F034CD}" destId="{92E7D40A-186A-43B4-AE1C-FD3F95BC024B}" srcOrd="0" destOrd="0" presId="urn:microsoft.com/office/officeart/2005/8/layout/hList1"/>
    <dgm:cxn modelId="{FF249DDD-FDDD-4C6F-9C1A-B8363AA93E44}" type="presOf" srcId="{FB7AD10A-FDFE-4600-8573-B0897D48CA69}" destId="{9D6D2EFF-17FD-4F95-930A-A6902FC19180}" srcOrd="0" destOrd="1" presId="urn:microsoft.com/office/officeart/2005/8/layout/hList1"/>
    <dgm:cxn modelId="{D67DD7FC-6034-44EB-8A32-C8C1D0B9FA06}" type="presOf" srcId="{FF4487A2-8D9E-4365-AF8A-CEC9E5853AFD}" destId="{9D6D2EFF-17FD-4F95-930A-A6902FC19180}" srcOrd="0" destOrd="0" presId="urn:microsoft.com/office/officeart/2005/8/layout/hList1"/>
    <dgm:cxn modelId="{F67AF62C-1F33-4591-8E29-AF89AF794B45}" type="presParOf" srcId="{92E7D40A-186A-43B4-AE1C-FD3F95BC024B}" destId="{7737EA01-AA9F-4424-99F3-3EC962C98760}" srcOrd="0" destOrd="0" presId="urn:microsoft.com/office/officeart/2005/8/layout/hList1"/>
    <dgm:cxn modelId="{A1CE28E0-17DE-4013-8297-9E7B9C1C1507}" type="presParOf" srcId="{7737EA01-AA9F-4424-99F3-3EC962C98760}" destId="{364B7FE9-E30A-4EFF-9743-A0093886CA15}" srcOrd="0" destOrd="0" presId="urn:microsoft.com/office/officeart/2005/8/layout/hList1"/>
    <dgm:cxn modelId="{15509B4C-1DAB-461A-B1C0-7EF314B2A16A}" type="presParOf" srcId="{7737EA01-AA9F-4424-99F3-3EC962C98760}" destId="{95DA7664-1218-449E-9059-C48FC707A2F6}" srcOrd="1" destOrd="0" presId="urn:microsoft.com/office/officeart/2005/8/layout/hList1"/>
    <dgm:cxn modelId="{2D176F1F-DEDF-48B2-A1D4-B4E416AE1747}" type="presParOf" srcId="{92E7D40A-186A-43B4-AE1C-FD3F95BC024B}" destId="{F79787A2-5A6B-4300-B75F-7E1DA8820B96}" srcOrd="1" destOrd="0" presId="urn:microsoft.com/office/officeart/2005/8/layout/hList1"/>
    <dgm:cxn modelId="{E1E56E3A-5DAD-4CE7-B847-FE91D33D9F0C}" type="presParOf" srcId="{92E7D40A-186A-43B4-AE1C-FD3F95BC024B}" destId="{8C6C9A96-FA69-4182-85A3-984D2CD3DD7A}" srcOrd="2" destOrd="0" presId="urn:microsoft.com/office/officeart/2005/8/layout/hList1"/>
    <dgm:cxn modelId="{D92152AE-6BB3-4E84-BA8B-F0D1C451EB7B}" type="presParOf" srcId="{8C6C9A96-FA69-4182-85A3-984D2CD3DD7A}" destId="{08E81708-C8D1-4F90-942E-DD2A2525E2F3}" srcOrd="0" destOrd="0" presId="urn:microsoft.com/office/officeart/2005/8/layout/hList1"/>
    <dgm:cxn modelId="{7DEA5F43-2E79-41A7-B3A2-760745A6F4AF}" type="presParOf" srcId="{8C6C9A96-FA69-4182-85A3-984D2CD3DD7A}" destId="{0DB1899E-4B34-42E6-979B-A7CD73AF67D7}" srcOrd="1" destOrd="0" presId="urn:microsoft.com/office/officeart/2005/8/layout/hList1"/>
    <dgm:cxn modelId="{5D78AFAD-2FF6-4EC8-A564-258F8622ADA9}" type="presParOf" srcId="{92E7D40A-186A-43B4-AE1C-FD3F95BC024B}" destId="{B9E468BA-E8C9-4460-9B5D-DDB437E89253}" srcOrd="3" destOrd="0" presId="urn:microsoft.com/office/officeart/2005/8/layout/hList1"/>
    <dgm:cxn modelId="{C7A280BD-A389-4FF6-B077-2BC3044A6C87}" type="presParOf" srcId="{92E7D40A-186A-43B4-AE1C-FD3F95BC024B}" destId="{70D2945D-D233-472D-A0ED-B7296781297C}" srcOrd="4" destOrd="0" presId="urn:microsoft.com/office/officeart/2005/8/layout/hList1"/>
    <dgm:cxn modelId="{477685E0-EC99-437A-A761-9045F28519E0}" type="presParOf" srcId="{70D2945D-D233-472D-A0ED-B7296781297C}" destId="{3C30B531-C206-4185-8D37-0B752DA03BB4}" srcOrd="0" destOrd="0" presId="urn:microsoft.com/office/officeart/2005/8/layout/hList1"/>
    <dgm:cxn modelId="{9528973D-B156-41F1-B98E-96B54F84FAFE}" type="presParOf" srcId="{70D2945D-D233-472D-A0ED-B7296781297C}" destId="{9D6D2EFF-17FD-4F95-930A-A6902FC1918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C275B7-A1DC-4502-A176-FC393964CF17}" type="doc">
      <dgm:prSet loTypeId="urn:microsoft.com/office/officeart/2005/8/layout/cycle6" loCatId="cycle" qsTypeId="urn:microsoft.com/office/officeart/2005/8/quickstyle/simple1" qsCatId="simple" csTypeId="urn:microsoft.com/office/officeart/2005/8/colors/colorful2" csCatId="colorful" phldr="1"/>
      <dgm:spPr/>
      <dgm:t>
        <a:bodyPr/>
        <a:lstStyle/>
        <a:p>
          <a:endParaRPr lang="fr-FR"/>
        </a:p>
      </dgm:t>
    </dgm:pt>
    <dgm:pt modelId="{B6F2361E-3EDA-4961-86FC-5571C2B41197}">
      <dgm:prSet phldrT="[Texte]"/>
      <dgm:spPr/>
      <dgm:t>
        <a:bodyPr/>
        <a:lstStyle/>
        <a:p>
          <a:r>
            <a:rPr lang="fr-FR" dirty="0"/>
            <a:t>Excrétion digestive </a:t>
          </a:r>
        </a:p>
      </dgm:t>
    </dgm:pt>
    <dgm:pt modelId="{F417116C-A291-4049-8D19-1F7A3F5B8EE1}" type="parTrans" cxnId="{D6258EB8-0C4B-42DE-A074-8056F42FADB9}">
      <dgm:prSet/>
      <dgm:spPr/>
      <dgm:t>
        <a:bodyPr/>
        <a:lstStyle/>
        <a:p>
          <a:endParaRPr lang="fr-FR"/>
        </a:p>
      </dgm:t>
    </dgm:pt>
    <dgm:pt modelId="{51AA5DA6-A4E9-4DDF-B7EE-97B2DE9CE5AA}" type="sibTrans" cxnId="{D6258EB8-0C4B-42DE-A074-8056F42FADB9}">
      <dgm:prSet/>
      <dgm:spPr/>
      <dgm:t>
        <a:bodyPr/>
        <a:lstStyle/>
        <a:p>
          <a:endParaRPr lang="fr-FR"/>
        </a:p>
      </dgm:t>
    </dgm:pt>
    <dgm:pt modelId="{B11FE63C-F0A6-4E91-A02A-48C3C42EA1F3}">
      <dgm:prSet phldrT="[Texte]"/>
      <dgm:spPr/>
      <dgm:t>
        <a:bodyPr/>
        <a:lstStyle/>
        <a:p>
          <a:r>
            <a:rPr lang="fr-FR" dirty="0"/>
            <a:t>Excrétion pulmonaire </a:t>
          </a:r>
        </a:p>
      </dgm:t>
    </dgm:pt>
    <dgm:pt modelId="{5809004B-0D53-4F9E-BBC0-14B544714C66}" type="parTrans" cxnId="{850635EC-1825-482D-B504-1BB9308934DC}">
      <dgm:prSet/>
      <dgm:spPr/>
      <dgm:t>
        <a:bodyPr/>
        <a:lstStyle/>
        <a:p>
          <a:endParaRPr lang="fr-FR"/>
        </a:p>
      </dgm:t>
    </dgm:pt>
    <dgm:pt modelId="{F5E0EEC8-7281-4AAE-A501-50C1FF079E80}" type="sibTrans" cxnId="{850635EC-1825-482D-B504-1BB9308934DC}">
      <dgm:prSet/>
      <dgm:spPr/>
      <dgm:t>
        <a:bodyPr/>
        <a:lstStyle/>
        <a:p>
          <a:endParaRPr lang="fr-FR"/>
        </a:p>
      </dgm:t>
    </dgm:pt>
    <dgm:pt modelId="{A5983D97-BD6E-4A05-A05B-4BC28D7F8237}">
      <dgm:prSet phldrT="[Texte]"/>
      <dgm:spPr/>
      <dgm:t>
        <a:bodyPr/>
        <a:lstStyle/>
        <a:p>
          <a:r>
            <a:rPr lang="fr-FR" dirty="0"/>
            <a:t>Excrétion lacrymale</a:t>
          </a:r>
        </a:p>
      </dgm:t>
    </dgm:pt>
    <dgm:pt modelId="{38C1D971-C30F-4FF7-A421-33C4BA8593A7}" type="parTrans" cxnId="{0B102060-5213-48DB-B91B-1F14748040A1}">
      <dgm:prSet/>
      <dgm:spPr/>
      <dgm:t>
        <a:bodyPr/>
        <a:lstStyle/>
        <a:p>
          <a:endParaRPr lang="fr-FR"/>
        </a:p>
      </dgm:t>
    </dgm:pt>
    <dgm:pt modelId="{B3BBBC19-5197-44E4-81A5-7EC9B15CE8D7}" type="sibTrans" cxnId="{0B102060-5213-48DB-B91B-1F14748040A1}">
      <dgm:prSet/>
      <dgm:spPr/>
      <dgm:t>
        <a:bodyPr/>
        <a:lstStyle/>
        <a:p>
          <a:endParaRPr lang="fr-FR"/>
        </a:p>
      </dgm:t>
    </dgm:pt>
    <dgm:pt modelId="{1E681E9D-013A-41C8-A74D-C895E016CC3E}">
      <dgm:prSet phldrT="[Texte]"/>
      <dgm:spPr/>
      <dgm:t>
        <a:bodyPr/>
        <a:lstStyle/>
        <a:p>
          <a:r>
            <a:rPr lang="fr-FR" dirty="0"/>
            <a:t>Excrétion salivaire </a:t>
          </a:r>
        </a:p>
      </dgm:t>
    </dgm:pt>
    <dgm:pt modelId="{7902080B-2DA0-49DD-AB07-F3A11715C420}" type="parTrans" cxnId="{2CF97BEE-F9A5-4460-AC90-00F52D8E42AE}">
      <dgm:prSet/>
      <dgm:spPr/>
      <dgm:t>
        <a:bodyPr/>
        <a:lstStyle/>
        <a:p>
          <a:endParaRPr lang="fr-FR"/>
        </a:p>
      </dgm:t>
    </dgm:pt>
    <dgm:pt modelId="{EDED4C7F-7FCD-4353-8402-872ACB7EE11F}" type="sibTrans" cxnId="{2CF97BEE-F9A5-4460-AC90-00F52D8E42AE}">
      <dgm:prSet/>
      <dgm:spPr/>
      <dgm:t>
        <a:bodyPr/>
        <a:lstStyle/>
        <a:p>
          <a:endParaRPr lang="fr-FR"/>
        </a:p>
      </dgm:t>
    </dgm:pt>
    <dgm:pt modelId="{E75344DC-8FE0-4660-A9F7-0DF36FD7B82F}">
      <dgm:prSet phldrT="[Texte]"/>
      <dgm:spPr/>
      <dgm:t>
        <a:bodyPr/>
        <a:lstStyle/>
        <a:p>
          <a:r>
            <a:rPr lang="fr-FR" dirty="0"/>
            <a:t>Excrétion lactée</a:t>
          </a:r>
        </a:p>
      </dgm:t>
    </dgm:pt>
    <dgm:pt modelId="{175A751A-A865-49AD-88CA-175A9FDD6791}" type="parTrans" cxnId="{8ADC3E79-13AB-4D30-8085-4BE670C8402A}">
      <dgm:prSet/>
      <dgm:spPr/>
      <dgm:t>
        <a:bodyPr/>
        <a:lstStyle/>
        <a:p>
          <a:endParaRPr lang="fr-FR"/>
        </a:p>
      </dgm:t>
    </dgm:pt>
    <dgm:pt modelId="{6252161A-D04B-4FDA-979F-8DE620392306}" type="sibTrans" cxnId="{8ADC3E79-13AB-4D30-8085-4BE670C8402A}">
      <dgm:prSet/>
      <dgm:spPr/>
      <dgm:t>
        <a:bodyPr/>
        <a:lstStyle/>
        <a:p>
          <a:endParaRPr lang="fr-FR"/>
        </a:p>
      </dgm:t>
    </dgm:pt>
    <dgm:pt modelId="{A200DC81-0E4E-4139-993E-C34B4DC96C6F}" type="pres">
      <dgm:prSet presAssocID="{34C275B7-A1DC-4502-A176-FC393964CF17}" presName="cycle" presStyleCnt="0">
        <dgm:presLayoutVars>
          <dgm:dir/>
          <dgm:resizeHandles val="exact"/>
        </dgm:presLayoutVars>
      </dgm:prSet>
      <dgm:spPr/>
    </dgm:pt>
    <dgm:pt modelId="{6F62D4E1-72B0-4EE8-8AE0-C317349CBD5B}" type="pres">
      <dgm:prSet presAssocID="{B6F2361E-3EDA-4961-86FC-5571C2B41197}" presName="node" presStyleLbl="node1" presStyleIdx="0" presStyleCnt="5">
        <dgm:presLayoutVars>
          <dgm:bulletEnabled val="1"/>
        </dgm:presLayoutVars>
      </dgm:prSet>
      <dgm:spPr/>
    </dgm:pt>
    <dgm:pt modelId="{A217D651-46FA-4735-8061-F979D8A6699F}" type="pres">
      <dgm:prSet presAssocID="{B6F2361E-3EDA-4961-86FC-5571C2B41197}" presName="spNode" presStyleCnt="0"/>
      <dgm:spPr/>
    </dgm:pt>
    <dgm:pt modelId="{AE232FFD-EE30-4ECD-8B03-B3D65F2BD0BC}" type="pres">
      <dgm:prSet presAssocID="{51AA5DA6-A4E9-4DDF-B7EE-97B2DE9CE5AA}" presName="sibTrans" presStyleLbl="sibTrans1D1" presStyleIdx="0" presStyleCnt="5"/>
      <dgm:spPr/>
    </dgm:pt>
    <dgm:pt modelId="{89C7EA78-4BB0-48D3-8450-E0BE80EF8294}" type="pres">
      <dgm:prSet presAssocID="{B11FE63C-F0A6-4E91-A02A-48C3C42EA1F3}" presName="node" presStyleLbl="node1" presStyleIdx="1" presStyleCnt="5">
        <dgm:presLayoutVars>
          <dgm:bulletEnabled val="1"/>
        </dgm:presLayoutVars>
      </dgm:prSet>
      <dgm:spPr/>
    </dgm:pt>
    <dgm:pt modelId="{EBDBD8E4-29F9-4891-8858-164F82C37E57}" type="pres">
      <dgm:prSet presAssocID="{B11FE63C-F0A6-4E91-A02A-48C3C42EA1F3}" presName="spNode" presStyleCnt="0"/>
      <dgm:spPr/>
    </dgm:pt>
    <dgm:pt modelId="{ECA49600-3ACF-446C-A79C-3C7B07EFDA78}" type="pres">
      <dgm:prSet presAssocID="{F5E0EEC8-7281-4AAE-A501-50C1FF079E80}" presName="sibTrans" presStyleLbl="sibTrans1D1" presStyleIdx="1" presStyleCnt="5"/>
      <dgm:spPr/>
    </dgm:pt>
    <dgm:pt modelId="{C817EC61-B2BE-43A9-BCC2-07FAEA167B13}" type="pres">
      <dgm:prSet presAssocID="{A5983D97-BD6E-4A05-A05B-4BC28D7F8237}" presName="node" presStyleLbl="node1" presStyleIdx="2" presStyleCnt="5">
        <dgm:presLayoutVars>
          <dgm:bulletEnabled val="1"/>
        </dgm:presLayoutVars>
      </dgm:prSet>
      <dgm:spPr/>
    </dgm:pt>
    <dgm:pt modelId="{CB3526DB-94A7-476D-A81B-62426056C5BF}" type="pres">
      <dgm:prSet presAssocID="{A5983D97-BD6E-4A05-A05B-4BC28D7F8237}" presName="spNode" presStyleCnt="0"/>
      <dgm:spPr/>
    </dgm:pt>
    <dgm:pt modelId="{BDAFDE59-977B-46B8-BEEE-5210F9B76D3E}" type="pres">
      <dgm:prSet presAssocID="{B3BBBC19-5197-44E4-81A5-7EC9B15CE8D7}" presName="sibTrans" presStyleLbl="sibTrans1D1" presStyleIdx="2" presStyleCnt="5"/>
      <dgm:spPr/>
    </dgm:pt>
    <dgm:pt modelId="{F209C00D-B477-4F15-A951-5861C28FB9D6}" type="pres">
      <dgm:prSet presAssocID="{1E681E9D-013A-41C8-A74D-C895E016CC3E}" presName="node" presStyleLbl="node1" presStyleIdx="3" presStyleCnt="5">
        <dgm:presLayoutVars>
          <dgm:bulletEnabled val="1"/>
        </dgm:presLayoutVars>
      </dgm:prSet>
      <dgm:spPr/>
    </dgm:pt>
    <dgm:pt modelId="{64533EDD-2087-400A-8CBC-325C451BDC56}" type="pres">
      <dgm:prSet presAssocID="{1E681E9D-013A-41C8-A74D-C895E016CC3E}" presName="spNode" presStyleCnt="0"/>
      <dgm:spPr/>
    </dgm:pt>
    <dgm:pt modelId="{0617E395-B772-4C6E-AC4E-EC1D71E89EAF}" type="pres">
      <dgm:prSet presAssocID="{EDED4C7F-7FCD-4353-8402-872ACB7EE11F}" presName="sibTrans" presStyleLbl="sibTrans1D1" presStyleIdx="3" presStyleCnt="5"/>
      <dgm:spPr/>
    </dgm:pt>
    <dgm:pt modelId="{9870B405-2C36-454F-8439-1F309C22C436}" type="pres">
      <dgm:prSet presAssocID="{E75344DC-8FE0-4660-A9F7-0DF36FD7B82F}" presName="node" presStyleLbl="node1" presStyleIdx="4" presStyleCnt="5">
        <dgm:presLayoutVars>
          <dgm:bulletEnabled val="1"/>
        </dgm:presLayoutVars>
      </dgm:prSet>
      <dgm:spPr/>
    </dgm:pt>
    <dgm:pt modelId="{7842E8F8-D8A1-4154-AC80-E7DF605EFC50}" type="pres">
      <dgm:prSet presAssocID="{E75344DC-8FE0-4660-A9F7-0DF36FD7B82F}" presName="spNode" presStyleCnt="0"/>
      <dgm:spPr/>
    </dgm:pt>
    <dgm:pt modelId="{FC1D0FF4-9AA2-45FF-B41E-FA27F09E8171}" type="pres">
      <dgm:prSet presAssocID="{6252161A-D04B-4FDA-979F-8DE620392306}" presName="sibTrans" presStyleLbl="sibTrans1D1" presStyleIdx="4" presStyleCnt="5"/>
      <dgm:spPr/>
    </dgm:pt>
  </dgm:ptLst>
  <dgm:cxnLst>
    <dgm:cxn modelId="{1F306611-A8E8-498E-9879-3C1EE05CA73C}" type="presOf" srcId="{EDED4C7F-7FCD-4353-8402-872ACB7EE11F}" destId="{0617E395-B772-4C6E-AC4E-EC1D71E89EAF}" srcOrd="0" destOrd="0" presId="urn:microsoft.com/office/officeart/2005/8/layout/cycle6"/>
    <dgm:cxn modelId="{E7879E18-AE10-4BB6-A7C0-55E5325DB90D}" type="presOf" srcId="{B11FE63C-F0A6-4E91-A02A-48C3C42EA1F3}" destId="{89C7EA78-4BB0-48D3-8450-E0BE80EF8294}" srcOrd="0" destOrd="0" presId="urn:microsoft.com/office/officeart/2005/8/layout/cycle6"/>
    <dgm:cxn modelId="{0B102060-5213-48DB-B91B-1F14748040A1}" srcId="{34C275B7-A1DC-4502-A176-FC393964CF17}" destId="{A5983D97-BD6E-4A05-A05B-4BC28D7F8237}" srcOrd="2" destOrd="0" parTransId="{38C1D971-C30F-4FF7-A421-33C4BA8593A7}" sibTransId="{B3BBBC19-5197-44E4-81A5-7EC9B15CE8D7}"/>
    <dgm:cxn modelId="{8BE04F64-50AB-4DE3-BF9A-6DA9282709B8}" type="presOf" srcId="{6252161A-D04B-4FDA-979F-8DE620392306}" destId="{FC1D0FF4-9AA2-45FF-B41E-FA27F09E8171}" srcOrd="0" destOrd="0" presId="urn:microsoft.com/office/officeart/2005/8/layout/cycle6"/>
    <dgm:cxn modelId="{8ADC3E79-13AB-4D30-8085-4BE670C8402A}" srcId="{34C275B7-A1DC-4502-A176-FC393964CF17}" destId="{E75344DC-8FE0-4660-A9F7-0DF36FD7B82F}" srcOrd="4" destOrd="0" parTransId="{175A751A-A865-49AD-88CA-175A9FDD6791}" sibTransId="{6252161A-D04B-4FDA-979F-8DE620392306}"/>
    <dgm:cxn modelId="{AE0A1987-4836-44CD-A6B0-A74F0A19CE1B}" type="presOf" srcId="{34C275B7-A1DC-4502-A176-FC393964CF17}" destId="{A200DC81-0E4E-4139-993E-C34B4DC96C6F}" srcOrd="0" destOrd="0" presId="urn:microsoft.com/office/officeart/2005/8/layout/cycle6"/>
    <dgm:cxn modelId="{4F39B592-6B26-4D6D-ADEE-45C476AEB88D}" type="presOf" srcId="{A5983D97-BD6E-4A05-A05B-4BC28D7F8237}" destId="{C817EC61-B2BE-43A9-BCC2-07FAEA167B13}" srcOrd="0" destOrd="0" presId="urn:microsoft.com/office/officeart/2005/8/layout/cycle6"/>
    <dgm:cxn modelId="{D6258EB8-0C4B-42DE-A074-8056F42FADB9}" srcId="{34C275B7-A1DC-4502-A176-FC393964CF17}" destId="{B6F2361E-3EDA-4961-86FC-5571C2B41197}" srcOrd="0" destOrd="0" parTransId="{F417116C-A291-4049-8D19-1F7A3F5B8EE1}" sibTransId="{51AA5DA6-A4E9-4DDF-B7EE-97B2DE9CE5AA}"/>
    <dgm:cxn modelId="{B2D535C0-95C1-4A4D-B3C7-43538BB5C362}" type="presOf" srcId="{F5E0EEC8-7281-4AAE-A501-50C1FF079E80}" destId="{ECA49600-3ACF-446C-A79C-3C7B07EFDA78}" srcOrd="0" destOrd="0" presId="urn:microsoft.com/office/officeart/2005/8/layout/cycle6"/>
    <dgm:cxn modelId="{EC9370C3-BB75-4DA4-A44A-BCD3A5723878}" type="presOf" srcId="{B3BBBC19-5197-44E4-81A5-7EC9B15CE8D7}" destId="{BDAFDE59-977B-46B8-BEEE-5210F9B76D3E}" srcOrd="0" destOrd="0" presId="urn:microsoft.com/office/officeart/2005/8/layout/cycle6"/>
    <dgm:cxn modelId="{94F655CA-90BB-477D-99F1-C3E3E04E547F}" type="presOf" srcId="{B6F2361E-3EDA-4961-86FC-5571C2B41197}" destId="{6F62D4E1-72B0-4EE8-8AE0-C317349CBD5B}" srcOrd="0" destOrd="0" presId="urn:microsoft.com/office/officeart/2005/8/layout/cycle6"/>
    <dgm:cxn modelId="{6E6D68E7-6135-48B5-BD0E-674A882B9733}" type="presOf" srcId="{E75344DC-8FE0-4660-A9F7-0DF36FD7B82F}" destId="{9870B405-2C36-454F-8439-1F309C22C436}" srcOrd="0" destOrd="0" presId="urn:microsoft.com/office/officeart/2005/8/layout/cycle6"/>
    <dgm:cxn modelId="{48AE2AEA-E016-4472-A8E9-CD6425341599}" type="presOf" srcId="{1E681E9D-013A-41C8-A74D-C895E016CC3E}" destId="{F209C00D-B477-4F15-A951-5861C28FB9D6}" srcOrd="0" destOrd="0" presId="urn:microsoft.com/office/officeart/2005/8/layout/cycle6"/>
    <dgm:cxn modelId="{850635EC-1825-482D-B504-1BB9308934DC}" srcId="{34C275B7-A1DC-4502-A176-FC393964CF17}" destId="{B11FE63C-F0A6-4E91-A02A-48C3C42EA1F3}" srcOrd="1" destOrd="0" parTransId="{5809004B-0D53-4F9E-BBC0-14B544714C66}" sibTransId="{F5E0EEC8-7281-4AAE-A501-50C1FF079E80}"/>
    <dgm:cxn modelId="{2CF97BEE-F9A5-4460-AC90-00F52D8E42AE}" srcId="{34C275B7-A1DC-4502-A176-FC393964CF17}" destId="{1E681E9D-013A-41C8-A74D-C895E016CC3E}" srcOrd="3" destOrd="0" parTransId="{7902080B-2DA0-49DD-AB07-F3A11715C420}" sibTransId="{EDED4C7F-7FCD-4353-8402-872ACB7EE11F}"/>
    <dgm:cxn modelId="{EA18F3F9-DC21-4C78-B9E4-A6EFC07C2B41}" type="presOf" srcId="{51AA5DA6-A4E9-4DDF-B7EE-97B2DE9CE5AA}" destId="{AE232FFD-EE30-4ECD-8B03-B3D65F2BD0BC}" srcOrd="0" destOrd="0" presId="urn:microsoft.com/office/officeart/2005/8/layout/cycle6"/>
    <dgm:cxn modelId="{80831585-F7BE-4E5F-A921-A7AA2773D4DA}" type="presParOf" srcId="{A200DC81-0E4E-4139-993E-C34B4DC96C6F}" destId="{6F62D4E1-72B0-4EE8-8AE0-C317349CBD5B}" srcOrd="0" destOrd="0" presId="urn:microsoft.com/office/officeart/2005/8/layout/cycle6"/>
    <dgm:cxn modelId="{7ED64B0B-5A58-422D-AF9D-CEF632749980}" type="presParOf" srcId="{A200DC81-0E4E-4139-993E-C34B4DC96C6F}" destId="{A217D651-46FA-4735-8061-F979D8A6699F}" srcOrd="1" destOrd="0" presId="urn:microsoft.com/office/officeart/2005/8/layout/cycle6"/>
    <dgm:cxn modelId="{186AAB52-12A3-4DC9-9FB3-59D0C2229CA6}" type="presParOf" srcId="{A200DC81-0E4E-4139-993E-C34B4DC96C6F}" destId="{AE232FFD-EE30-4ECD-8B03-B3D65F2BD0BC}" srcOrd="2" destOrd="0" presId="urn:microsoft.com/office/officeart/2005/8/layout/cycle6"/>
    <dgm:cxn modelId="{415D85C3-06D4-4E2D-9B51-0F3A96D0E239}" type="presParOf" srcId="{A200DC81-0E4E-4139-993E-C34B4DC96C6F}" destId="{89C7EA78-4BB0-48D3-8450-E0BE80EF8294}" srcOrd="3" destOrd="0" presId="urn:microsoft.com/office/officeart/2005/8/layout/cycle6"/>
    <dgm:cxn modelId="{401F3816-2A9B-4CC6-BE54-E683AC9BDC63}" type="presParOf" srcId="{A200DC81-0E4E-4139-993E-C34B4DC96C6F}" destId="{EBDBD8E4-29F9-4891-8858-164F82C37E57}" srcOrd="4" destOrd="0" presId="urn:microsoft.com/office/officeart/2005/8/layout/cycle6"/>
    <dgm:cxn modelId="{52E97B4A-498B-42FD-95F6-A6D7866AE4B6}" type="presParOf" srcId="{A200DC81-0E4E-4139-993E-C34B4DC96C6F}" destId="{ECA49600-3ACF-446C-A79C-3C7B07EFDA78}" srcOrd="5" destOrd="0" presId="urn:microsoft.com/office/officeart/2005/8/layout/cycle6"/>
    <dgm:cxn modelId="{CF921CF8-4BBA-425E-9A31-9336A539F8BE}" type="presParOf" srcId="{A200DC81-0E4E-4139-993E-C34B4DC96C6F}" destId="{C817EC61-B2BE-43A9-BCC2-07FAEA167B13}" srcOrd="6" destOrd="0" presId="urn:microsoft.com/office/officeart/2005/8/layout/cycle6"/>
    <dgm:cxn modelId="{F12AC5DD-8F85-4254-8EBA-217CAA31673F}" type="presParOf" srcId="{A200DC81-0E4E-4139-993E-C34B4DC96C6F}" destId="{CB3526DB-94A7-476D-A81B-62426056C5BF}" srcOrd="7" destOrd="0" presId="urn:microsoft.com/office/officeart/2005/8/layout/cycle6"/>
    <dgm:cxn modelId="{612C8D39-F064-4ED0-937F-86D1CDD82C6A}" type="presParOf" srcId="{A200DC81-0E4E-4139-993E-C34B4DC96C6F}" destId="{BDAFDE59-977B-46B8-BEEE-5210F9B76D3E}" srcOrd="8" destOrd="0" presId="urn:microsoft.com/office/officeart/2005/8/layout/cycle6"/>
    <dgm:cxn modelId="{FDB7425F-6044-4FFF-9C4B-2F8BDB46ABE1}" type="presParOf" srcId="{A200DC81-0E4E-4139-993E-C34B4DC96C6F}" destId="{F209C00D-B477-4F15-A951-5861C28FB9D6}" srcOrd="9" destOrd="0" presId="urn:microsoft.com/office/officeart/2005/8/layout/cycle6"/>
    <dgm:cxn modelId="{CB94C290-8FF6-45EC-A80C-4877B9EDB632}" type="presParOf" srcId="{A200DC81-0E4E-4139-993E-C34B4DC96C6F}" destId="{64533EDD-2087-400A-8CBC-325C451BDC56}" srcOrd="10" destOrd="0" presId="urn:microsoft.com/office/officeart/2005/8/layout/cycle6"/>
    <dgm:cxn modelId="{72DA9BE3-873A-4510-982F-D2D50E7D5561}" type="presParOf" srcId="{A200DC81-0E4E-4139-993E-C34B4DC96C6F}" destId="{0617E395-B772-4C6E-AC4E-EC1D71E89EAF}" srcOrd="11" destOrd="0" presId="urn:microsoft.com/office/officeart/2005/8/layout/cycle6"/>
    <dgm:cxn modelId="{2822C4DA-047A-4791-9E45-5F281DF452B2}" type="presParOf" srcId="{A200DC81-0E4E-4139-993E-C34B4DC96C6F}" destId="{9870B405-2C36-454F-8439-1F309C22C436}" srcOrd="12" destOrd="0" presId="urn:microsoft.com/office/officeart/2005/8/layout/cycle6"/>
    <dgm:cxn modelId="{405ECBC1-6163-4F46-B280-EBE69230A1AD}" type="presParOf" srcId="{A200DC81-0E4E-4139-993E-C34B4DC96C6F}" destId="{7842E8F8-D8A1-4154-AC80-E7DF605EFC50}" srcOrd="13" destOrd="0" presId="urn:microsoft.com/office/officeart/2005/8/layout/cycle6"/>
    <dgm:cxn modelId="{6C2E5F2A-A76B-4945-8D27-0443CFFA36FF}" type="presParOf" srcId="{A200DC81-0E4E-4139-993E-C34B4DC96C6F}" destId="{FC1D0FF4-9AA2-45FF-B41E-FA27F09E8171}"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B7FE9-E30A-4EFF-9743-A0093886CA15}">
      <dsp:nvSpPr>
        <dsp:cNvPr id="0" name=""/>
        <dsp:cNvSpPr/>
      </dsp:nvSpPr>
      <dsp:spPr>
        <a:xfrm>
          <a:off x="0" y="0"/>
          <a:ext cx="3292551" cy="712527"/>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ln>
        <a:effectLst>
          <a:outerShdw blurRad="38100" dist="25400" dir="5400000" rotWithShape="0">
            <a:srgbClr val="000000">
              <a:alpha val="40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l" defTabSz="622300">
            <a:lnSpc>
              <a:spcPct val="90000"/>
            </a:lnSpc>
            <a:spcBef>
              <a:spcPct val="0"/>
            </a:spcBef>
            <a:spcAft>
              <a:spcPct val="35000"/>
            </a:spcAft>
            <a:buNone/>
          </a:pPr>
          <a:r>
            <a:rPr lang="fr-FR" sz="1400" b="1" kern="1200" dirty="0">
              <a:solidFill>
                <a:schemeClr val="accent2">
                  <a:lumMod val="50000"/>
                </a:schemeClr>
              </a:solidFill>
            </a:rPr>
            <a:t>Oxydation: microsomes CYP450 </a:t>
          </a:r>
        </a:p>
      </dsp:txBody>
      <dsp:txXfrm>
        <a:off x="0" y="0"/>
        <a:ext cx="3292551" cy="712527"/>
      </dsp:txXfrm>
    </dsp:sp>
    <dsp:sp modelId="{95DA7664-1218-449E-9059-C48FC707A2F6}">
      <dsp:nvSpPr>
        <dsp:cNvPr id="0" name=""/>
        <dsp:cNvSpPr/>
      </dsp:nvSpPr>
      <dsp:spPr>
        <a:xfrm>
          <a:off x="25419" y="727822"/>
          <a:ext cx="3246481" cy="1712880"/>
        </a:xfrm>
        <a:prstGeom prst="rect">
          <a:avLst/>
        </a:prstGeom>
        <a:solidFill>
          <a:schemeClr val="lt1">
            <a:alpha val="90000"/>
            <a:tint val="40000"/>
            <a:hueOff val="0"/>
            <a:satOff val="0"/>
            <a:lumOff val="0"/>
            <a:alphaOff val="0"/>
          </a:schemeClr>
        </a:solidFill>
        <a:ln w="1905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fr-FR" sz="1600" kern="1200" dirty="0"/>
            <a:t>Foie++++</a:t>
          </a:r>
        </a:p>
        <a:p>
          <a:pPr marL="171450" lvl="1" indent="-171450" algn="l" defTabSz="711200">
            <a:lnSpc>
              <a:spcPct val="90000"/>
            </a:lnSpc>
            <a:spcBef>
              <a:spcPct val="0"/>
            </a:spcBef>
            <a:spcAft>
              <a:spcPct val="15000"/>
            </a:spcAft>
            <a:buChar char="•"/>
          </a:pPr>
          <a:r>
            <a:rPr lang="fr-FR" sz="1600" kern="1200" dirty="0"/>
            <a:t>l’intestin, les reins et les poumons.</a:t>
          </a:r>
        </a:p>
        <a:p>
          <a:pPr marL="114300" lvl="1" indent="-114300" algn="l" defTabSz="622300">
            <a:lnSpc>
              <a:spcPct val="90000"/>
            </a:lnSpc>
            <a:spcBef>
              <a:spcPct val="0"/>
            </a:spcBef>
            <a:spcAft>
              <a:spcPct val="15000"/>
            </a:spcAft>
            <a:buChar char="•"/>
          </a:pPr>
          <a:r>
            <a:rPr lang="fr-FR" sz="1400" kern="1200" dirty="0">
              <a:solidFill>
                <a:srgbClr val="FF0000"/>
              </a:solidFill>
            </a:rPr>
            <a:t>Non spé et chevauchante </a:t>
          </a:r>
        </a:p>
      </dsp:txBody>
      <dsp:txXfrm>
        <a:off x="25419" y="727822"/>
        <a:ext cx="3246481" cy="1712880"/>
      </dsp:txXfrm>
    </dsp:sp>
    <dsp:sp modelId="{08E81708-C8D1-4F90-942E-DD2A2525E2F3}">
      <dsp:nvSpPr>
        <dsp:cNvPr id="0" name=""/>
        <dsp:cNvSpPr/>
      </dsp:nvSpPr>
      <dsp:spPr>
        <a:xfrm>
          <a:off x="3591278" y="303514"/>
          <a:ext cx="1639937" cy="331706"/>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ln>
        <a:effectLst>
          <a:outerShdw blurRad="38100" dist="25400" dir="5400000" rotWithShape="0">
            <a:srgbClr val="000000">
              <a:alpha val="40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kern="1200" dirty="0">
              <a:solidFill>
                <a:schemeClr val="accent2">
                  <a:lumMod val="50000"/>
                </a:schemeClr>
              </a:solidFill>
            </a:rPr>
            <a:t>Réduction: Peu explorée</a:t>
          </a:r>
        </a:p>
      </dsp:txBody>
      <dsp:txXfrm>
        <a:off x="3591278" y="303514"/>
        <a:ext cx="1639937" cy="331706"/>
      </dsp:txXfrm>
    </dsp:sp>
    <dsp:sp modelId="{0DB1899E-4B34-42E6-979B-A7CD73AF67D7}">
      <dsp:nvSpPr>
        <dsp:cNvPr id="0" name=""/>
        <dsp:cNvSpPr/>
      </dsp:nvSpPr>
      <dsp:spPr>
        <a:xfrm>
          <a:off x="3714772" y="642948"/>
          <a:ext cx="1267237" cy="1712880"/>
        </a:xfrm>
        <a:prstGeom prst="rect">
          <a:avLst/>
        </a:prstGeom>
        <a:solidFill>
          <a:schemeClr val="lt1">
            <a:alpha val="90000"/>
            <a:tint val="40000"/>
            <a:hueOff val="0"/>
            <a:satOff val="0"/>
            <a:lumOff val="0"/>
            <a:alphaOff val="0"/>
          </a:schemeClr>
        </a:solidFill>
        <a:ln w="1905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30B531-C206-4185-8D37-0B752DA03BB4}">
      <dsp:nvSpPr>
        <dsp:cNvPr id="0" name=""/>
        <dsp:cNvSpPr/>
      </dsp:nvSpPr>
      <dsp:spPr>
        <a:xfrm>
          <a:off x="5636334" y="96005"/>
          <a:ext cx="2505213" cy="761384"/>
        </a:xfrm>
        <a:prstGeom prst="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ln>
        <a:effectLst>
          <a:outerShdw blurRad="38100" dist="25400" dir="5400000" rotWithShape="0">
            <a:srgbClr val="000000">
              <a:alpha val="40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fr-FR" sz="1400" b="1" kern="1200" dirty="0">
              <a:solidFill>
                <a:schemeClr val="accent2">
                  <a:lumMod val="50000"/>
                </a:schemeClr>
              </a:solidFill>
            </a:rPr>
            <a:t>Hydrolyse: Organes + Plasma</a:t>
          </a:r>
        </a:p>
      </dsp:txBody>
      <dsp:txXfrm>
        <a:off x="5636334" y="96005"/>
        <a:ext cx="2505213" cy="761384"/>
      </dsp:txXfrm>
    </dsp:sp>
    <dsp:sp modelId="{9D6D2EFF-17FD-4F95-930A-A6902FC19180}">
      <dsp:nvSpPr>
        <dsp:cNvPr id="0" name=""/>
        <dsp:cNvSpPr/>
      </dsp:nvSpPr>
      <dsp:spPr>
        <a:xfrm>
          <a:off x="5612810" y="843747"/>
          <a:ext cx="2505213" cy="1712880"/>
        </a:xfrm>
        <a:prstGeom prst="rect">
          <a:avLst/>
        </a:prstGeom>
        <a:solidFill>
          <a:schemeClr val="lt1">
            <a:alpha val="90000"/>
            <a:tint val="40000"/>
            <a:hueOff val="0"/>
            <a:satOff val="0"/>
            <a:lumOff val="0"/>
            <a:alphaOff val="0"/>
          </a:schemeClr>
        </a:solidFill>
        <a:ln w="1905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just" defTabSz="622300">
            <a:lnSpc>
              <a:spcPct val="90000"/>
            </a:lnSpc>
            <a:spcBef>
              <a:spcPct val="0"/>
            </a:spcBef>
            <a:spcAft>
              <a:spcPct val="15000"/>
            </a:spcAft>
            <a:buChar char="•"/>
          </a:pPr>
          <a:r>
            <a:rPr lang="fr-FR" sz="1400" kern="1200" dirty="0"/>
            <a:t>lieu au niveau des organes (rein, foie, intestin, poumon..) par des estérases et des </a:t>
          </a:r>
          <a:r>
            <a:rPr lang="fr-FR" sz="1400" kern="1200" dirty="0" err="1"/>
            <a:t>amidases</a:t>
          </a:r>
          <a:r>
            <a:rPr lang="fr-FR" sz="1400" kern="1200" dirty="0"/>
            <a:t>.</a:t>
          </a:r>
        </a:p>
        <a:p>
          <a:pPr marL="114300" lvl="1" indent="-114300" algn="just" defTabSz="622300">
            <a:lnSpc>
              <a:spcPct val="90000"/>
            </a:lnSpc>
            <a:spcBef>
              <a:spcPct val="0"/>
            </a:spcBef>
            <a:spcAft>
              <a:spcPct val="15000"/>
            </a:spcAft>
            <a:buChar char="•"/>
          </a:pPr>
          <a:r>
            <a:rPr lang="fr-FR" sz="1400" kern="1200" dirty="0"/>
            <a:t> Les protéases des sucs digestifs hydrolysent les médicaments de structure peptidique (insuline)</a:t>
          </a:r>
        </a:p>
      </dsp:txBody>
      <dsp:txXfrm>
        <a:off x="5612810" y="843747"/>
        <a:ext cx="2505213" cy="1712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2D4E1-72B0-4EE8-8AE0-C317349CBD5B}">
      <dsp:nvSpPr>
        <dsp:cNvPr id="0" name=""/>
        <dsp:cNvSpPr/>
      </dsp:nvSpPr>
      <dsp:spPr>
        <a:xfrm>
          <a:off x="2380505" y="2370"/>
          <a:ext cx="1334988" cy="86774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Excrétion digestive </a:t>
          </a:r>
        </a:p>
      </dsp:txBody>
      <dsp:txXfrm>
        <a:off x="2422865" y="44730"/>
        <a:ext cx="1250268" cy="783022"/>
      </dsp:txXfrm>
    </dsp:sp>
    <dsp:sp modelId="{AE232FFD-EE30-4ECD-8B03-B3D65F2BD0BC}">
      <dsp:nvSpPr>
        <dsp:cNvPr id="0" name=""/>
        <dsp:cNvSpPr/>
      </dsp:nvSpPr>
      <dsp:spPr>
        <a:xfrm>
          <a:off x="1315405" y="436241"/>
          <a:ext cx="3465188" cy="3465188"/>
        </a:xfrm>
        <a:custGeom>
          <a:avLst/>
          <a:gdLst/>
          <a:ahLst/>
          <a:cxnLst/>
          <a:rect l="0" t="0" r="0" b="0"/>
          <a:pathLst>
            <a:path>
              <a:moveTo>
                <a:pt x="2409246" y="137594"/>
              </a:moveTo>
              <a:arcTo wR="1732594" hR="1732594" stAng="17579295" swAng="1959991"/>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9C7EA78-4BB0-48D3-8450-E0BE80EF8294}">
      <dsp:nvSpPr>
        <dsp:cNvPr id="0" name=""/>
        <dsp:cNvSpPr/>
      </dsp:nvSpPr>
      <dsp:spPr>
        <a:xfrm>
          <a:off x="4028301" y="1199563"/>
          <a:ext cx="1334988" cy="867742"/>
        </a:xfrm>
        <a:prstGeom prst="roundRect">
          <a:avLst/>
        </a:prstGeom>
        <a:solidFill>
          <a:schemeClr val="accent2">
            <a:hueOff val="2382924"/>
            <a:satOff val="4875"/>
            <a:lumOff val="186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Excrétion pulmonaire </a:t>
          </a:r>
        </a:p>
      </dsp:txBody>
      <dsp:txXfrm>
        <a:off x="4070661" y="1241923"/>
        <a:ext cx="1250268" cy="783022"/>
      </dsp:txXfrm>
    </dsp:sp>
    <dsp:sp modelId="{ECA49600-3ACF-446C-A79C-3C7B07EFDA78}">
      <dsp:nvSpPr>
        <dsp:cNvPr id="0" name=""/>
        <dsp:cNvSpPr/>
      </dsp:nvSpPr>
      <dsp:spPr>
        <a:xfrm>
          <a:off x="1315405" y="436241"/>
          <a:ext cx="3465188" cy="3465188"/>
        </a:xfrm>
        <a:custGeom>
          <a:avLst/>
          <a:gdLst/>
          <a:ahLst/>
          <a:cxnLst/>
          <a:rect l="0" t="0" r="0" b="0"/>
          <a:pathLst>
            <a:path>
              <a:moveTo>
                <a:pt x="3462825" y="1642133"/>
              </a:moveTo>
              <a:arcTo wR="1732594" hR="1732594" stAng="21420430" swAng="2195114"/>
            </a:path>
          </a:pathLst>
        </a:custGeom>
        <a:noFill/>
        <a:ln w="9525" cap="flat" cmpd="sng" algn="ctr">
          <a:solidFill>
            <a:schemeClr val="accent2">
              <a:hueOff val="2382924"/>
              <a:satOff val="4875"/>
              <a:lumOff val="1863"/>
              <a:alphaOff val="0"/>
            </a:schemeClr>
          </a:solidFill>
          <a:prstDash val="solid"/>
        </a:ln>
        <a:effectLst/>
      </dsp:spPr>
      <dsp:style>
        <a:lnRef idx="1">
          <a:scrgbClr r="0" g="0" b="0"/>
        </a:lnRef>
        <a:fillRef idx="0">
          <a:scrgbClr r="0" g="0" b="0"/>
        </a:fillRef>
        <a:effectRef idx="0">
          <a:scrgbClr r="0" g="0" b="0"/>
        </a:effectRef>
        <a:fontRef idx="minor"/>
      </dsp:style>
    </dsp:sp>
    <dsp:sp modelId="{C817EC61-B2BE-43A9-BCC2-07FAEA167B13}">
      <dsp:nvSpPr>
        <dsp:cNvPr id="0" name=""/>
        <dsp:cNvSpPr/>
      </dsp:nvSpPr>
      <dsp:spPr>
        <a:xfrm>
          <a:off x="3398899" y="3136663"/>
          <a:ext cx="1334988" cy="867742"/>
        </a:xfrm>
        <a:prstGeom prst="roundRect">
          <a:avLst/>
        </a:prstGeom>
        <a:solidFill>
          <a:schemeClr val="accent2">
            <a:hueOff val="4765848"/>
            <a:satOff val="9751"/>
            <a:lumOff val="372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Excrétion lacrymale</a:t>
          </a:r>
        </a:p>
      </dsp:txBody>
      <dsp:txXfrm>
        <a:off x="3441259" y="3179023"/>
        <a:ext cx="1250268" cy="783022"/>
      </dsp:txXfrm>
    </dsp:sp>
    <dsp:sp modelId="{BDAFDE59-977B-46B8-BEEE-5210F9B76D3E}">
      <dsp:nvSpPr>
        <dsp:cNvPr id="0" name=""/>
        <dsp:cNvSpPr/>
      </dsp:nvSpPr>
      <dsp:spPr>
        <a:xfrm>
          <a:off x="1315405" y="436241"/>
          <a:ext cx="3465188" cy="3465188"/>
        </a:xfrm>
        <a:custGeom>
          <a:avLst/>
          <a:gdLst/>
          <a:ahLst/>
          <a:cxnLst/>
          <a:rect l="0" t="0" r="0" b="0"/>
          <a:pathLst>
            <a:path>
              <a:moveTo>
                <a:pt x="2076618" y="3430690"/>
              </a:moveTo>
              <a:arcTo wR="1732594" hR="1732594" stAng="4712834" swAng="1374332"/>
            </a:path>
          </a:pathLst>
        </a:custGeom>
        <a:noFill/>
        <a:ln w="9525" cap="flat" cmpd="sng" algn="ctr">
          <a:solidFill>
            <a:schemeClr val="accent2">
              <a:hueOff val="4765848"/>
              <a:satOff val="9751"/>
              <a:lumOff val="3725"/>
              <a:alphaOff val="0"/>
            </a:schemeClr>
          </a:solidFill>
          <a:prstDash val="solid"/>
        </a:ln>
        <a:effectLst/>
      </dsp:spPr>
      <dsp:style>
        <a:lnRef idx="1">
          <a:scrgbClr r="0" g="0" b="0"/>
        </a:lnRef>
        <a:fillRef idx="0">
          <a:scrgbClr r="0" g="0" b="0"/>
        </a:fillRef>
        <a:effectRef idx="0">
          <a:scrgbClr r="0" g="0" b="0"/>
        </a:effectRef>
        <a:fontRef idx="minor"/>
      </dsp:style>
    </dsp:sp>
    <dsp:sp modelId="{F209C00D-B477-4F15-A951-5861C28FB9D6}">
      <dsp:nvSpPr>
        <dsp:cNvPr id="0" name=""/>
        <dsp:cNvSpPr/>
      </dsp:nvSpPr>
      <dsp:spPr>
        <a:xfrm>
          <a:off x="1362112" y="3136663"/>
          <a:ext cx="1334988" cy="867742"/>
        </a:xfrm>
        <a:prstGeom prst="roundRect">
          <a:avLst/>
        </a:prstGeom>
        <a:solidFill>
          <a:schemeClr val="accent2">
            <a:hueOff val="7148772"/>
            <a:satOff val="14626"/>
            <a:lumOff val="558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Excrétion salivaire </a:t>
          </a:r>
        </a:p>
      </dsp:txBody>
      <dsp:txXfrm>
        <a:off x="1404472" y="3179023"/>
        <a:ext cx="1250268" cy="783022"/>
      </dsp:txXfrm>
    </dsp:sp>
    <dsp:sp modelId="{0617E395-B772-4C6E-AC4E-EC1D71E89EAF}">
      <dsp:nvSpPr>
        <dsp:cNvPr id="0" name=""/>
        <dsp:cNvSpPr/>
      </dsp:nvSpPr>
      <dsp:spPr>
        <a:xfrm>
          <a:off x="1315405" y="436241"/>
          <a:ext cx="3465188" cy="3465188"/>
        </a:xfrm>
        <a:custGeom>
          <a:avLst/>
          <a:gdLst/>
          <a:ahLst/>
          <a:cxnLst/>
          <a:rect l="0" t="0" r="0" b="0"/>
          <a:pathLst>
            <a:path>
              <a:moveTo>
                <a:pt x="289352" y="2691206"/>
              </a:moveTo>
              <a:arcTo wR="1732594" hR="1732594" stAng="8784456" swAng="2195114"/>
            </a:path>
          </a:pathLst>
        </a:custGeom>
        <a:noFill/>
        <a:ln w="9525" cap="flat" cmpd="sng" algn="ctr">
          <a:solidFill>
            <a:schemeClr val="accent2">
              <a:hueOff val="7148772"/>
              <a:satOff val="14626"/>
              <a:lumOff val="5588"/>
              <a:alphaOff val="0"/>
            </a:schemeClr>
          </a:solidFill>
          <a:prstDash val="solid"/>
        </a:ln>
        <a:effectLst/>
      </dsp:spPr>
      <dsp:style>
        <a:lnRef idx="1">
          <a:scrgbClr r="0" g="0" b="0"/>
        </a:lnRef>
        <a:fillRef idx="0">
          <a:scrgbClr r="0" g="0" b="0"/>
        </a:fillRef>
        <a:effectRef idx="0">
          <a:scrgbClr r="0" g="0" b="0"/>
        </a:effectRef>
        <a:fontRef idx="minor"/>
      </dsp:style>
    </dsp:sp>
    <dsp:sp modelId="{9870B405-2C36-454F-8439-1F309C22C436}">
      <dsp:nvSpPr>
        <dsp:cNvPr id="0" name=""/>
        <dsp:cNvSpPr/>
      </dsp:nvSpPr>
      <dsp:spPr>
        <a:xfrm>
          <a:off x="732710" y="1199563"/>
          <a:ext cx="1334988" cy="867742"/>
        </a:xfrm>
        <a:prstGeom prst="roundRect">
          <a:avLst/>
        </a:prstGeom>
        <a:solidFill>
          <a:schemeClr val="accent2">
            <a:hueOff val="9531695"/>
            <a:satOff val="19501"/>
            <a:lumOff val="745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Excrétion lactée</a:t>
          </a:r>
        </a:p>
      </dsp:txBody>
      <dsp:txXfrm>
        <a:off x="775070" y="1241923"/>
        <a:ext cx="1250268" cy="783022"/>
      </dsp:txXfrm>
    </dsp:sp>
    <dsp:sp modelId="{FC1D0FF4-9AA2-45FF-B41E-FA27F09E8171}">
      <dsp:nvSpPr>
        <dsp:cNvPr id="0" name=""/>
        <dsp:cNvSpPr/>
      </dsp:nvSpPr>
      <dsp:spPr>
        <a:xfrm>
          <a:off x="1315405" y="436241"/>
          <a:ext cx="3465188" cy="3465188"/>
        </a:xfrm>
        <a:custGeom>
          <a:avLst/>
          <a:gdLst/>
          <a:ahLst/>
          <a:cxnLst/>
          <a:rect l="0" t="0" r="0" b="0"/>
          <a:pathLst>
            <a:path>
              <a:moveTo>
                <a:pt x="302072" y="755102"/>
              </a:moveTo>
              <a:arcTo wR="1732594" hR="1732594" stAng="12860714" swAng="1959991"/>
            </a:path>
          </a:pathLst>
        </a:custGeom>
        <a:noFill/>
        <a:ln w="9525" cap="flat" cmpd="sng" algn="ctr">
          <a:solidFill>
            <a:schemeClr val="accent2">
              <a:hueOff val="9531695"/>
              <a:satOff val="19501"/>
              <a:lumOff val="7451"/>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CD630F-C469-4B1F-87D2-21C74003D8CA}" type="datetimeFigureOut">
              <a:rPr lang="fr-FR" smtClean="0"/>
              <a:pPr/>
              <a:t>14/12/2024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6209FF-6B07-4DE3-AE78-975E5301F2E9}"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306209FF-6B07-4DE3-AE78-975E5301F2E9}" type="slidenum">
              <a:rPr lang="fr-FR" smtClean="0"/>
              <a:pPr/>
              <a:t>9</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306209FF-6B07-4DE3-AE78-975E5301F2E9}" type="slidenum">
              <a:rPr lang="fr-FR" smtClean="0"/>
              <a:pPr/>
              <a:t>10</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a:t>Cette propriété est utilisée au cours du traitement des intoxications dès lors que l'on connaît le toxique responsable et ses caractéristiques physico-chimiques : Ainsi, l'élimination urinaire du phénobarbital, acide de </a:t>
            </a:r>
            <a:r>
              <a:rPr lang="fr-FR" dirty="0" err="1"/>
              <a:t>pKa</a:t>
            </a:r>
            <a:r>
              <a:rPr lang="fr-FR" dirty="0"/>
              <a:t> = 7,2, est favorisée par l'alcalinisation de l'urine, par administration de bicarbonate par exemple. L'alcalinisation du liquide tubulaire augmente le pourcentage de molécules ionisées non </a:t>
            </a:r>
            <a:r>
              <a:rPr lang="fr-FR" dirty="0" err="1"/>
              <a:t>réabsorbables</a:t>
            </a:r>
            <a:r>
              <a:rPr lang="fr-FR" dirty="0"/>
              <a:t>. Au contraire, l'élimination urinaire de l'amphétamine, base de </a:t>
            </a:r>
            <a:r>
              <a:rPr lang="fr-FR" dirty="0" err="1"/>
              <a:t>pKa</a:t>
            </a:r>
            <a:r>
              <a:rPr lang="fr-FR" dirty="0"/>
              <a:t> = 5, est augmentée par l'acidification des urines, par administration de chlorure d'ammonium par exemple, ce qui augmente son pourcentage d'ionisation</a:t>
            </a:r>
          </a:p>
        </p:txBody>
      </p:sp>
      <p:sp>
        <p:nvSpPr>
          <p:cNvPr id="4" name="Espace réservé du numéro de diapositive 3"/>
          <p:cNvSpPr>
            <a:spLocks noGrp="1"/>
          </p:cNvSpPr>
          <p:nvPr>
            <p:ph type="sldNum" sz="quarter" idx="10"/>
          </p:nvPr>
        </p:nvSpPr>
        <p:spPr/>
        <p:txBody>
          <a:bodyPr/>
          <a:lstStyle/>
          <a:p>
            <a:fld id="{306209FF-6B07-4DE3-AE78-975E5301F2E9}" type="slidenum">
              <a:rPr lang="fr-FR" smtClean="0"/>
              <a:pPr/>
              <a:t>18</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fr-FR"/>
              <a:t>Cliquez pour modifier le style du titre</a:t>
            </a:r>
            <a:endParaRPr kumimoji="0" lang="en-US"/>
          </a:p>
        </p:txBody>
      </p:sp>
      <p:sp>
        <p:nvSpPr>
          <p:cNvPr id="9" name="Sous-titr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FFE1CD79-9873-41B2-9F5F-0723D63062B7}" type="datetime1">
              <a:rPr lang="fr-FR" smtClean="0"/>
              <a:pPr/>
              <a:t>14/12/2024</a:t>
            </a:fld>
            <a:endParaRPr lang="fr-FR"/>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FR"/>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C62C1073-572C-49BE-A770-6DB0C0ECDC67}" type="slidenum">
              <a:rPr lang="fr-FR" smtClean="0"/>
              <a:pPr/>
              <a:t>‹N°›</a:t>
            </a:fld>
            <a:endParaRPr lang="fr-F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79BBDE55-5C5F-4731-A5BD-C08B30E7AD1E}" type="datetime1">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62C1073-572C-49BE-A770-6DB0C0ECDC67}" type="slidenum">
              <a:rPr lang="fr-FR" smtClean="0"/>
              <a:pPr/>
              <a:t>‹N°›</a:t>
            </a:fld>
            <a:endParaRPr lang="fr-FR"/>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DFD9B3F9-4637-4E94-B34A-5EA65C5C3BAC}" type="datetime1">
              <a:rPr lang="fr-FR" smtClean="0"/>
              <a:pPr/>
              <a:t>14/12/2024</a:t>
            </a:fld>
            <a:endParaRPr lang="fr-FR"/>
          </a:p>
        </p:txBody>
      </p:sp>
      <p:sp>
        <p:nvSpPr>
          <p:cNvPr id="5" name="Espace réservé du pied de page 4"/>
          <p:cNvSpPr>
            <a:spLocks noGrp="1"/>
          </p:cNvSpPr>
          <p:nvPr>
            <p:ph type="ftr" sz="quarter" idx="11"/>
          </p:nvPr>
        </p:nvSpPr>
        <p:spPr>
          <a:xfrm>
            <a:off x="2898648" y="6355080"/>
            <a:ext cx="3474720" cy="365760"/>
          </a:xfrm>
        </p:spPr>
        <p:txBody>
          <a:bodyPr/>
          <a:lstStyle/>
          <a:p>
            <a:endParaRPr lang="fr-FR"/>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C62C1073-572C-49BE-A770-6DB0C0ECDC67}" type="slidenum">
              <a:rPr lang="fr-FR" smtClean="0"/>
              <a:pPr/>
              <a:t>‹N°›</a:t>
            </a:fld>
            <a:endParaRPr lang="fr-F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p:txBody>
          <a:bodyPr/>
          <a:lstStyle/>
          <a:p>
            <a:fld id="{0BE43191-CE34-4FF2-AAE8-91175688BF38}" type="datetime1">
              <a:rPr lang="fr-FR" smtClean="0"/>
              <a:pPr/>
              <a:t>14/12/2024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62C1073-572C-49BE-A770-6DB0C0ECDC67}" type="slidenum">
              <a:rPr lang="fr-FR" smtClean="0"/>
              <a:pPr/>
              <a:t>‹N°›</a:t>
            </a:fld>
            <a:endParaRPr lang="fr-FR"/>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563E2C85-0836-41B2-A25E-FB5FD41EC89C}" type="datetime1">
              <a:rPr lang="fr-FR" smtClean="0"/>
              <a:pPr/>
              <a:t>14/12/2024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62C1073-572C-49BE-A770-6DB0C0ECDC67}" type="slidenum">
              <a:rPr lang="fr-FR" smtClean="0"/>
              <a:pPr/>
              <a:t>‹N°›</a:t>
            </a:fld>
            <a:endParaRPr lang="fr-FR"/>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4AAD769E-F919-4835-88E0-58DD9D515214}" type="datetime1">
              <a:rPr lang="fr-FR" smtClean="0"/>
              <a:pPr/>
              <a:t>14/12/2024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‹N°›</a:t>
            </a:fld>
            <a:endParaRPr lang="fr-FR"/>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C48454C-F8BF-4190-9189-0825A2ED2895}" type="datetime1">
              <a:rPr lang="fr-FR" smtClean="0"/>
              <a:pPr/>
              <a:t>14/12/2024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62C1073-572C-49BE-A770-6DB0C0ECDC67}" type="slidenum">
              <a:rPr lang="fr-FR" smtClean="0"/>
              <a:pPr/>
              <a:t>‹N°›</a:t>
            </a:fld>
            <a:endParaRPr lang="fr-FR"/>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B05779EB-FCE6-4F0B-A70C-A56CBEDFCE95}" type="datetime1">
              <a:rPr lang="fr-FR" smtClean="0"/>
              <a:pPr/>
              <a:t>14/12/2024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62C1073-572C-49BE-A770-6DB0C0ECDC67}"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31ECBE0F-D27E-46EA-B001-92C90338F940}" type="datetime1">
              <a:rPr lang="fr-FR" smtClean="0"/>
              <a:pPr/>
              <a:t>14/12/2024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62C1073-572C-49BE-A770-6DB0C0ECDC67}"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DD06E3D2-20F8-4CE7-A38E-B29209F7B71B}" type="datetime1">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62C1073-572C-49BE-A770-6DB0C0ECDC67}"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3FF12371-6FA2-430D-998C-CC4268AD23E0}" type="datetime1">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62C1073-572C-49BE-A770-6DB0C0ECDC67}" type="slidenum">
              <a:rPr lang="fr-FR" smtClean="0"/>
              <a:pPr/>
              <a:t>‹N°›</a:t>
            </a:fld>
            <a:endParaRPr lang="fr-FR"/>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b" anchorCtr="0">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329EB8D-11BD-4D0E-B9D6-9C91393C4B26}" type="datetime1">
              <a:rPr lang="fr-FR" smtClean="0"/>
              <a:pPr/>
              <a:t>14/12/2024</a:t>
            </a:fld>
            <a:endParaRPr lang="fr-FR"/>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62C1073-572C-49BE-A770-6DB0C0ECDC67}" type="slidenum">
              <a:rPr lang="fr-FR" smtClean="0"/>
              <a:pPr/>
              <a:t>‹N°›</a:t>
            </a:fld>
            <a:endParaRPr lang="fr-FR"/>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dirty="0"/>
              <a:t>Élimination des médicaments :</a:t>
            </a:r>
            <a:br>
              <a:rPr lang="fr-FR" dirty="0"/>
            </a:br>
            <a:r>
              <a:rPr lang="fr-FR" dirty="0"/>
              <a:t>métabolisme et excrétion </a:t>
            </a:r>
          </a:p>
        </p:txBody>
      </p:sp>
      <p:sp>
        <p:nvSpPr>
          <p:cNvPr id="3" name="Sous-titre 2"/>
          <p:cNvSpPr>
            <a:spLocks noGrp="1"/>
          </p:cNvSpPr>
          <p:nvPr>
            <p:ph type="subTitle" idx="1"/>
          </p:nvPr>
        </p:nvSpPr>
        <p:spPr/>
        <p:txBody>
          <a:bodyPr>
            <a:normAutofit/>
          </a:bodyPr>
          <a:lstStyle/>
          <a:p>
            <a:r>
              <a:rPr lang="fr-FR" b="1" dirty="0">
                <a:solidFill>
                  <a:schemeClr val="accent2">
                    <a:lumMod val="50000"/>
                  </a:schemeClr>
                </a:solidFill>
              </a:rPr>
              <a:t>Cours 3</a:t>
            </a:r>
            <a:r>
              <a:rPr lang="fr-FR" b="1" baseline="30000" dirty="0">
                <a:solidFill>
                  <a:schemeClr val="accent2">
                    <a:lumMod val="50000"/>
                  </a:schemeClr>
                </a:solidFill>
              </a:rPr>
              <a:t>ième</a:t>
            </a:r>
            <a:r>
              <a:rPr lang="fr-FR" b="1" dirty="0">
                <a:solidFill>
                  <a:schemeClr val="accent2">
                    <a:lumMod val="50000"/>
                  </a:schemeClr>
                </a:solidFill>
              </a:rPr>
              <a:t> année médecine dentaire</a:t>
            </a:r>
          </a:p>
          <a:p>
            <a:endParaRPr lang="fr-FR" dirty="0"/>
          </a:p>
        </p:txBody>
      </p:sp>
      <p:sp>
        <p:nvSpPr>
          <p:cNvPr id="5" name="ZoneTexte 4"/>
          <p:cNvSpPr txBox="1"/>
          <p:nvPr/>
        </p:nvSpPr>
        <p:spPr>
          <a:xfrm>
            <a:off x="2000232" y="285728"/>
            <a:ext cx="5143536" cy="1877437"/>
          </a:xfrm>
          <a:prstGeom prst="rect">
            <a:avLst/>
          </a:prstGeom>
          <a:noFill/>
        </p:spPr>
        <p:txBody>
          <a:bodyPr wrap="square" rtlCol="0">
            <a:spAutoFit/>
          </a:bodyPr>
          <a:lstStyle/>
          <a:p>
            <a:pPr algn="ctr"/>
            <a:r>
              <a:rPr lang="fr-FR" sz="2000" b="1" dirty="0">
                <a:solidFill>
                  <a:schemeClr val="accent1">
                    <a:lumMod val="75000"/>
                  </a:schemeClr>
                </a:solidFill>
              </a:rPr>
              <a:t>Université des Sciences médicales</a:t>
            </a:r>
          </a:p>
          <a:p>
            <a:pPr algn="ctr"/>
            <a:r>
              <a:rPr lang="fr-FR" sz="2000" b="1" dirty="0">
                <a:solidFill>
                  <a:schemeClr val="accent1">
                    <a:lumMod val="75000"/>
                  </a:schemeClr>
                </a:solidFill>
              </a:rPr>
              <a:t>Faculté de Médecine</a:t>
            </a:r>
          </a:p>
          <a:p>
            <a:pPr algn="ctr"/>
            <a:r>
              <a:rPr lang="fr-FR" sz="2000" b="1" dirty="0">
                <a:solidFill>
                  <a:schemeClr val="accent1">
                    <a:lumMod val="75000"/>
                  </a:schemeClr>
                </a:solidFill>
              </a:rPr>
              <a:t>Département de médecine dentaire </a:t>
            </a:r>
          </a:p>
          <a:p>
            <a:pPr algn="ctr"/>
            <a:r>
              <a:rPr lang="fr-FR" sz="2000" b="1" dirty="0">
                <a:solidFill>
                  <a:schemeClr val="accent1">
                    <a:lumMod val="75000"/>
                  </a:schemeClr>
                </a:solidFill>
              </a:rPr>
              <a:t>Module de pharmacologie </a:t>
            </a:r>
          </a:p>
          <a:p>
            <a:pPr algn="ctr"/>
            <a:endParaRPr lang="fr-FR" b="1" dirty="0">
              <a:solidFill>
                <a:schemeClr val="accent1">
                  <a:lumMod val="75000"/>
                </a:schemeClr>
              </a:solidFill>
            </a:endParaRPr>
          </a:p>
          <a:p>
            <a:pPr algn="ctr"/>
            <a:endParaRPr lang="fr-FR" b="1" dirty="0"/>
          </a:p>
        </p:txBody>
      </p:sp>
      <p:sp>
        <p:nvSpPr>
          <p:cNvPr id="6" name="ZoneTexte 5"/>
          <p:cNvSpPr txBox="1"/>
          <p:nvPr/>
        </p:nvSpPr>
        <p:spPr>
          <a:xfrm>
            <a:off x="2928926" y="6215082"/>
            <a:ext cx="3060838" cy="369332"/>
          </a:xfrm>
          <a:prstGeom prst="rect">
            <a:avLst/>
          </a:prstGeom>
          <a:noFill/>
        </p:spPr>
        <p:txBody>
          <a:bodyPr wrap="none" rtlCol="0">
            <a:spAutoFit/>
          </a:bodyPr>
          <a:lstStyle/>
          <a:p>
            <a:r>
              <a:rPr lang="fr-FR" dirty="0"/>
              <a:t>Année universitaire 2024-2025</a:t>
            </a:r>
          </a:p>
        </p:txBody>
      </p:sp>
      <p:sp>
        <p:nvSpPr>
          <p:cNvPr id="7" name="Espace réservé du numéro de diapositive 6"/>
          <p:cNvSpPr>
            <a:spLocks noGrp="1"/>
          </p:cNvSpPr>
          <p:nvPr>
            <p:ph type="sldNum" sz="quarter" idx="12"/>
          </p:nvPr>
        </p:nvSpPr>
        <p:spPr/>
        <p:txBody>
          <a:bodyPr/>
          <a:lstStyle/>
          <a:p>
            <a:fld id="{C62C1073-572C-49BE-A770-6DB0C0ECDC67}" type="slidenum">
              <a:rPr lang="fr-FR" smtClean="0"/>
              <a:pPr/>
              <a:t>1</a:t>
            </a:fld>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4348" y="428604"/>
            <a:ext cx="1785950" cy="642942"/>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fr-FR" sz="2400" dirty="0"/>
              <a:t>Médicament </a:t>
            </a:r>
          </a:p>
        </p:txBody>
      </p:sp>
      <p:sp>
        <p:nvSpPr>
          <p:cNvPr id="6" name="Rectangle à coins arrondis 5"/>
          <p:cNvSpPr/>
          <p:nvPr/>
        </p:nvSpPr>
        <p:spPr>
          <a:xfrm>
            <a:off x="785786" y="2000240"/>
            <a:ext cx="1643074" cy="9286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2400" dirty="0"/>
              <a:t>Circulation générale</a:t>
            </a:r>
          </a:p>
        </p:txBody>
      </p:sp>
      <p:sp>
        <p:nvSpPr>
          <p:cNvPr id="7" name="Rectangle à coins arrondis 6"/>
          <p:cNvSpPr/>
          <p:nvPr/>
        </p:nvSpPr>
        <p:spPr>
          <a:xfrm>
            <a:off x="3929058" y="2000240"/>
            <a:ext cx="1785950" cy="928694"/>
          </a:xfrm>
          <a:prstGeom prst="roundRect">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r>
              <a:rPr lang="fr-FR" sz="2400" dirty="0"/>
              <a:t>Distribution </a:t>
            </a:r>
          </a:p>
        </p:txBody>
      </p:sp>
      <p:sp>
        <p:nvSpPr>
          <p:cNvPr id="8" name="Ellipse 7"/>
          <p:cNvSpPr/>
          <p:nvPr/>
        </p:nvSpPr>
        <p:spPr>
          <a:xfrm>
            <a:off x="3571868" y="3500438"/>
            <a:ext cx="2500330" cy="785818"/>
          </a:xfrm>
          <a:prstGeom prst="ellipse">
            <a:avLst/>
          </a:prstGeom>
          <a:solidFill>
            <a:schemeClr val="accent5">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400" dirty="0">
                <a:solidFill>
                  <a:sysClr val="windowText" lastClr="000000"/>
                </a:solidFill>
              </a:rPr>
              <a:t>Élimination </a:t>
            </a:r>
          </a:p>
        </p:txBody>
      </p:sp>
      <p:sp>
        <p:nvSpPr>
          <p:cNvPr id="9" name="Rectangle à coins arrondis 8"/>
          <p:cNvSpPr/>
          <p:nvPr/>
        </p:nvSpPr>
        <p:spPr>
          <a:xfrm>
            <a:off x="2143108" y="5000636"/>
            <a:ext cx="2000264" cy="71438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200" dirty="0">
                <a:solidFill>
                  <a:sysClr val="windowText" lastClr="000000"/>
                </a:solidFill>
              </a:rPr>
              <a:t>Directe du médicament</a:t>
            </a:r>
          </a:p>
        </p:txBody>
      </p:sp>
      <p:sp>
        <p:nvSpPr>
          <p:cNvPr id="10" name="Rectangle à coins arrondis 9"/>
          <p:cNvSpPr/>
          <p:nvPr/>
        </p:nvSpPr>
        <p:spPr>
          <a:xfrm>
            <a:off x="5500694" y="5000636"/>
            <a:ext cx="2000264" cy="71438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200" dirty="0">
                <a:solidFill>
                  <a:sysClr val="windowText" lastClr="000000"/>
                </a:solidFill>
              </a:rPr>
              <a:t>Transformation </a:t>
            </a:r>
          </a:p>
        </p:txBody>
      </p:sp>
      <p:cxnSp>
        <p:nvCxnSpPr>
          <p:cNvPr id="12" name="Connecteur droit avec flèche 11"/>
          <p:cNvCxnSpPr>
            <a:stCxn id="5" idx="2"/>
            <a:endCxn id="6" idx="0"/>
          </p:cNvCxnSpPr>
          <p:nvPr/>
        </p:nvCxnSpPr>
        <p:spPr>
          <a:xfrm rot="5400000">
            <a:off x="1142976" y="1535893"/>
            <a:ext cx="928694" cy="1588"/>
          </a:xfrm>
          <a:prstGeom prst="straightConnector1">
            <a:avLst/>
          </a:prstGeom>
          <a:ln w="28575">
            <a:tailEnd type="arrow"/>
          </a:ln>
        </p:spPr>
        <p:style>
          <a:lnRef idx="1">
            <a:schemeClr val="accent3"/>
          </a:lnRef>
          <a:fillRef idx="0">
            <a:schemeClr val="accent3"/>
          </a:fillRef>
          <a:effectRef idx="0">
            <a:schemeClr val="accent3"/>
          </a:effectRef>
          <a:fontRef idx="minor">
            <a:schemeClr val="tx1"/>
          </a:fontRef>
        </p:style>
      </p:cxnSp>
      <p:cxnSp>
        <p:nvCxnSpPr>
          <p:cNvPr id="15" name="Connecteur droit avec flèche 14"/>
          <p:cNvCxnSpPr>
            <a:stCxn id="6" idx="3"/>
            <a:endCxn id="7" idx="1"/>
          </p:cNvCxnSpPr>
          <p:nvPr/>
        </p:nvCxnSpPr>
        <p:spPr>
          <a:xfrm>
            <a:off x="2428860" y="2464587"/>
            <a:ext cx="1500198" cy="1588"/>
          </a:xfrm>
          <a:prstGeom prst="straightConnector1">
            <a:avLst/>
          </a:prstGeom>
          <a:ln w="28575">
            <a:tailEnd type="arrow"/>
          </a:ln>
        </p:spPr>
        <p:style>
          <a:lnRef idx="1">
            <a:schemeClr val="accent5"/>
          </a:lnRef>
          <a:fillRef idx="0">
            <a:schemeClr val="accent5"/>
          </a:fillRef>
          <a:effectRef idx="0">
            <a:schemeClr val="accent5"/>
          </a:effectRef>
          <a:fontRef idx="minor">
            <a:schemeClr val="tx1"/>
          </a:fontRef>
        </p:style>
      </p:cxnSp>
      <p:cxnSp>
        <p:nvCxnSpPr>
          <p:cNvPr id="17" name="Connecteur droit avec flèche 16"/>
          <p:cNvCxnSpPr>
            <a:stCxn id="7" idx="2"/>
            <a:endCxn id="8" idx="0"/>
          </p:cNvCxnSpPr>
          <p:nvPr/>
        </p:nvCxnSpPr>
        <p:spPr>
          <a:xfrm rot="5400000">
            <a:off x="4536281" y="3214686"/>
            <a:ext cx="571504"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Connecteur en angle 20"/>
          <p:cNvCxnSpPr>
            <a:stCxn id="8" idx="4"/>
            <a:endCxn id="9" idx="0"/>
          </p:cNvCxnSpPr>
          <p:nvPr/>
        </p:nvCxnSpPr>
        <p:spPr>
          <a:xfrm rot="5400000">
            <a:off x="3625447" y="3804050"/>
            <a:ext cx="714380" cy="167879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Connecteur en angle 22"/>
          <p:cNvCxnSpPr>
            <a:stCxn id="8" idx="4"/>
            <a:endCxn id="10" idx="0"/>
          </p:cNvCxnSpPr>
          <p:nvPr/>
        </p:nvCxnSpPr>
        <p:spPr>
          <a:xfrm rot="16200000" flipH="1">
            <a:off x="5304239" y="3804049"/>
            <a:ext cx="714380" cy="167879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2143108" y="5929330"/>
            <a:ext cx="2071702" cy="78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ysClr val="windowText" lastClr="000000"/>
                </a:solidFill>
              </a:rPr>
              <a:t>Excrétion rénale et biliaire</a:t>
            </a:r>
          </a:p>
        </p:txBody>
      </p:sp>
      <p:sp>
        <p:nvSpPr>
          <p:cNvPr id="33" name="Rectangle 32"/>
          <p:cNvSpPr/>
          <p:nvPr/>
        </p:nvSpPr>
        <p:spPr>
          <a:xfrm>
            <a:off x="5500694" y="5929330"/>
            <a:ext cx="2071702" cy="7857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solidFill>
                  <a:sysClr val="windowText" lastClr="000000"/>
                </a:solidFill>
              </a:rPr>
              <a:t>Métabolite hydrosoluble facilement excrété</a:t>
            </a:r>
          </a:p>
        </p:txBody>
      </p:sp>
      <p:sp>
        <p:nvSpPr>
          <p:cNvPr id="16" name="Titre 1"/>
          <p:cNvSpPr txBox="1">
            <a:spLocks/>
          </p:cNvSpPr>
          <p:nvPr/>
        </p:nvSpPr>
        <p:spPr>
          <a:xfrm>
            <a:off x="3286116" y="0"/>
            <a:ext cx="8229600" cy="91440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fr-FR" sz="3200" b="0" i="0" u="none" strike="noStrike" kern="1200" cap="none" spc="0" normalizeH="0" baseline="0" noProof="0" dirty="0">
                <a:ln>
                  <a:noFill/>
                </a:ln>
                <a:solidFill>
                  <a:schemeClr val="tx2"/>
                </a:solidFill>
                <a:effectLst/>
                <a:uLnTx/>
                <a:uFillTx/>
                <a:latin typeface="+mj-lt"/>
                <a:ea typeface="+mj-ea"/>
                <a:cs typeface="+mj-cs"/>
              </a:rPr>
              <a:t>Introduction: </a:t>
            </a:r>
          </a:p>
        </p:txBody>
      </p:sp>
      <p:sp>
        <p:nvSpPr>
          <p:cNvPr id="18" name="Espace réservé du numéro de diapositive 17"/>
          <p:cNvSpPr>
            <a:spLocks noGrp="1"/>
          </p:cNvSpPr>
          <p:nvPr>
            <p:ph type="sldNum" sz="quarter" idx="12"/>
          </p:nvPr>
        </p:nvSpPr>
        <p:spPr/>
        <p:txBody>
          <a:bodyPr/>
          <a:lstStyle/>
          <a:p>
            <a:fld id="{C62C1073-572C-49BE-A770-6DB0C0ECDC67}" type="slidenum">
              <a:rPr lang="fr-FR" smtClean="0"/>
              <a:pPr/>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Left)">
                                      <p:cBhvr>
                                        <p:cTn id="17" dur="500"/>
                                        <p:tgtEl>
                                          <p:spTgt spid="6"/>
                                        </p:tgtEl>
                                      </p:cBhvr>
                                    </p:animEffec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2000"/>
                            </p:stCondLst>
                            <p:childTnLst>
                              <p:par>
                                <p:cTn id="23" presetID="37"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900" decel="100000" fill="hold"/>
                                        <p:tgtEl>
                                          <p:spTgt spid="7"/>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par>
                          <p:cTn id="29" fill="hold">
                            <p:stCondLst>
                              <p:cond delay="3000"/>
                            </p:stCondLst>
                            <p:childTnLst>
                              <p:par>
                                <p:cTn id="30" presetID="22" presetClass="entr" presetSubtype="1" fill="hold"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500"/>
                                        <p:tgtEl>
                                          <p:spTgt spid="17"/>
                                        </p:tgtEl>
                                      </p:cBhvr>
                                    </p:animEffect>
                                  </p:childTnLst>
                                </p:cTn>
                              </p:par>
                            </p:childTnLst>
                          </p:cTn>
                        </p:par>
                        <p:par>
                          <p:cTn id="33" fill="hold">
                            <p:stCondLst>
                              <p:cond delay="3500"/>
                            </p:stCondLst>
                            <p:childTnLst>
                              <p:par>
                                <p:cTn id="34" presetID="53"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par>
                          <p:cTn id="39" fill="hold">
                            <p:stCondLst>
                              <p:cond delay="4000"/>
                            </p:stCondLst>
                            <p:childTnLst>
                              <p:par>
                                <p:cTn id="40" presetID="22" presetClass="entr" presetSubtype="2"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right)">
                                      <p:cBhvr>
                                        <p:cTn id="42" dur="500"/>
                                        <p:tgtEl>
                                          <p:spTgt spid="21"/>
                                        </p:tgtEl>
                                      </p:cBhvr>
                                    </p:animEffect>
                                  </p:childTnLst>
                                </p:cTn>
                              </p:par>
                            </p:childTnLst>
                          </p:cTn>
                        </p:par>
                        <p:par>
                          <p:cTn id="43" fill="hold">
                            <p:stCondLst>
                              <p:cond delay="4500"/>
                            </p:stCondLst>
                            <p:childTnLst>
                              <p:par>
                                <p:cTn id="44" presetID="2" presetClass="entr" presetSubtype="4"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childTnLst>
                          </p:cTn>
                        </p:par>
                        <p:par>
                          <p:cTn id="48" fill="hold">
                            <p:stCondLst>
                              <p:cond delay="5000"/>
                            </p:stCondLst>
                            <p:childTnLst>
                              <p:par>
                                <p:cTn id="49" presetID="2" presetClass="entr" presetSubtype="4" fill="hold" grpId="0" nodeType="afterEffect">
                                  <p:stCondLst>
                                    <p:cond delay="0"/>
                                  </p:stCondLst>
                                  <p:childTnLst>
                                    <p:set>
                                      <p:cBhvr>
                                        <p:cTn id="50" dur="1" fill="hold">
                                          <p:stCondLst>
                                            <p:cond delay="0"/>
                                          </p:stCondLst>
                                        </p:cTn>
                                        <p:tgtEl>
                                          <p:spTgt spid="32"/>
                                        </p:tgtEl>
                                        <p:attrNameLst>
                                          <p:attrName>style.visibility</p:attrName>
                                        </p:attrNameLst>
                                      </p:cBhvr>
                                      <p:to>
                                        <p:strVal val="visible"/>
                                      </p:to>
                                    </p:set>
                                    <p:anim calcmode="lin" valueType="num">
                                      <p:cBhvr additive="base">
                                        <p:cTn id="51" dur="500" fill="hold"/>
                                        <p:tgtEl>
                                          <p:spTgt spid="32"/>
                                        </p:tgtEl>
                                        <p:attrNameLst>
                                          <p:attrName>ppt_x</p:attrName>
                                        </p:attrNameLst>
                                      </p:cBhvr>
                                      <p:tavLst>
                                        <p:tav tm="0">
                                          <p:val>
                                            <p:strVal val="#ppt_x"/>
                                          </p:val>
                                        </p:tav>
                                        <p:tav tm="100000">
                                          <p:val>
                                            <p:strVal val="#ppt_x"/>
                                          </p:val>
                                        </p:tav>
                                      </p:tavLst>
                                    </p:anim>
                                    <p:anim calcmode="lin" valueType="num">
                                      <p:cBhvr additive="base">
                                        <p:cTn id="52" dur="500" fill="hold"/>
                                        <p:tgtEl>
                                          <p:spTgt spid="32"/>
                                        </p:tgtEl>
                                        <p:attrNameLst>
                                          <p:attrName>ppt_y</p:attrName>
                                        </p:attrNameLst>
                                      </p:cBhvr>
                                      <p:tavLst>
                                        <p:tav tm="0">
                                          <p:val>
                                            <p:strVal val="1+#ppt_h/2"/>
                                          </p:val>
                                        </p:tav>
                                        <p:tav tm="100000">
                                          <p:val>
                                            <p:strVal val="#ppt_y"/>
                                          </p:val>
                                        </p:tav>
                                      </p:tavLst>
                                    </p:anim>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par>
                          <p:cTn id="57" fill="hold">
                            <p:stCondLst>
                              <p:cond delay="6000"/>
                            </p:stCondLst>
                            <p:childTnLst>
                              <p:par>
                                <p:cTn id="58" presetID="2" presetClass="entr" presetSubtype="4" fill="hold" grpId="0" nodeType="afterEffect">
                                  <p:stCondLst>
                                    <p:cond delay="0"/>
                                  </p:stCondLst>
                                  <p:childTnLst>
                                    <p:set>
                                      <p:cBhvr>
                                        <p:cTn id="59" dur="1" fill="hold">
                                          <p:stCondLst>
                                            <p:cond delay="0"/>
                                          </p:stCondLst>
                                        </p:cTn>
                                        <p:tgtEl>
                                          <p:spTgt spid="10"/>
                                        </p:tgtEl>
                                        <p:attrNameLst>
                                          <p:attrName>style.visibility</p:attrName>
                                        </p:attrNameLst>
                                      </p:cBhvr>
                                      <p:to>
                                        <p:strVal val="visible"/>
                                      </p:to>
                                    </p:set>
                                    <p:anim calcmode="lin" valueType="num">
                                      <p:cBhvr additive="base">
                                        <p:cTn id="60" dur="500" fill="hold"/>
                                        <p:tgtEl>
                                          <p:spTgt spid="10"/>
                                        </p:tgtEl>
                                        <p:attrNameLst>
                                          <p:attrName>ppt_x</p:attrName>
                                        </p:attrNameLst>
                                      </p:cBhvr>
                                      <p:tavLst>
                                        <p:tav tm="0">
                                          <p:val>
                                            <p:strVal val="#ppt_x"/>
                                          </p:val>
                                        </p:tav>
                                        <p:tav tm="100000">
                                          <p:val>
                                            <p:strVal val="#ppt_x"/>
                                          </p:val>
                                        </p:tav>
                                      </p:tavLst>
                                    </p:anim>
                                    <p:anim calcmode="lin" valueType="num">
                                      <p:cBhvr additive="base">
                                        <p:cTn id="61" dur="500" fill="hold"/>
                                        <p:tgtEl>
                                          <p:spTgt spid="10"/>
                                        </p:tgtEl>
                                        <p:attrNameLst>
                                          <p:attrName>ppt_y</p:attrName>
                                        </p:attrNameLst>
                                      </p:cBhvr>
                                      <p:tavLst>
                                        <p:tav tm="0">
                                          <p:val>
                                            <p:strVal val="1+#ppt_h/2"/>
                                          </p:val>
                                        </p:tav>
                                        <p:tav tm="100000">
                                          <p:val>
                                            <p:strVal val="#ppt_y"/>
                                          </p:val>
                                        </p:tav>
                                      </p:tavLst>
                                    </p:anim>
                                  </p:childTnLst>
                                </p:cTn>
                              </p:par>
                            </p:childTnLst>
                          </p:cTn>
                        </p:par>
                        <p:par>
                          <p:cTn id="62" fill="hold">
                            <p:stCondLst>
                              <p:cond delay="6500"/>
                            </p:stCondLst>
                            <p:childTnLst>
                              <p:par>
                                <p:cTn id="63" presetID="2" presetClass="entr" presetSubtype="4"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 calcmode="lin" valueType="num">
                                      <p:cBhvr additive="base">
                                        <p:cTn id="65" dur="500" fill="hold"/>
                                        <p:tgtEl>
                                          <p:spTgt spid="33"/>
                                        </p:tgtEl>
                                        <p:attrNameLst>
                                          <p:attrName>ppt_x</p:attrName>
                                        </p:attrNameLst>
                                      </p:cBhvr>
                                      <p:tavLst>
                                        <p:tav tm="0">
                                          <p:val>
                                            <p:strVal val="#ppt_x"/>
                                          </p:val>
                                        </p:tav>
                                        <p:tav tm="100000">
                                          <p:val>
                                            <p:strVal val="#ppt_x"/>
                                          </p:val>
                                        </p:tav>
                                      </p:tavLst>
                                    </p:anim>
                                    <p:anim calcmode="lin" valueType="num">
                                      <p:cBhvr additive="base">
                                        <p:cTn id="6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32" grpId="0"/>
      <p:bldP spid="3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re 1"/>
          <p:cNvSpPr txBox="1">
            <a:spLocks/>
          </p:cNvSpPr>
          <p:nvPr/>
        </p:nvSpPr>
        <p:spPr>
          <a:xfrm>
            <a:off x="3286116" y="0"/>
            <a:ext cx="8229600" cy="91440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fr-FR" sz="3200" b="0" i="0" u="none" strike="noStrike" kern="1200" cap="none" spc="0" normalizeH="0" baseline="0" noProof="0" dirty="0">
                <a:ln>
                  <a:noFill/>
                </a:ln>
                <a:solidFill>
                  <a:schemeClr val="tx2"/>
                </a:solidFill>
                <a:effectLst/>
                <a:uLnTx/>
                <a:uFillTx/>
                <a:latin typeface="+mj-lt"/>
                <a:ea typeface="+mj-ea"/>
                <a:cs typeface="+mj-cs"/>
              </a:rPr>
              <a:t>Introduction: </a:t>
            </a:r>
          </a:p>
        </p:txBody>
      </p:sp>
      <p:pic>
        <p:nvPicPr>
          <p:cNvPr id="9218" name="Picture 2"/>
          <p:cNvPicPr>
            <a:picLocks noChangeAspect="1" noChangeArrowheads="1"/>
          </p:cNvPicPr>
          <p:nvPr/>
        </p:nvPicPr>
        <p:blipFill>
          <a:blip r:embed="rId2"/>
          <a:srcRect/>
          <a:stretch>
            <a:fillRect/>
          </a:stretch>
        </p:blipFill>
        <p:spPr bwMode="auto">
          <a:xfrm>
            <a:off x="57150" y="471488"/>
            <a:ext cx="9029700" cy="5915025"/>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1357322"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Définition </a:t>
            </a:r>
          </a:p>
        </p:txBody>
      </p:sp>
      <p:sp>
        <p:nvSpPr>
          <p:cNvPr id="4" name="Rectangle 3"/>
          <p:cNvSpPr/>
          <p:nvPr/>
        </p:nvSpPr>
        <p:spPr>
          <a:xfrm>
            <a:off x="571472" y="1305342"/>
            <a:ext cx="8001056" cy="5262979"/>
          </a:xfrm>
          <a:prstGeom prst="rect">
            <a:avLst/>
          </a:prstGeom>
        </p:spPr>
        <p:txBody>
          <a:bodyPr wrap="square">
            <a:spAutoFit/>
          </a:bodyPr>
          <a:lstStyle/>
          <a:p>
            <a:pPr algn="just">
              <a:buFont typeface="Wingdings" pitchFamily="2" charset="2"/>
              <a:buChar char="Ø"/>
            </a:pPr>
            <a:r>
              <a:rPr lang="fr-FR" sz="2800" dirty="0"/>
              <a:t>C’est l’ensemble de biotransformations que va subir le médicament.</a:t>
            </a:r>
          </a:p>
          <a:p>
            <a:pPr algn="just">
              <a:buFont typeface="Wingdings" pitchFamily="2" charset="2"/>
              <a:buChar char="Ø"/>
            </a:pPr>
            <a:r>
              <a:rPr lang="fr-FR" sz="2800" dirty="0"/>
              <a:t>Biotransformation</a:t>
            </a:r>
            <a:r>
              <a:rPr lang="fr-FR" sz="2800" dirty="0">
                <a:cs typeface="Times New Roman"/>
              </a:rPr>
              <a:t>→</a:t>
            </a:r>
            <a:r>
              <a:rPr lang="fr-FR" sz="2800" dirty="0"/>
              <a:t> les diverses </a:t>
            </a:r>
            <a:r>
              <a:rPr lang="fr-FR" sz="2800" dirty="0">
                <a:solidFill>
                  <a:schemeClr val="accent4">
                    <a:lumMod val="75000"/>
                  </a:schemeClr>
                </a:solidFill>
              </a:rPr>
              <a:t>modifications chimiques </a:t>
            </a:r>
            <a:r>
              <a:rPr lang="fr-FR" sz="2800" dirty="0"/>
              <a:t>que subissent les médicaments dans l’organisme pour donner naissance à un ou plusieurs composés, dit </a:t>
            </a:r>
            <a:r>
              <a:rPr lang="fr-FR" sz="2800" dirty="0">
                <a:solidFill>
                  <a:schemeClr val="accent4">
                    <a:lumMod val="75000"/>
                  </a:schemeClr>
                </a:solidFill>
              </a:rPr>
              <a:t>métabolites</a:t>
            </a:r>
            <a:r>
              <a:rPr lang="fr-FR" sz="2800" dirty="0"/>
              <a:t> </a:t>
            </a:r>
          </a:p>
          <a:p>
            <a:pPr algn="just">
              <a:buFont typeface="Wingdings" pitchFamily="2" charset="2"/>
              <a:buChar char="Ø"/>
            </a:pPr>
            <a:r>
              <a:rPr lang="fr-FR" sz="2800" dirty="0"/>
              <a:t>Les biotransformations sont </a:t>
            </a:r>
            <a:r>
              <a:rPr lang="fr-FR" sz="2800" dirty="0">
                <a:solidFill>
                  <a:schemeClr val="accent4">
                    <a:lumMod val="75000"/>
                  </a:schemeClr>
                </a:solidFill>
              </a:rPr>
              <a:t>principalement </a:t>
            </a:r>
            <a:r>
              <a:rPr lang="fr-FR" sz="2800" dirty="0"/>
              <a:t>effectuées par des </a:t>
            </a:r>
            <a:r>
              <a:rPr lang="fr-FR" sz="2800" dirty="0">
                <a:solidFill>
                  <a:schemeClr val="accent4">
                    <a:lumMod val="75000"/>
                  </a:schemeClr>
                </a:solidFill>
              </a:rPr>
              <a:t>réactions enzymatiques.</a:t>
            </a:r>
          </a:p>
          <a:p>
            <a:pPr algn="just">
              <a:buFont typeface="Wingdings" pitchFamily="2" charset="2"/>
              <a:buChar char="Ø"/>
            </a:pPr>
            <a:r>
              <a:rPr lang="fr-FR" sz="2800" dirty="0"/>
              <a:t> Il conduit à la formation de </a:t>
            </a:r>
            <a:r>
              <a:rPr lang="fr-FR" sz="2800" dirty="0">
                <a:solidFill>
                  <a:schemeClr val="accent4">
                    <a:lumMod val="75000"/>
                  </a:schemeClr>
                </a:solidFill>
              </a:rPr>
              <a:t>substances hydrosolubles et polaires </a:t>
            </a:r>
            <a:r>
              <a:rPr lang="fr-FR" sz="2800" dirty="0"/>
              <a:t>plus </a:t>
            </a:r>
            <a:r>
              <a:rPr lang="fr-FR" sz="2800" dirty="0">
                <a:solidFill>
                  <a:schemeClr val="accent4">
                    <a:lumMod val="75000"/>
                  </a:schemeClr>
                </a:solidFill>
              </a:rPr>
              <a:t>facilement éliminées</a:t>
            </a:r>
            <a:r>
              <a:rPr lang="fr-FR" sz="2800" dirty="0"/>
              <a:t> par les milieux aqueux ( urine, salive, sueur)</a:t>
            </a:r>
          </a:p>
          <a:p>
            <a:pPr algn="just"/>
            <a:endParaRPr lang="fr-FR" sz="2800" dirty="0"/>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4</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checkerboard(across)">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ox(in)">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checkerboard(across)">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4286280"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Conséquences du métabolisme  </a:t>
            </a:r>
          </a:p>
        </p:txBody>
      </p:sp>
      <p:sp>
        <p:nvSpPr>
          <p:cNvPr id="4" name="Rectangle 3"/>
          <p:cNvSpPr/>
          <p:nvPr/>
        </p:nvSpPr>
        <p:spPr>
          <a:xfrm>
            <a:off x="0" y="1285860"/>
            <a:ext cx="9001156" cy="1200329"/>
          </a:xfrm>
          <a:prstGeom prst="rect">
            <a:avLst/>
          </a:prstGeom>
        </p:spPr>
        <p:txBody>
          <a:bodyPr wrap="square">
            <a:spAutoFit/>
          </a:bodyPr>
          <a:lstStyle/>
          <a:p>
            <a:r>
              <a:rPr lang="fr-FR" sz="2400" b="1" dirty="0"/>
              <a:t>A) Formation d’un métabolite inactif à partir d’une substance initialement active :</a:t>
            </a:r>
          </a:p>
          <a:p>
            <a:r>
              <a:rPr lang="fr-FR" sz="2400" dirty="0"/>
              <a:t>Ex : Phénobarbital (GARDENAL®) =&gt; para </a:t>
            </a:r>
            <a:r>
              <a:rPr lang="fr-FR" sz="2400" dirty="0" err="1"/>
              <a:t>hydroxy</a:t>
            </a:r>
            <a:r>
              <a:rPr lang="fr-FR" sz="2400" dirty="0"/>
              <a:t> phénobarbital</a:t>
            </a:r>
          </a:p>
        </p:txBody>
      </p:sp>
      <p:sp>
        <p:nvSpPr>
          <p:cNvPr id="5" name="Rectangle 4"/>
          <p:cNvSpPr/>
          <p:nvPr/>
        </p:nvSpPr>
        <p:spPr>
          <a:xfrm>
            <a:off x="0" y="2643182"/>
            <a:ext cx="9215502" cy="1200329"/>
          </a:xfrm>
          <a:prstGeom prst="rect">
            <a:avLst/>
          </a:prstGeom>
        </p:spPr>
        <p:txBody>
          <a:bodyPr wrap="square">
            <a:spAutoFit/>
          </a:bodyPr>
          <a:lstStyle/>
          <a:p>
            <a:r>
              <a:rPr lang="fr-FR" sz="2400" b="1" dirty="0"/>
              <a:t>B) Formation d’un métabolite actif à partir d’une substance initialement active :</a:t>
            </a:r>
          </a:p>
          <a:p>
            <a:r>
              <a:rPr lang="fr-FR" sz="2400" dirty="0"/>
              <a:t>Ex : diazépam (Valium®) =&gt; </a:t>
            </a:r>
            <a:r>
              <a:rPr lang="fr-FR" sz="2400" dirty="0" err="1"/>
              <a:t>oxazépam</a:t>
            </a:r>
            <a:r>
              <a:rPr lang="fr-FR" sz="2400" dirty="0"/>
              <a:t> (activité similaire)</a:t>
            </a:r>
          </a:p>
        </p:txBody>
      </p:sp>
      <p:sp>
        <p:nvSpPr>
          <p:cNvPr id="6" name="Rectangle 5"/>
          <p:cNvSpPr/>
          <p:nvPr/>
        </p:nvSpPr>
        <p:spPr>
          <a:xfrm>
            <a:off x="0" y="3929066"/>
            <a:ext cx="9215502" cy="1200329"/>
          </a:xfrm>
          <a:prstGeom prst="rect">
            <a:avLst/>
          </a:prstGeom>
        </p:spPr>
        <p:txBody>
          <a:bodyPr wrap="square">
            <a:spAutoFit/>
          </a:bodyPr>
          <a:lstStyle/>
          <a:p>
            <a:r>
              <a:rPr lang="fr-FR" sz="2400" b="1" dirty="0"/>
              <a:t>C) Formation d’un métabolite actif à partir d’une substance initialement inactive :</a:t>
            </a:r>
          </a:p>
          <a:p>
            <a:r>
              <a:rPr lang="fr-FR" sz="2400" dirty="0"/>
              <a:t>Ex : </a:t>
            </a:r>
            <a:r>
              <a:rPr lang="fr-FR" sz="2400" dirty="0" err="1"/>
              <a:t>Spironolactone</a:t>
            </a:r>
            <a:r>
              <a:rPr lang="fr-FR" sz="2400" dirty="0"/>
              <a:t> (ALDACTON®) =&gt; </a:t>
            </a:r>
            <a:r>
              <a:rPr lang="fr-FR" sz="2400" dirty="0" err="1"/>
              <a:t>conrérone</a:t>
            </a:r>
            <a:endParaRPr lang="fr-FR" sz="2400" dirty="0"/>
          </a:p>
        </p:txBody>
      </p:sp>
      <p:sp>
        <p:nvSpPr>
          <p:cNvPr id="7" name="Rectangle 6"/>
          <p:cNvSpPr/>
          <p:nvPr/>
        </p:nvSpPr>
        <p:spPr>
          <a:xfrm>
            <a:off x="142844" y="5143512"/>
            <a:ext cx="8858312" cy="1569660"/>
          </a:xfrm>
          <a:prstGeom prst="rect">
            <a:avLst/>
          </a:prstGeom>
        </p:spPr>
        <p:txBody>
          <a:bodyPr wrap="square">
            <a:spAutoFit/>
          </a:bodyPr>
          <a:lstStyle/>
          <a:p>
            <a:pPr algn="just"/>
            <a:r>
              <a:rPr lang="fr-FR" sz="2400" b="1" dirty="0"/>
              <a:t>D) Formation de métabolites réactifs toxiques :</a:t>
            </a:r>
          </a:p>
          <a:p>
            <a:pPr algn="just"/>
            <a:r>
              <a:rPr lang="fr-FR" sz="2400" dirty="0"/>
              <a:t>Ex : Paracétamol =&gt; N-</a:t>
            </a:r>
            <a:r>
              <a:rPr lang="fr-FR" sz="2400" dirty="0" err="1"/>
              <a:t>acétyl</a:t>
            </a:r>
            <a:r>
              <a:rPr lang="fr-FR" sz="2400" dirty="0"/>
              <a:t>-para-</a:t>
            </a:r>
            <a:r>
              <a:rPr lang="fr-FR" sz="2400" dirty="0" err="1"/>
              <a:t>benzo</a:t>
            </a:r>
            <a:r>
              <a:rPr lang="fr-FR" sz="2400" dirty="0"/>
              <a:t>-quinone-imine : ce dernier est  un métabolite intermédiaire qui est </a:t>
            </a:r>
            <a:r>
              <a:rPr lang="fr-FR" sz="2400" dirty="0" err="1"/>
              <a:t>détoxifié</a:t>
            </a:r>
            <a:r>
              <a:rPr lang="fr-FR" sz="2400" dirty="0"/>
              <a:t> en présence de glutathion </a:t>
            </a:r>
          </a:p>
        </p:txBody>
      </p:sp>
      <p:pic>
        <p:nvPicPr>
          <p:cNvPr id="1026" name="Picture 2"/>
          <p:cNvPicPr>
            <a:picLocks noChangeAspect="1" noChangeArrowheads="1"/>
          </p:cNvPicPr>
          <p:nvPr/>
        </p:nvPicPr>
        <p:blipFill>
          <a:blip r:embed="rId2"/>
          <a:srcRect/>
          <a:stretch>
            <a:fillRect/>
          </a:stretch>
        </p:blipFill>
        <p:spPr bwMode="auto">
          <a:xfrm>
            <a:off x="1142976" y="1643050"/>
            <a:ext cx="6048375" cy="4362450"/>
          </a:xfrm>
          <a:prstGeom prst="rect">
            <a:avLst/>
          </a:prstGeom>
          <a:noFill/>
          <a:ln w="9525">
            <a:noFill/>
            <a:miter lim="800000"/>
            <a:headEnd/>
            <a:tailEnd/>
          </a:ln>
          <a:effectLst/>
        </p:spPr>
      </p:pic>
      <p:sp>
        <p:nvSpPr>
          <p:cNvPr id="9" name="Espace réservé du numéro de diapositive 8"/>
          <p:cNvSpPr>
            <a:spLocks noGrp="1"/>
          </p:cNvSpPr>
          <p:nvPr>
            <p:ph type="sldNum" sz="quarter" idx="12"/>
          </p:nvPr>
        </p:nvSpPr>
        <p:spPr/>
        <p:txBody>
          <a:bodyPr/>
          <a:lstStyle/>
          <a:p>
            <a:fld id="{C62C1073-572C-49BE-A770-6DB0C0ECDC67}" type="slidenum">
              <a:rPr lang="fr-FR" smtClean="0"/>
              <a:pPr/>
              <a:t>5</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nodeType="clickEffect">
                                  <p:stCondLst>
                                    <p:cond delay="0"/>
                                  </p:stCondLst>
                                  <p:childTnLst>
                                    <p:animEffect transition="out" filter="box(in)">
                                      <p:cBhvr>
                                        <p:cTn id="6" dur="500"/>
                                        <p:tgtEl>
                                          <p:spTgt spid="1026"/>
                                        </p:tgtEl>
                                      </p:cBhvr>
                                    </p:animEffect>
                                    <p:set>
                                      <p:cBhvr>
                                        <p:cTn id="7" dur="1" fill="hold">
                                          <p:stCondLst>
                                            <p:cond delay="499"/>
                                          </p:stCondLst>
                                        </p:cTn>
                                        <p:tgtEl>
                                          <p:spTgt spid="10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ox(in)">
                                      <p:cBhvr>
                                        <p:cTn id="12" dur="500"/>
                                        <p:tgtEl>
                                          <p:spTgt spid="4">
                                            <p:txEl>
                                              <p:pRg st="0" end="0"/>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box(in)">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box(in)">
                                      <p:cBhvr>
                                        <p:cTn id="20" dur="500"/>
                                        <p:tgtEl>
                                          <p:spTgt spid="5">
                                            <p:txEl>
                                              <p:pRg st="0" end="0"/>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box(in)">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ox(in)">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ox(in)">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1357322"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Lieu   </a:t>
            </a:r>
          </a:p>
        </p:txBody>
      </p:sp>
      <p:pic>
        <p:nvPicPr>
          <p:cNvPr id="2051" name="Picture 3"/>
          <p:cNvPicPr>
            <a:picLocks noChangeAspect="1" noChangeArrowheads="1"/>
          </p:cNvPicPr>
          <p:nvPr/>
        </p:nvPicPr>
        <p:blipFill>
          <a:blip r:embed="rId2"/>
          <a:srcRect/>
          <a:stretch>
            <a:fillRect/>
          </a:stretch>
        </p:blipFill>
        <p:spPr bwMode="auto">
          <a:xfrm>
            <a:off x="0" y="1571612"/>
            <a:ext cx="5124450" cy="3752850"/>
          </a:xfrm>
          <a:prstGeom prst="rect">
            <a:avLst/>
          </a:prstGeom>
          <a:noFill/>
          <a:ln w="9525">
            <a:noFill/>
            <a:miter lim="800000"/>
            <a:headEnd/>
            <a:tailEnd/>
          </a:ln>
          <a:effectLst/>
        </p:spPr>
      </p:pic>
      <p:sp>
        <p:nvSpPr>
          <p:cNvPr id="6" name="ZoneTexte 5"/>
          <p:cNvSpPr txBox="1"/>
          <p:nvPr/>
        </p:nvSpPr>
        <p:spPr>
          <a:xfrm>
            <a:off x="500034" y="1142984"/>
            <a:ext cx="147527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fr-FR" dirty="0"/>
              <a:t>Site tissulaire </a:t>
            </a:r>
          </a:p>
        </p:txBody>
      </p:sp>
      <p:cxnSp>
        <p:nvCxnSpPr>
          <p:cNvPr id="8" name="Connecteur droit avec flèche 7"/>
          <p:cNvCxnSpPr/>
          <p:nvPr/>
        </p:nvCxnSpPr>
        <p:spPr>
          <a:xfrm>
            <a:off x="1500166" y="4857760"/>
            <a:ext cx="1857388" cy="1588"/>
          </a:xfrm>
          <a:prstGeom prst="straightConnector1">
            <a:avLst/>
          </a:prstGeom>
          <a:ln w="28575">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714348" y="4572008"/>
            <a:ext cx="583814" cy="369332"/>
          </a:xfrm>
          <a:prstGeom prst="rect">
            <a:avLst/>
          </a:prstGeom>
          <a:noFill/>
        </p:spPr>
        <p:txBody>
          <a:bodyPr wrap="none" rtlCol="0">
            <a:spAutoFit/>
          </a:bodyPr>
          <a:lstStyle/>
          <a:p>
            <a:r>
              <a:rPr lang="fr-FR" dirty="0"/>
              <a:t>sang</a:t>
            </a:r>
          </a:p>
        </p:txBody>
      </p:sp>
      <p:sp>
        <p:nvSpPr>
          <p:cNvPr id="11" name="ZoneTexte 10"/>
          <p:cNvSpPr txBox="1"/>
          <p:nvPr/>
        </p:nvSpPr>
        <p:spPr>
          <a:xfrm>
            <a:off x="357158" y="5500702"/>
            <a:ext cx="4786346" cy="646331"/>
          </a:xfrm>
          <a:prstGeom prst="rect">
            <a:avLst/>
          </a:prstGeom>
          <a:noFill/>
        </p:spPr>
        <p:txBody>
          <a:bodyPr wrap="square" rtlCol="0">
            <a:spAutoFit/>
          </a:bodyPr>
          <a:lstStyle/>
          <a:p>
            <a:pPr algn="ctr"/>
            <a:r>
              <a:rPr lang="fr-FR" dirty="0"/>
              <a:t>De nombreux tissus participent au métabolisme des médicaments </a:t>
            </a:r>
          </a:p>
        </p:txBody>
      </p:sp>
      <p:pic>
        <p:nvPicPr>
          <p:cNvPr id="2052" name="Picture 4"/>
          <p:cNvPicPr>
            <a:picLocks noChangeAspect="1" noChangeArrowheads="1"/>
          </p:cNvPicPr>
          <p:nvPr/>
        </p:nvPicPr>
        <p:blipFill>
          <a:blip r:embed="rId3"/>
          <a:srcRect/>
          <a:stretch>
            <a:fillRect/>
          </a:stretch>
        </p:blipFill>
        <p:spPr bwMode="auto">
          <a:xfrm>
            <a:off x="5357818" y="2000240"/>
            <a:ext cx="3457575" cy="2571750"/>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srcRect/>
          <a:stretch>
            <a:fillRect/>
          </a:stretch>
        </p:blipFill>
        <p:spPr bwMode="auto">
          <a:xfrm>
            <a:off x="6643702" y="1285860"/>
            <a:ext cx="1038225" cy="438150"/>
          </a:xfrm>
          <a:prstGeom prst="rect">
            <a:avLst/>
          </a:prstGeom>
          <a:noFill/>
          <a:ln w="9525">
            <a:noFill/>
            <a:miter lim="800000"/>
            <a:headEnd/>
            <a:tailEnd/>
          </a:ln>
          <a:effectLst/>
        </p:spPr>
      </p:pic>
      <p:sp>
        <p:nvSpPr>
          <p:cNvPr id="14" name="ZoneTexte 13"/>
          <p:cNvSpPr txBox="1"/>
          <p:nvPr/>
        </p:nvSpPr>
        <p:spPr>
          <a:xfrm>
            <a:off x="6000760" y="4714884"/>
            <a:ext cx="2683748" cy="923330"/>
          </a:xfrm>
          <a:prstGeom prst="rect">
            <a:avLst/>
          </a:prstGeom>
          <a:noFill/>
        </p:spPr>
        <p:txBody>
          <a:bodyPr wrap="none" rtlCol="0">
            <a:spAutoFit/>
          </a:bodyPr>
          <a:lstStyle/>
          <a:p>
            <a:pPr>
              <a:buFont typeface="Wingdings" pitchFamily="2" charset="2"/>
              <a:buChar char="§"/>
            </a:pPr>
            <a:r>
              <a:rPr lang="fr-FR" dirty="0"/>
              <a:t>Localisation anatomique</a:t>
            </a:r>
          </a:p>
          <a:p>
            <a:pPr>
              <a:buFont typeface="Wingdings" pitchFamily="2" charset="2"/>
              <a:buChar char="§"/>
            </a:pPr>
            <a:r>
              <a:rPr lang="fr-FR" dirty="0"/>
              <a:t>Enzymes riches et variées</a:t>
            </a:r>
          </a:p>
          <a:p>
            <a:pPr>
              <a:buFont typeface="Wingdings" pitchFamily="2" charset="2"/>
              <a:buChar char="§"/>
            </a:pPr>
            <a:r>
              <a:rPr lang="fr-FR" dirty="0"/>
              <a:t>Débit sanguin 1,5L/min</a:t>
            </a:r>
          </a:p>
        </p:txBody>
      </p:sp>
      <p:sp>
        <p:nvSpPr>
          <p:cNvPr id="15" name="Flèche droite 14"/>
          <p:cNvSpPr/>
          <p:nvPr/>
        </p:nvSpPr>
        <p:spPr>
          <a:xfrm>
            <a:off x="4643438" y="3286124"/>
            <a:ext cx="978408" cy="484632"/>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6" name="Espace réservé du numéro de diapositive 15"/>
          <p:cNvSpPr>
            <a:spLocks noGrp="1"/>
          </p:cNvSpPr>
          <p:nvPr>
            <p:ph type="sldNum" sz="quarter" idx="12"/>
          </p:nvPr>
        </p:nvSpPr>
        <p:spPr/>
        <p:txBody>
          <a:bodyPr/>
          <a:lstStyle/>
          <a:p>
            <a:fld id="{C62C1073-572C-49BE-A770-6DB0C0ECDC67}" type="slidenum">
              <a:rPr lang="fr-FR" smtClean="0"/>
              <a:pPr/>
              <a:t>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box(in)">
                                      <p:cBhvr>
                                        <p:cTn id="7" dur="500"/>
                                        <p:tgtEl>
                                          <p:spTgt spid="2051"/>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ox(in)">
                                      <p:cBhvr>
                                        <p:cTn id="11" dur="500"/>
                                        <p:tgtEl>
                                          <p:spTgt spid="11"/>
                                        </p:tgtEl>
                                      </p:cBhvr>
                                    </p:animEffect>
                                  </p:childTnLst>
                                </p:cTn>
                              </p:par>
                            </p:childTnLst>
                          </p:cTn>
                        </p:par>
                        <p:par>
                          <p:cTn id="12" fill="hold">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ox(in)">
                                      <p:cBhvr>
                                        <p:cTn id="15" dur="500"/>
                                        <p:tgtEl>
                                          <p:spTgt spid="15"/>
                                        </p:tgtEl>
                                      </p:cBhvr>
                                    </p:animEffect>
                                  </p:childTnLst>
                                </p:cTn>
                              </p:par>
                            </p:childTnLst>
                          </p:cTn>
                        </p:par>
                        <p:par>
                          <p:cTn id="16" fill="hold">
                            <p:stCondLst>
                              <p:cond delay="1500"/>
                            </p:stCondLst>
                            <p:childTnLst>
                              <p:par>
                                <p:cTn id="17" presetID="4" presetClass="entr" presetSubtype="16" fill="hold" nodeType="afterEffect">
                                  <p:stCondLst>
                                    <p:cond delay="0"/>
                                  </p:stCondLst>
                                  <p:childTnLst>
                                    <p:set>
                                      <p:cBhvr>
                                        <p:cTn id="18" dur="1" fill="hold">
                                          <p:stCondLst>
                                            <p:cond delay="0"/>
                                          </p:stCondLst>
                                        </p:cTn>
                                        <p:tgtEl>
                                          <p:spTgt spid="2052"/>
                                        </p:tgtEl>
                                        <p:attrNameLst>
                                          <p:attrName>style.visibility</p:attrName>
                                        </p:attrNameLst>
                                      </p:cBhvr>
                                      <p:to>
                                        <p:strVal val="visible"/>
                                      </p:to>
                                    </p:set>
                                    <p:animEffect transition="in" filter="box(in)">
                                      <p:cBhvr>
                                        <p:cTn id="19" dur="500"/>
                                        <p:tgtEl>
                                          <p:spTgt spid="2052"/>
                                        </p:tgtEl>
                                      </p:cBhvr>
                                    </p:animEffect>
                                  </p:childTnLst>
                                </p:cTn>
                              </p:par>
                            </p:childTnLst>
                          </p:cTn>
                        </p:par>
                        <p:par>
                          <p:cTn id="20" fill="hold">
                            <p:stCondLst>
                              <p:cond delay="2000"/>
                            </p:stCondLst>
                            <p:childTnLst>
                              <p:par>
                                <p:cTn id="21" presetID="4" presetClass="entr" presetSubtype="16" fill="hold" nodeType="afterEffect">
                                  <p:stCondLst>
                                    <p:cond delay="0"/>
                                  </p:stCondLst>
                                  <p:childTnLst>
                                    <p:set>
                                      <p:cBhvr>
                                        <p:cTn id="22" dur="1" fill="hold">
                                          <p:stCondLst>
                                            <p:cond delay="0"/>
                                          </p:stCondLst>
                                        </p:cTn>
                                        <p:tgtEl>
                                          <p:spTgt spid="2053"/>
                                        </p:tgtEl>
                                        <p:attrNameLst>
                                          <p:attrName>style.visibility</p:attrName>
                                        </p:attrNameLst>
                                      </p:cBhvr>
                                      <p:to>
                                        <p:strVal val="visible"/>
                                      </p:to>
                                    </p:set>
                                    <p:animEffect transition="in" filter="box(in)">
                                      <p:cBhvr>
                                        <p:cTn id="23" dur="500"/>
                                        <p:tgtEl>
                                          <p:spTgt spid="2053"/>
                                        </p:tgtEl>
                                      </p:cBhvr>
                                    </p:animEffect>
                                  </p:childTnLst>
                                </p:cTn>
                              </p:par>
                            </p:childTnLst>
                          </p:cTn>
                        </p:par>
                        <p:par>
                          <p:cTn id="24" fill="hold">
                            <p:stCondLst>
                              <p:cond delay="2500"/>
                            </p:stCondLst>
                            <p:childTnLst>
                              <p:par>
                                <p:cTn id="25" presetID="4" presetClass="entr" presetSubtype="16"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ox(in)">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1357322"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Lieu   </a:t>
            </a:r>
          </a:p>
        </p:txBody>
      </p:sp>
      <p:pic>
        <p:nvPicPr>
          <p:cNvPr id="3074" name="Picture 2"/>
          <p:cNvPicPr>
            <a:picLocks noChangeAspect="1" noChangeArrowheads="1"/>
          </p:cNvPicPr>
          <p:nvPr/>
        </p:nvPicPr>
        <p:blipFill>
          <a:blip r:embed="rId2"/>
          <a:srcRect/>
          <a:stretch>
            <a:fillRect/>
          </a:stretch>
        </p:blipFill>
        <p:spPr bwMode="auto">
          <a:xfrm>
            <a:off x="1733550" y="1314450"/>
            <a:ext cx="5676900" cy="4229100"/>
          </a:xfrm>
          <a:prstGeom prst="rect">
            <a:avLst/>
          </a:prstGeom>
          <a:noFill/>
          <a:ln w="9525">
            <a:noFill/>
            <a:miter lim="800000"/>
            <a:headEnd/>
            <a:tailEnd/>
          </a:ln>
          <a:effectLst/>
        </p:spPr>
      </p:pic>
      <p:sp>
        <p:nvSpPr>
          <p:cNvPr id="5" name="ZoneTexte 4"/>
          <p:cNvSpPr txBox="1"/>
          <p:nvPr/>
        </p:nvSpPr>
        <p:spPr>
          <a:xfrm>
            <a:off x="3428992" y="1285860"/>
            <a:ext cx="189338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dirty="0"/>
              <a:t>  Site cellulaire </a:t>
            </a:r>
          </a:p>
        </p:txBody>
      </p:sp>
      <p:sp>
        <p:nvSpPr>
          <p:cNvPr id="6" name="Espace réservé du numéro de diapositive 5"/>
          <p:cNvSpPr>
            <a:spLocks noGrp="1"/>
          </p:cNvSpPr>
          <p:nvPr>
            <p:ph type="sldNum" sz="quarter" idx="12"/>
          </p:nvPr>
        </p:nvSpPr>
        <p:spPr/>
        <p:txBody>
          <a:bodyPr/>
          <a:lstStyle/>
          <a:p>
            <a:fld id="{C62C1073-572C-49BE-A770-6DB0C0ECDC67}" type="slidenum">
              <a:rPr lang="fr-FR" smtClean="0"/>
              <a:pPr/>
              <a:t>7</a:t>
            </a:fld>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5500726"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dirty="0"/>
              <a:t>Phases de biotransformation des médicaments:</a:t>
            </a:r>
            <a:endParaRPr lang="fr-FR" dirty="0"/>
          </a:p>
        </p:txBody>
      </p:sp>
      <p:pic>
        <p:nvPicPr>
          <p:cNvPr id="5122" name="Picture 2"/>
          <p:cNvPicPr>
            <a:picLocks noChangeAspect="1" noChangeArrowheads="1"/>
          </p:cNvPicPr>
          <p:nvPr/>
        </p:nvPicPr>
        <p:blipFill>
          <a:blip r:embed="rId2"/>
          <a:srcRect/>
          <a:stretch>
            <a:fillRect/>
          </a:stretch>
        </p:blipFill>
        <p:spPr bwMode="auto">
          <a:xfrm>
            <a:off x="214282" y="1285860"/>
            <a:ext cx="8358214" cy="4429125"/>
          </a:xfrm>
          <a:prstGeom prst="rect">
            <a:avLst/>
          </a:prstGeom>
          <a:noFill/>
          <a:ln w="9525">
            <a:noFill/>
            <a:miter lim="800000"/>
            <a:headEnd/>
            <a:tailEnd/>
          </a:ln>
          <a:effectLst/>
        </p:spPr>
      </p:pic>
      <p:sp>
        <p:nvSpPr>
          <p:cNvPr id="5" name="Rectangle 4"/>
          <p:cNvSpPr/>
          <p:nvPr/>
        </p:nvSpPr>
        <p:spPr>
          <a:xfrm>
            <a:off x="2928926" y="2000240"/>
            <a:ext cx="4572000" cy="1477328"/>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lgn="just"/>
            <a:r>
              <a:rPr lang="fr-FR" b="1" dirty="0"/>
              <a:t>(I) réactions de fonctionnalisation : </a:t>
            </a:r>
            <a:r>
              <a:rPr lang="fr-FR" dirty="0"/>
              <a:t>modification de la structure primaire du principe actif par création d’un groupement fonctionnel (hydroxyle (OH), amine (NH2) ou carboxyle (COOH).</a:t>
            </a:r>
          </a:p>
        </p:txBody>
      </p:sp>
      <p:sp>
        <p:nvSpPr>
          <p:cNvPr id="6" name="Rectangle 5"/>
          <p:cNvSpPr/>
          <p:nvPr/>
        </p:nvSpPr>
        <p:spPr>
          <a:xfrm>
            <a:off x="2714612" y="4643446"/>
            <a:ext cx="4572000" cy="1477328"/>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r>
              <a:rPr lang="fr-FR" b="1" dirty="0"/>
              <a:t>(II) réactions de conjugaison :</a:t>
            </a:r>
          </a:p>
          <a:p>
            <a:pPr algn="just"/>
            <a:r>
              <a:rPr lang="fr-FR" dirty="0"/>
              <a:t>l’union du médicament ou du métabolite avec un agent conjuguant endogène. La conjugaison aboutit à l’inactivation de la substance (conjugué).</a:t>
            </a:r>
          </a:p>
        </p:txBody>
      </p:sp>
      <p:sp>
        <p:nvSpPr>
          <p:cNvPr id="7" name="Espace réservé du numéro de diapositive 6"/>
          <p:cNvSpPr>
            <a:spLocks noGrp="1"/>
          </p:cNvSpPr>
          <p:nvPr>
            <p:ph type="sldNum" sz="quarter" idx="12"/>
          </p:nvPr>
        </p:nvSpPr>
        <p:spPr/>
        <p:txBody>
          <a:bodyPr/>
          <a:lstStyle/>
          <a:p>
            <a:fld id="{C62C1073-572C-49BE-A770-6DB0C0ECDC67}" type="slidenum">
              <a:rPr lang="fr-FR" smtClean="0"/>
              <a:pPr/>
              <a:t>8</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1" nodeType="clickEffect">
                                  <p:stCondLst>
                                    <p:cond delay="0"/>
                                  </p:stCondLst>
                                  <p:childTnLst>
                                    <p:animEffect transition="out" filter="box(i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grpId="1" nodeType="clickEffect">
                                  <p:stCondLst>
                                    <p:cond delay="0"/>
                                  </p:stCondLst>
                                  <p:childTnLst>
                                    <p:animEffect transition="out" filter="box(in)">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5500726"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dirty="0"/>
              <a:t>Phases de biotransformation des médicaments:</a:t>
            </a:r>
            <a:endParaRPr lang="fr-FR" dirty="0"/>
          </a:p>
        </p:txBody>
      </p:sp>
      <p:graphicFrame>
        <p:nvGraphicFramePr>
          <p:cNvPr id="4" name="Diagramme 3"/>
          <p:cNvGraphicFramePr/>
          <p:nvPr/>
        </p:nvGraphicFramePr>
        <p:xfrm>
          <a:off x="500034" y="1357298"/>
          <a:ext cx="8143932" cy="2571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147" name="Picture 3"/>
          <p:cNvPicPr>
            <a:picLocks noChangeAspect="1" noChangeArrowheads="1"/>
          </p:cNvPicPr>
          <p:nvPr/>
        </p:nvPicPr>
        <p:blipFill>
          <a:blip r:embed="rId8"/>
          <a:srcRect/>
          <a:stretch>
            <a:fillRect/>
          </a:stretch>
        </p:blipFill>
        <p:spPr bwMode="auto">
          <a:xfrm>
            <a:off x="1071538" y="2928934"/>
            <a:ext cx="2143140" cy="928694"/>
          </a:xfrm>
          <a:prstGeom prst="rect">
            <a:avLst/>
          </a:prstGeom>
          <a:noFill/>
          <a:ln w="9525">
            <a:noFill/>
            <a:miter lim="800000"/>
            <a:headEnd/>
            <a:tailEnd/>
          </a:ln>
          <a:effectLst/>
        </p:spPr>
      </p:pic>
      <p:pic>
        <p:nvPicPr>
          <p:cNvPr id="6148" name="Picture 4"/>
          <p:cNvPicPr>
            <a:picLocks noChangeAspect="1" noChangeArrowheads="1"/>
          </p:cNvPicPr>
          <p:nvPr/>
        </p:nvPicPr>
        <p:blipFill>
          <a:blip r:embed="rId9"/>
          <a:srcRect/>
          <a:stretch>
            <a:fillRect/>
          </a:stretch>
        </p:blipFill>
        <p:spPr bwMode="auto">
          <a:xfrm>
            <a:off x="714348" y="2643182"/>
            <a:ext cx="3000375" cy="1304925"/>
          </a:xfrm>
          <a:prstGeom prst="rect">
            <a:avLst/>
          </a:prstGeom>
          <a:noFill/>
          <a:ln w="9525">
            <a:noFill/>
            <a:miter lim="800000"/>
            <a:headEnd/>
            <a:tailEnd/>
          </a:ln>
          <a:effectLst/>
        </p:spPr>
      </p:pic>
      <p:sp>
        <p:nvSpPr>
          <p:cNvPr id="8" name="ZoneTexte 7"/>
          <p:cNvSpPr txBox="1"/>
          <p:nvPr/>
        </p:nvSpPr>
        <p:spPr>
          <a:xfrm>
            <a:off x="4357686" y="1071546"/>
            <a:ext cx="107157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dirty="0"/>
              <a:t>Phase (I) </a:t>
            </a:r>
          </a:p>
        </p:txBody>
      </p:sp>
      <p:sp>
        <p:nvSpPr>
          <p:cNvPr id="9" name="ZoneTexte 8"/>
          <p:cNvSpPr txBox="1"/>
          <p:nvPr/>
        </p:nvSpPr>
        <p:spPr>
          <a:xfrm>
            <a:off x="4071934" y="4214818"/>
            <a:ext cx="107157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dirty="0"/>
              <a:t>Phase (II) </a:t>
            </a:r>
          </a:p>
        </p:txBody>
      </p:sp>
      <p:sp>
        <p:nvSpPr>
          <p:cNvPr id="10" name="AutoShape 8"/>
          <p:cNvSpPr>
            <a:spLocks noChangeArrowheads="1"/>
          </p:cNvSpPr>
          <p:nvPr/>
        </p:nvSpPr>
        <p:spPr bwMode="auto">
          <a:xfrm rot="1875212">
            <a:off x="2993597" y="4758583"/>
            <a:ext cx="296353" cy="817207"/>
          </a:xfrm>
          <a:prstGeom prst="downArrow">
            <a:avLst>
              <a:gd name="adj1" fmla="val 50000"/>
              <a:gd name="adj2" fmla="val 70864"/>
            </a:avLst>
          </a:pr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p>
            <a:endParaRPr lang="fr-FR"/>
          </a:p>
        </p:txBody>
      </p:sp>
      <p:sp>
        <p:nvSpPr>
          <p:cNvPr id="11" name="AutoShape 9"/>
          <p:cNvSpPr>
            <a:spLocks noChangeArrowheads="1"/>
          </p:cNvSpPr>
          <p:nvPr/>
        </p:nvSpPr>
        <p:spPr bwMode="auto">
          <a:xfrm rot="3908542">
            <a:off x="2218367" y="4506597"/>
            <a:ext cx="313116" cy="978720"/>
          </a:xfrm>
          <a:prstGeom prst="downArrow">
            <a:avLst>
              <a:gd name="adj1" fmla="val 50000"/>
              <a:gd name="adj2" fmla="val 104228"/>
            </a:avLst>
          </a:pr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p>
            <a:endParaRPr lang="fr-FR"/>
          </a:p>
        </p:txBody>
      </p:sp>
      <p:sp>
        <p:nvSpPr>
          <p:cNvPr id="12" name="AutoShape 10"/>
          <p:cNvSpPr>
            <a:spLocks noChangeArrowheads="1"/>
          </p:cNvSpPr>
          <p:nvPr/>
        </p:nvSpPr>
        <p:spPr bwMode="auto">
          <a:xfrm rot="18524002" flipH="1">
            <a:off x="6738270" y="4447321"/>
            <a:ext cx="316301" cy="943710"/>
          </a:xfrm>
          <a:prstGeom prst="downArrow">
            <a:avLst>
              <a:gd name="adj1" fmla="val 50000"/>
              <a:gd name="adj2" fmla="val 97886"/>
            </a:avLst>
          </a:pr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p>
            <a:endParaRPr lang="fr-FR"/>
          </a:p>
        </p:txBody>
      </p:sp>
      <p:sp>
        <p:nvSpPr>
          <p:cNvPr id="13" name="AutoShape 10"/>
          <p:cNvSpPr>
            <a:spLocks noChangeArrowheads="1"/>
          </p:cNvSpPr>
          <p:nvPr/>
        </p:nvSpPr>
        <p:spPr bwMode="auto">
          <a:xfrm rot="18519720">
            <a:off x="5843786" y="4606970"/>
            <a:ext cx="304118" cy="1207908"/>
          </a:xfrm>
          <a:prstGeom prst="downArrow">
            <a:avLst>
              <a:gd name="adj1" fmla="val 50000"/>
              <a:gd name="adj2" fmla="val 97886"/>
            </a:avLst>
          </a:pr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p>
            <a:endParaRPr lang="fr-FR"/>
          </a:p>
        </p:txBody>
      </p:sp>
      <p:sp>
        <p:nvSpPr>
          <p:cNvPr id="14" name="Rectangle 13"/>
          <p:cNvSpPr/>
          <p:nvPr/>
        </p:nvSpPr>
        <p:spPr>
          <a:xfrm>
            <a:off x="500034" y="5214950"/>
            <a:ext cx="1269899" cy="584775"/>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609600" indent="-609600"/>
            <a:r>
              <a:rPr lang="fr-FR" sz="1600" dirty="0" err="1"/>
              <a:t>Glucurono</a:t>
            </a:r>
            <a:endParaRPr lang="fr-FR" sz="1600" dirty="0"/>
          </a:p>
          <a:p>
            <a:pPr marL="609600" indent="-609600"/>
            <a:r>
              <a:rPr lang="fr-FR" sz="1600" dirty="0"/>
              <a:t>conjugaison</a:t>
            </a:r>
            <a:r>
              <a:rPr lang="fr-FR" sz="1600" b="1" dirty="0">
                <a:solidFill>
                  <a:srgbClr val="0000CC"/>
                </a:solidFill>
              </a:rPr>
              <a:t>  </a:t>
            </a:r>
          </a:p>
        </p:txBody>
      </p:sp>
      <p:sp>
        <p:nvSpPr>
          <p:cNvPr id="15" name="Rectangle 14"/>
          <p:cNvSpPr/>
          <p:nvPr/>
        </p:nvSpPr>
        <p:spPr>
          <a:xfrm>
            <a:off x="2071670" y="5572140"/>
            <a:ext cx="1285884" cy="5847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sz="1600" dirty="0" err="1"/>
              <a:t>Sulfo</a:t>
            </a:r>
            <a:r>
              <a:rPr lang="fr-FR" sz="1600" dirty="0"/>
              <a:t>-</a:t>
            </a:r>
          </a:p>
          <a:p>
            <a:r>
              <a:rPr lang="fr-FR" sz="1600" dirty="0"/>
              <a:t>conjugaison</a:t>
            </a:r>
          </a:p>
        </p:txBody>
      </p:sp>
      <p:sp>
        <p:nvSpPr>
          <p:cNvPr id="16" name="Rectangle 15"/>
          <p:cNvSpPr/>
          <p:nvPr/>
        </p:nvSpPr>
        <p:spPr>
          <a:xfrm>
            <a:off x="3857620" y="5786454"/>
            <a:ext cx="1785950" cy="5847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fr-FR" sz="1600" dirty="0"/>
              <a:t>Conjugaison au </a:t>
            </a:r>
          </a:p>
          <a:p>
            <a:pPr algn="ctr"/>
            <a:r>
              <a:rPr lang="fr-FR" sz="1600" dirty="0"/>
              <a:t>glutathion </a:t>
            </a:r>
          </a:p>
        </p:txBody>
      </p:sp>
      <p:sp>
        <p:nvSpPr>
          <p:cNvPr id="17" name="Rectangle 16"/>
          <p:cNvSpPr/>
          <p:nvPr/>
        </p:nvSpPr>
        <p:spPr>
          <a:xfrm>
            <a:off x="5857884" y="5786454"/>
            <a:ext cx="1130438" cy="338554"/>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fr-FR" sz="1600" dirty="0"/>
              <a:t>Acétylation</a:t>
            </a:r>
          </a:p>
        </p:txBody>
      </p:sp>
      <p:sp>
        <p:nvSpPr>
          <p:cNvPr id="19" name="Flèche vers le bas 18"/>
          <p:cNvSpPr/>
          <p:nvPr/>
        </p:nvSpPr>
        <p:spPr>
          <a:xfrm>
            <a:off x="4429124" y="4714884"/>
            <a:ext cx="285752" cy="835532"/>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fr-FR"/>
          </a:p>
        </p:txBody>
      </p:sp>
      <p:sp>
        <p:nvSpPr>
          <p:cNvPr id="20" name="Rectangle 19"/>
          <p:cNvSpPr/>
          <p:nvPr/>
        </p:nvSpPr>
        <p:spPr>
          <a:xfrm>
            <a:off x="7286644" y="5429264"/>
            <a:ext cx="1158459" cy="338554"/>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fr-FR" sz="1600" dirty="0" err="1"/>
              <a:t>méthylation</a:t>
            </a:r>
            <a:endParaRPr lang="fr-FR" sz="1600" dirty="0"/>
          </a:p>
        </p:txBody>
      </p:sp>
      <p:sp>
        <p:nvSpPr>
          <p:cNvPr id="21" name="Espace réservé du numéro de diapositive 20"/>
          <p:cNvSpPr>
            <a:spLocks noGrp="1"/>
          </p:cNvSpPr>
          <p:nvPr>
            <p:ph type="sldNum" sz="quarter" idx="12"/>
          </p:nvPr>
        </p:nvSpPr>
        <p:spPr/>
        <p:txBody>
          <a:bodyPr/>
          <a:lstStyle/>
          <a:p>
            <a:fld id="{C62C1073-572C-49BE-A770-6DB0C0ECDC67}" type="slidenum">
              <a:rPr lang="fr-FR" smtClean="0"/>
              <a:pPr/>
              <a:t>9</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ox(in)">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nodeType="clickEffect">
                                  <p:stCondLst>
                                    <p:cond delay="0"/>
                                  </p:stCondLst>
                                  <p:childTnLst>
                                    <p:animEffect transition="out" filter="box(in)">
                                      <p:cBhvr>
                                        <p:cTn id="11" dur="500"/>
                                        <p:tgtEl>
                                          <p:spTgt spid="6148"/>
                                        </p:tgtEl>
                                      </p:cBhvr>
                                    </p:animEffect>
                                    <p:set>
                                      <p:cBhvr>
                                        <p:cTn id="12" dur="1" fill="hold">
                                          <p:stCondLst>
                                            <p:cond delay="499"/>
                                          </p:stCondLst>
                                        </p:cTn>
                                        <p:tgtEl>
                                          <p:spTgt spid="614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downLeft)">
                                      <p:cBhvr>
                                        <p:cTn id="17" dur="500"/>
                                        <p:tgtEl>
                                          <p:spTgt spid="11"/>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1000" fill="hold"/>
                                        <p:tgtEl>
                                          <p:spTgt spid="14"/>
                                        </p:tgtEl>
                                        <p:attrNameLst>
                                          <p:attrName>ppt_w</p:attrName>
                                        </p:attrNameLst>
                                      </p:cBhvr>
                                      <p:tavLst>
                                        <p:tav tm="0">
                                          <p:val>
                                            <p:strVal val="#ppt_w*0.70"/>
                                          </p:val>
                                        </p:tav>
                                        <p:tav tm="100000">
                                          <p:val>
                                            <p:strVal val="#ppt_w"/>
                                          </p:val>
                                        </p:tav>
                                      </p:tavLst>
                                    </p:anim>
                                    <p:anim calcmode="lin" valueType="num">
                                      <p:cBhvr>
                                        <p:cTn id="21" dur="1000" fill="hold"/>
                                        <p:tgtEl>
                                          <p:spTgt spid="14"/>
                                        </p:tgtEl>
                                        <p:attrNameLst>
                                          <p:attrName>ppt_h</p:attrName>
                                        </p:attrNameLst>
                                      </p:cBhvr>
                                      <p:tavLst>
                                        <p:tav tm="0">
                                          <p:val>
                                            <p:strVal val="#ppt_h"/>
                                          </p:val>
                                        </p:tav>
                                        <p:tav tm="100000">
                                          <p:val>
                                            <p:strVal val="#ppt_h"/>
                                          </p:val>
                                        </p:tav>
                                      </p:tavLst>
                                    </p:anim>
                                    <p:animEffect transition="in" filter="fade">
                                      <p:cBhvr>
                                        <p:cTn id="22" dur="10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downLeft)">
                                      <p:cBhvr>
                                        <p:cTn id="27" dur="500"/>
                                        <p:tgtEl>
                                          <p:spTgt spid="10"/>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1000" fill="hold"/>
                                        <p:tgtEl>
                                          <p:spTgt spid="15"/>
                                        </p:tgtEl>
                                        <p:attrNameLst>
                                          <p:attrName>ppt_w</p:attrName>
                                        </p:attrNameLst>
                                      </p:cBhvr>
                                      <p:tavLst>
                                        <p:tav tm="0">
                                          <p:val>
                                            <p:strVal val="#ppt_w*0.70"/>
                                          </p:val>
                                        </p:tav>
                                        <p:tav tm="100000">
                                          <p:val>
                                            <p:strVal val="#ppt_w"/>
                                          </p:val>
                                        </p:tav>
                                      </p:tavLst>
                                    </p:anim>
                                    <p:anim calcmode="lin" valueType="num">
                                      <p:cBhvr>
                                        <p:cTn id="31" dur="1000" fill="hold"/>
                                        <p:tgtEl>
                                          <p:spTgt spid="15"/>
                                        </p:tgtEl>
                                        <p:attrNameLst>
                                          <p:attrName>ppt_h</p:attrName>
                                        </p:attrNameLst>
                                      </p:cBhvr>
                                      <p:tavLst>
                                        <p:tav tm="0">
                                          <p:val>
                                            <p:strVal val="#ppt_h"/>
                                          </p:val>
                                        </p:tav>
                                        <p:tav tm="100000">
                                          <p:val>
                                            <p:strVal val="#ppt_h"/>
                                          </p:val>
                                        </p:tav>
                                      </p:tavLst>
                                    </p:anim>
                                    <p:animEffect transition="in" filter="fade">
                                      <p:cBhvr>
                                        <p:cTn id="32" dur="1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ox(in)">
                                      <p:cBhvr>
                                        <p:cTn id="37" dur="500"/>
                                        <p:tgtEl>
                                          <p:spTgt spid="19"/>
                                        </p:tgtEl>
                                      </p:cBhvr>
                                    </p:animEffect>
                                  </p:childTnLst>
                                </p:cTn>
                              </p:par>
                              <p:par>
                                <p:cTn id="38" presetID="55"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p:cTn id="40" dur="1000" fill="hold"/>
                                        <p:tgtEl>
                                          <p:spTgt spid="16"/>
                                        </p:tgtEl>
                                        <p:attrNameLst>
                                          <p:attrName>ppt_w</p:attrName>
                                        </p:attrNameLst>
                                      </p:cBhvr>
                                      <p:tavLst>
                                        <p:tav tm="0">
                                          <p:val>
                                            <p:strVal val="#ppt_w*0.70"/>
                                          </p:val>
                                        </p:tav>
                                        <p:tav tm="100000">
                                          <p:val>
                                            <p:strVal val="#ppt_w"/>
                                          </p:val>
                                        </p:tav>
                                      </p:tavLst>
                                    </p:anim>
                                    <p:anim calcmode="lin" valueType="num">
                                      <p:cBhvr>
                                        <p:cTn id="41" dur="1000" fill="hold"/>
                                        <p:tgtEl>
                                          <p:spTgt spid="16"/>
                                        </p:tgtEl>
                                        <p:attrNameLst>
                                          <p:attrName>ppt_h</p:attrName>
                                        </p:attrNameLst>
                                      </p:cBhvr>
                                      <p:tavLst>
                                        <p:tav tm="0">
                                          <p:val>
                                            <p:strVal val="#ppt_h"/>
                                          </p:val>
                                        </p:tav>
                                        <p:tav tm="100000">
                                          <p:val>
                                            <p:strVal val="#ppt_h"/>
                                          </p:val>
                                        </p:tav>
                                      </p:tavLst>
                                    </p:anim>
                                    <p:animEffect transition="in" filter="fade">
                                      <p:cBhvr>
                                        <p:cTn id="42" dur="1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strips(downRight)">
                                      <p:cBhvr>
                                        <p:cTn id="47" dur="500"/>
                                        <p:tgtEl>
                                          <p:spTgt spid="13"/>
                                        </p:tgtEl>
                                      </p:cBhvr>
                                    </p:animEffect>
                                  </p:childTnLst>
                                </p:cTn>
                              </p:par>
                              <p:par>
                                <p:cTn id="48" presetID="55"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p:cTn id="50" dur="1000" fill="hold"/>
                                        <p:tgtEl>
                                          <p:spTgt spid="17"/>
                                        </p:tgtEl>
                                        <p:attrNameLst>
                                          <p:attrName>ppt_w</p:attrName>
                                        </p:attrNameLst>
                                      </p:cBhvr>
                                      <p:tavLst>
                                        <p:tav tm="0">
                                          <p:val>
                                            <p:strVal val="#ppt_w*0.70"/>
                                          </p:val>
                                        </p:tav>
                                        <p:tav tm="100000">
                                          <p:val>
                                            <p:strVal val="#ppt_w"/>
                                          </p:val>
                                        </p:tav>
                                      </p:tavLst>
                                    </p:anim>
                                    <p:anim calcmode="lin" valueType="num">
                                      <p:cBhvr>
                                        <p:cTn id="51" dur="1000" fill="hold"/>
                                        <p:tgtEl>
                                          <p:spTgt spid="17"/>
                                        </p:tgtEl>
                                        <p:attrNameLst>
                                          <p:attrName>ppt_h</p:attrName>
                                        </p:attrNameLst>
                                      </p:cBhvr>
                                      <p:tavLst>
                                        <p:tav tm="0">
                                          <p:val>
                                            <p:strVal val="#ppt_h"/>
                                          </p:val>
                                        </p:tav>
                                        <p:tav tm="100000">
                                          <p:val>
                                            <p:strVal val="#ppt_h"/>
                                          </p:val>
                                        </p:tav>
                                      </p:tavLst>
                                    </p:anim>
                                    <p:animEffect transition="in" filter="fade">
                                      <p:cBhvr>
                                        <p:cTn id="52" dur="10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ox(in)">
                                      <p:cBhvr>
                                        <p:cTn id="57" dur="500"/>
                                        <p:tgtEl>
                                          <p:spTgt spid="12"/>
                                        </p:tgtEl>
                                      </p:cBhvr>
                                    </p:animEffect>
                                  </p:childTnLst>
                                </p:cTn>
                              </p:par>
                              <p:par>
                                <p:cTn id="58" presetID="55"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p:cTn id="60" dur="1000" fill="hold"/>
                                        <p:tgtEl>
                                          <p:spTgt spid="20"/>
                                        </p:tgtEl>
                                        <p:attrNameLst>
                                          <p:attrName>ppt_w</p:attrName>
                                        </p:attrNameLst>
                                      </p:cBhvr>
                                      <p:tavLst>
                                        <p:tav tm="0">
                                          <p:val>
                                            <p:strVal val="#ppt_w*0.70"/>
                                          </p:val>
                                        </p:tav>
                                        <p:tav tm="100000">
                                          <p:val>
                                            <p:strVal val="#ppt_w"/>
                                          </p:val>
                                        </p:tav>
                                      </p:tavLst>
                                    </p:anim>
                                    <p:anim calcmode="lin" valueType="num">
                                      <p:cBhvr>
                                        <p:cTn id="61" dur="1000" fill="hold"/>
                                        <p:tgtEl>
                                          <p:spTgt spid="20"/>
                                        </p:tgtEl>
                                        <p:attrNameLst>
                                          <p:attrName>ppt_h</p:attrName>
                                        </p:attrNameLst>
                                      </p:cBhvr>
                                      <p:tavLst>
                                        <p:tav tm="0">
                                          <p:val>
                                            <p:strVal val="#ppt_h"/>
                                          </p:val>
                                        </p:tav>
                                        <p:tav tm="100000">
                                          <p:val>
                                            <p:strVal val="#ppt_h"/>
                                          </p:val>
                                        </p:tav>
                                      </p:tavLst>
                                    </p:anim>
                                    <p:animEffect transition="in" filter="fade">
                                      <p:cBhvr>
                                        <p:cTn id="6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5500726"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dirty="0"/>
              <a:t>Phases de biotransformation des médicaments:</a:t>
            </a:r>
            <a:endParaRPr lang="fr-FR" dirty="0"/>
          </a:p>
        </p:txBody>
      </p:sp>
      <p:pic>
        <p:nvPicPr>
          <p:cNvPr id="18" name="Picture 2"/>
          <p:cNvPicPr>
            <a:picLocks noChangeAspect="1" noChangeArrowheads="1"/>
          </p:cNvPicPr>
          <p:nvPr/>
        </p:nvPicPr>
        <p:blipFill>
          <a:blip r:embed="rId3"/>
          <a:srcRect/>
          <a:stretch>
            <a:fillRect/>
          </a:stretch>
        </p:blipFill>
        <p:spPr bwMode="auto">
          <a:xfrm>
            <a:off x="714348" y="1214422"/>
            <a:ext cx="6076950" cy="5362575"/>
          </a:xfrm>
          <a:prstGeom prst="rect">
            <a:avLst/>
          </a:prstGeom>
          <a:noFill/>
          <a:ln w="9525">
            <a:noFill/>
            <a:miter lim="800000"/>
            <a:headEnd/>
            <a:tailEnd/>
          </a:ln>
          <a:effectLst/>
        </p:spPr>
      </p:pic>
      <p:sp>
        <p:nvSpPr>
          <p:cNvPr id="19" name="Ellipse 18"/>
          <p:cNvSpPr/>
          <p:nvPr/>
        </p:nvSpPr>
        <p:spPr>
          <a:xfrm>
            <a:off x="6643702" y="3286124"/>
            <a:ext cx="1857388" cy="9144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FR" dirty="0"/>
              <a:t>Cycle </a:t>
            </a:r>
            <a:r>
              <a:rPr lang="fr-FR" dirty="0" err="1"/>
              <a:t>entéro</a:t>
            </a:r>
            <a:r>
              <a:rPr lang="fr-FR" dirty="0"/>
              <a:t> hépatique </a:t>
            </a:r>
          </a:p>
        </p:txBody>
      </p:sp>
      <p:sp>
        <p:nvSpPr>
          <p:cNvPr id="20" name="Espace réservé du numéro de diapositive 19"/>
          <p:cNvSpPr>
            <a:spLocks noGrp="1"/>
          </p:cNvSpPr>
          <p:nvPr>
            <p:ph type="sldNum" sz="quarter" idx="12"/>
          </p:nvPr>
        </p:nvSpPr>
        <p:spPr/>
        <p:txBody>
          <a:bodyPr/>
          <a:lstStyle/>
          <a:p>
            <a:fld id="{C62C1073-572C-49BE-A770-6DB0C0ECDC67}" type="slidenum">
              <a:rPr lang="fr-FR" smtClean="0"/>
              <a:pPr/>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2643206"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Effet de premier passage    </a:t>
            </a:r>
          </a:p>
        </p:txBody>
      </p:sp>
      <p:sp>
        <p:nvSpPr>
          <p:cNvPr id="6" name="Rectangle 5"/>
          <p:cNvSpPr/>
          <p:nvPr/>
        </p:nvSpPr>
        <p:spPr>
          <a:xfrm>
            <a:off x="214282" y="1214422"/>
            <a:ext cx="8501122" cy="2067233"/>
          </a:xfrm>
          <a:prstGeom prst="rect">
            <a:avLst/>
          </a:prstGeom>
        </p:spPr>
        <p:txBody>
          <a:bodyPr wrap="square">
            <a:spAutoFit/>
          </a:bodyPr>
          <a:lstStyle/>
          <a:p>
            <a:pPr marL="50292" algn="just" eaLnBrk="0" fontAlgn="auto" hangingPunct="0">
              <a:lnSpc>
                <a:spcPts val="2162"/>
              </a:lnSpc>
              <a:buSzTx/>
              <a:buFontTx/>
              <a:buNone/>
            </a:pPr>
            <a:r>
              <a:rPr lang="fr-FR" sz="1600"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Perte</a:t>
            </a:r>
            <a:r>
              <a:rPr lang="fr-FR" sz="1600" spc="52"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de médicament</a:t>
            </a:r>
            <a:r>
              <a:rPr lang="fr-FR" sz="1600" spc="11"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par</a:t>
            </a:r>
            <a:r>
              <a:rPr lang="fr-FR" sz="1600" spc="1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métabolisme</a:t>
            </a:r>
            <a:r>
              <a:rPr lang="fr-FR" sz="1600" spc="3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avant</a:t>
            </a:r>
            <a:r>
              <a:rPr lang="fr-FR" sz="1600" spc="38"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 </a:t>
            </a:r>
            <a:r>
              <a:rPr lang="fr-FR" sz="1600"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son</a:t>
            </a:r>
            <a:r>
              <a:rPr lang="fr-FR" sz="1600" spc="65"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 </a:t>
            </a:r>
            <a:r>
              <a:rPr lang="fr-FR" sz="1600"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arrivée</a:t>
            </a:r>
            <a:r>
              <a:rPr lang="fr-FR" sz="1600" spc="41"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dans</a:t>
            </a:r>
            <a:r>
              <a:rPr lang="fr-FR" sz="1600" spc="12"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la circulation</a:t>
            </a:r>
            <a:r>
              <a:rPr lang="fr-FR" sz="1600" spc="-27"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générale</a:t>
            </a:r>
            <a:r>
              <a:rPr lang="fr-FR" sz="1600" spc="-1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dès</a:t>
            </a:r>
            <a:r>
              <a:rPr lang="fr-FR" sz="1600" spc="1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son </a:t>
            </a:r>
            <a:r>
              <a:rPr lang="fr-FR" sz="1600"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premier</a:t>
            </a:r>
            <a:r>
              <a:rPr lang="fr-FR" sz="1600" spc="78"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 </a:t>
            </a:r>
            <a:r>
              <a:rPr lang="fr-FR" sz="1600"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contact</a:t>
            </a:r>
            <a:r>
              <a:rPr lang="fr-FR" sz="1600" spc="51" dirty="0">
                <a:ln w="9525" cap="flat" cmpd="sng" algn="ctr">
                  <a:noFill/>
                  <a:prstDash val="solid"/>
                  <a:round/>
                  <a:headEnd type="none" w="med" len="med"/>
                  <a:tailEnd type="none" w="med" len="med"/>
                </a:ln>
                <a:solidFill>
                  <a:srgbClr val="000000"/>
                </a:solidFill>
                <a:latin typeface="EHWAUN+CenturySchoolbook-Bold"/>
                <a:cs typeface="EHWAUN+CenturySchoolbook-Bold"/>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avec</a:t>
            </a:r>
            <a:r>
              <a:rPr lang="fr-FR" sz="1600" spc="-14"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un organe ou  tissu</a:t>
            </a:r>
            <a:r>
              <a:rPr lang="fr-FR" sz="1600" spc="14"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pourvu</a:t>
            </a:r>
            <a:r>
              <a:rPr lang="fr-FR" sz="1600" spc="-17"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 </a:t>
            </a:r>
            <a:r>
              <a:rPr lang="fr-FR" sz="1600"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rPr>
              <a:t>d’un équipement enzymatique nécessaire.</a:t>
            </a:r>
            <a:r>
              <a:rPr lang="fr-FR" sz="1600" dirty="0"/>
              <a:t> </a:t>
            </a:r>
          </a:p>
          <a:p>
            <a:pPr marL="50292" algn="just" eaLnBrk="0" fontAlgn="auto" hangingPunct="0">
              <a:lnSpc>
                <a:spcPts val="2162"/>
              </a:lnSpc>
              <a:buSzTx/>
              <a:buFontTx/>
              <a:buNone/>
            </a:pPr>
            <a:r>
              <a:rPr lang="fr-FR" dirty="0"/>
              <a:t>Afin d'atteindre la circulation systémique, tout composé ingéré oralement doit traverser trois organes majeurs, responsables de l'effet de premier passage, notamment l'intestin, le foie et les poumons. L'amplitude de l'extraction du </a:t>
            </a:r>
            <a:r>
              <a:rPr lang="fr-FR" dirty="0" err="1"/>
              <a:t>mdt</a:t>
            </a:r>
            <a:r>
              <a:rPr lang="fr-FR" dirty="0"/>
              <a:t> par ces organes déterminera la biodisponibilité orale (F) de ce dernier </a:t>
            </a:r>
            <a:endParaRPr lang="fr-FR" dirty="0">
              <a:ln w="9525" cap="flat" cmpd="sng" algn="ctr">
                <a:noFill/>
                <a:prstDash val="solid"/>
                <a:round/>
                <a:headEnd type="none" w="med" len="med"/>
                <a:tailEnd type="none" w="med" len="med"/>
              </a:ln>
              <a:solidFill>
                <a:srgbClr val="000000"/>
              </a:solidFill>
              <a:latin typeface="TBBFCE+CenturySchoolbook"/>
              <a:cs typeface="TBBFCE+CenturySchoolbook"/>
              <a:sym typeface="Wingdings"/>
            </a:endParaRPr>
          </a:p>
        </p:txBody>
      </p:sp>
      <p:pic>
        <p:nvPicPr>
          <p:cNvPr id="7171" name="Picture 3"/>
          <p:cNvPicPr>
            <a:picLocks noChangeAspect="1" noChangeArrowheads="1"/>
          </p:cNvPicPr>
          <p:nvPr/>
        </p:nvPicPr>
        <p:blipFill>
          <a:blip r:embed="rId2"/>
          <a:srcRect/>
          <a:stretch>
            <a:fillRect/>
          </a:stretch>
        </p:blipFill>
        <p:spPr bwMode="auto">
          <a:xfrm>
            <a:off x="2143108" y="3286124"/>
            <a:ext cx="4219569" cy="2500330"/>
          </a:xfrm>
          <a:prstGeom prst="rect">
            <a:avLst/>
          </a:prstGeom>
          <a:noFill/>
          <a:ln w="9525">
            <a:noFill/>
            <a:miter lim="800000"/>
            <a:headEnd/>
            <a:tailEnd/>
          </a:ln>
          <a:effectLst/>
        </p:spPr>
      </p:pic>
      <p:sp>
        <p:nvSpPr>
          <p:cNvPr id="8" name="ZoneTexte 7"/>
          <p:cNvSpPr txBox="1"/>
          <p:nvPr/>
        </p:nvSpPr>
        <p:spPr>
          <a:xfrm>
            <a:off x="785786" y="5786454"/>
            <a:ext cx="7643866"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fr-FR" dirty="0"/>
              <a:t>La clairance hépatique : volume de sang hépatique débarrassé d’un médicament par unité de temps </a:t>
            </a:r>
          </a:p>
        </p:txBody>
      </p:sp>
      <p:sp>
        <p:nvSpPr>
          <p:cNvPr id="9" name="Espace réservé du numéro de diapositive 8"/>
          <p:cNvSpPr>
            <a:spLocks noGrp="1"/>
          </p:cNvSpPr>
          <p:nvPr>
            <p:ph type="sldNum" sz="quarter" idx="12"/>
          </p:nvPr>
        </p:nvSpPr>
        <p:spPr/>
        <p:txBody>
          <a:bodyPr/>
          <a:lstStyle/>
          <a:p>
            <a:fld id="{C62C1073-572C-49BE-A770-6DB0C0ECDC67}" type="slidenum">
              <a:rPr lang="fr-FR" smtClean="0"/>
              <a:pPr/>
              <a:t>11</a:t>
            </a:fld>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3" name="Rectangle 2"/>
          <p:cNvSpPr/>
          <p:nvPr/>
        </p:nvSpPr>
        <p:spPr>
          <a:xfrm>
            <a:off x="428596" y="785794"/>
            <a:ext cx="4929222"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Facteurs influençant le métabolisme hépatique     </a:t>
            </a:r>
          </a:p>
        </p:txBody>
      </p:sp>
      <p:pic>
        <p:nvPicPr>
          <p:cNvPr id="8194" name="Picture 2"/>
          <p:cNvPicPr>
            <a:picLocks noChangeAspect="1" noChangeArrowheads="1"/>
          </p:cNvPicPr>
          <p:nvPr/>
        </p:nvPicPr>
        <p:blipFill>
          <a:blip r:embed="rId2"/>
          <a:srcRect/>
          <a:stretch>
            <a:fillRect/>
          </a:stretch>
        </p:blipFill>
        <p:spPr bwMode="auto">
          <a:xfrm>
            <a:off x="428596" y="1357298"/>
            <a:ext cx="8715404" cy="4214842"/>
          </a:xfrm>
          <a:prstGeom prst="rect">
            <a:avLst/>
          </a:prstGeom>
          <a:noFill/>
          <a:ln w="9525">
            <a:noFill/>
            <a:miter lim="800000"/>
            <a:headEnd/>
            <a:tailEnd/>
          </a:ln>
          <a:effectLst/>
        </p:spPr>
      </p:pic>
      <p:sp>
        <p:nvSpPr>
          <p:cNvPr id="6" name="Espace réservé du numéro de diapositive 5"/>
          <p:cNvSpPr>
            <a:spLocks noGrp="1"/>
          </p:cNvSpPr>
          <p:nvPr>
            <p:ph type="sldNum" sz="quarter" idx="12"/>
          </p:nvPr>
        </p:nvSpPr>
        <p:spPr/>
        <p:txBody>
          <a:bodyPr/>
          <a:lstStyle/>
          <a:p>
            <a:fld id="{C62C1073-572C-49BE-A770-6DB0C0ECDC67}" type="slidenum">
              <a:rPr lang="fr-FR" smtClean="0"/>
              <a:pPr/>
              <a:t>12</a:t>
            </a:fld>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I-Métabolisme : </a:t>
            </a:r>
          </a:p>
        </p:txBody>
      </p:sp>
      <p:sp>
        <p:nvSpPr>
          <p:cNvPr id="5" name="Rectangle 23"/>
          <p:cNvSpPr>
            <a:spLocks noChangeArrowheads="1"/>
          </p:cNvSpPr>
          <p:nvPr/>
        </p:nvSpPr>
        <p:spPr bwMode="auto">
          <a:xfrm>
            <a:off x="1066799" y="2182639"/>
            <a:ext cx="3288659" cy="533400"/>
          </a:xfrm>
          <a:prstGeom prst="roundRect">
            <a:avLst/>
          </a:prstGeom>
          <a:solidFill>
            <a:srgbClr val="FFC000"/>
          </a:solidFill>
          <a:ln>
            <a:solidFill>
              <a:schemeClr val="tx1"/>
            </a:solidFill>
            <a:headEnd/>
            <a:tailEnd/>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wrap="none" anchor="ctr"/>
          <a:lstStyle/>
          <a:p>
            <a:pPr algn="ctr"/>
            <a:r>
              <a:rPr lang="fr-FR" b="1" dirty="0">
                <a:solidFill>
                  <a:schemeClr val="tx1"/>
                </a:solidFill>
                <a:latin typeface="Tahoma" pitchFamily="34" charset="0"/>
              </a:rPr>
              <a:t>Induction enzymatique</a:t>
            </a:r>
          </a:p>
        </p:txBody>
      </p:sp>
      <p:sp>
        <p:nvSpPr>
          <p:cNvPr id="6" name="Rectangle 23"/>
          <p:cNvSpPr>
            <a:spLocks noChangeArrowheads="1"/>
          </p:cNvSpPr>
          <p:nvPr/>
        </p:nvSpPr>
        <p:spPr bwMode="auto">
          <a:xfrm>
            <a:off x="5181599" y="2182639"/>
            <a:ext cx="3288659" cy="533400"/>
          </a:xfrm>
          <a:prstGeom prst="roundRect">
            <a:avLst/>
          </a:prstGeom>
          <a:solidFill>
            <a:srgbClr val="F66126"/>
          </a:solidFill>
          <a:ln>
            <a:solidFill>
              <a:schemeClr val="tx1"/>
            </a:solidFill>
            <a:headEnd/>
            <a:tailEnd/>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wrap="none" anchor="ctr"/>
          <a:lstStyle/>
          <a:p>
            <a:pPr algn="ctr"/>
            <a:r>
              <a:rPr lang="fr-FR" b="1" dirty="0">
                <a:solidFill>
                  <a:schemeClr val="tx1"/>
                </a:solidFill>
                <a:latin typeface="Tahoma" pitchFamily="34" charset="0"/>
              </a:rPr>
              <a:t>Inhibition enzymatique</a:t>
            </a:r>
          </a:p>
        </p:txBody>
      </p:sp>
      <p:sp>
        <p:nvSpPr>
          <p:cNvPr id="7" name="Oval 6"/>
          <p:cNvSpPr/>
          <p:nvPr/>
        </p:nvSpPr>
        <p:spPr>
          <a:xfrm>
            <a:off x="3276600" y="2971800"/>
            <a:ext cx="2867036" cy="91440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200" b="1" dirty="0"/>
              <a:t>Cytochromes P450</a:t>
            </a:r>
          </a:p>
        </p:txBody>
      </p:sp>
      <p:sp>
        <p:nvSpPr>
          <p:cNvPr id="9" name="Rectangle 23"/>
          <p:cNvSpPr>
            <a:spLocks noChangeArrowheads="1"/>
          </p:cNvSpPr>
          <p:nvPr/>
        </p:nvSpPr>
        <p:spPr bwMode="auto">
          <a:xfrm>
            <a:off x="990600" y="4267200"/>
            <a:ext cx="3120010" cy="914400"/>
          </a:xfrm>
          <a:prstGeom prst="roundRect">
            <a:avLst/>
          </a:prstGeom>
          <a:solidFill>
            <a:srgbClr val="0070C0"/>
          </a:solidFill>
          <a:ln>
            <a:solidFill>
              <a:schemeClr val="tx1"/>
            </a:solidFill>
            <a:headEnd/>
            <a:tailEnd/>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wrap="none" anchor="ctr"/>
          <a:lstStyle/>
          <a:p>
            <a:pPr algn="ctr"/>
            <a:r>
              <a:rPr lang="fr-FR" b="1" dirty="0">
                <a:solidFill>
                  <a:schemeClr val="bg1"/>
                </a:solidFill>
                <a:latin typeface="Tahoma" pitchFamily="34" charset="0"/>
              </a:rPr>
              <a:t>Augmentation de</a:t>
            </a:r>
          </a:p>
          <a:p>
            <a:pPr algn="ctr"/>
            <a:r>
              <a:rPr lang="fr-FR" b="1" dirty="0">
                <a:solidFill>
                  <a:schemeClr val="bg1"/>
                </a:solidFill>
                <a:latin typeface="Tahoma" pitchFamily="34" charset="0"/>
              </a:rPr>
              <a:t>l’activité enzymatique</a:t>
            </a:r>
          </a:p>
        </p:txBody>
      </p:sp>
      <p:sp>
        <p:nvSpPr>
          <p:cNvPr id="10" name="Down Arrow 12"/>
          <p:cNvSpPr/>
          <p:nvPr/>
        </p:nvSpPr>
        <p:spPr>
          <a:xfrm rot="3114674">
            <a:off x="3100706" y="3611827"/>
            <a:ext cx="289410" cy="758921"/>
          </a:xfrm>
          <a:prstGeom prst="down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609599" y="3276600"/>
            <a:ext cx="2108115" cy="457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2200" b="1" dirty="0">
                <a:solidFill>
                  <a:schemeClr val="accent1">
                    <a:lumMod val="75000"/>
                  </a:schemeClr>
                </a:solidFill>
              </a:rPr>
              <a:t>Progressif</a:t>
            </a:r>
          </a:p>
        </p:txBody>
      </p:sp>
      <p:sp>
        <p:nvSpPr>
          <p:cNvPr id="19" name="Rectangle 18"/>
          <p:cNvSpPr/>
          <p:nvPr/>
        </p:nvSpPr>
        <p:spPr>
          <a:xfrm>
            <a:off x="1219200" y="5486400"/>
            <a:ext cx="6705600" cy="1219200"/>
          </a:xfrm>
          <a:prstGeom prst="rect">
            <a:avLst/>
          </a:prstGeom>
          <a:solidFill>
            <a:schemeClr val="bg1">
              <a:lumMod val="95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fr-FR" sz="2200" b="1" dirty="0"/>
              <a:t>Métabolites </a:t>
            </a:r>
            <a:r>
              <a:rPr lang="fr-FR" sz="2200" b="1" dirty="0">
                <a:solidFill>
                  <a:srgbClr val="00B050"/>
                </a:solidFill>
              </a:rPr>
              <a:t>inactifs</a:t>
            </a:r>
            <a:r>
              <a:rPr lang="fr-FR" sz="2200" b="1" dirty="0"/>
              <a:t> =&gt; durée de l’effet raccourcie</a:t>
            </a:r>
          </a:p>
          <a:p>
            <a:r>
              <a:rPr lang="fr-FR" sz="2200" b="1" dirty="0"/>
              <a:t>Métabolites </a:t>
            </a:r>
            <a:r>
              <a:rPr lang="fr-FR" sz="2200" b="1" dirty="0">
                <a:solidFill>
                  <a:srgbClr val="F66126"/>
                </a:solidFill>
              </a:rPr>
              <a:t>actifs</a:t>
            </a:r>
            <a:r>
              <a:rPr lang="fr-FR" sz="2200" b="1" dirty="0"/>
              <a:t> =&gt; effet thérapeutique accru</a:t>
            </a:r>
          </a:p>
          <a:p>
            <a:r>
              <a:rPr lang="fr-FR" sz="2200" b="1" dirty="0"/>
              <a:t>Métabolites </a:t>
            </a:r>
            <a:r>
              <a:rPr lang="fr-FR" sz="2200" b="1" dirty="0">
                <a:solidFill>
                  <a:srgbClr val="FF0000"/>
                </a:solidFill>
              </a:rPr>
              <a:t>toxiques</a:t>
            </a:r>
            <a:r>
              <a:rPr lang="fr-FR" sz="2200" b="1" dirty="0"/>
              <a:t> =&gt; Survenue d’effets indésirables</a:t>
            </a:r>
          </a:p>
        </p:txBody>
      </p:sp>
      <p:sp>
        <p:nvSpPr>
          <p:cNvPr id="20" name="Rectangle 23"/>
          <p:cNvSpPr>
            <a:spLocks noChangeArrowheads="1"/>
          </p:cNvSpPr>
          <p:nvPr/>
        </p:nvSpPr>
        <p:spPr bwMode="auto">
          <a:xfrm>
            <a:off x="5357818" y="4143380"/>
            <a:ext cx="3120010" cy="914400"/>
          </a:xfrm>
          <a:prstGeom prst="roundRect">
            <a:avLst/>
          </a:prstGeom>
          <a:solidFill>
            <a:srgbClr val="0070C0"/>
          </a:solidFill>
          <a:ln>
            <a:solidFill>
              <a:schemeClr val="tx1"/>
            </a:solidFill>
            <a:headEnd/>
            <a:tailEnd/>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wrap="none" anchor="ctr"/>
          <a:lstStyle/>
          <a:p>
            <a:pPr algn="ctr"/>
            <a:r>
              <a:rPr lang="fr-FR" b="1" dirty="0">
                <a:solidFill>
                  <a:schemeClr val="bg1"/>
                </a:solidFill>
                <a:latin typeface="Tahoma" pitchFamily="34" charset="0"/>
              </a:rPr>
              <a:t>Inhibition du métabolisme </a:t>
            </a:r>
          </a:p>
          <a:p>
            <a:pPr algn="ctr"/>
            <a:r>
              <a:rPr lang="fr-FR" b="1" dirty="0">
                <a:solidFill>
                  <a:schemeClr val="bg1"/>
                </a:solidFill>
                <a:latin typeface="Tahoma" pitchFamily="34" charset="0"/>
              </a:rPr>
              <a:t>du médicament</a:t>
            </a:r>
          </a:p>
        </p:txBody>
      </p:sp>
      <p:sp>
        <p:nvSpPr>
          <p:cNvPr id="21" name="Down Arrow 12"/>
          <p:cNvSpPr/>
          <p:nvPr/>
        </p:nvSpPr>
        <p:spPr>
          <a:xfrm rot="17945472">
            <a:off x="6258001" y="3503360"/>
            <a:ext cx="289410" cy="758921"/>
          </a:xfrm>
          <a:prstGeom prst="down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p:cNvSpPr/>
          <p:nvPr/>
        </p:nvSpPr>
        <p:spPr>
          <a:xfrm>
            <a:off x="2438400" y="5214950"/>
            <a:ext cx="6705600" cy="1219200"/>
          </a:xfrm>
          <a:prstGeom prst="rect">
            <a:avLst/>
          </a:prstGeom>
          <a:solidFill>
            <a:schemeClr val="bg1">
              <a:lumMod val="95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fr-FR" sz="2200" b="1" dirty="0"/>
              <a:t>Médicaments </a:t>
            </a:r>
            <a:r>
              <a:rPr lang="fr-FR" sz="2200" b="1" dirty="0">
                <a:solidFill>
                  <a:srgbClr val="00B050"/>
                </a:solidFill>
              </a:rPr>
              <a:t>inactifs</a:t>
            </a:r>
            <a:r>
              <a:rPr lang="fr-FR" sz="2200" b="1" dirty="0"/>
              <a:t> =&gt; pas d’effet thérapeutique</a:t>
            </a:r>
          </a:p>
          <a:p>
            <a:r>
              <a:rPr lang="fr-FR" sz="2200" b="1" dirty="0"/>
              <a:t>Médicaments </a:t>
            </a:r>
            <a:r>
              <a:rPr lang="fr-FR" sz="2200" b="1" dirty="0">
                <a:solidFill>
                  <a:srgbClr val="F66126"/>
                </a:solidFill>
              </a:rPr>
              <a:t>actifs</a:t>
            </a:r>
            <a:r>
              <a:rPr lang="fr-FR" sz="2200" b="1" dirty="0"/>
              <a:t> =&gt; effet thérapeutique exacerbé</a:t>
            </a:r>
          </a:p>
        </p:txBody>
      </p:sp>
      <p:sp>
        <p:nvSpPr>
          <p:cNvPr id="23" name="Rectangle 22"/>
          <p:cNvSpPr/>
          <p:nvPr/>
        </p:nvSpPr>
        <p:spPr>
          <a:xfrm>
            <a:off x="6357950" y="3143248"/>
            <a:ext cx="2108115" cy="457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sz="2200" b="1" dirty="0">
                <a:solidFill>
                  <a:schemeClr val="accent1">
                    <a:lumMod val="75000"/>
                  </a:schemeClr>
                </a:solidFill>
              </a:rPr>
              <a:t>Rapide </a:t>
            </a:r>
          </a:p>
        </p:txBody>
      </p:sp>
      <p:sp>
        <p:nvSpPr>
          <p:cNvPr id="24" name="Rectangle 23"/>
          <p:cNvSpPr/>
          <p:nvPr/>
        </p:nvSpPr>
        <p:spPr>
          <a:xfrm>
            <a:off x="428596" y="785794"/>
            <a:ext cx="4357718"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Facteurs influençant le métabolisme    </a:t>
            </a:r>
          </a:p>
        </p:txBody>
      </p:sp>
      <p:sp>
        <p:nvSpPr>
          <p:cNvPr id="25" name="Rectangle 24"/>
          <p:cNvSpPr/>
          <p:nvPr/>
        </p:nvSpPr>
        <p:spPr>
          <a:xfrm>
            <a:off x="428596" y="785794"/>
            <a:ext cx="4929222" cy="28575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dirty="0"/>
              <a:t>Facteurs influençant le métabolisme hépatique     </a:t>
            </a:r>
          </a:p>
        </p:txBody>
      </p:sp>
      <p:sp>
        <p:nvSpPr>
          <p:cNvPr id="26" name="Espace réservé du numéro de diapositive 25"/>
          <p:cNvSpPr>
            <a:spLocks noGrp="1"/>
          </p:cNvSpPr>
          <p:nvPr>
            <p:ph type="sldNum" sz="quarter" idx="12"/>
          </p:nvPr>
        </p:nvSpPr>
        <p:spPr/>
        <p:txBody>
          <a:bodyPr/>
          <a:lstStyle/>
          <a:p>
            <a:fld id="{C62C1073-572C-49BE-A770-6DB0C0ECDC67}" type="slidenum">
              <a:rPr lang="fr-FR" smtClean="0"/>
              <a:pPr/>
              <a:t>13</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 presetClass="exit" presetSubtype="16" fill="hold" grpId="1" nodeType="clickEffect">
                                  <p:stCondLst>
                                    <p:cond delay="0"/>
                                  </p:stCondLst>
                                  <p:childTnLst>
                                    <p:animEffect transition="out" filter="box(in)">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box(in)">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box(in)">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box(in)">
                                      <p:cBhvr>
                                        <p:cTn id="5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1" grpId="0" animBg="1"/>
      <p:bldP spid="19" grpId="0" animBg="1"/>
      <p:bldP spid="19" grpId="1" animBg="1"/>
      <p:bldP spid="20" grpId="0" animBg="1"/>
      <p:bldP spid="21"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1785950"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Définition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14</a:t>
            </a:fld>
            <a:endParaRPr lang="fr-FR"/>
          </a:p>
        </p:txBody>
      </p:sp>
      <p:sp>
        <p:nvSpPr>
          <p:cNvPr id="6" name="ZoneTexte 5"/>
          <p:cNvSpPr txBox="1"/>
          <p:nvPr/>
        </p:nvSpPr>
        <p:spPr>
          <a:xfrm>
            <a:off x="500034" y="1214422"/>
            <a:ext cx="7786742" cy="3416320"/>
          </a:xfrm>
          <a:prstGeom prst="rect">
            <a:avLst/>
          </a:prstGeom>
          <a:noFill/>
        </p:spPr>
        <p:txBody>
          <a:bodyPr wrap="square" rtlCol="0">
            <a:spAutoFit/>
          </a:bodyPr>
          <a:lstStyle/>
          <a:p>
            <a:pPr algn="just"/>
            <a:r>
              <a:rPr lang="fr-FR" sz="2400" dirty="0"/>
              <a:t>L’excrétion est le processus par lequel les médicaments  et / ou leurs métabolites sont transférés de manière  irréversibles de l’environnement interne vers l’environnement  externe. par excrétion rénale ou non rénale </a:t>
            </a:r>
          </a:p>
          <a:p>
            <a:pPr algn="just"/>
            <a:endParaRPr lang="fr-FR" sz="2400" dirty="0"/>
          </a:p>
          <a:p>
            <a:pPr algn="just"/>
            <a:r>
              <a:rPr lang="fr-FR" sz="2400" dirty="0"/>
              <a:t> La plupart des médicament sont éliminés par excrétion essentiellement rénale, soit s/f inchangée ou après biotransformation, mais aussi biliaire (hépatique),…..salivaire, pulmonaire…etc.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1785950"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Excrétion rénale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15</a:t>
            </a:fld>
            <a:endParaRPr lang="fr-FR"/>
          </a:p>
        </p:txBody>
      </p:sp>
      <p:pic>
        <p:nvPicPr>
          <p:cNvPr id="10242" name="Picture 2"/>
          <p:cNvPicPr>
            <a:picLocks noChangeAspect="1" noChangeArrowheads="1"/>
          </p:cNvPicPr>
          <p:nvPr/>
        </p:nvPicPr>
        <p:blipFill>
          <a:blip r:embed="rId2"/>
          <a:srcRect/>
          <a:stretch>
            <a:fillRect/>
          </a:stretch>
        </p:blipFill>
        <p:spPr bwMode="auto">
          <a:xfrm>
            <a:off x="276225" y="1404938"/>
            <a:ext cx="8591550" cy="4048125"/>
          </a:xfrm>
          <a:prstGeom prst="rect">
            <a:avLst/>
          </a:prstGeom>
          <a:noFill/>
          <a:ln w="9525">
            <a:noFill/>
            <a:miter lim="800000"/>
            <a:headEnd/>
            <a:tailEnd/>
          </a:ln>
          <a:effectLst/>
        </p:spPr>
      </p:pic>
      <p:sp>
        <p:nvSpPr>
          <p:cNvPr id="7" name="Ellipse 6"/>
          <p:cNvSpPr/>
          <p:nvPr/>
        </p:nvSpPr>
        <p:spPr>
          <a:xfrm>
            <a:off x="7929586" y="4357694"/>
            <a:ext cx="1214414" cy="14287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1785918" y="4857760"/>
            <a:ext cx="1689886" cy="646331"/>
          </a:xfrm>
          <a:prstGeom prst="rect">
            <a:avLst/>
          </a:prstGeom>
          <a:noFill/>
        </p:spPr>
        <p:txBody>
          <a:bodyPr wrap="none" rtlCol="0">
            <a:spAutoFit/>
          </a:bodyPr>
          <a:lstStyle/>
          <a:p>
            <a:r>
              <a:rPr lang="fr-FR" b="1" dirty="0">
                <a:solidFill>
                  <a:schemeClr val="accent6">
                    <a:lumMod val="75000"/>
                  </a:schemeClr>
                </a:solidFill>
              </a:rPr>
              <a:t>Réabsorption </a:t>
            </a:r>
          </a:p>
          <a:p>
            <a:r>
              <a:rPr lang="fr-FR" b="1" dirty="0">
                <a:solidFill>
                  <a:schemeClr val="accent6">
                    <a:lumMod val="75000"/>
                  </a:schemeClr>
                </a:solidFill>
              </a:rPr>
              <a:t>(passive)</a:t>
            </a:r>
          </a:p>
        </p:txBody>
      </p:sp>
      <p:cxnSp>
        <p:nvCxnSpPr>
          <p:cNvPr id="10" name="Connecteur droit avec flèche 9"/>
          <p:cNvCxnSpPr/>
          <p:nvPr/>
        </p:nvCxnSpPr>
        <p:spPr>
          <a:xfrm rot="5400000" flipH="1" flipV="1">
            <a:off x="3251191" y="2963859"/>
            <a:ext cx="642942" cy="1588"/>
          </a:xfrm>
          <a:prstGeom prst="straightConnector1">
            <a:avLst/>
          </a:prstGeom>
          <a:ln w="57150">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1785950"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Excrétion rénale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16</a:t>
            </a:fld>
            <a:endParaRPr lang="fr-FR"/>
          </a:p>
        </p:txBody>
      </p:sp>
      <p:pic>
        <p:nvPicPr>
          <p:cNvPr id="1026" name="Picture 2"/>
          <p:cNvPicPr>
            <a:picLocks noChangeAspect="1" noChangeArrowheads="1"/>
          </p:cNvPicPr>
          <p:nvPr/>
        </p:nvPicPr>
        <p:blipFill>
          <a:blip r:embed="rId2"/>
          <a:srcRect/>
          <a:stretch>
            <a:fillRect/>
          </a:stretch>
        </p:blipFill>
        <p:spPr bwMode="auto">
          <a:xfrm>
            <a:off x="928662" y="1285860"/>
            <a:ext cx="7343775" cy="49149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1785950"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Excrétion rénale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17</a:t>
            </a:fld>
            <a:endParaRPr lang="fr-FR"/>
          </a:p>
        </p:txBody>
      </p:sp>
      <p:pic>
        <p:nvPicPr>
          <p:cNvPr id="6" name="Picture 2"/>
          <p:cNvPicPr>
            <a:picLocks noChangeAspect="1" noChangeArrowheads="1"/>
          </p:cNvPicPr>
          <p:nvPr/>
        </p:nvPicPr>
        <p:blipFill>
          <a:blip r:embed="rId2"/>
          <a:srcRect/>
          <a:stretch>
            <a:fillRect/>
          </a:stretch>
        </p:blipFill>
        <p:spPr bwMode="auto">
          <a:xfrm>
            <a:off x="785786" y="1285860"/>
            <a:ext cx="6858000" cy="454342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1785950"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Excrétion rénale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18</a:t>
            </a:fld>
            <a:endParaRPr lang="fr-FR"/>
          </a:p>
        </p:txBody>
      </p:sp>
      <p:pic>
        <p:nvPicPr>
          <p:cNvPr id="3074" name="Picture 2"/>
          <p:cNvPicPr>
            <a:picLocks noChangeAspect="1" noChangeArrowheads="1"/>
          </p:cNvPicPr>
          <p:nvPr/>
        </p:nvPicPr>
        <p:blipFill>
          <a:blip r:embed="rId3"/>
          <a:srcRect/>
          <a:stretch>
            <a:fillRect/>
          </a:stretch>
        </p:blipFill>
        <p:spPr bwMode="auto">
          <a:xfrm>
            <a:off x="714348" y="1214422"/>
            <a:ext cx="6886575" cy="44005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1785950" cy="2857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Autres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19</a:t>
            </a:fld>
            <a:endParaRPr lang="fr-FR"/>
          </a:p>
        </p:txBody>
      </p:sp>
      <p:graphicFrame>
        <p:nvGraphicFramePr>
          <p:cNvPr id="6" name="Diagramme 5"/>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142900"/>
            <a:ext cx="8229600" cy="914400"/>
          </a:xfrm>
        </p:spPr>
        <p:txBody>
          <a:bodyPr/>
          <a:lstStyle/>
          <a:p>
            <a:r>
              <a:rPr lang="fr-FR" dirty="0"/>
              <a:t>II-Excrétion : </a:t>
            </a:r>
          </a:p>
        </p:txBody>
      </p:sp>
      <p:sp>
        <p:nvSpPr>
          <p:cNvPr id="3" name="Rectangle 2"/>
          <p:cNvSpPr/>
          <p:nvPr/>
        </p:nvSpPr>
        <p:spPr>
          <a:xfrm>
            <a:off x="428596" y="785794"/>
            <a:ext cx="4000528" cy="4286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a:t>Temps de demi-vie d’</a:t>
            </a:r>
            <a:r>
              <a:rPr lang="fr-FR" dirty="0" err="1"/>
              <a:t>limination</a:t>
            </a:r>
            <a:r>
              <a:rPr lang="fr-FR" dirty="0"/>
              <a:t>  </a:t>
            </a:r>
          </a:p>
        </p:txBody>
      </p:sp>
      <p:sp>
        <p:nvSpPr>
          <p:cNvPr id="5" name="Espace réservé du numéro de diapositive 4"/>
          <p:cNvSpPr>
            <a:spLocks noGrp="1"/>
          </p:cNvSpPr>
          <p:nvPr>
            <p:ph type="sldNum" sz="quarter" idx="12"/>
          </p:nvPr>
        </p:nvSpPr>
        <p:spPr/>
        <p:txBody>
          <a:bodyPr/>
          <a:lstStyle/>
          <a:p>
            <a:fld id="{C62C1073-572C-49BE-A770-6DB0C0ECDC67}" type="slidenum">
              <a:rPr lang="fr-FR" smtClean="0"/>
              <a:pPr/>
              <a:t>20</a:t>
            </a:fld>
            <a:endParaRPr lang="fr-FR"/>
          </a:p>
        </p:txBody>
      </p:sp>
      <p:sp>
        <p:nvSpPr>
          <p:cNvPr id="7" name="Rectangle 6"/>
          <p:cNvSpPr/>
          <p:nvPr/>
        </p:nvSpPr>
        <p:spPr>
          <a:xfrm>
            <a:off x="571472" y="1714488"/>
            <a:ext cx="7858180" cy="3046988"/>
          </a:xfrm>
          <a:prstGeom prst="rect">
            <a:avLst/>
          </a:prstGeom>
        </p:spPr>
        <p:txBody>
          <a:bodyPr wrap="square">
            <a:spAutoFit/>
          </a:bodyPr>
          <a:lstStyle/>
          <a:p>
            <a:pPr algn="just"/>
            <a:r>
              <a:rPr lang="fr-FR" sz="3200" dirty="0"/>
              <a:t>Ce paramètre correspond au temps nécessaire pour que, après l’administration d’un médicament, sa concentration diminue de moitié. La demi-vie est exprimée en unité de temps et peut varier de quelques minutes à plusieurs semaines selon les médicament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4644</TotalTime>
  <Words>855</Words>
  <Application>Microsoft Office PowerPoint</Application>
  <PresentationFormat>Affichage à l'écran (4:3)</PresentationFormat>
  <Paragraphs>144</Paragraphs>
  <Slides>20</Slides>
  <Notes>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20</vt:i4>
      </vt:variant>
    </vt:vector>
  </HeadingPairs>
  <TitlesOfParts>
    <vt:vector size="30" baseType="lpstr">
      <vt:lpstr>Bookman Old Style</vt:lpstr>
      <vt:lpstr>Calibri</vt:lpstr>
      <vt:lpstr>EHWAUN+CenturySchoolbook-Bold</vt:lpstr>
      <vt:lpstr>Gill Sans MT</vt:lpstr>
      <vt:lpstr>Tahoma</vt:lpstr>
      <vt:lpstr>TBBFCE+CenturySchoolbook</vt:lpstr>
      <vt:lpstr>Times New Roman</vt:lpstr>
      <vt:lpstr>Wingdings</vt:lpstr>
      <vt:lpstr>Wingdings 3</vt:lpstr>
      <vt:lpstr>Origine</vt:lpstr>
      <vt:lpstr>Élimination des médicaments : métabolisme et excrétion </vt:lpstr>
      <vt:lpstr>Présentation PowerPoint</vt:lpstr>
      <vt:lpstr>Présentation PowerPoint</vt:lpstr>
      <vt:lpstr>I-Métabolisme : </vt:lpstr>
      <vt:lpstr>I-Métabolisme : </vt:lpstr>
      <vt:lpstr>I-Métabolisme : </vt:lpstr>
      <vt:lpstr>I-Métabolisme : </vt:lpstr>
      <vt:lpstr>I-Métabolisme : </vt:lpstr>
      <vt:lpstr>I-Métabolisme : </vt:lpstr>
      <vt:lpstr>I-Métabolisme : </vt:lpstr>
      <vt:lpstr>I-Métabolisme : </vt:lpstr>
      <vt:lpstr>I-Métabolisme : </vt:lpstr>
      <vt:lpstr>I-Métabolisme : </vt:lpstr>
      <vt:lpstr>II-Excrétion : </vt:lpstr>
      <vt:lpstr>II-Excrétion : </vt:lpstr>
      <vt:lpstr>II-Excrétion : </vt:lpstr>
      <vt:lpstr>II-Excrétion : </vt:lpstr>
      <vt:lpstr>II-Excrétion : </vt:lpstr>
      <vt:lpstr>II-Excrétion : </vt:lpstr>
      <vt:lpstr>II-Excrétion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Élimination des médicaments : métabolisme et excrétion</dc:title>
  <dc:creator>tassili</dc:creator>
  <cp:lastModifiedBy>s behloul</cp:lastModifiedBy>
  <cp:revision>72</cp:revision>
  <dcterms:created xsi:type="dcterms:W3CDTF">2021-01-26T14:31:57Z</dcterms:created>
  <dcterms:modified xsi:type="dcterms:W3CDTF">2024-12-14T15:27:00Z</dcterms:modified>
</cp:coreProperties>
</file>