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a" ContentType="audio/x-ms-wma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52"/>
  </p:notesMasterIdLst>
  <p:sldIdLst>
    <p:sldId id="320" r:id="rId3"/>
    <p:sldId id="354" r:id="rId4"/>
    <p:sldId id="257" r:id="rId5"/>
    <p:sldId id="355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25" r:id="rId34"/>
    <p:sldId id="285" r:id="rId35"/>
    <p:sldId id="258" r:id="rId36"/>
    <p:sldId id="259" r:id="rId37"/>
    <p:sldId id="260" r:id="rId38"/>
    <p:sldId id="261" r:id="rId39"/>
    <p:sldId id="263" r:id="rId40"/>
    <p:sldId id="264" r:id="rId41"/>
    <p:sldId id="265" r:id="rId42"/>
    <p:sldId id="269" r:id="rId43"/>
    <p:sldId id="262" r:id="rId44"/>
    <p:sldId id="273" r:id="rId45"/>
    <p:sldId id="275" r:id="rId46"/>
    <p:sldId id="288" r:id="rId47"/>
    <p:sldId id="276" r:id="rId48"/>
    <p:sldId id="277" r:id="rId49"/>
    <p:sldId id="278" r:id="rId50"/>
    <p:sldId id="318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0" autoAdjust="0"/>
    <p:restoredTop sz="79713" autoAdjust="0"/>
  </p:normalViewPr>
  <p:slideViewPr>
    <p:cSldViewPr snapToGrid="0">
      <p:cViewPr varScale="1">
        <p:scale>
          <a:sx n="55" d="100"/>
          <a:sy n="55" d="100"/>
        </p:scale>
        <p:origin x="159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A3A2C6A-313F-4B1D-8E5E-19D30F52CB75}" type="slidenum">
              <a:rPr lang="en-US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853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92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CF67D27-52AA-46F6-8041-F9EC00F75475}" type="slidenum">
              <a:rPr lang="en-AU" smtClean="0"/>
              <a:pPr/>
              <a:t>7</a:t>
            </a:fld>
            <a:endParaRPr lang="en-AU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94958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A5BB318-49EF-4451-B6F2-DD06BB30A034}" type="slidenum">
              <a:rPr lang="fr-FR" smtClean="0"/>
              <a:pPr/>
              <a:t>11</a:t>
            </a:fld>
            <a:endParaRPr lang="fr-FR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0707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0A854E-E147-42B7-8825-1F4B54F8A3C9}" type="slidenum">
              <a:rPr lang="en-AU" smtClean="0"/>
              <a:pPr/>
              <a:t>12</a:t>
            </a:fld>
            <a:endParaRPr lang="en-AU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77701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4491B02-F30E-4EB3-9092-2384AF39A214}" type="slidenum">
              <a:rPr lang="en-AU" smtClean="0"/>
              <a:pPr/>
              <a:t>13</a:t>
            </a:fld>
            <a:endParaRPr lang="en-AU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15585" y="685175"/>
            <a:ext cx="5025216" cy="343175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52797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12D5F4A-09F7-418A-A5EE-74E52A972333}" type="slidenum">
              <a:rPr lang="en-AU" smtClean="0"/>
              <a:pPr/>
              <a:t>14</a:t>
            </a:fld>
            <a:endParaRPr lang="en-AU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4213"/>
            <a:ext cx="4575175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286" y="4343363"/>
            <a:ext cx="5485430" cy="4116932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1215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244359-1F6D-4144-A8A9-3388714AC513}" type="slidenum">
              <a:rPr lang="en-AU" smtClean="0"/>
              <a:pPr/>
              <a:t>17</a:t>
            </a:fld>
            <a:endParaRPr lang="en-AU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88517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EB5324E-4C65-4158-BF62-BA8AA2507343}" type="slidenum">
              <a:rPr lang="en-AU" smtClean="0"/>
              <a:pPr/>
              <a:t>18</a:t>
            </a:fld>
            <a:endParaRPr lang="en-AU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1413" y="685800"/>
            <a:ext cx="4573587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54161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52DD63E-D917-48B9-9D1B-10FCD915705D}" type="slidenum">
              <a:rPr lang="en-AU" smtClean="0"/>
              <a:pPr/>
              <a:t>20</a:t>
            </a:fld>
            <a:endParaRPr lang="en-AU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78374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CF99512-35B9-41CB-BF59-100BFE4B20D3}" type="slidenum">
              <a:rPr lang="en-AU" smtClean="0"/>
              <a:pPr/>
              <a:t>21</a:t>
            </a:fld>
            <a:endParaRPr lang="en-AU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7281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0AD2F25-3D7C-4252-9804-AEAF8663C595}" type="slidenum">
              <a:rPr lang="fr-FR" smtClean="0"/>
              <a:pPr/>
              <a:t>23</a:t>
            </a:fld>
            <a:endParaRPr lang="fr-FR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97734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3F00B10-7317-4A11-A72A-29AF88A4CECD}" type="slidenum">
              <a:rPr lang="en-AU" smtClean="0"/>
              <a:pPr/>
              <a:t>24</a:t>
            </a:fld>
            <a:endParaRPr lang="en-AU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75419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EA18F12-AAB1-4407-891A-91BEF1055DFB}" type="slidenum">
              <a:rPr lang="en-AU" smtClean="0"/>
              <a:pPr/>
              <a:t>25</a:t>
            </a:fld>
            <a:endParaRPr lang="en-AU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52687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14CA163-18CA-46B6-A53E-8B8A6A8EA519}" type="slidenum">
              <a:rPr lang="en-AU" smtClean="0"/>
              <a:pPr/>
              <a:t>26</a:t>
            </a:fld>
            <a:endParaRPr lang="en-AU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31005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E953C39-A723-41C0-BB91-E8B0AE771F6F}" type="slidenum">
              <a:rPr lang="fr-FR" smtClean="0"/>
              <a:pPr/>
              <a:t>27</a:t>
            </a:fld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9941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9E70C23-976D-474F-9401-4EAAB2E6EBF8}" type="slidenum">
              <a:rPr lang="fr-FR" smtClean="0"/>
              <a:pPr/>
              <a:t>28</a:t>
            </a:fld>
            <a:endParaRPr lang="fr-FR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65547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05A4DDD-E353-4A9B-8BC2-22EA1D30F2C9}" type="slidenum">
              <a:rPr lang="fr-FR" smtClean="0"/>
              <a:pPr/>
              <a:t>29</a:t>
            </a:fld>
            <a:endParaRPr lang="fr-FR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970" y="4343363"/>
            <a:ext cx="5030061" cy="4115462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30999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CFBDB70-2CDD-478B-874B-4CB9DD2FD4A8}" type="slidenum">
              <a:rPr lang="fr-FR">
                <a:latin typeface="Calibri" panose="020F0502020204030204" pitchFamily="34" charset="0"/>
              </a:rPr>
              <a:pPr eaLnBrk="1" hangingPunct="1"/>
              <a:t>33</a:t>
            </a:fld>
            <a:endParaRPr lang="fr-FR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486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66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05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816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b="0" i="0" u="none" strike="noStrike" kern="1200" baseline="0" dirty="0" smtClean="0">
              <a:solidFill>
                <a:schemeClr val="tx1"/>
              </a:solidFill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18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87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978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576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036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911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28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68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168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90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215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A2C6A-313F-4B1D-8E5E-19D30F52CB7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1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D947D-2FB8-4E95-9ECB-5832C4BC4C1C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68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6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3C8F-B39A-4911-A843-5C83FEB2EFD0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1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0C0E5-AD88-4C7D-93D1-20BF59D41E40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60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C6BD5-657B-4341-AC7B-C07E8ABC095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8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2C9B1-4614-4DBC-8096-8D01CAAE1E6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4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B0F6C-A71F-4DC5-96EC-6C3221B83B6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1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4F53-07A9-4BDB-8AE1-5094D71861A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4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DE49-6D0D-466A-8B6B-A3FDEBB7976B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45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78DDB-C6E8-4AE1-89D7-52CF2D259ED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2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8E64-4B3B-4541-BF9A-8265C682F817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204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938590"/>
            <a:ext cx="8229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338582-5239-49A7-AD37-597C96A6CDE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39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endParaRPr lang="fr-FR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DFDF6-0645-42F4-BC64-11C5FC3EFE9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9036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64644" y="744470"/>
            <a:ext cx="8005588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52494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17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4893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585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864"/>
            <a:ext cx="3332988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2988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2340864"/>
            <a:ext cx="3332988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3305208"/>
            <a:ext cx="3332988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836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76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202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0454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6283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44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624156"/>
            <a:ext cx="1174325" cy="524324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6134731" cy="524324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08/12/2024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192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191B0E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191B0E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49F2E7-93CB-40A8-A20F-0A3DEDB0988E}" type="slidenum">
              <a:rPr lang="fr-FR">
                <a:solidFill>
                  <a:srgbClr val="191B0E"/>
                </a:solidFill>
              </a:rPr>
              <a:pPr/>
              <a:t>‹N°›</a:t>
            </a:fld>
            <a:endParaRPr lang="fr-FR">
              <a:solidFill>
                <a:srgbClr val="191B0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305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938590"/>
            <a:ext cx="8229600" cy="218757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191B0E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191B0E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F4CEE8-421E-431F-A2C1-CB6AA2388941}" type="slidenum">
              <a:rPr lang="fr-FR">
                <a:solidFill>
                  <a:srgbClr val="191B0E"/>
                </a:solidFill>
              </a:rPr>
              <a:pPr/>
              <a:t>‹N°›</a:t>
            </a:fld>
            <a:endParaRPr lang="fr-FR">
              <a:solidFill>
                <a:srgbClr val="191B0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3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EDE762D-EA88-4494-90B0-65FC9844C694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8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8" r:id="rId12"/>
    <p:sldLayoutId id="2147483689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113F0075-DD7A-4DF6-8EFA-968A8A4AA0C5}" type="datetimeFigureOut">
              <a:rPr lang="fr-FR" smtClean="0">
                <a:solidFill>
                  <a:prstClr val="black">
                    <a:tint val="75000"/>
                  </a:prstClr>
                </a:solidFill>
                <a:latin typeface="Franklin Gothic Book" panose="020B050302010202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08/12/2024</a:t>
            </a:fld>
            <a:endParaRPr lang="fr-FR">
              <a:solidFill>
                <a:prstClr val="black">
                  <a:tint val="75000"/>
                </a:prstClr>
              </a:solidFill>
              <a:latin typeface="Franklin Gothic Book" panose="020B05030201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fr-FR">
              <a:solidFill>
                <a:prstClr val="black">
                  <a:tint val="75000"/>
                </a:prstClr>
              </a:solidFill>
              <a:latin typeface="Franklin Gothic Book" panose="020B050302010202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E935569A-58E5-4734-9B16-CF48E087AE80}" type="slidenum">
              <a:rPr lang="fr-FR" smtClean="0">
                <a:solidFill>
                  <a:prstClr val="black">
                    <a:tint val="75000"/>
                  </a:prstClr>
                </a:solidFill>
                <a:latin typeface="Franklin Gothic Book" panose="020B050302010202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‹N°›</a:t>
            </a:fld>
            <a:endParaRPr lang="fr-FR">
              <a:solidFill>
                <a:prstClr val="black">
                  <a:tint val="75000"/>
                </a:prstClr>
              </a:solidFill>
              <a:latin typeface="Franklin Gothic Book" panose="020B05030201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852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48877" y="1219200"/>
            <a:ext cx="7224307" cy="2283382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fr-FR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Absorption et distribution des médicaments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48877" y="3487342"/>
            <a:ext cx="7547212" cy="2835691"/>
          </a:xfrm>
        </p:spPr>
        <p:txBody>
          <a:bodyPr anchor="ctr" anchorCtr="0">
            <a:normAutofit/>
          </a:bodyPr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Cours pour </a:t>
            </a:r>
            <a:r>
              <a:rPr lang="fr-FR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fr-FR" baseline="30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ème</a:t>
            </a:r>
            <a:r>
              <a:rPr lang="fr-FR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année </a:t>
            </a:r>
            <a:r>
              <a:rPr lang="fr-FR" dirty="0">
                <a:solidFill>
                  <a:schemeClr val="tx1"/>
                </a:solidFill>
              </a:rPr>
              <a:t>médecine </a:t>
            </a:r>
            <a:r>
              <a:rPr lang="fr-FR" dirty="0" smtClean="0">
                <a:solidFill>
                  <a:schemeClr val="tx1"/>
                </a:solidFill>
              </a:rPr>
              <a:t>dentaire</a:t>
            </a:r>
          </a:p>
          <a:p>
            <a:pPr algn="ctr"/>
            <a:r>
              <a:rPr lang="fr-FR" dirty="0" smtClean="0">
                <a:solidFill>
                  <a:schemeClr val="tx1"/>
                </a:solidFill>
              </a:rPr>
              <a:t>Année universitaire : </a:t>
            </a:r>
            <a:r>
              <a:rPr lang="fr-FR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2024/2025</a:t>
            </a:r>
          </a:p>
          <a:p>
            <a:pPr algn="ctr"/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dirty="0"/>
          </a:p>
          <a:p>
            <a:pPr algn="l"/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Présenté par 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GHORAB A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</a:p>
          <a:p>
            <a:pPr algn="l"/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Présenté par </a:t>
            </a:r>
            <a:r>
              <a:rPr lang="fr-F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Dr GHORAB 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</a:t>
            </a:r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ADDA ABBOU Leila</a:t>
            </a: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</a:p>
          <a:p>
            <a:pPr algn="l"/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Maitre-Assistante en pharmacologie.</a:t>
            </a:r>
          </a:p>
        </p:txBody>
      </p:sp>
      <p:sp>
        <p:nvSpPr>
          <p:cNvPr id="4" name="ZoneTexte 3"/>
          <p:cNvSpPr txBox="1"/>
          <p:nvPr/>
        </p:nvSpPr>
        <p:spPr>
          <a:xfrm flipH="1">
            <a:off x="456200" y="135474"/>
            <a:ext cx="794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Franklin Gothic Book" panose="020B0503020102020204"/>
              </a:rPr>
              <a:t>Faculté de </a:t>
            </a:r>
            <a:r>
              <a:rPr lang="fr-FR" b="1" dirty="0" smtClean="0">
                <a:solidFill>
                  <a:prstClr val="black"/>
                </a:solidFill>
                <a:latin typeface="Franklin Gothic Book" panose="020B0503020102020204"/>
              </a:rPr>
              <a:t>Médecine Dentaire d’Alger</a:t>
            </a:r>
            <a:endParaRPr lang="fr-FR" b="1" dirty="0">
              <a:solidFill>
                <a:prstClr val="black"/>
              </a:solidFill>
              <a:latin typeface="Franklin Gothic Book" panose="020B05030201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0208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94235" y="857250"/>
            <a:ext cx="6172200" cy="529829"/>
          </a:xfrm>
        </p:spPr>
        <p:txBody>
          <a:bodyPr/>
          <a:lstStyle/>
          <a:p>
            <a:pPr eaLnBrk="1" hangingPunct="1"/>
            <a:r>
              <a:rPr lang="fr-FR" sz="3000" b="1" u="sng"/>
              <a:t>Introduction :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0" y="1484711"/>
            <a:ext cx="6172200" cy="1639490"/>
          </a:xfrm>
        </p:spPr>
        <p:txBody>
          <a:bodyPr>
            <a:normAutofit/>
          </a:bodyPr>
          <a:lstStyle/>
          <a:p>
            <a:pPr eaLnBrk="1" hangingPunct="1"/>
            <a:r>
              <a:rPr lang="fr-FR" sz="2400" dirty="0"/>
              <a:t>La pharmacocinétique : devenir du médicament dans l’organisme</a:t>
            </a:r>
          </a:p>
          <a:p>
            <a:pPr eaLnBrk="1" hangingPunct="1"/>
            <a:r>
              <a:rPr lang="fr-FR" sz="2400" dirty="0"/>
              <a:t>Etapes = résorption ou absorption ; distribution ; métabolisme ; élimination.</a:t>
            </a:r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245394" y="3721714"/>
            <a:ext cx="6669881" cy="2808685"/>
          </a:xfrm>
        </p:spPr>
      </p:pic>
    </p:spTree>
    <p:extLst>
      <p:ext uri="{BB962C8B-B14F-4D97-AF65-F5344CB8AC3E}">
        <p14:creationId xmlns:p14="http://schemas.microsoft.com/office/powerpoint/2010/main" val="191314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RÃ©sultat de recherche d'images pour &quot;distribution des mÃ©dicaments&quot;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94" t="8410" r="16781" b="1855"/>
          <a:stretch/>
        </p:blipFill>
        <p:spPr bwMode="auto">
          <a:xfrm>
            <a:off x="2706107" y="249774"/>
            <a:ext cx="6401580" cy="56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5670523" y="4483696"/>
            <a:ext cx="3345724" cy="1975009"/>
          </a:xfrm>
          <a:prstGeom prst="wedgeRoundRectCallout">
            <a:avLst>
              <a:gd name="adj1" fmla="val -81098"/>
              <a:gd name="adj2" fmla="val -29729"/>
              <a:gd name="adj3" fmla="val 1666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distribution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 un </a:t>
            </a:r>
            <a:r>
              <a:rPr lang="fr-FR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processus de transfert (réversible) du PA, à partir de la circulation vers les organes et tissus</a:t>
            </a:r>
            <a:r>
              <a:rPr lang="fr-F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fr-FR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Introduction </a:t>
            </a:r>
            <a:endParaRPr lang="fr-F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60960" y="3188806"/>
            <a:ext cx="2568947" cy="2123658"/>
          </a:xfrm>
          <a:prstGeom prst="wedgeRectCallout">
            <a:avLst>
              <a:gd name="adj1" fmla="val 61891"/>
              <a:gd name="adj2" fmla="val 11548"/>
            </a:avLst>
          </a:prstGeom>
          <a:ln>
            <a:headEnd/>
            <a:tailEnd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absorption </a:t>
            </a:r>
            <a:r>
              <a:rPr lang="fr-FR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2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passage d’un médicament de son site d’administration vers la circulation générale </a:t>
            </a:r>
          </a:p>
        </p:txBody>
      </p:sp>
      <p:pic>
        <p:nvPicPr>
          <p:cNvPr id="3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145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L’ABSORPTION DES MEDICAMENTS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643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7159" y="0"/>
            <a:ext cx="7290054" cy="149961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3000" b="1" dirty="0">
                <a:solidFill>
                  <a:srgbClr val="FF0000"/>
                </a:solidFill>
              </a:rPr>
              <a:t>I – Définition de l’absorption des médicaments :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7159" y="1319514"/>
            <a:ext cx="8426370" cy="5208608"/>
          </a:xfrm>
        </p:spPr>
        <p:txBody>
          <a:bodyPr>
            <a:normAutofit fontScale="70000" lnSpcReduction="20000"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  <a:t>Transfert des médicaments de leur site d’administration vers la circulation générale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  <a:t>« Traverse les tissus et membranes ».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fr-FR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  <a:buNone/>
            </a:pPr>
            <a: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  <a:t>L'absorption d'un médicament est déterminée par ses </a:t>
            </a:r>
            <a:r>
              <a:rPr lang="fr-FR" sz="3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propriétés physico-chimiques, </a:t>
            </a:r>
            <a: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  <a:t>sa </a:t>
            </a:r>
            <a:r>
              <a:rPr lang="fr-FR" sz="3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formulation galénique </a:t>
            </a:r>
            <a:r>
              <a:rPr lang="fr-FR" sz="3100" dirty="0">
                <a:latin typeface="Calibri" panose="020F0502020204030204" pitchFamily="34" charset="0"/>
                <a:cs typeface="Calibri" panose="020F0502020204030204" pitchFamily="34" charset="0"/>
              </a:rPr>
              <a:t>et sa </a:t>
            </a:r>
            <a:r>
              <a:rPr lang="fr-FR" sz="31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voie d'administration.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b="1" u="sng" dirty="0">
                <a:latin typeface="Calibri" panose="020F0502020204030204" pitchFamily="34" charset="0"/>
                <a:cs typeface="Calibri" panose="020F0502020204030204" pitchFamily="34" charset="0"/>
              </a:rPr>
              <a:t>Voies d ’administration concernées: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ORALE (+++)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INTRA-MUSCULAIRE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SOUS-CUTANEE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RECTALE + TRANS-MUQUEUSES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fr-FR" sz="31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TRANS-CUTANEE ou PERCUTANÉE(+++)</a:t>
            </a:r>
            <a:endParaRPr lang="fr-FR" sz="31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fr-FR" dirty="0"/>
          </a:p>
          <a:p>
            <a:pPr eaLnBrk="1" hangingPunct="1">
              <a:lnSpc>
                <a:spcPct val="8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116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sz="2100" b="1"/>
              <a:t> Ultra structure de la barrière physiologique impliqué dans</a:t>
            </a:r>
            <a:r>
              <a:rPr lang="fr-FR" sz="2100"/>
              <a:t> </a:t>
            </a:r>
            <a:r>
              <a:rPr lang="fr-FR" sz="2100" b="1"/>
              <a:t>l’étape d’absorption transcellulaire des médicaments</a:t>
            </a:r>
            <a:r>
              <a:rPr lang="fr-FR" sz="2100" b="1" u="sng"/>
              <a:t> :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1" y="2626520"/>
            <a:ext cx="2545556" cy="3394472"/>
          </a:xfrm>
        </p:spPr>
        <p:txBody>
          <a:bodyPr/>
          <a:lstStyle/>
          <a:p>
            <a:pPr eaLnBrk="1" hangingPunct="1"/>
            <a:r>
              <a:rPr lang="fr-FR" sz="1800"/>
              <a:t>Bicouche lipidique ; mosaïque fluide ; phospholipides : </a:t>
            </a:r>
          </a:p>
          <a:p>
            <a:pPr eaLnBrk="1" hangingPunct="1">
              <a:buFontTx/>
              <a:buNone/>
            </a:pPr>
            <a:r>
              <a:rPr lang="fr-FR" sz="1800"/>
              <a:t>pôle hydrophile et pôle hydrophobe.</a:t>
            </a:r>
          </a:p>
          <a:p>
            <a:pPr eaLnBrk="1" hangingPunct="1"/>
            <a:endParaRPr lang="fr-FR" sz="1800"/>
          </a:p>
        </p:txBody>
      </p:sp>
      <p:pic>
        <p:nvPicPr>
          <p:cNvPr id="7172" name="Picture 4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977880" y="2489599"/>
            <a:ext cx="3969544" cy="2992040"/>
          </a:xfrm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3736" y="2035970"/>
            <a:ext cx="6482953" cy="337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7" descr="http://fr.cdn.v5.futura-sciences.com/builds/images/thumbs/8/8b5aaca582_phospholipid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03736" y="2035970"/>
            <a:ext cx="6482953" cy="337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522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1612" y="1112045"/>
            <a:ext cx="5844779" cy="859631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fr-FR" altLang="en-US" sz="2850" b="1">
                <a:solidFill>
                  <a:srgbClr val="FF0000"/>
                </a:solidFill>
              </a:rPr>
              <a:t>Principe de passage  à travers la bicouche lipidique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0428" y="2514600"/>
            <a:ext cx="5966222" cy="2686050"/>
          </a:xfrm>
        </p:spPr>
        <p:txBody>
          <a:bodyPr/>
          <a:lstStyle/>
          <a:p>
            <a:r>
              <a:rPr lang="fr-FR" altLang="en-US">
                <a:solidFill>
                  <a:srgbClr val="002060"/>
                </a:solidFill>
              </a:rPr>
              <a:t>La bicouche lipidique est perméable aux:</a:t>
            </a:r>
          </a:p>
          <a:p>
            <a:pPr lvl="1"/>
            <a:r>
              <a:rPr lang="fr-FR" altLang="en-US"/>
              <a:t>Molécules non polaires</a:t>
            </a:r>
          </a:p>
          <a:p>
            <a:pPr lvl="2"/>
            <a:r>
              <a:rPr lang="fr-FR" altLang="en-US"/>
              <a:t>Lipides solubles (stéroïdes). </a:t>
            </a:r>
          </a:p>
          <a:p>
            <a:pPr lvl="1"/>
            <a:r>
              <a:rPr lang="fr-FR" altLang="en-US"/>
              <a:t>Molécules polaires de petite taille et non chargée comme  l’eau </a:t>
            </a:r>
          </a:p>
          <a:p>
            <a:r>
              <a:rPr lang="fr-FR" altLang="en-US">
                <a:solidFill>
                  <a:srgbClr val="002060"/>
                </a:solidFill>
              </a:rPr>
              <a:t>La bicouche lipidique est imperméable aux:</a:t>
            </a:r>
          </a:p>
          <a:p>
            <a:pPr lvl="1"/>
            <a:r>
              <a:rPr lang="fr-FR" altLang="en-US"/>
              <a:t>Grosse molécules polaires  (glucose).</a:t>
            </a:r>
          </a:p>
          <a:p>
            <a:pPr lvl="1"/>
            <a:r>
              <a:rPr lang="fr-FR" altLang="en-US"/>
              <a:t>Aux Ions (Na</a:t>
            </a:r>
            <a:r>
              <a:rPr lang="fr-FR" altLang="en-US" baseline="30000"/>
              <a:t>+</a:t>
            </a:r>
            <a:r>
              <a:rPr lang="fr-FR" altLang="en-US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9696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37009"/>
            <a:ext cx="6172200" cy="857251"/>
          </a:xfrm>
        </p:spPr>
        <p:txBody>
          <a:bodyPr/>
          <a:lstStyle/>
          <a:p>
            <a:pPr eaLnBrk="1" hangingPunct="1"/>
            <a:r>
              <a:rPr lang="fr-FR" sz="1800" b="1" dirty="0">
                <a:solidFill>
                  <a:srgbClr val="FF0000"/>
                </a:solidFill>
              </a:rPr>
              <a:t>Propriétés physicochimiques des médicaments impliquées dans le passage transmembranaire: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0"/>
            <a:ext cx="6172200" cy="3943350"/>
          </a:xfrm>
        </p:spPr>
        <p:txBody>
          <a:bodyPr>
            <a:normAutofit fontScale="85000" lnSpcReduction="20000"/>
          </a:bodyPr>
          <a:lstStyle/>
          <a:p>
            <a:pPr algn="ctr" eaLnBrk="1" hangingPunct="1">
              <a:buFontTx/>
              <a:buNone/>
            </a:pPr>
            <a:r>
              <a:rPr lang="fr-FR" b="1" u="sng" dirty="0"/>
              <a:t> État d’ionisation :</a:t>
            </a:r>
            <a:endParaRPr lang="fr-FR" dirty="0"/>
          </a:p>
          <a:p>
            <a:pPr eaLnBrk="1" hangingPunct="1"/>
            <a:r>
              <a:rPr lang="fr-FR" dirty="0"/>
              <a:t>Les médicaments sont soit :</a:t>
            </a:r>
          </a:p>
          <a:p>
            <a:pPr eaLnBrk="1" hangingPunct="1">
              <a:buFontTx/>
              <a:buNone/>
            </a:pPr>
            <a:r>
              <a:rPr lang="fr-FR" dirty="0">
                <a:solidFill>
                  <a:schemeClr val="accent2"/>
                </a:solidFill>
              </a:rPr>
              <a:t>ACIDES FAIBLES</a:t>
            </a:r>
            <a:r>
              <a:rPr lang="fr-FR" dirty="0"/>
              <a:t> ou </a:t>
            </a:r>
            <a:r>
              <a:rPr lang="fr-FR" dirty="0">
                <a:solidFill>
                  <a:srgbClr val="FF0000"/>
                </a:solidFill>
              </a:rPr>
              <a:t>BASES FAIBLES </a:t>
            </a:r>
            <a:r>
              <a:rPr lang="fr-FR" b="1" u="sng" dirty="0">
                <a:solidFill>
                  <a:srgbClr val="0070C0"/>
                </a:solidFill>
              </a:rPr>
              <a:t>donc </a:t>
            </a:r>
            <a:r>
              <a:rPr lang="fr-FR" b="1" u="sng" dirty="0" err="1">
                <a:solidFill>
                  <a:srgbClr val="0070C0"/>
                </a:solidFill>
              </a:rPr>
              <a:t>ionisables</a:t>
            </a:r>
            <a:r>
              <a:rPr lang="fr-FR" b="1" u="sng" dirty="0">
                <a:solidFill>
                  <a:srgbClr val="0070C0"/>
                </a:solidFill>
              </a:rPr>
              <a:t> </a:t>
            </a:r>
          </a:p>
          <a:p>
            <a:pPr eaLnBrk="1" hangingPunct="1"/>
            <a:r>
              <a:rPr lang="fr-FR" dirty="0"/>
              <a:t>Caractérisés par leur </a:t>
            </a:r>
            <a:r>
              <a:rPr lang="fr-FR" dirty="0" err="1">
                <a:solidFill>
                  <a:schemeClr val="hlink"/>
                </a:solidFill>
              </a:rPr>
              <a:t>pKa</a:t>
            </a:r>
            <a:endParaRPr lang="fr-FR" dirty="0">
              <a:solidFill>
                <a:schemeClr val="hlink"/>
              </a:solidFill>
            </a:endParaRPr>
          </a:p>
          <a:p>
            <a:pPr eaLnBrk="1" hangingPunct="1"/>
            <a:r>
              <a:rPr lang="fr-FR" dirty="0"/>
              <a:t>L’état d’ionisation dépend  du </a:t>
            </a:r>
            <a:r>
              <a:rPr lang="fr-FR" dirty="0">
                <a:solidFill>
                  <a:schemeClr val="hlink"/>
                </a:solidFill>
              </a:rPr>
              <a:t>pH du milieu</a:t>
            </a:r>
            <a:r>
              <a:rPr lang="fr-FR" dirty="0"/>
              <a:t> ;</a:t>
            </a:r>
            <a:endParaRPr lang="fr-FR" b="1" u="sng" dirty="0"/>
          </a:p>
          <a:p>
            <a:pPr algn="ctr" eaLnBrk="1" hangingPunct="1">
              <a:buFontTx/>
              <a:buNone/>
            </a:pPr>
            <a:endParaRPr lang="fr-FR" sz="1800" b="1" u="sng" dirty="0"/>
          </a:p>
          <a:p>
            <a:pPr algn="ctr" eaLnBrk="1" hangingPunct="1">
              <a:buFontTx/>
              <a:buNone/>
            </a:pPr>
            <a:r>
              <a:rPr lang="fr-FR" sz="1800" b="1" u="sng" dirty="0"/>
              <a:t>Loi d’HENDERSON HASSELBACH : </a:t>
            </a:r>
            <a:endParaRPr lang="fr-FR" sz="1800" b="1" dirty="0"/>
          </a:p>
          <a:p>
            <a:pPr algn="ctr" eaLnBrk="1" hangingPunct="1">
              <a:buFontTx/>
              <a:buNone/>
            </a:pPr>
            <a:r>
              <a:rPr lang="fr-FR" sz="1800" b="1" dirty="0"/>
              <a:t>Acide faible :</a:t>
            </a:r>
          </a:p>
          <a:p>
            <a:pPr algn="ctr" eaLnBrk="1" hangingPunct="1">
              <a:buFontTx/>
              <a:buNone/>
            </a:pPr>
            <a:r>
              <a:rPr lang="fr-FR" sz="1800" b="1" dirty="0"/>
              <a:t>pH = </a:t>
            </a:r>
            <a:r>
              <a:rPr lang="fr-FR" sz="1800" b="1" dirty="0" err="1"/>
              <a:t>pKa</a:t>
            </a:r>
            <a:r>
              <a:rPr lang="fr-FR" sz="1800" b="1" dirty="0"/>
              <a:t> + log [FI] / [FNI].</a:t>
            </a:r>
          </a:p>
          <a:p>
            <a:pPr algn="ctr" eaLnBrk="1" hangingPunct="1">
              <a:buFontTx/>
              <a:buNone/>
            </a:pPr>
            <a:r>
              <a:rPr lang="fr-FR" sz="1800" b="1" dirty="0"/>
              <a:t>Base faible :</a:t>
            </a:r>
          </a:p>
          <a:p>
            <a:pPr algn="ctr" eaLnBrk="1" hangingPunct="1">
              <a:buFontTx/>
              <a:buNone/>
            </a:pPr>
            <a:r>
              <a:rPr lang="fr-FR" sz="1800" b="1" dirty="0"/>
              <a:t>pH = </a:t>
            </a:r>
            <a:r>
              <a:rPr lang="fr-FR" sz="1800" b="1" dirty="0" err="1"/>
              <a:t>pKa</a:t>
            </a:r>
            <a:r>
              <a:rPr lang="fr-FR" sz="1800" b="1" dirty="0"/>
              <a:t> + log [FNI] / [FI].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357437" y="4238626"/>
            <a:ext cx="4320779" cy="170735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18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0" y="1107281"/>
            <a:ext cx="6172200" cy="1639491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b="1" u="sng" dirty="0"/>
              <a:t>II-2- </a:t>
            </a:r>
            <a:r>
              <a:rPr lang="fr-FR" b="1" u="sng" dirty="0" err="1"/>
              <a:t>Liposolubilité</a:t>
            </a:r>
            <a:r>
              <a:rPr lang="fr-FR" b="1" u="sng" dirty="0"/>
              <a:t> :</a:t>
            </a:r>
            <a:endParaRPr lang="fr-FR" b="1" dirty="0"/>
          </a:p>
          <a:p>
            <a:pPr eaLnBrk="1" hangingPunct="1">
              <a:buFontTx/>
              <a:buNone/>
            </a:pPr>
            <a:r>
              <a:rPr lang="fr-FR" b="1" dirty="0"/>
              <a:t>Coefficient de partage : </a:t>
            </a:r>
            <a:r>
              <a:rPr lang="fr-FR" dirty="0">
                <a:solidFill>
                  <a:srgbClr val="0070C0"/>
                </a:solidFill>
              </a:rPr>
              <a:t>molécules polaire et apolaires</a:t>
            </a:r>
          </a:p>
          <a:p>
            <a:pPr algn="ctr" eaLnBrk="1" hangingPunct="1">
              <a:buFontTx/>
              <a:buNone/>
            </a:pPr>
            <a:r>
              <a:rPr lang="fr-FR" b="1" dirty="0"/>
              <a:t> </a:t>
            </a:r>
            <a:r>
              <a:rPr lang="fr-FR" b="1" dirty="0" err="1">
                <a:solidFill>
                  <a:schemeClr val="accent2"/>
                </a:solidFill>
              </a:rPr>
              <a:t>Ks</a:t>
            </a:r>
            <a:r>
              <a:rPr lang="fr-FR" b="1" dirty="0">
                <a:solidFill>
                  <a:schemeClr val="accent2"/>
                </a:solidFill>
              </a:rPr>
              <a:t> = [    ] du </a:t>
            </a:r>
            <a:r>
              <a:rPr lang="fr-FR" b="1" dirty="0" err="1">
                <a:solidFill>
                  <a:schemeClr val="accent2"/>
                </a:solidFill>
              </a:rPr>
              <a:t>mdt</a:t>
            </a:r>
            <a:r>
              <a:rPr lang="fr-FR" b="1" dirty="0">
                <a:solidFill>
                  <a:schemeClr val="accent2"/>
                </a:solidFill>
              </a:rPr>
              <a:t> dans un solvant non polaire / [    ] du </a:t>
            </a:r>
            <a:r>
              <a:rPr lang="fr-FR" b="1" dirty="0" err="1">
                <a:solidFill>
                  <a:schemeClr val="accent2"/>
                </a:solidFill>
              </a:rPr>
              <a:t>mdt</a:t>
            </a:r>
            <a:r>
              <a:rPr lang="fr-FR" b="1" dirty="0">
                <a:solidFill>
                  <a:schemeClr val="accent2"/>
                </a:solidFill>
              </a:rPr>
              <a:t> dans un solvant polaire.</a:t>
            </a:r>
            <a:endParaRPr lang="fr-FR" b="1" u="sng" dirty="0">
              <a:solidFill>
                <a:schemeClr val="accent2"/>
              </a:solidFill>
            </a:endParaRPr>
          </a:p>
        </p:txBody>
      </p:sp>
      <p:pic>
        <p:nvPicPr>
          <p:cNvPr id="1126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485900" y="2619375"/>
            <a:ext cx="6172200" cy="3381375"/>
          </a:xfrm>
        </p:spPr>
      </p:pic>
      <p:sp>
        <p:nvSpPr>
          <p:cNvPr id="11268" name="Line 6"/>
          <p:cNvSpPr>
            <a:spLocks noChangeShapeType="1"/>
          </p:cNvSpPr>
          <p:nvPr/>
        </p:nvSpPr>
        <p:spPr bwMode="auto">
          <a:xfrm>
            <a:off x="2303861" y="2262188"/>
            <a:ext cx="529232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1656161" y="1863328"/>
            <a:ext cx="6101953" cy="75604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23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7541" y="1107282"/>
            <a:ext cx="6723459" cy="475178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b="1" u="sng" dirty="0" smtClean="0"/>
              <a:t>II-3- Hydro solubilité :</a:t>
            </a:r>
          </a:p>
          <a:p>
            <a:pPr algn="ctr" eaLnBrk="1" hangingPunct="1">
              <a:buFontTx/>
              <a:buNone/>
            </a:pPr>
            <a:endParaRPr lang="fr-FR" dirty="0" smtClean="0"/>
          </a:p>
          <a:p>
            <a:pPr eaLnBrk="1" hangingPunct="1">
              <a:buFontTx/>
              <a:buNone/>
            </a:pPr>
            <a:r>
              <a:rPr lang="fr-FR" dirty="0" smtClean="0"/>
              <a:t>Limite la </a:t>
            </a:r>
            <a:r>
              <a:rPr lang="fr-FR" b="1" dirty="0" smtClean="0">
                <a:solidFill>
                  <a:srgbClr val="0070C0"/>
                </a:solidFill>
              </a:rPr>
              <a:t>dissolution</a:t>
            </a:r>
            <a:r>
              <a:rPr lang="fr-FR" dirty="0" smtClean="0"/>
              <a:t> des médicaments a partir de leur forme pharmaceutique généralement solide.</a:t>
            </a:r>
          </a:p>
          <a:p>
            <a:pPr eaLnBrk="1" hangingPunct="1">
              <a:buFontTx/>
              <a:buNone/>
            </a:pPr>
            <a:endParaRPr lang="fr-FR" dirty="0" smtClean="0"/>
          </a:p>
          <a:p>
            <a:pPr eaLnBrk="1" hangingPunct="1">
              <a:buFontTx/>
              <a:buNone/>
            </a:pPr>
            <a:endParaRPr lang="fr-FR" b="1" u="sng" dirty="0" smtClean="0"/>
          </a:p>
          <a:p>
            <a:pPr algn="ctr" eaLnBrk="1" hangingPunct="1">
              <a:buFontTx/>
              <a:buNone/>
            </a:pPr>
            <a:r>
              <a:rPr lang="fr-FR" b="1" u="sng" dirty="0" smtClean="0"/>
              <a:t>II-4- Masse moléculaire :</a:t>
            </a:r>
          </a:p>
          <a:p>
            <a:pPr algn="ctr" eaLnBrk="1" hangingPunct="1">
              <a:buFontTx/>
              <a:buNone/>
            </a:pPr>
            <a:endParaRPr lang="fr-FR" dirty="0" smtClean="0"/>
          </a:p>
          <a:p>
            <a:pPr eaLnBrk="1" hangingPunct="1">
              <a:buFontTx/>
              <a:buNone/>
            </a:pPr>
            <a:r>
              <a:rPr lang="fr-FR" dirty="0" smtClean="0"/>
              <a:t>Vitesse de transfert dépend de la masse moléculaire des particules </a:t>
            </a:r>
            <a:endParaRPr lang="fr-FR" b="1" dirty="0" smtClean="0"/>
          </a:p>
          <a:p>
            <a:pPr algn="ctr" eaLnBrk="1" hangingPunct="1">
              <a:buFontTx/>
              <a:buNone/>
            </a:pPr>
            <a:r>
              <a:rPr lang="fr-FR" b="1" dirty="0" smtClean="0">
                <a:solidFill>
                  <a:schemeClr val="accent2"/>
                </a:solidFill>
              </a:rPr>
              <a:t>(Mouvement BROWNIEN =1 / √PM)</a:t>
            </a:r>
          </a:p>
          <a:p>
            <a:pPr eaLnBrk="1" hangingPunct="1"/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6706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32310" y="4400551"/>
            <a:ext cx="5994797" cy="864394"/>
            <a:chOff x="476" y="2931"/>
            <a:chExt cx="5035" cy="771"/>
          </a:xfrm>
        </p:grpSpPr>
        <p:sp>
          <p:nvSpPr>
            <p:cNvPr id="14377" name="Line 3"/>
            <p:cNvSpPr>
              <a:spLocks noChangeShapeType="1"/>
            </p:cNvSpPr>
            <p:nvPr/>
          </p:nvSpPr>
          <p:spPr bwMode="auto">
            <a:xfrm>
              <a:off x="476" y="2931"/>
              <a:ext cx="5035" cy="0"/>
            </a:xfrm>
            <a:prstGeom prst="line">
              <a:avLst/>
            </a:prstGeom>
            <a:noFill/>
            <a:ln w="38100" cap="rnd">
              <a:solidFill>
                <a:srgbClr val="9966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378" name="Line 4"/>
            <p:cNvSpPr>
              <a:spLocks noChangeShapeType="1"/>
            </p:cNvSpPr>
            <p:nvPr/>
          </p:nvSpPr>
          <p:spPr bwMode="auto">
            <a:xfrm>
              <a:off x="476" y="3702"/>
              <a:ext cx="5035" cy="0"/>
            </a:xfrm>
            <a:prstGeom prst="line">
              <a:avLst/>
            </a:prstGeom>
            <a:noFill/>
            <a:ln w="38100" cap="rnd">
              <a:solidFill>
                <a:srgbClr val="9966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2736056" y="4238626"/>
            <a:ext cx="906066" cy="1026319"/>
            <a:chOff x="1020" y="2840"/>
            <a:chExt cx="761" cy="862"/>
          </a:xfrm>
        </p:grpSpPr>
        <p:sp>
          <p:nvSpPr>
            <p:cNvPr id="14375" name="Freeform 6"/>
            <p:cNvSpPr>
              <a:spLocks/>
            </p:cNvSpPr>
            <p:nvPr/>
          </p:nvSpPr>
          <p:spPr bwMode="blackWhite">
            <a:xfrm>
              <a:off x="1020" y="2840"/>
              <a:ext cx="761" cy="862"/>
            </a:xfrm>
            <a:custGeom>
              <a:avLst/>
              <a:gdLst>
                <a:gd name="T0" fmla="*/ 706 w 761"/>
                <a:gd name="T1" fmla="*/ 862 h 862"/>
                <a:gd name="T2" fmla="*/ 73 w 761"/>
                <a:gd name="T3" fmla="*/ 862 h 862"/>
                <a:gd name="T4" fmla="*/ 76 w 761"/>
                <a:gd name="T5" fmla="*/ 239 h 862"/>
                <a:gd name="T6" fmla="*/ 0 w 761"/>
                <a:gd name="T7" fmla="*/ 220 h 862"/>
                <a:gd name="T8" fmla="*/ 0 w 761"/>
                <a:gd name="T9" fmla="*/ 76 h 862"/>
                <a:gd name="T10" fmla="*/ 79 w 761"/>
                <a:gd name="T11" fmla="*/ 29 h 862"/>
                <a:gd name="T12" fmla="*/ 122 w 761"/>
                <a:gd name="T13" fmla="*/ 29 h 862"/>
                <a:gd name="T14" fmla="*/ 122 w 761"/>
                <a:gd name="T15" fmla="*/ 122 h 862"/>
                <a:gd name="T16" fmla="*/ 164 w 761"/>
                <a:gd name="T17" fmla="*/ 122 h 862"/>
                <a:gd name="T18" fmla="*/ 164 w 761"/>
                <a:gd name="T19" fmla="*/ 29 h 862"/>
                <a:gd name="T20" fmla="*/ 207 w 761"/>
                <a:gd name="T21" fmla="*/ 29 h 862"/>
                <a:gd name="T22" fmla="*/ 207 w 761"/>
                <a:gd name="T23" fmla="*/ 125 h 862"/>
                <a:gd name="T24" fmla="*/ 248 w 761"/>
                <a:gd name="T25" fmla="*/ 125 h 862"/>
                <a:gd name="T26" fmla="*/ 248 w 761"/>
                <a:gd name="T27" fmla="*/ 25 h 862"/>
                <a:gd name="T28" fmla="*/ 286 w 761"/>
                <a:gd name="T29" fmla="*/ 24 h 862"/>
                <a:gd name="T30" fmla="*/ 286 w 761"/>
                <a:gd name="T31" fmla="*/ 117 h 862"/>
                <a:gd name="T32" fmla="*/ 323 w 761"/>
                <a:gd name="T33" fmla="*/ 117 h 862"/>
                <a:gd name="T34" fmla="*/ 323 w 761"/>
                <a:gd name="T35" fmla="*/ 24 h 862"/>
                <a:gd name="T36" fmla="*/ 360 w 761"/>
                <a:gd name="T37" fmla="*/ 24 h 862"/>
                <a:gd name="T38" fmla="*/ 360 w 761"/>
                <a:gd name="T39" fmla="*/ 122 h 862"/>
                <a:gd name="T40" fmla="*/ 403 w 761"/>
                <a:gd name="T41" fmla="*/ 117 h 862"/>
                <a:gd name="T42" fmla="*/ 403 w 761"/>
                <a:gd name="T43" fmla="*/ 24 h 862"/>
                <a:gd name="T44" fmla="*/ 452 w 761"/>
                <a:gd name="T45" fmla="*/ 24 h 862"/>
                <a:gd name="T46" fmla="*/ 452 w 761"/>
                <a:gd name="T47" fmla="*/ 117 h 862"/>
                <a:gd name="T48" fmla="*/ 492 w 761"/>
                <a:gd name="T49" fmla="*/ 115 h 862"/>
                <a:gd name="T50" fmla="*/ 492 w 761"/>
                <a:gd name="T51" fmla="*/ 21 h 862"/>
                <a:gd name="T52" fmla="*/ 537 w 761"/>
                <a:gd name="T53" fmla="*/ 19 h 862"/>
                <a:gd name="T54" fmla="*/ 537 w 761"/>
                <a:gd name="T55" fmla="*/ 117 h 862"/>
                <a:gd name="T56" fmla="*/ 574 w 761"/>
                <a:gd name="T57" fmla="*/ 117 h 862"/>
                <a:gd name="T58" fmla="*/ 574 w 761"/>
                <a:gd name="T59" fmla="*/ 17 h 862"/>
                <a:gd name="T60" fmla="*/ 610 w 761"/>
                <a:gd name="T61" fmla="*/ 19 h 862"/>
                <a:gd name="T62" fmla="*/ 610 w 761"/>
                <a:gd name="T63" fmla="*/ 117 h 862"/>
                <a:gd name="T64" fmla="*/ 649 w 761"/>
                <a:gd name="T65" fmla="*/ 118 h 862"/>
                <a:gd name="T66" fmla="*/ 649 w 761"/>
                <a:gd name="T67" fmla="*/ 17 h 862"/>
                <a:gd name="T68" fmla="*/ 688 w 761"/>
                <a:gd name="T69" fmla="*/ 16 h 862"/>
                <a:gd name="T70" fmla="*/ 729 w 761"/>
                <a:gd name="T71" fmla="*/ 37 h 862"/>
                <a:gd name="T72" fmla="*/ 761 w 761"/>
                <a:gd name="T73" fmla="*/ 72 h 862"/>
                <a:gd name="T74" fmla="*/ 759 w 761"/>
                <a:gd name="T75" fmla="*/ 219 h 862"/>
                <a:gd name="T76" fmla="*/ 708 w 761"/>
                <a:gd name="T77" fmla="*/ 232 h 862"/>
                <a:gd name="T78" fmla="*/ 706 w 761"/>
                <a:gd name="T79" fmla="*/ 862 h 8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61"/>
                <a:gd name="T121" fmla="*/ 0 h 862"/>
                <a:gd name="T122" fmla="*/ 761 w 761"/>
                <a:gd name="T123" fmla="*/ 862 h 8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61" h="862">
                  <a:moveTo>
                    <a:pt x="706" y="862"/>
                  </a:moveTo>
                  <a:lnTo>
                    <a:pt x="73" y="862"/>
                  </a:lnTo>
                  <a:lnTo>
                    <a:pt x="76" y="239"/>
                  </a:lnTo>
                  <a:lnTo>
                    <a:pt x="0" y="220"/>
                  </a:lnTo>
                  <a:lnTo>
                    <a:pt x="0" y="76"/>
                  </a:lnTo>
                  <a:lnTo>
                    <a:pt x="79" y="29"/>
                  </a:lnTo>
                  <a:cubicBezTo>
                    <a:pt x="99" y="21"/>
                    <a:pt x="115" y="13"/>
                    <a:pt x="122" y="29"/>
                  </a:cubicBezTo>
                  <a:lnTo>
                    <a:pt x="122" y="122"/>
                  </a:lnTo>
                  <a:cubicBezTo>
                    <a:pt x="128" y="137"/>
                    <a:pt x="157" y="137"/>
                    <a:pt x="164" y="122"/>
                  </a:cubicBezTo>
                  <a:lnTo>
                    <a:pt x="164" y="29"/>
                  </a:lnTo>
                  <a:cubicBezTo>
                    <a:pt x="172" y="13"/>
                    <a:pt x="200" y="13"/>
                    <a:pt x="207" y="29"/>
                  </a:cubicBezTo>
                  <a:lnTo>
                    <a:pt x="207" y="125"/>
                  </a:lnTo>
                  <a:cubicBezTo>
                    <a:pt x="215" y="141"/>
                    <a:pt x="241" y="141"/>
                    <a:pt x="248" y="125"/>
                  </a:cubicBezTo>
                  <a:lnTo>
                    <a:pt x="248" y="25"/>
                  </a:lnTo>
                  <a:cubicBezTo>
                    <a:pt x="254" y="9"/>
                    <a:pt x="281" y="9"/>
                    <a:pt x="286" y="24"/>
                  </a:cubicBezTo>
                  <a:lnTo>
                    <a:pt x="286" y="117"/>
                  </a:lnTo>
                  <a:cubicBezTo>
                    <a:pt x="293" y="133"/>
                    <a:pt x="317" y="133"/>
                    <a:pt x="323" y="117"/>
                  </a:cubicBezTo>
                  <a:lnTo>
                    <a:pt x="323" y="24"/>
                  </a:lnTo>
                  <a:cubicBezTo>
                    <a:pt x="330" y="9"/>
                    <a:pt x="354" y="7"/>
                    <a:pt x="360" y="24"/>
                  </a:cubicBezTo>
                  <a:lnTo>
                    <a:pt x="360" y="122"/>
                  </a:lnTo>
                  <a:cubicBezTo>
                    <a:pt x="367" y="137"/>
                    <a:pt x="396" y="133"/>
                    <a:pt x="403" y="117"/>
                  </a:cubicBezTo>
                  <a:lnTo>
                    <a:pt x="403" y="24"/>
                  </a:lnTo>
                  <a:cubicBezTo>
                    <a:pt x="411" y="9"/>
                    <a:pt x="443" y="9"/>
                    <a:pt x="452" y="24"/>
                  </a:cubicBezTo>
                  <a:lnTo>
                    <a:pt x="452" y="117"/>
                  </a:lnTo>
                  <a:cubicBezTo>
                    <a:pt x="459" y="132"/>
                    <a:pt x="485" y="131"/>
                    <a:pt x="492" y="115"/>
                  </a:cubicBezTo>
                  <a:lnTo>
                    <a:pt x="492" y="21"/>
                  </a:lnTo>
                  <a:cubicBezTo>
                    <a:pt x="499" y="4"/>
                    <a:pt x="530" y="3"/>
                    <a:pt x="537" y="19"/>
                  </a:cubicBezTo>
                  <a:lnTo>
                    <a:pt x="537" y="117"/>
                  </a:lnTo>
                  <a:cubicBezTo>
                    <a:pt x="543" y="133"/>
                    <a:pt x="568" y="133"/>
                    <a:pt x="574" y="117"/>
                  </a:cubicBezTo>
                  <a:lnTo>
                    <a:pt x="574" y="17"/>
                  </a:lnTo>
                  <a:cubicBezTo>
                    <a:pt x="580" y="1"/>
                    <a:pt x="604" y="3"/>
                    <a:pt x="610" y="19"/>
                  </a:cubicBezTo>
                  <a:lnTo>
                    <a:pt x="610" y="117"/>
                  </a:lnTo>
                  <a:cubicBezTo>
                    <a:pt x="617" y="133"/>
                    <a:pt x="642" y="135"/>
                    <a:pt x="649" y="118"/>
                  </a:cubicBezTo>
                  <a:lnTo>
                    <a:pt x="649" y="17"/>
                  </a:lnTo>
                  <a:cubicBezTo>
                    <a:pt x="655" y="0"/>
                    <a:pt x="675" y="13"/>
                    <a:pt x="688" y="16"/>
                  </a:cubicBezTo>
                  <a:lnTo>
                    <a:pt x="729" y="37"/>
                  </a:lnTo>
                  <a:lnTo>
                    <a:pt x="761" y="72"/>
                  </a:lnTo>
                  <a:lnTo>
                    <a:pt x="759" y="219"/>
                  </a:lnTo>
                  <a:lnTo>
                    <a:pt x="708" y="232"/>
                  </a:lnTo>
                  <a:lnTo>
                    <a:pt x="706" y="862"/>
                  </a:lnTo>
                  <a:close/>
                </a:path>
              </a:pathLst>
            </a:custGeom>
            <a:solidFill>
              <a:srgbClr val="C5A885"/>
            </a:solidFill>
            <a:ln w="19050">
              <a:solidFill>
                <a:srgbClr val="99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6" name="Oval 7"/>
            <p:cNvSpPr>
              <a:spLocks noChangeArrowheads="1"/>
            </p:cNvSpPr>
            <p:nvPr/>
          </p:nvSpPr>
          <p:spPr bwMode="auto">
            <a:xfrm>
              <a:off x="1247" y="3320"/>
              <a:ext cx="363" cy="272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rgbClr val="C5A88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654030" y="4238626"/>
            <a:ext cx="906065" cy="1026319"/>
            <a:chOff x="1020" y="2840"/>
            <a:chExt cx="761" cy="862"/>
          </a:xfrm>
        </p:grpSpPr>
        <p:sp>
          <p:nvSpPr>
            <p:cNvPr id="14373" name="Freeform 9"/>
            <p:cNvSpPr>
              <a:spLocks/>
            </p:cNvSpPr>
            <p:nvPr/>
          </p:nvSpPr>
          <p:spPr bwMode="blackWhite">
            <a:xfrm>
              <a:off x="1020" y="2840"/>
              <a:ext cx="761" cy="862"/>
            </a:xfrm>
            <a:custGeom>
              <a:avLst/>
              <a:gdLst>
                <a:gd name="T0" fmla="*/ 706 w 761"/>
                <a:gd name="T1" fmla="*/ 862 h 862"/>
                <a:gd name="T2" fmla="*/ 73 w 761"/>
                <a:gd name="T3" fmla="*/ 862 h 862"/>
                <a:gd name="T4" fmla="*/ 76 w 761"/>
                <a:gd name="T5" fmla="*/ 239 h 862"/>
                <a:gd name="T6" fmla="*/ 0 w 761"/>
                <a:gd name="T7" fmla="*/ 220 h 862"/>
                <a:gd name="T8" fmla="*/ 0 w 761"/>
                <a:gd name="T9" fmla="*/ 76 h 862"/>
                <a:gd name="T10" fmla="*/ 79 w 761"/>
                <a:gd name="T11" fmla="*/ 29 h 862"/>
                <a:gd name="T12" fmla="*/ 122 w 761"/>
                <a:gd name="T13" fmla="*/ 29 h 862"/>
                <a:gd name="T14" fmla="*/ 122 w 761"/>
                <a:gd name="T15" fmla="*/ 122 h 862"/>
                <a:gd name="T16" fmla="*/ 164 w 761"/>
                <a:gd name="T17" fmla="*/ 122 h 862"/>
                <a:gd name="T18" fmla="*/ 164 w 761"/>
                <a:gd name="T19" fmla="*/ 29 h 862"/>
                <a:gd name="T20" fmla="*/ 207 w 761"/>
                <a:gd name="T21" fmla="*/ 29 h 862"/>
                <a:gd name="T22" fmla="*/ 207 w 761"/>
                <a:gd name="T23" fmla="*/ 125 h 862"/>
                <a:gd name="T24" fmla="*/ 248 w 761"/>
                <a:gd name="T25" fmla="*/ 125 h 862"/>
                <a:gd name="T26" fmla="*/ 248 w 761"/>
                <a:gd name="T27" fmla="*/ 25 h 862"/>
                <a:gd name="T28" fmla="*/ 286 w 761"/>
                <a:gd name="T29" fmla="*/ 24 h 862"/>
                <a:gd name="T30" fmla="*/ 286 w 761"/>
                <a:gd name="T31" fmla="*/ 117 h 862"/>
                <a:gd name="T32" fmla="*/ 323 w 761"/>
                <a:gd name="T33" fmla="*/ 117 h 862"/>
                <a:gd name="T34" fmla="*/ 323 w 761"/>
                <a:gd name="T35" fmla="*/ 24 h 862"/>
                <a:gd name="T36" fmla="*/ 360 w 761"/>
                <a:gd name="T37" fmla="*/ 24 h 862"/>
                <a:gd name="T38" fmla="*/ 360 w 761"/>
                <a:gd name="T39" fmla="*/ 122 h 862"/>
                <a:gd name="T40" fmla="*/ 403 w 761"/>
                <a:gd name="T41" fmla="*/ 117 h 862"/>
                <a:gd name="T42" fmla="*/ 403 w 761"/>
                <a:gd name="T43" fmla="*/ 24 h 862"/>
                <a:gd name="T44" fmla="*/ 452 w 761"/>
                <a:gd name="T45" fmla="*/ 24 h 862"/>
                <a:gd name="T46" fmla="*/ 452 w 761"/>
                <a:gd name="T47" fmla="*/ 117 h 862"/>
                <a:gd name="T48" fmla="*/ 492 w 761"/>
                <a:gd name="T49" fmla="*/ 115 h 862"/>
                <a:gd name="T50" fmla="*/ 492 w 761"/>
                <a:gd name="T51" fmla="*/ 21 h 862"/>
                <a:gd name="T52" fmla="*/ 537 w 761"/>
                <a:gd name="T53" fmla="*/ 19 h 862"/>
                <a:gd name="T54" fmla="*/ 537 w 761"/>
                <a:gd name="T55" fmla="*/ 117 h 862"/>
                <a:gd name="T56" fmla="*/ 574 w 761"/>
                <a:gd name="T57" fmla="*/ 117 h 862"/>
                <a:gd name="T58" fmla="*/ 574 w 761"/>
                <a:gd name="T59" fmla="*/ 17 h 862"/>
                <a:gd name="T60" fmla="*/ 610 w 761"/>
                <a:gd name="T61" fmla="*/ 19 h 862"/>
                <a:gd name="T62" fmla="*/ 610 w 761"/>
                <a:gd name="T63" fmla="*/ 117 h 862"/>
                <a:gd name="T64" fmla="*/ 649 w 761"/>
                <a:gd name="T65" fmla="*/ 118 h 862"/>
                <a:gd name="T66" fmla="*/ 649 w 761"/>
                <a:gd name="T67" fmla="*/ 17 h 862"/>
                <a:gd name="T68" fmla="*/ 688 w 761"/>
                <a:gd name="T69" fmla="*/ 16 h 862"/>
                <a:gd name="T70" fmla="*/ 729 w 761"/>
                <a:gd name="T71" fmla="*/ 37 h 862"/>
                <a:gd name="T72" fmla="*/ 761 w 761"/>
                <a:gd name="T73" fmla="*/ 72 h 862"/>
                <a:gd name="T74" fmla="*/ 759 w 761"/>
                <a:gd name="T75" fmla="*/ 219 h 862"/>
                <a:gd name="T76" fmla="*/ 708 w 761"/>
                <a:gd name="T77" fmla="*/ 232 h 862"/>
                <a:gd name="T78" fmla="*/ 706 w 761"/>
                <a:gd name="T79" fmla="*/ 862 h 8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61"/>
                <a:gd name="T121" fmla="*/ 0 h 862"/>
                <a:gd name="T122" fmla="*/ 761 w 761"/>
                <a:gd name="T123" fmla="*/ 862 h 8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61" h="862">
                  <a:moveTo>
                    <a:pt x="706" y="862"/>
                  </a:moveTo>
                  <a:lnTo>
                    <a:pt x="73" y="862"/>
                  </a:lnTo>
                  <a:lnTo>
                    <a:pt x="76" y="239"/>
                  </a:lnTo>
                  <a:lnTo>
                    <a:pt x="0" y="220"/>
                  </a:lnTo>
                  <a:lnTo>
                    <a:pt x="0" y="76"/>
                  </a:lnTo>
                  <a:lnTo>
                    <a:pt x="79" y="29"/>
                  </a:lnTo>
                  <a:cubicBezTo>
                    <a:pt x="99" y="21"/>
                    <a:pt x="115" y="13"/>
                    <a:pt x="122" y="29"/>
                  </a:cubicBezTo>
                  <a:lnTo>
                    <a:pt x="122" y="122"/>
                  </a:lnTo>
                  <a:cubicBezTo>
                    <a:pt x="128" y="137"/>
                    <a:pt x="157" y="137"/>
                    <a:pt x="164" y="122"/>
                  </a:cubicBezTo>
                  <a:lnTo>
                    <a:pt x="164" y="29"/>
                  </a:lnTo>
                  <a:cubicBezTo>
                    <a:pt x="172" y="13"/>
                    <a:pt x="200" y="13"/>
                    <a:pt x="207" y="29"/>
                  </a:cubicBezTo>
                  <a:lnTo>
                    <a:pt x="207" y="125"/>
                  </a:lnTo>
                  <a:cubicBezTo>
                    <a:pt x="215" y="141"/>
                    <a:pt x="241" y="141"/>
                    <a:pt x="248" y="125"/>
                  </a:cubicBezTo>
                  <a:lnTo>
                    <a:pt x="248" y="25"/>
                  </a:lnTo>
                  <a:cubicBezTo>
                    <a:pt x="254" y="9"/>
                    <a:pt x="281" y="9"/>
                    <a:pt x="286" y="24"/>
                  </a:cubicBezTo>
                  <a:lnTo>
                    <a:pt x="286" y="117"/>
                  </a:lnTo>
                  <a:cubicBezTo>
                    <a:pt x="293" y="133"/>
                    <a:pt x="317" y="133"/>
                    <a:pt x="323" y="117"/>
                  </a:cubicBezTo>
                  <a:lnTo>
                    <a:pt x="323" y="24"/>
                  </a:lnTo>
                  <a:cubicBezTo>
                    <a:pt x="330" y="9"/>
                    <a:pt x="354" y="7"/>
                    <a:pt x="360" y="24"/>
                  </a:cubicBezTo>
                  <a:lnTo>
                    <a:pt x="360" y="122"/>
                  </a:lnTo>
                  <a:cubicBezTo>
                    <a:pt x="367" y="137"/>
                    <a:pt x="396" y="133"/>
                    <a:pt x="403" y="117"/>
                  </a:cubicBezTo>
                  <a:lnTo>
                    <a:pt x="403" y="24"/>
                  </a:lnTo>
                  <a:cubicBezTo>
                    <a:pt x="411" y="9"/>
                    <a:pt x="443" y="9"/>
                    <a:pt x="452" y="24"/>
                  </a:cubicBezTo>
                  <a:lnTo>
                    <a:pt x="452" y="117"/>
                  </a:lnTo>
                  <a:cubicBezTo>
                    <a:pt x="459" y="132"/>
                    <a:pt x="485" y="131"/>
                    <a:pt x="492" y="115"/>
                  </a:cubicBezTo>
                  <a:lnTo>
                    <a:pt x="492" y="21"/>
                  </a:lnTo>
                  <a:cubicBezTo>
                    <a:pt x="499" y="4"/>
                    <a:pt x="530" y="3"/>
                    <a:pt x="537" y="19"/>
                  </a:cubicBezTo>
                  <a:lnTo>
                    <a:pt x="537" y="117"/>
                  </a:lnTo>
                  <a:cubicBezTo>
                    <a:pt x="543" y="133"/>
                    <a:pt x="568" y="133"/>
                    <a:pt x="574" y="117"/>
                  </a:cubicBezTo>
                  <a:lnTo>
                    <a:pt x="574" y="17"/>
                  </a:lnTo>
                  <a:cubicBezTo>
                    <a:pt x="580" y="1"/>
                    <a:pt x="604" y="3"/>
                    <a:pt x="610" y="19"/>
                  </a:cubicBezTo>
                  <a:lnTo>
                    <a:pt x="610" y="117"/>
                  </a:lnTo>
                  <a:cubicBezTo>
                    <a:pt x="617" y="133"/>
                    <a:pt x="642" y="135"/>
                    <a:pt x="649" y="118"/>
                  </a:cubicBezTo>
                  <a:lnTo>
                    <a:pt x="649" y="17"/>
                  </a:lnTo>
                  <a:cubicBezTo>
                    <a:pt x="655" y="0"/>
                    <a:pt x="675" y="13"/>
                    <a:pt x="688" y="16"/>
                  </a:cubicBezTo>
                  <a:lnTo>
                    <a:pt x="729" y="37"/>
                  </a:lnTo>
                  <a:lnTo>
                    <a:pt x="761" y="72"/>
                  </a:lnTo>
                  <a:lnTo>
                    <a:pt x="759" y="219"/>
                  </a:lnTo>
                  <a:lnTo>
                    <a:pt x="708" y="232"/>
                  </a:lnTo>
                  <a:lnTo>
                    <a:pt x="706" y="862"/>
                  </a:lnTo>
                  <a:close/>
                </a:path>
              </a:pathLst>
            </a:custGeom>
            <a:solidFill>
              <a:srgbClr val="C5A885"/>
            </a:solidFill>
            <a:ln w="19050">
              <a:solidFill>
                <a:srgbClr val="99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4" name="Oval 10"/>
            <p:cNvSpPr>
              <a:spLocks noChangeArrowheads="1"/>
            </p:cNvSpPr>
            <p:nvPr/>
          </p:nvSpPr>
          <p:spPr bwMode="auto">
            <a:xfrm>
              <a:off x="1247" y="3320"/>
              <a:ext cx="363" cy="272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rgbClr val="C5A88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5491163" y="4238626"/>
            <a:ext cx="906066" cy="1026319"/>
            <a:chOff x="1020" y="2840"/>
            <a:chExt cx="761" cy="862"/>
          </a:xfrm>
        </p:grpSpPr>
        <p:sp>
          <p:nvSpPr>
            <p:cNvPr id="14371" name="Freeform 12"/>
            <p:cNvSpPr>
              <a:spLocks/>
            </p:cNvSpPr>
            <p:nvPr/>
          </p:nvSpPr>
          <p:spPr bwMode="blackWhite">
            <a:xfrm>
              <a:off x="1020" y="2840"/>
              <a:ext cx="761" cy="862"/>
            </a:xfrm>
            <a:custGeom>
              <a:avLst/>
              <a:gdLst>
                <a:gd name="T0" fmla="*/ 706 w 761"/>
                <a:gd name="T1" fmla="*/ 862 h 862"/>
                <a:gd name="T2" fmla="*/ 73 w 761"/>
                <a:gd name="T3" fmla="*/ 862 h 862"/>
                <a:gd name="T4" fmla="*/ 76 w 761"/>
                <a:gd name="T5" fmla="*/ 239 h 862"/>
                <a:gd name="T6" fmla="*/ 0 w 761"/>
                <a:gd name="T7" fmla="*/ 220 h 862"/>
                <a:gd name="T8" fmla="*/ 0 w 761"/>
                <a:gd name="T9" fmla="*/ 76 h 862"/>
                <a:gd name="T10" fmla="*/ 79 w 761"/>
                <a:gd name="T11" fmla="*/ 29 h 862"/>
                <a:gd name="T12" fmla="*/ 122 w 761"/>
                <a:gd name="T13" fmla="*/ 29 h 862"/>
                <a:gd name="T14" fmla="*/ 122 w 761"/>
                <a:gd name="T15" fmla="*/ 122 h 862"/>
                <a:gd name="T16" fmla="*/ 164 w 761"/>
                <a:gd name="T17" fmla="*/ 122 h 862"/>
                <a:gd name="T18" fmla="*/ 164 w 761"/>
                <a:gd name="T19" fmla="*/ 29 h 862"/>
                <a:gd name="T20" fmla="*/ 207 w 761"/>
                <a:gd name="T21" fmla="*/ 29 h 862"/>
                <a:gd name="T22" fmla="*/ 207 w 761"/>
                <a:gd name="T23" fmla="*/ 125 h 862"/>
                <a:gd name="T24" fmla="*/ 248 w 761"/>
                <a:gd name="T25" fmla="*/ 125 h 862"/>
                <a:gd name="T26" fmla="*/ 248 w 761"/>
                <a:gd name="T27" fmla="*/ 25 h 862"/>
                <a:gd name="T28" fmla="*/ 286 w 761"/>
                <a:gd name="T29" fmla="*/ 24 h 862"/>
                <a:gd name="T30" fmla="*/ 286 w 761"/>
                <a:gd name="T31" fmla="*/ 117 h 862"/>
                <a:gd name="T32" fmla="*/ 323 w 761"/>
                <a:gd name="T33" fmla="*/ 117 h 862"/>
                <a:gd name="T34" fmla="*/ 323 w 761"/>
                <a:gd name="T35" fmla="*/ 24 h 862"/>
                <a:gd name="T36" fmla="*/ 360 w 761"/>
                <a:gd name="T37" fmla="*/ 24 h 862"/>
                <a:gd name="T38" fmla="*/ 360 w 761"/>
                <a:gd name="T39" fmla="*/ 122 h 862"/>
                <a:gd name="T40" fmla="*/ 403 w 761"/>
                <a:gd name="T41" fmla="*/ 117 h 862"/>
                <a:gd name="T42" fmla="*/ 403 w 761"/>
                <a:gd name="T43" fmla="*/ 24 h 862"/>
                <a:gd name="T44" fmla="*/ 452 w 761"/>
                <a:gd name="T45" fmla="*/ 24 h 862"/>
                <a:gd name="T46" fmla="*/ 452 w 761"/>
                <a:gd name="T47" fmla="*/ 117 h 862"/>
                <a:gd name="T48" fmla="*/ 492 w 761"/>
                <a:gd name="T49" fmla="*/ 115 h 862"/>
                <a:gd name="T50" fmla="*/ 492 w 761"/>
                <a:gd name="T51" fmla="*/ 21 h 862"/>
                <a:gd name="T52" fmla="*/ 537 w 761"/>
                <a:gd name="T53" fmla="*/ 19 h 862"/>
                <a:gd name="T54" fmla="*/ 537 w 761"/>
                <a:gd name="T55" fmla="*/ 117 h 862"/>
                <a:gd name="T56" fmla="*/ 574 w 761"/>
                <a:gd name="T57" fmla="*/ 117 h 862"/>
                <a:gd name="T58" fmla="*/ 574 w 761"/>
                <a:gd name="T59" fmla="*/ 17 h 862"/>
                <a:gd name="T60" fmla="*/ 610 w 761"/>
                <a:gd name="T61" fmla="*/ 19 h 862"/>
                <a:gd name="T62" fmla="*/ 610 w 761"/>
                <a:gd name="T63" fmla="*/ 117 h 862"/>
                <a:gd name="T64" fmla="*/ 649 w 761"/>
                <a:gd name="T65" fmla="*/ 118 h 862"/>
                <a:gd name="T66" fmla="*/ 649 w 761"/>
                <a:gd name="T67" fmla="*/ 17 h 862"/>
                <a:gd name="T68" fmla="*/ 688 w 761"/>
                <a:gd name="T69" fmla="*/ 16 h 862"/>
                <a:gd name="T70" fmla="*/ 729 w 761"/>
                <a:gd name="T71" fmla="*/ 37 h 862"/>
                <a:gd name="T72" fmla="*/ 761 w 761"/>
                <a:gd name="T73" fmla="*/ 72 h 862"/>
                <a:gd name="T74" fmla="*/ 759 w 761"/>
                <a:gd name="T75" fmla="*/ 219 h 862"/>
                <a:gd name="T76" fmla="*/ 708 w 761"/>
                <a:gd name="T77" fmla="*/ 232 h 862"/>
                <a:gd name="T78" fmla="*/ 706 w 761"/>
                <a:gd name="T79" fmla="*/ 862 h 8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61"/>
                <a:gd name="T121" fmla="*/ 0 h 862"/>
                <a:gd name="T122" fmla="*/ 761 w 761"/>
                <a:gd name="T123" fmla="*/ 862 h 8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61" h="862">
                  <a:moveTo>
                    <a:pt x="706" y="862"/>
                  </a:moveTo>
                  <a:lnTo>
                    <a:pt x="73" y="862"/>
                  </a:lnTo>
                  <a:lnTo>
                    <a:pt x="76" y="239"/>
                  </a:lnTo>
                  <a:lnTo>
                    <a:pt x="0" y="220"/>
                  </a:lnTo>
                  <a:lnTo>
                    <a:pt x="0" y="76"/>
                  </a:lnTo>
                  <a:lnTo>
                    <a:pt x="79" y="29"/>
                  </a:lnTo>
                  <a:cubicBezTo>
                    <a:pt x="99" y="21"/>
                    <a:pt x="115" y="13"/>
                    <a:pt x="122" y="29"/>
                  </a:cubicBezTo>
                  <a:lnTo>
                    <a:pt x="122" y="122"/>
                  </a:lnTo>
                  <a:cubicBezTo>
                    <a:pt x="128" y="137"/>
                    <a:pt x="157" y="137"/>
                    <a:pt x="164" y="122"/>
                  </a:cubicBezTo>
                  <a:lnTo>
                    <a:pt x="164" y="29"/>
                  </a:lnTo>
                  <a:cubicBezTo>
                    <a:pt x="172" y="13"/>
                    <a:pt x="200" y="13"/>
                    <a:pt x="207" y="29"/>
                  </a:cubicBezTo>
                  <a:lnTo>
                    <a:pt x="207" y="125"/>
                  </a:lnTo>
                  <a:cubicBezTo>
                    <a:pt x="215" y="141"/>
                    <a:pt x="241" y="141"/>
                    <a:pt x="248" y="125"/>
                  </a:cubicBezTo>
                  <a:lnTo>
                    <a:pt x="248" y="25"/>
                  </a:lnTo>
                  <a:cubicBezTo>
                    <a:pt x="254" y="9"/>
                    <a:pt x="281" y="9"/>
                    <a:pt x="286" y="24"/>
                  </a:cubicBezTo>
                  <a:lnTo>
                    <a:pt x="286" y="117"/>
                  </a:lnTo>
                  <a:cubicBezTo>
                    <a:pt x="293" y="133"/>
                    <a:pt x="317" y="133"/>
                    <a:pt x="323" y="117"/>
                  </a:cubicBezTo>
                  <a:lnTo>
                    <a:pt x="323" y="24"/>
                  </a:lnTo>
                  <a:cubicBezTo>
                    <a:pt x="330" y="9"/>
                    <a:pt x="354" y="7"/>
                    <a:pt x="360" y="24"/>
                  </a:cubicBezTo>
                  <a:lnTo>
                    <a:pt x="360" y="122"/>
                  </a:lnTo>
                  <a:cubicBezTo>
                    <a:pt x="367" y="137"/>
                    <a:pt x="396" y="133"/>
                    <a:pt x="403" y="117"/>
                  </a:cubicBezTo>
                  <a:lnTo>
                    <a:pt x="403" y="24"/>
                  </a:lnTo>
                  <a:cubicBezTo>
                    <a:pt x="411" y="9"/>
                    <a:pt x="443" y="9"/>
                    <a:pt x="452" y="24"/>
                  </a:cubicBezTo>
                  <a:lnTo>
                    <a:pt x="452" y="117"/>
                  </a:lnTo>
                  <a:cubicBezTo>
                    <a:pt x="459" y="132"/>
                    <a:pt x="485" y="131"/>
                    <a:pt x="492" y="115"/>
                  </a:cubicBezTo>
                  <a:lnTo>
                    <a:pt x="492" y="21"/>
                  </a:lnTo>
                  <a:cubicBezTo>
                    <a:pt x="499" y="4"/>
                    <a:pt x="530" y="3"/>
                    <a:pt x="537" y="19"/>
                  </a:cubicBezTo>
                  <a:lnTo>
                    <a:pt x="537" y="117"/>
                  </a:lnTo>
                  <a:cubicBezTo>
                    <a:pt x="543" y="133"/>
                    <a:pt x="568" y="133"/>
                    <a:pt x="574" y="117"/>
                  </a:cubicBezTo>
                  <a:lnTo>
                    <a:pt x="574" y="17"/>
                  </a:lnTo>
                  <a:cubicBezTo>
                    <a:pt x="580" y="1"/>
                    <a:pt x="604" y="3"/>
                    <a:pt x="610" y="19"/>
                  </a:cubicBezTo>
                  <a:lnTo>
                    <a:pt x="610" y="117"/>
                  </a:lnTo>
                  <a:cubicBezTo>
                    <a:pt x="617" y="133"/>
                    <a:pt x="642" y="135"/>
                    <a:pt x="649" y="118"/>
                  </a:cubicBezTo>
                  <a:lnTo>
                    <a:pt x="649" y="17"/>
                  </a:lnTo>
                  <a:cubicBezTo>
                    <a:pt x="655" y="0"/>
                    <a:pt x="675" y="13"/>
                    <a:pt x="688" y="16"/>
                  </a:cubicBezTo>
                  <a:lnTo>
                    <a:pt x="729" y="37"/>
                  </a:lnTo>
                  <a:lnTo>
                    <a:pt x="761" y="72"/>
                  </a:lnTo>
                  <a:lnTo>
                    <a:pt x="759" y="219"/>
                  </a:lnTo>
                  <a:lnTo>
                    <a:pt x="708" y="232"/>
                  </a:lnTo>
                  <a:lnTo>
                    <a:pt x="706" y="862"/>
                  </a:lnTo>
                  <a:close/>
                </a:path>
              </a:pathLst>
            </a:custGeom>
            <a:solidFill>
              <a:srgbClr val="C5A885"/>
            </a:solidFill>
            <a:ln w="19050">
              <a:solidFill>
                <a:srgbClr val="99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2" name="Oval 13"/>
            <p:cNvSpPr>
              <a:spLocks noChangeArrowheads="1"/>
            </p:cNvSpPr>
            <p:nvPr/>
          </p:nvSpPr>
          <p:spPr bwMode="auto">
            <a:xfrm>
              <a:off x="1247" y="3320"/>
              <a:ext cx="363" cy="272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rgbClr val="C5A88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4572000" y="4238626"/>
            <a:ext cx="906066" cy="1026319"/>
            <a:chOff x="1020" y="2840"/>
            <a:chExt cx="761" cy="862"/>
          </a:xfrm>
        </p:grpSpPr>
        <p:sp>
          <p:nvSpPr>
            <p:cNvPr id="14369" name="Freeform 15"/>
            <p:cNvSpPr>
              <a:spLocks/>
            </p:cNvSpPr>
            <p:nvPr/>
          </p:nvSpPr>
          <p:spPr bwMode="blackWhite">
            <a:xfrm>
              <a:off x="1020" y="2840"/>
              <a:ext cx="761" cy="862"/>
            </a:xfrm>
            <a:custGeom>
              <a:avLst/>
              <a:gdLst>
                <a:gd name="T0" fmla="*/ 706 w 761"/>
                <a:gd name="T1" fmla="*/ 862 h 862"/>
                <a:gd name="T2" fmla="*/ 73 w 761"/>
                <a:gd name="T3" fmla="*/ 862 h 862"/>
                <a:gd name="T4" fmla="*/ 76 w 761"/>
                <a:gd name="T5" fmla="*/ 239 h 862"/>
                <a:gd name="T6" fmla="*/ 0 w 761"/>
                <a:gd name="T7" fmla="*/ 220 h 862"/>
                <a:gd name="T8" fmla="*/ 0 w 761"/>
                <a:gd name="T9" fmla="*/ 76 h 862"/>
                <a:gd name="T10" fmla="*/ 79 w 761"/>
                <a:gd name="T11" fmla="*/ 29 h 862"/>
                <a:gd name="T12" fmla="*/ 122 w 761"/>
                <a:gd name="T13" fmla="*/ 29 h 862"/>
                <a:gd name="T14" fmla="*/ 122 w 761"/>
                <a:gd name="T15" fmla="*/ 122 h 862"/>
                <a:gd name="T16" fmla="*/ 164 w 761"/>
                <a:gd name="T17" fmla="*/ 122 h 862"/>
                <a:gd name="T18" fmla="*/ 164 w 761"/>
                <a:gd name="T19" fmla="*/ 29 h 862"/>
                <a:gd name="T20" fmla="*/ 207 w 761"/>
                <a:gd name="T21" fmla="*/ 29 h 862"/>
                <a:gd name="T22" fmla="*/ 207 w 761"/>
                <a:gd name="T23" fmla="*/ 125 h 862"/>
                <a:gd name="T24" fmla="*/ 248 w 761"/>
                <a:gd name="T25" fmla="*/ 125 h 862"/>
                <a:gd name="T26" fmla="*/ 248 w 761"/>
                <a:gd name="T27" fmla="*/ 25 h 862"/>
                <a:gd name="T28" fmla="*/ 286 w 761"/>
                <a:gd name="T29" fmla="*/ 24 h 862"/>
                <a:gd name="T30" fmla="*/ 286 w 761"/>
                <a:gd name="T31" fmla="*/ 117 h 862"/>
                <a:gd name="T32" fmla="*/ 323 w 761"/>
                <a:gd name="T33" fmla="*/ 117 h 862"/>
                <a:gd name="T34" fmla="*/ 323 w 761"/>
                <a:gd name="T35" fmla="*/ 24 h 862"/>
                <a:gd name="T36" fmla="*/ 360 w 761"/>
                <a:gd name="T37" fmla="*/ 24 h 862"/>
                <a:gd name="T38" fmla="*/ 360 w 761"/>
                <a:gd name="T39" fmla="*/ 122 h 862"/>
                <a:gd name="T40" fmla="*/ 403 w 761"/>
                <a:gd name="T41" fmla="*/ 117 h 862"/>
                <a:gd name="T42" fmla="*/ 403 w 761"/>
                <a:gd name="T43" fmla="*/ 24 h 862"/>
                <a:gd name="T44" fmla="*/ 452 w 761"/>
                <a:gd name="T45" fmla="*/ 24 h 862"/>
                <a:gd name="T46" fmla="*/ 452 w 761"/>
                <a:gd name="T47" fmla="*/ 117 h 862"/>
                <a:gd name="T48" fmla="*/ 492 w 761"/>
                <a:gd name="T49" fmla="*/ 115 h 862"/>
                <a:gd name="T50" fmla="*/ 492 w 761"/>
                <a:gd name="T51" fmla="*/ 21 h 862"/>
                <a:gd name="T52" fmla="*/ 537 w 761"/>
                <a:gd name="T53" fmla="*/ 19 h 862"/>
                <a:gd name="T54" fmla="*/ 537 w 761"/>
                <a:gd name="T55" fmla="*/ 117 h 862"/>
                <a:gd name="T56" fmla="*/ 574 w 761"/>
                <a:gd name="T57" fmla="*/ 117 h 862"/>
                <a:gd name="T58" fmla="*/ 574 w 761"/>
                <a:gd name="T59" fmla="*/ 17 h 862"/>
                <a:gd name="T60" fmla="*/ 610 w 761"/>
                <a:gd name="T61" fmla="*/ 19 h 862"/>
                <a:gd name="T62" fmla="*/ 610 w 761"/>
                <a:gd name="T63" fmla="*/ 117 h 862"/>
                <a:gd name="T64" fmla="*/ 649 w 761"/>
                <a:gd name="T65" fmla="*/ 118 h 862"/>
                <a:gd name="T66" fmla="*/ 649 w 761"/>
                <a:gd name="T67" fmla="*/ 17 h 862"/>
                <a:gd name="T68" fmla="*/ 688 w 761"/>
                <a:gd name="T69" fmla="*/ 16 h 862"/>
                <a:gd name="T70" fmla="*/ 729 w 761"/>
                <a:gd name="T71" fmla="*/ 37 h 862"/>
                <a:gd name="T72" fmla="*/ 761 w 761"/>
                <a:gd name="T73" fmla="*/ 72 h 862"/>
                <a:gd name="T74" fmla="*/ 759 w 761"/>
                <a:gd name="T75" fmla="*/ 219 h 862"/>
                <a:gd name="T76" fmla="*/ 708 w 761"/>
                <a:gd name="T77" fmla="*/ 232 h 862"/>
                <a:gd name="T78" fmla="*/ 706 w 761"/>
                <a:gd name="T79" fmla="*/ 862 h 86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61"/>
                <a:gd name="T121" fmla="*/ 0 h 862"/>
                <a:gd name="T122" fmla="*/ 761 w 761"/>
                <a:gd name="T123" fmla="*/ 862 h 86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61" h="862">
                  <a:moveTo>
                    <a:pt x="706" y="862"/>
                  </a:moveTo>
                  <a:lnTo>
                    <a:pt x="73" y="862"/>
                  </a:lnTo>
                  <a:lnTo>
                    <a:pt x="76" y="239"/>
                  </a:lnTo>
                  <a:lnTo>
                    <a:pt x="0" y="220"/>
                  </a:lnTo>
                  <a:lnTo>
                    <a:pt x="0" y="76"/>
                  </a:lnTo>
                  <a:lnTo>
                    <a:pt x="79" y="29"/>
                  </a:lnTo>
                  <a:cubicBezTo>
                    <a:pt x="99" y="21"/>
                    <a:pt x="115" y="13"/>
                    <a:pt x="122" y="29"/>
                  </a:cubicBezTo>
                  <a:lnTo>
                    <a:pt x="122" y="122"/>
                  </a:lnTo>
                  <a:cubicBezTo>
                    <a:pt x="128" y="137"/>
                    <a:pt x="157" y="137"/>
                    <a:pt x="164" y="122"/>
                  </a:cubicBezTo>
                  <a:lnTo>
                    <a:pt x="164" y="29"/>
                  </a:lnTo>
                  <a:cubicBezTo>
                    <a:pt x="172" y="13"/>
                    <a:pt x="200" y="13"/>
                    <a:pt x="207" y="29"/>
                  </a:cubicBezTo>
                  <a:lnTo>
                    <a:pt x="207" y="125"/>
                  </a:lnTo>
                  <a:cubicBezTo>
                    <a:pt x="215" y="141"/>
                    <a:pt x="241" y="141"/>
                    <a:pt x="248" y="125"/>
                  </a:cubicBezTo>
                  <a:lnTo>
                    <a:pt x="248" y="25"/>
                  </a:lnTo>
                  <a:cubicBezTo>
                    <a:pt x="254" y="9"/>
                    <a:pt x="281" y="9"/>
                    <a:pt x="286" y="24"/>
                  </a:cubicBezTo>
                  <a:lnTo>
                    <a:pt x="286" y="117"/>
                  </a:lnTo>
                  <a:cubicBezTo>
                    <a:pt x="293" y="133"/>
                    <a:pt x="317" y="133"/>
                    <a:pt x="323" y="117"/>
                  </a:cubicBezTo>
                  <a:lnTo>
                    <a:pt x="323" y="24"/>
                  </a:lnTo>
                  <a:cubicBezTo>
                    <a:pt x="330" y="9"/>
                    <a:pt x="354" y="7"/>
                    <a:pt x="360" y="24"/>
                  </a:cubicBezTo>
                  <a:lnTo>
                    <a:pt x="360" y="122"/>
                  </a:lnTo>
                  <a:cubicBezTo>
                    <a:pt x="367" y="137"/>
                    <a:pt x="396" y="133"/>
                    <a:pt x="403" y="117"/>
                  </a:cubicBezTo>
                  <a:lnTo>
                    <a:pt x="403" y="24"/>
                  </a:lnTo>
                  <a:cubicBezTo>
                    <a:pt x="411" y="9"/>
                    <a:pt x="443" y="9"/>
                    <a:pt x="452" y="24"/>
                  </a:cubicBezTo>
                  <a:lnTo>
                    <a:pt x="452" y="117"/>
                  </a:lnTo>
                  <a:cubicBezTo>
                    <a:pt x="459" y="132"/>
                    <a:pt x="485" y="131"/>
                    <a:pt x="492" y="115"/>
                  </a:cubicBezTo>
                  <a:lnTo>
                    <a:pt x="492" y="21"/>
                  </a:lnTo>
                  <a:cubicBezTo>
                    <a:pt x="499" y="4"/>
                    <a:pt x="530" y="3"/>
                    <a:pt x="537" y="19"/>
                  </a:cubicBezTo>
                  <a:lnTo>
                    <a:pt x="537" y="117"/>
                  </a:lnTo>
                  <a:cubicBezTo>
                    <a:pt x="543" y="133"/>
                    <a:pt x="568" y="133"/>
                    <a:pt x="574" y="117"/>
                  </a:cubicBezTo>
                  <a:lnTo>
                    <a:pt x="574" y="17"/>
                  </a:lnTo>
                  <a:cubicBezTo>
                    <a:pt x="580" y="1"/>
                    <a:pt x="604" y="3"/>
                    <a:pt x="610" y="19"/>
                  </a:cubicBezTo>
                  <a:lnTo>
                    <a:pt x="610" y="117"/>
                  </a:lnTo>
                  <a:cubicBezTo>
                    <a:pt x="617" y="133"/>
                    <a:pt x="642" y="135"/>
                    <a:pt x="649" y="118"/>
                  </a:cubicBezTo>
                  <a:lnTo>
                    <a:pt x="649" y="17"/>
                  </a:lnTo>
                  <a:cubicBezTo>
                    <a:pt x="655" y="0"/>
                    <a:pt x="675" y="13"/>
                    <a:pt x="688" y="16"/>
                  </a:cubicBezTo>
                  <a:lnTo>
                    <a:pt x="729" y="37"/>
                  </a:lnTo>
                  <a:lnTo>
                    <a:pt x="761" y="72"/>
                  </a:lnTo>
                  <a:lnTo>
                    <a:pt x="759" y="219"/>
                  </a:lnTo>
                  <a:lnTo>
                    <a:pt x="708" y="232"/>
                  </a:lnTo>
                  <a:lnTo>
                    <a:pt x="706" y="862"/>
                  </a:lnTo>
                  <a:close/>
                </a:path>
              </a:pathLst>
            </a:custGeom>
            <a:solidFill>
              <a:srgbClr val="C5A885"/>
            </a:solidFill>
            <a:ln w="19050">
              <a:solidFill>
                <a:srgbClr val="99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70" name="Oval 16"/>
            <p:cNvSpPr>
              <a:spLocks noChangeArrowheads="1"/>
            </p:cNvSpPr>
            <p:nvPr/>
          </p:nvSpPr>
          <p:spPr bwMode="auto">
            <a:xfrm>
              <a:off x="1247" y="3320"/>
              <a:ext cx="363" cy="272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rgbClr val="C5A88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43" name="Rectangle 1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smtClean="0"/>
              <a:t>Mécanismes d’absorption</a:t>
            </a:r>
            <a:br>
              <a:rPr lang="fr-FR" smtClean="0"/>
            </a:br>
            <a:r>
              <a:rPr lang="fr-FR" smtClean="0"/>
              <a:t>des médicaments</a:t>
            </a:r>
          </a:p>
        </p:txBody>
      </p: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3654029" y="3375423"/>
            <a:ext cx="1999059" cy="1025128"/>
            <a:chOff x="1791" y="2115"/>
            <a:chExt cx="1679" cy="861"/>
          </a:xfrm>
        </p:grpSpPr>
        <p:sp>
          <p:nvSpPr>
            <p:cNvPr id="14365" name="Line 19"/>
            <p:cNvSpPr>
              <a:spLocks noChangeShapeType="1"/>
            </p:cNvSpPr>
            <p:nvPr/>
          </p:nvSpPr>
          <p:spPr bwMode="auto">
            <a:xfrm flipH="1" flipV="1">
              <a:off x="2925" y="2568"/>
              <a:ext cx="409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366" name="Line 20"/>
            <p:cNvSpPr>
              <a:spLocks noChangeShapeType="1"/>
            </p:cNvSpPr>
            <p:nvPr/>
          </p:nvSpPr>
          <p:spPr bwMode="auto">
            <a:xfrm flipV="1">
              <a:off x="2562" y="2568"/>
              <a:ext cx="363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367" name="Line 21"/>
            <p:cNvSpPr>
              <a:spLocks noChangeShapeType="1"/>
            </p:cNvSpPr>
            <p:nvPr/>
          </p:nvSpPr>
          <p:spPr bwMode="auto">
            <a:xfrm flipV="1">
              <a:off x="1791" y="2568"/>
              <a:ext cx="115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368" name="Text Box 22"/>
            <p:cNvSpPr txBox="1">
              <a:spLocks noChangeArrowheads="1"/>
            </p:cNvSpPr>
            <p:nvPr/>
          </p:nvSpPr>
          <p:spPr bwMode="auto">
            <a:xfrm>
              <a:off x="2562" y="2115"/>
              <a:ext cx="908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fr-FR">
                  <a:latin typeface="Tahoma" pitchFamily="34" charset="0"/>
                </a:rPr>
                <a:t>Jonctions</a:t>
              </a:r>
            </a:p>
            <a:p>
              <a:pPr algn="ctr">
                <a:lnSpc>
                  <a:spcPct val="90000"/>
                </a:lnSpc>
              </a:pPr>
              <a:r>
                <a:rPr lang="fr-FR">
                  <a:latin typeface="Tahoma" pitchFamily="34" charset="0"/>
                </a:rPr>
                <a:t>serrées</a:t>
              </a:r>
            </a:p>
          </p:txBody>
        </p:sp>
      </p:grpSp>
      <p:sp>
        <p:nvSpPr>
          <p:cNvPr id="14345" name="Text Box 23"/>
          <p:cNvSpPr txBox="1">
            <a:spLocks noChangeArrowheads="1"/>
          </p:cNvSpPr>
          <p:nvPr/>
        </p:nvSpPr>
        <p:spPr bwMode="auto">
          <a:xfrm>
            <a:off x="1223963" y="3783807"/>
            <a:ext cx="1600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>
                <a:solidFill>
                  <a:srgbClr val="663300"/>
                </a:solidFill>
                <a:latin typeface="Tahoma" pitchFamily="34" charset="0"/>
              </a:rPr>
              <a:t>Lumière intestinale</a:t>
            </a:r>
          </a:p>
        </p:txBody>
      </p:sp>
      <p:sp>
        <p:nvSpPr>
          <p:cNvPr id="14346" name="Text Box 24"/>
          <p:cNvSpPr txBox="1">
            <a:spLocks noChangeArrowheads="1"/>
          </p:cNvSpPr>
          <p:nvPr/>
        </p:nvSpPr>
        <p:spPr bwMode="auto">
          <a:xfrm>
            <a:off x="1622824" y="5245894"/>
            <a:ext cx="8024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>
                <a:solidFill>
                  <a:srgbClr val="CC3300"/>
                </a:solidFill>
                <a:latin typeface="Tahoma" pitchFamily="34" charset="0"/>
              </a:rPr>
              <a:t>Sang</a:t>
            </a:r>
          </a:p>
        </p:txBody>
      </p:sp>
      <p:sp>
        <p:nvSpPr>
          <p:cNvPr id="14347" name="AutoShape 25"/>
          <p:cNvSpPr>
            <a:spLocks noChangeArrowheads="1"/>
          </p:cNvSpPr>
          <p:nvPr/>
        </p:nvSpPr>
        <p:spPr bwMode="auto">
          <a:xfrm>
            <a:off x="3600451" y="3482578"/>
            <a:ext cx="108347" cy="2052638"/>
          </a:xfrm>
          <a:prstGeom prst="downArrow">
            <a:avLst>
              <a:gd name="adj1" fmla="val 50000"/>
              <a:gd name="adj2" fmla="val 473625"/>
            </a:avLst>
          </a:prstGeom>
          <a:solidFill>
            <a:srgbClr val="CC6600"/>
          </a:solidFill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fr-FR">
              <a:solidFill>
                <a:srgbClr val="CC6600"/>
              </a:solidFill>
              <a:latin typeface="Tahoma" pitchFamily="34" charset="0"/>
            </a:endParaRPr>
          </a:p>
        </p:txBody>
      </p:sp>
      <p:sp>
        <p:nvSpPr>
          <p:cNvPr id="14348" name="Rectangle 26"/>
          <p:cNvSpPr>
            <a:spLocks noChangeArrowheads="1"/>
          </p:cNvSpPr>
          <p:nvPr/>
        </p:nvSpPr>
        <p:spPr bwMode="auto">
          <a:xfrm>
            <a:off x="2675776" y="2672955"/>
            <a:ext cx="176362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fr-FR" b="1">
                <a:solidFill>
                  <a:srgbClr val="CC6600"/>
                </a:solidFill>
                <a:latin typeface="Tahoma" pitchFamily="34" charset="0"/>
              </a:rPr>
              <a:t>Voie </a:t>
            </a: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fr-FR" b="1">
                <a:solidFill>
                  <a:srgbClr val="CC6600"/>
                </a:solidFill>
                <a:latin typeface="Tahoma" pitchFamily="34" charset="0"/>
              </a:rPr>
              <a:t>paracellulaire</a:t>
            </a:r>
          </a:p>
        </p:txBody>
      </p:sp>
      <p:sp>
        <p:nvSpPr>
          <p:cNvPr id="14349" name="Rectangle 27"/>
          <p:cNvSpPr>
            <a:spLocks noChangeArrowheads="1"/>
          </p:cNvSpPr>
          <p:nvPr/>
        </p:nvSpPr>
        <p:spPr bwMode="auto">
          <a:xfrm>
            <a:off x="5028468" y="2672955"/>
            <a:ext cx="184217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fr-FR" b="1">
                <a:solidFill>
                  <a:srgbClr val="006600"/>
                </a:solidFill>
                <a:latin typeface="Tahoma" pitchFamily="34" charset="0"/>
              </a:rPr>
              <a:t>Voie </a:t>
            </a: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fr-FR" b="1">
                <a:solidFill>
                  <a:srgbClr val="006600"/>
                </a:solidFill>
                <a:latin typeface="Tahoma" pitchFamily="34" charset="0"/>
              </a:rPr>
              <a:t>transcellulaire</a:t>
            </a:r>
          </a:p>
        </p:txBody>
      </p:sp>
      <p:sp>
        <p:nvSpPr>
          <p:cNvPr id="14350" name="AutoShape 28"/>
          <p:cNvSpPr>
            <a:spLocks noChangeArrowheads="1"/>
          </p:cNvSpPr>
          <p:nvPr/>
        </p:nvSpPr>
        <p:spPr bwMode="auto">
          <a:xfrm>
            <a:off x="5785247" y="3429000"/>
            <a:ext cx="138113" cy="1295400"/>
          </a:xfrm>
          <a:prstGeom prst="downArrow">
            <a:avLst>
              <a:gd name="adj1" fmla="val 50000"/>
              <a:gd name="adj2" fmla="val 234483"/>
            </a:avLst>
          </a:prstGeom>
          <a:solidFill>
            <a:srgbClr val="006600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1" name="AutoShape 29"/>
          <p:cNvSpPr>
            <a:spLocks noChangeArrowheads="1"/>
          </p:cNvSpPr>
          <p:nvPr/>
        </p:nvSpPr>
        <p:spPr bwMode="auto">
          <a:xfrm>
            <a:off x="5869782" y="5157787"/>
            <a:ext cx="188119" cy="377429"/>
          </a:xfrm>
          <a:prstGeom prst="downArrow">
            <a:avLst>
              <a:gd name="adj1" fmla="val 50000"/>
              <a:gd name="adj2" fmla="val 50158"/>
            </a:avLst>
          </a:prstGeom>
          <a:solidFill>
            <a:srgbClr val="006600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2" name="Oval 30"/>
          <p:cNvSpPr>
            <a:spLocks noChangeArrowheads="1"/>
          </p:cNvSpPr>
          <p:nvPr/>
        </p:nvSpPr>
        <p:spPr bwMode="auto">
          <a:xfrm>
            <a:off x="3006328" y="3914776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3" name="Oval 31"/>
          <p:cNvSpPr>
            <a:spLocks noChangeArrowheads="1"/>
          </p:cNvSpPr>
          <p:nvPr/>
        </p:nvSpPr>
        <p:spPr bwMode="auto">
          <a:xfrm>
            <a:off x="3168253" y="4076701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4" name="Oval 32"/>
          <p:cNvSpPr>
            <a:spLocks noChangeArrowheads="1"/>
          </p:cNvSpPr>
          <p:nvPr/>
        </p:nvSpPr>
        <p:spPr bwMode="auto">
          <a:xfrm>
            <a:off x="6138864" y="3914776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5" name="Oval 33"/>
          <p:cNvSpPr>
            <a:spLocks noChangeArrowheads="1"/>
          </p:cNvSpPr>
          <p:nvPr/>
        </p:nvSpPr>
        <p:spPr bwMode="auto">
          <a:xfrm>
            <a:off x="3383758" y="3752851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6" name="Oval 34"/>
          <p:cNvSpPr>
            <a:spLocks noChangeArrowheads="1"/>
          </p:cNvSpPr>
          <p:nvPr/>
        </p:nvSpPr>
        <p:spPr bwMode="auto">
          <a:xfrm>
            <a:off x="3924301" y="3861197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7" name="Oval 35"/>
          <p:cNvSpPr>
            <a:spLocks noChangeArrowheads="1"/>
          </p:cNvSpPr>
          <p:nvPr/>
        </p:nvSpPr>
        <p:spPr bwMode="auto">
          <a:xfrm>
            <a:off x="4194572" y="3644503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8" name="Oval 36"/>
          <p:cNvSpPr>
            <a:spLocks noChangeArrowheads="1"/>
          </p:cNvSpPr>
          <p:nvPr/>
        </p:nvSpPr>
        <p:spPr bwMode="auto">
          <a:xfrm>
            <a:off x="5976939" y="4670822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59" name="Oval 37"/>
          <p:cNvSpPr>
            <a:spLocks noChangeArrowheads="1"/>
          </p:cNvSpPr>
          <p:nvPr/>
        </p:nvSpPr>
        <p:spPr bwMode="auto">
          <a:xfrm>
            <a:off x="5544741" y="5480447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60" name="Oval 38"/>
          <p:cNvSpPr>
            <a:spLocks noChangeArrowheads="1"/>
          </p:cNvSpPr>
          <p:nvPr/>
        </p:nvSpPr>
        <p:spPr bwMode="auto">
          <a:xfrm>
            <a:off x="5922170" y="5588795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61" name="Oval 39"/>
          <p:cNvSpPr>
            <a:spLocks noChangeArrowheads="1"/>
          </p:cNvSpPr>
          <p:nvPr/>
        </p:nvSpPr>
        <p:spPr bwMode="auto">
          <a:xfrm>
            <a:off x="3330178" y="4238626"/>
            <a:ext cx="108347" cy="10834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62" name="AutoShape 40"/>
          <p:cNvSpPr>
            <a:spLocks noChangeArrowheads="1"/>
          </p:cNvSpPr>
          <p:nvPr/>
        </p:nvSpPr>
        <p:spPr bwMode="auto">
          <a:xfrm>
            <a:off x="6111480" y="3429000"/>
            <a:ext cx="135731" cy="1295400"/>
          </a:xfrm>
          <a:prstGeom prst="downArrow">
            <a:avLst>
              <a:gd name="adj1" fmla="val 50000"/>
              <a:gd name="adj2" fmla="val 238596"/>
            </a:avLst>
          </a:prstGeom>
          <a:solidFill>
            <a:srgbClr val="006600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63" name="Oval 41"/>
          <p:cNvSpPr>
            <a:spLocks noChangeArrowheads="1"/>
          </p:cNvSpPr>
          <p:nvPr/>
        </p:nvSpPr>
        <p:spPr bwMode="auto">
          <a:xfrm>
            <a:off x="6030516" y="4131470"/>
            <a:ext cx="270272" cy="269081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4364" name="Text Box 42"/>
          <p:cNvSpPr txBox="1">
            <a:spLocks noChangeArrowheads="1"/>
          </p:cNvSpPr>
          <p:nvPr/>
        </p:nvSpPr>
        <p:spPr bwMode="auto">
          <a:xfrm>
            <a:off x="6516292" y="4076701"/>
            <a:ext cx="118824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Transporteur</a:t>
            </a:r>
          </a:p>
        </p:txBody>
      </p:sp>
    </p:spTree>
    <p:extLst>
      <p:ext uri="{BB962C8B-B14F-4D97-AF65-F5344CB8AC3E}">
        <p14:creationId xmlns:p14="http://schemas.microsoft.com/office/powerpoint/2010/main" val="26151753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mtClean="0"/>
              <a:t>Absorption intestinale: voies de passage cellulaires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6689" y="2857500"/>
            <a:ext cx="8727311" cy="2471738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7030A0"/>
                </a:solidFill>
              </a:rPr>
              <a:t>Voie </a:t>
            </a:r>
            <a:r>
              <a:rPr lang="fr-FR" sz="2400" dirty="0" err="1">
                <a:solidFill>
                  <a:srgbClr val="7030A0"/>
                </a:solidFill>
              </a:rPr>
              <a:t>paracellulaire</a:t>
            </a:r>
            <a:endParaRPr lang="fr-FR" sz="2400" dirty="0">
              <a:solidFill>
                <a:srgbClr val="7030A0"/>
              </a:solidFill>
            </a:endParaRPr>
          </a:p>
          <a:p>
            <a:pPr lvl="1"/>
            <a:r>
              <a:rPr lang="fr-FR" sz="2400" dirty="0"/>
              <a:t>Une barrière: les jonction serrées</a:t>
            </a:r>
          </a:p>
          <a:p>
            <a:pPr lvl="1"/>
            <a:r>
              <a:rPr lang="fr-FR" sz="2400" dirty="0"/>
              <a:t>Eau , Cl</a:t>
            </a:r>
            <a:r>
              <a:rPr lang="fr-FR" sz="2400" baseline="30000" dirty="0"/>
              <a:t>-</a:t>
            </a:r>
            <a:r>
              <a:rPr lang="fr-FR" sz="2400" dirty="0"/>
              <a:t>  Petites molécules hydrosolubles</a:t>
            </a:r>
          </a:p>
        </p:txBody>
      </p:sp>
    </p:spTree>
    <p:extLst>
      <p:ext uri="{BB962C8B-B14F-4D97-AF65-F5344CB8AC3E}">
        <p14:creationId xmlns:p14="http://schemas.microsoft.com/office/powerpoint/2010/main" val="336634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invGray">
          <a:xfrm>
            <a:off x="1397795" y="1326358"/>
            <a:ext cx="6317456" cy="1012031"/>
          </a:xfrm>
          <a:solidFill>
            <a:schemeClr val="bg1"/>
          </a:solidFill>
        </p:spPr>
        <p:txBody>
          <a:bodyPr/>
          <a:lstStyle/>
          <a:p>
            <a:r>
              <a:rPr lang="fr-FR" sz="3000"/>
              <a:t>Exemples de l’absorption paracellulaire et transcellulaire de l’eau</a:t>
            </a:r>
          </a:p>
        </p:txBody>
      </p:sp>
      <p:sp>
        <p:nvSpPr>
          <p:cNvPr id="16387" name="Freeform 3"/>
          <p:cNvSpPr>
            <a:spLocks noChangeAspect="1"/>
          </p:cNvSpPr>
          <p:nvPr/>
        </p:nvSpPr>
        <p:spPr bwMode="auto">
          <a:xfrm>
            <a:off x="3714750" y="3168253"/>
            <a:ext cx="1290638" cy="1508522"/>
          </a:xfrm>
          <a:custGeom>
            <a:avLst/>
            <a:gdLst>
              <a:gd name="T0" fmla="*/ 2147483647 w 904"/>
              <a:gd name="T1" fmla="*/ 2147483647 h 1057"/>
              <a:gd name="T2" fmla="*/ 2147483647 w 904"/>
              <a:gd name="T3" fmla="*/ 2147483647 h 1057"/>
              <a:gd name="T4" fmla="*/ 2147483647 w 904"/>
              <a:gd name="T5" fmla="*/ 2147483647 h 1057"/>
              <a:gd name="T6" fmla="*/ 2147483647 w 904"/>
              <a:gd name="T7" fmla="*/ 2147483647 h 1057"/>
              <a:gd name="T8" fmla="*/ 0 w 904"/>
              <a:gd name="T9" fmla="*/ 2147483647 h 1057"/>
              <a:gd name="T10" fmla="*/ 0 w 904"/>
              <a:gd name="T11" fmla="*/ 2147483647 h 1057"/>
              <a:gd name="T12" fmla="*/ 2147483647 w 904"/>
              <a:gd name="T13" fmla="*/ 2147483647 h 1057"/>
              <a:gd name="T14" fmla="*/ 2147483647 w 904"/>
              <a:gd name="T15" fmla="*/ 2147483647 h 1057"/>
              <a:gd name="T16" fmla="*/ 2147483647 w 904"/>
              <a:gd name="T17" fmla="*/ 2147483647 h 1057"/>
              <a:gd name="T18" fmla="*/ 2147483647 w 904"/>
              <a:gd name="T19" fmla="*/ 2147483647 h 1057"/>
              <a:gd name="T20" fmla="*/ 2147483647 w 904"/>
              <a:gd name="T21" fmla="*/ 2147483647 h 1057"/>
              <a:gd name="T22" fmla="*/ 2147483647 w 904"/>
              <a:gd name="T23" fmla="*/ 2147483647 h 1057"/>
              <a:gd name="T24" fmla="*/ 2147483647 w 904"/>
              <a:gd name="T25" fmla="*/ 2147483647 h 1057"/>
              <a:gd name="T26" fmla="*/ 2147483647 w 904"/>
              <a:gd name="T27" fmla="*/ 2147483647 h 1057"/>
              <a:gd name="T28" fmla="*/ 2147483647 w 904"/>
              <a:gd name="T29" fmla="*/ 2147483647 h 1057"/>
              <a:gd name="T30" fmla="*/ 2147483647 w 904"/>
              <a:gd name="T31" fmla="*/ 2147483647 h 1057"/>
              <a:gd name="T32" fmla="*/ 2147483647 w 904"/>
              <a:gd name="T33" fmla="*/ 2147483647 h 1057"/>
              <a:gd name="T34" fmla="*/ 2147483647 w 904"/>
              <a:gd name="T35" fmla="*/ 2147483647 h 1057"/>
              <a:gd name="T36" fmla="*/ 2147483647 w 904"/>
              <a:gd name="T37" fmla="*/ 2147483647 h 1057"/>
              <a:gd name="T38" fmla="*/ 2147483647 w 904"/>
              <a:gd name="T39" fmla="*/ 2147483647 h 1057"/>
              <a:gd name="T40" fmla="*/ 2147483647 w 904"/>
              <a:gd name="T41" fmla="*/ 2147483647 h 1057"/>
              <a:gd name="T42" fmla="*/ 2147483647 w 904"/>
              <a:gd name="T43" fmla="*/ 2147483647 h 1057"/>
              <a:gd name="T44" fmla="*/ 2147483647 w 904"/>
              <a:gd name="T45" fmla="*/ 2147483647 h 1057"/>
              <a:gd name="T46" fmla="*/ 2147483647 w 904"/>
              <a:gd name="T47" fmla="*/ 2147483647 h 1057"/>
              <a:gd name="T48" fmla="*/ 2147483647 w 904"/>
              <a:gd name="T49" fmla="*/ 2147483647 h 1057"/>
              <a:gd name="T50" fmla="*/ 2147483647 w 904"/>
              <a:gd name="T51" fmla="*/ 2147483647 h 1057"/>
              <a:gd name="T52" fmla="*/ 2147483647 w 904"/>
              <a:gd name="T53" fmla="*/ 2147483647 h 1057"/>
              <a:gd name="T54" fmla="*/ 2147483647 w 904"/>
              <a:gd name="T55" fmla="*/ 2147483647 h 1057"/>
              <a:gd name="T56" fmla="*/ 2147483647 w 904"/>
              <a:gd name="T57" fmla="*/ 2147483647 h 1057"/>
              <a:gd name="T58" fmla="*/ 2147483647 w 904"/>
              <a:gd name="T59" fmla="*/ 2147483647 h 1057"/>
              <a:gd name="T60" fmla="*/ 2147483647 w 904"/>
              <a:gd name="T61" fmla="*/ 2147483647 h 1057"/>
              <a:gd name="T62" fmla="*/ 2147483647 w 904"/>
              <a:gd name="T63" fmla="*/ 2147483647 h 1057"/>
              <a:gd name="T64" fmla="*/ 2147483647 w 904"/>
              <a:gd name="T65" fmla="*/ 2147483647 h 1057"/>
              <a:gd name="T66" fmla="*/ 2147483647 w 904"/>
              <a:gd name="T67" fmla="*/ 2147483647 h 1057"/>
              <a:gd name="T68" fmla="*/ 2147483647 w 904"/>
              <a:gd name="T69" fmla="*/ 2147483647 h 1057"/>
              <a:gd name="T70" fmla="*/ 2147483647 w 904"/>
              <a:gd name="T71" fmla="*/ 2147483647 h 1057"/>
              <a:gd name="T72" fmla="*/ 2147483647 w 904"/>
              <a:gd name="T73" fmla="*/ 2147483647 h 1057"/>
              <a:gd name="T74" fmla="*/ 2147483647 w 904"/>
              <a:gd name="T75" fmla="*/ 2147483647 h 1057"/>
              <a:gd name="T76" fmla="*/ 2147483647 w 904"/>
              <a:gd name="T77" fmla="*/ 2147483647 h 1057"/>
              <a:gd name="T78" fmla="*/ 2147483647 w 904"/>
              <a:gd name="T79" fmla="*/ 2147483647 h 1057"/>
              <a:gd name="T80" fmla="*/ 2147483647 w 904"/>
              <a:gd name="T81" fmla="*/ 2147483647 h 1057"/>
              <a:gd name="T82" fmla="*/ 2147483647 w 904"/>
              <a:gd name="T83" fmla="*/ 2147483647 h 1057"/>
              <a:gd name="T84" fmla="*/ 2147483647 w 904"/>
              <a:gd name="T85" fmla="*/ 2147483647 h 1057"/>
              <a:gd name="T86" fmla="*/ 2147483647 w 904"/>
              <a:gd name="T87" fmla="*/ 2147483647 h 1057"/>
              <a:gd name="T88" fmla="*/ 2147483647 w 904"/>
              <a:gd name="T89" fmla="*/ 2147483647 h 10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904"/>
              <a:gd name="T136" fmla="*/ 0 h 1057"/>
              <a:gd name="T137" fmla="*/ 904 w 904"/>
              <a:gd name="T138" fmla="*/ 1057 h 10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904" h="1057">
                <a:moveTo>
                  <a:pt x="764" y="1057"/>
                </a:moveTo>
                <a:lnTo>
                  <a:pt x="142" y="1057"/>
                </a:lnTo>
                <a:lnTo>
                  <a:pt x="142" y="373"/>
                </a:lnTo>
                <a:lnTo>
                  <a:pt x="40" y="373"/>
                </a:lnTo>
                <a:cubicBezTo>
                  <a:pt x="16" y="366"/>
                  <a:pt x="7" y="364"/>
                  <a:pt x="0" y="333"/>
                </a:cubicBezTo>
                <a:lnTo>
                  <a:pt x="0" y="185"/>
                </a:lnTo>
                <a:cubicBezTo>
                  <a:pt x="6" y="154"/>
                  <a:pt x="11" y="155"/>
                  <a:pt x="36" y="149"/>
                </a:cubicBezTo>
                <a:lnTo>
                  <a:pt x="148" y="151"/>
                </a:lnTo>
                <a:lnTo>
                  <a:pt x="148" y="37"/>
                </a:lnTo>
                <a:cubicBezTo>
                  <a:pt x="155" y="18"/>
                  <a:pt x="183" y="18"/>
                  <a:pt x="190" y="37"/>
                </a:cubicBezTo>
                <a:lnTo>
                  <a:pt x="190" y="151"/>
                </a:lnTo>
                <a:cubicBezTo>
                  <a:pt x="197" y="170"/>
                  <a:pt x="225" y="170"/>
                  <a:pt x="232" y="151"/>
                </a:cubicBezTo>
                <a:lnTo>
                  <a:pt x="232" y="37"/>
                </a:lnTo>
                <a:cubicBezTo>
                  <a:pt x="239" y="18"/>
                  <a:pt x="267" y="17"/>
                  <a:pt x="274" y="37"/>
                </a:cubicBezTo>
                <a:lnTo>
                  <a:pt x="274" y="155"/>
                </a:lnTo>
                <a:cubicBezTo>
                  <a:pt x="281" y="174"/>
                  <a:pt x="307" y="175"/>
                  <a:pt x="314" y="155"/>
                </a:cubicBezTo>
                <a:lnTo>
                  <a:pt x="314" y="33"/>
                </a:lnTo>
                <a:cubicBezTo>
                  <a:pt x="320" y="12"/>
                  <a:pt x="346" y="12"/>
                  <a:pt x="352" y="31"/>
                </a:cubicBezTo>
                <a:lnTo>
                  <a:pt x="352" y="145"/>
                </a:lnTo>
                <a:cubicBezTo>
                  <a:pt x="358" y="164"/>
                  <a:pt x="382" y="164"/>
                  <a:pt x="388" y="145"/>
                </a:cubicBezTo>
                <a:lnTo>
                  <a:pt x="388" y="31"/>
                </a:lnTo>
                <a:cubicBezTo>
                  <a:pt x="394" y="12"/>
                  <a:pt x="418" y="11"/>
                  <a:pt x="424" y="31"/>
                </a:cubicBezTo>
                <a:lnTo>
                  <a:pt x="424" y="151"/>
                </a:lnTo>
                <a:cubicBezTo>
                  <a:pt x="431" y="170"/>
                  <a:pt x="459" y="165"/>
                  <a:pt x="466" y="145"/>
                </a:cubicBezTo>
                <a:lnTo>
                  <a:pt x="466" y="31"/>
                </a:lnTo>
                <a:cubicBezTo>
                  <a:pt x="474" y="12"/>
                  <a:pt x="506" y="12"/>
                  <a:pt x="514" y="31"/>
                </a:cubicBezTo>
                <a:lnTo>
                  <a:pt x="514" y="145"/>
                </a:lnTo>
                <a:cubicBezTo>
                  <a:pt x="521" y="163"/>
                  <a:pt x="547" y="162"/>
                  <a:pt x="554" y="143"/>
                </a:cubicBezTo>
                <a:lnTo>
                  <a:pt x="554" y="27"/>
                </a:lnTo>
                <a:cubicBezTo>
                  <a:pt x="561" y="7"/>
                  <a:pt x="591" y="5"/>
                  <a:pt x="598" y="25"/>
                </a:cubicBezTo>
                <a:lnTo>
                  <a:pt x="598" y="145"/>
                </a:lnTo>
                <a:cubicBezTo>
                  <a:pt x="604" y="165"/>
                  <a:pt x="628" y="165"/>
                  <a:pt x="634" y="145"/>
                </a:cubicBezTo>
                <a:lnTo>
                  <a:pt x="634" y="23"/>
                </a:lnTo>
                <a:cubicBezTo>
                  <a:pt x="640" y="3"/>
                  <a:pt x="664" y="5"/>
                  <a:pt x="670" y="25"/>
                </a:cubicBezTo>
                <a:lnTo>
                  <a:pt x="670" y="145"/>
                </a:lnTo>
                <a:cubicBezTo>
                  <a:pt x="676" y="165"/>
                  <a:pt x="702" y="167"/>
                  <a:pt x="708" y="147"/>
                </a:cubicBezTo>
                <a:lnTo>
                  <a:pt x="708" y="23"/>
                </a:lnTo>
                <a:cubicBezTo>
                  <a:pt x="714" y="2"/>
                  <a:pt x="740" y="0"/>
                  <a:pt x="746" y="21"/>
                </a:cubicBezTo>
                <a:lnTo>
                  <a:pt x="746" y="149"/>
                </a:lnTo>
                <a:lnTo>
                  <a:pt x="868" y="149"/>
                </a:lnTo>
                <a:cubicBezTo>
                  <a:pt x="894" y="156"/>
                  <a:pt x="898" y="162"/>
                  <a:pt x="904" y="193"/>
                </a:cubicBezTo>
                <a:lnTo>
                  <a:pt x="904" y="337"/>
                </a:lnTo>
                <a:cubicBezTo>
                  <a:pt x="895" y="367"/>
                  <a:pt x="875" y="367"/>
                  <a:pt x="852" y="373"/>
                </a:cubicBezTo>
                <a:lnTo>
                  <a:pt x="766" y="373"/>
                </a:lnTo>
                <a:lnTo>
                  <a:pt x="764" y="1057"/>
                </a:lnTo>
                <a:close/>
              </a:path>
            </a:pathLst>
          </a:custGeom>
          <a:gradFill rotWithShape="0">
            <a:gsLst>
              <a:gs pos="0">
                <a:srgbClr val="765E47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88" name="Freeform 4"/>
          <p:cNvSpPr>
            <a:spLocks noChangeAspect="1"/>
          </p:cNvSpPr>
          <p:nvPr/>
        </p:nvSpPr>
        <p:spPr bwMode="auto">
          <a:xfrm>
            <a:off x="2228850" y="3157539"/>
            <a:ext cx="1290638" cy="1508522"/>
          </a:xfrm>
          <a:custGeom>
            <a:avLst/>
            <a:gdLst>
              <a:gd name="T0" fmla="*/ 2147483647 w 904"/>
              <a:gd name="T1" fmla="*/ 2147483647 h 1057"/>
              <a:gd name="T2" fmla="*/ 2147483647 w 904"/>
              <a:gd name="T3" fmla="*/ 2147483647 h 1057"/>
              <a:gd name="T4" fmla="*/ 2147483647 w 904"/>
              <a:gd name="T5" fmla="*/ 2147483647 h 1057"/>
              <a:gd name="T6" fmla="*/ 2147483647 w 904"/>
              <a:gd name="T7" fmla="*/ 2147483647 h 1057"/>
              <a:gd name="T8" fmla="*/ 0 w 904"/>
              <a:gd name="T9" fmla="*/ 2147483647 h 1057"/>
              <a:gd name="T10" fmla="*/ 0 w 904"/>
              <a:gd name="T11" fmla="*/ 2147483647 h 1057"/>
              <a:gd name="T12" fmla="*/ 2147483647 w 904"/>
              <a:gd name="T13" fmla="*/ 2147483647 h 1057"/>
              <a:gd name="T14" fmla="*/ 2147483647 w 904"/>
              <a:gd name="T15" fmla="*/ 2147483647 h 1057"/>
              <a:gd name="T16" fmla="*/ 2147483647 w 904"/>
              <a:gd name="T17" fmla="*/ 2147483647 h 1057"/>
              <a:gd name="T18" fmla="*/ 2147483647 w 904"/>
              <a:gd name="T19" fmla="*/ 2147483647 h 1057"/>
              <a:gd name="T20" fmla="*/ 2147483647 w 904"/>
              <a:gd name="T21" fmla="*/ 2147483647 h 1057"/>
              <a:gd name="T22" fmla="*/ 2147483647 w 904"/>
              <a:gd name="T23" fmla="*/ 2147483647 h 1057"/>
              <a:gd name="T24" fmla="*/ 2147483647 w 904"/>
              <a:gd name="T25" fmla="*/ 2147483647 h 1057"/>
              <a:gd name="T26" fmla="*/ 2147483647 w 904"/>
              <a:gd name="T27" fmla="*/ 2147483647 h 1057"/>
              <a:gd name="T28" fmla="*/ 2147483647 w 904"/>
              <a:gd name="T29" fmla="*/ 2147483647 h 1057"/>
              <a:gd name="T30" fmla="*/ 2147483647 w 904"/>
              <a:gd name="T31" fmla="*/ 2147483647 h 1057"/>
              <a:gd name="T32" fmla="*/ 2147483647 w 904"/>
              <a:gd name="T33" fmla="*/ 2147483647 h 1057"/>
              <a:gd name="T34" fmla="*/ 2147483647 w 904"/>
              <a:gd name="T35" fmla="*/ 2147483647 h 1057"/>
              <a:gd name="T36" fmla="*/ 2147483647 w 904"/>
              <a:gd name="T37" fmla="*/ 2147483647 h 1057"/>
              <a:gd name="T38" fmla="*/ 2147483647 w 904"/>
              <a:gd name="T39" fmla="*/ 2147483647 h 1057"/>
              <a:gd name="T40" fmla="*/ 2147483647 w 904"/>
              <a:gd name="T41" fmla="*/ 2147483647 h 1057"/>
              <a:gd name="T42" fmla="*/ 2147483647 w 904"/>
              <a:gd name="T43" fmla="*/ 2147483647 h 1057"/>
              <a:gd name="T44" fmla="*/ 2147483647 w 904"/>
              <a:gd name="T45" fmla="*/ 2147483647 h 1057"/>
              <a:gd name="T46" fmla="*/ 2147483647 w 904"/>
              <a:gd name="T47" fmla="*/ 2147483647 h 1057"/>
              <a:gd name="T48" fmla="*/ 2147483647 w 904"/>
              <a:gd name="T49" fmla="*/ 2147483647 h 1057"/>
              <a:gd name="T50" fmla="*/ 2147483647 w 904"/>
              <a:gd name="T51" fmla="*/ 2147483647 h 1057"/>
              <a:gd name="T52" fmla="*/ 2147483647 w 904"/>
              <a:gd name="T53" fmla="*/ 2147483647 h 1057"/>
              <a:gd name="T54" fmla="*/ 2147483647 w 904"/>
              <a:gd name="T55" fmla="*/ 2147483647 h 1057"/>
              <a:gd name="T56" fmla="*/ 2147483647 w 904"/>
              <a:gd name="T57" fmla="*/ 2147483647 h 1057"/>
              <a:gd name="T58" fmla="*/ 2147483647 w 904"/>
              <a:gd name="T59" fmla="*/ 2147483647 h 1057"/>
              <a:gd name="T60" fmla="*/ 2147483647 w 904"/>
              <a:gd name="T61" fmla="*/ 2147483647 h 1057"/>
              <a:gd name="T62" fmla="*/ 2147483647 w 904"/>
              <a:gd name="T63" fmla="*/ 2147483647 h 1057"/>
              <a:gd name="T64" fmla="*/ 2147483647 w 904"/>
              <a:gd name="T65" fmla="*/ 2147483647 h 1057"/>
              <a:gd name="T66" fmla="*/ 2147483647 w 904"/>
              <a:gd name="T67" fmla="*/ 2147483647 h 1057"/>
              <a:gd name="T68" fmla="*/ 2147483647 w 904"/>
              <a:gd name="T69" fmla="*/ 2147483647 h 1057"/>
              <a:gd name="T70" fmla="*/ 2147483647 w 904"/>
              <a:gd name="T71" fmla="*/ 2147483647 h 1057"/>
              <a:gd name="T72" fmla="*/ 2147483647 w 904"/>
              <a:gd name="T73" fmla="*/ 2147483647 h 1057"/>
              <a:gd name="T74" fmla="*/ 2147483647 w 904"/>
              <a:gd name="T75" fmla="*/ 2147483647 h 1057"/>
              <a:gd name="T76" fmla="*/ 2147483647 w 904"/>
              <a:gd name="T77" fmla="*/ 2147483647 h 1057"/>
              <a:gd name="T78" fmla="*/ 2147483647 w 904"/>
              <a:gd name="T79" fmla="*/ 2147483647 h 1057"/>
              <a:gd name="T80" fmla="*/ 2147483647 w 904"/>
              <a:gd name="T81" fmla="*/ 2147483647 h 1057"/>
              <a:gd name="T82" fmla="*/ 2147483647 w 904"/>
              <a:gd name="T83" fmla="*/ 2147483647 h 1057"/>
              <a:gd name="T84" fmla="*/ 2147483647 w 904"/>
              <a:gd name="T85" fmla="*/ 2147483647 h 1057"/>
              <a:gd name="T86" fmla="*/ 2147483647 w 904"/>
              <a:gd name="T87" fmla="*/ 2147483647 h 1057"/>
              <a:gd name="T88" fmla="*/ 2147483647 w 904"/>
              <a:gd name="T89" fmla="*/ 2147483647 h 10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904"/>
              <a:gd name="T136" fmla="*/ 0 h 1057"/>
              <a:gd name="T137" fmla="*/ 904 w 904"/>
              <a:gd name="T138" fmla="*/ 1057 h 10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904" h="1057">
                <a:moveTo>
                  <a:pt x="764" y="1057"/>
                </a:moveTo>
                <a:lnTo>
                  <a:pt x="142" y="1057"/>
                </a:lnTo>
                <a:lnTo>
                  <a:pt x="142" y="373"/>
                </a:lnTo>
                <a:lnTo>
                  <a:pt x="40" y="373"/>
                </a:lnTo>
                <a:cubicBezTo>
                  <a:pt x="16" y="366"/>
                  <a:pt x="7" y="364"/>
                  <a:pt x="0" y="333"/>
                </a:cubicBezTo>
                <a:lnTo>
                  <a:pt x="0" y="185"/>
                </a:lnTo>
                <a:cubicBezTo>
                  <a:pt x="6" y="154"/>
                  <a:pt x="11" y="155"/>
                  <a:pt x="36" y="149"/>
                </a:cubicBezTo>
                <a:lnTo>
                  <a:pt x="148" y="151"/>
                </a:lnTo>
                <a:lnTo>
                  <a:pt x="148" y="37"/>
                </a:lnTo>
                <a:cubicBezTo>
                  <a:pt x="155" y="18"/>
                  <a:pt x="183" y="18"/>
                  <a:pt x="190" y="37"/>
                </a:cubicBezTo>
                <a:lnTo>
                  <a:pt x="190" y="151"/>
                </a:lnTo>
                <a:cubicBezTo>
                  <a:pt x="197" y="170"/>
                  <a:pt x="225" y="170"/>
                  <a:pt x="232" y="151"/>
                </a:cubicBezTo>
                <a:lnTo>
                  <a:pt x="232" y="37"/>
                </a:lnTo>
                <a:cubicBezTo>
                  <a:pt x="239" y="18"/>
                  <a:pt x="267" y="17"/>
                  <a:pt x="274" y="37"/>
                </a:cubicBezTo>
                <a:lnTo>
                  <a:pt x="274" y="155"/>
                </a:lnTo>
                <a:cubicBezTo>
                  <a:pt x="281" y="174"/>
                  <a:pt x="307" y="175"/>
                  <a:pt x="314" y="155"/>
                </a:cubicBezTo>
                <a:lnTo>
                  <a:pt x="314" y="33"/>
                </a:lnTo>
                <a:cubicBezTo>
                  <a:pt x="320" y="12"/>
                  <a:pt x="346" y="12"/>
                  <a:pt x="352" y="31"/>
                </a:cubicBezTo>
                <a:lnTo>
                  <a:pt x="352" y="145"/>
                </a:lnTo>
                <a:cubicBezTo>
                  <a:pt x="358" y="164"/>
                  <a:pt x="382" y="164"/>
                  <a:pt x="388" y="145"/>
                </a:cubicBezTo>
                <a:lnTo>
                  <a:pt x="388" y="31"/>
                </a:lnTo>
                <a:cubicBezTo>
                  <a:pt x="394" y="12"/>
                  <a:pt x="418" y="11"/>
                  <a:pt x="424" y="31"/>
                </a:cubicBezTo>
                <a:lnTo>
                  <a:pt x="424" y="151"/>
                </a:lnTo>
                <a:cubicBezTo>
                  <a:pt x="431" y="170"/>
                  <a:pt x="459" y="165"/>
                  <a:pt x="466" y="145"/>
                </a:cubicBezTo>
                <a:lnTo>
                  <a:pt x="466" y="31"/>
                </a:lnTo>
                <a:cubicBezTo>
                  <a:pt x="474" y="12"/>
                  <a:pt x="506" y="12"/>
                  <a:pt x="514" y="31"/>
                </a:cubicBezTo>
                <a:lnTo>
                  <a:pt x="514" y="145"/>
                </a:lnTo>
                <a:cubicBezTo>
                  <a:pt x="521" y="163"/>
                  <a:pt x="547" y="162"/>
                  <a:pt x="554" y="143"/>
                </a:cubicBezTo>
                <a:lnTo>
                  <a:pt x="554" y="27"/>
                </a:lnTo>
                <a:cubicBezTo>
                  <a:pt x="561" y="7"/>
                  <a:pt x="591" y="5"/>
                  <a:pt x="598" y="25"/>
                </a:cubicBezTo>
                <a:lnTo>
                  <a:pt x="598" y="145"/>
                </a:lnTo>
                <a:cubicBezTo>
                  <a:pt x="604" y="165"/>
                  <a:pt x="628" y="165"/>
                  <a:pt x="634" y="145"/>
                </a:cubicBezTo>
                <a:lnTo>
                  <a:pt x="634" y="23"/>
                </a:lnTo>
                <a:cubicBezTo>
                  <a:pt x="640" y="3"/>
                  <a:pt x="664" y="5"/>
                  <a:pt x="670" y="25"/>
                </a:cubicBezTo>
                <a:lnTo>
                  <a:pt x="670" y="145"/>
                </a:lnTo>
                <a:cubicBezTo>
                  <a:pt x="676" y="165"/>
                  <a:pt x="702" y="167"/>
                  <a:pt x="708" y="147"/>
                </a:cubicBezTo>
                <a:lnTo>
                  <a:pt x="708" y="23"/>
                </a:lnTo>
                <a:cubicBezTo>
                  <a:pt x="714" y="2"/>
                  <a:pt x="740" y="0"/>
                  <a:pt x="746" y="21"/>
                </a:cubicBezTo>
                <a:lnTo>
                  <a:pt x="746" y="149"/>
                </a:lnTo>
                <a:lnTo>
                  <a:pt x="868" y="149"/>
                </a:lnTo>
                <a:cubicBezTo>
                  <a:pt x="894" y="156"/>
                  <a:pt x="898" y="162"/>
                  <a:pt x="904" y="193"/>
                </a:cubicBezTo>
                <a:lnTo>
                  <a:pt x="904" y="337"/>
                </a:lnTo>
                <a:cubicBezTo>
                  <a:pt x="895" y="367"/>
                  <a:pt x="875" y="367"/>
                  <a:pt x="852" y="373"/>
                </a:cubicBezTo>
                <a:lnTo>
                  <a:pt x="766" y="373"/>
                </a:lnTo>
                <a:lnTo>
                  <a:pt x="764" y="1057"/>
                </a:lnTo>
                <a:close/>
              </a:path>
            </a:pathLst>
          </a:custGeom>
          <a:gradFill rotWithShape="0">
            <a:gsLst>
              <a:gs pos="0">
                <a:srgbClr val="765E47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89" name="Freeform 5"/>
          <p:cNvSpPr>
            <a:spLocks noChangeAspect="1"/>
          </p:cNvSpPr>
          <p:nvPr/>
        </p:nvSpPr>
        <p:spPr bwMode="auto">
          <a:xfrm>
            <a:off x="5143500" y="3157539"/>
            <a:ext cx="1290638" cy="1508522"/>
          </a:xfrm>
          <a:custGeom>
            <a:avLst/>
            <a:gdLst>
              <a:gd name="T0" fmla="*/ 2147483647 w 904"/>
              <a:gd name="T1" fmla="*/ 2147483647 h 1057"/>
              <a:gd name="T2" fmla="*/ 2147483647 w 904"/>
              <a:gd name="T3" fmla="*/ 2147483647 h 1057"/>
              <a:gd name="T4" fmla="*/ 2147483647 w 904"/>
              <a:gd name="T5" fmla="*/ 2147483647 h 1057"/>
              <a:gd name="T6" fmla="*/ 2147483647 w 904"/>
              <a:gd name="T7" fmla="*/ 2147483647 h 1057"/>
              <a:gd name="T8" fmla="*/ 0 w 904"/>
              <a:gd name="T9" fmla="*/ 2147483647 h 1057"/>
              <a:gd name="T10" fmla="*/ 0 w 904"/>
              <a:gd name="T11" fmla="*/ 2147483647 h 1057"/>
              <a:gd name="T12" fmla="*/ 2147483647 w 904"/>
              <a:gd name="T13" fmla="*/ 2147483647 h 1057"/>
              <a:gd name="T14" fmla="*/ 2147483647 w 904"/>
              <a:gd name="T15" fmla="*/ 2147483647 h 1057"/>
              <a:gd name="T16" fmla="*/ 2147483647 w 904"/>
              <a:gd name="T17" fmla="*/ 2147483647 h 1057"/>
              <a:gd name="T18" fmla="*/ 2147483647 w 904"/>
              <a:gd name="T19" fmla="*/ 2147483647 h 1057"/>
              <a:gd name="T20" fmla="*/ 2147483647 w 904"/>
              <a:gd name="T21" fmla="*/ 2147483647 h 1057"/>
              <a:gd name="T22" fmla="*/ 2147483647 w 904"/>
              <a:gd name="T23" fmla="*/ 2147483647 h 1057"/>
              <a:gd name="T24" fmla="*/ 2147483647 w 904"/>
              <a:gd name="T25" fmla="*/ 2147483647 h 1057"/>
              <a:gd name="T26" fmla="*/ 2147483647 w 904"/>
              <a:gd name="T27" fmla="*/ 2147483647 h 1057"/>
              <a:gd name="T28" fmla="*/ 2147483647 w 904"/>
              <a:gd name="T29" fmla="*/ 2147483647 h 1057"/>
              <a:gd name="T30" fmla="*/ 2147483647 w 904"/>
              <a:gd name="T31" fmla="*/ 2147483647 h 1057"/>
              <a:gd name="T32" fmla="*/ 2147483647 w 904"/>
              <a:gd name="T33" fmla="*/ 2147483647 h 1057"/>
              <a:gd name="T34" fmla="*/ 2147483647 w 904"/>
              <a:gd name="T35" fmla="*/ 2147483647 h 1057"/>
              <a:gd name="T36" fmla="*/ 2147483647 w 904"/>
              <a:gd name="T37" fmla="*/ 2147483647 h 1057"/>
              <a:gd name="T38" fmla="*/ 2147483647 w 904"/>
              <a:gd name="T39" fmla="*/ 2147483647 h 1057"/>
              <a:gd name="T40" fmla="*/ 2147483647 w 904"/>
              <a:gd name="T41" fmla="*/ 2147483647 h 1057"/>
              <a:gd name="T42" fmla="*/ 2147483647 w 904"/>
              <a:gd name="T43" fmla="*/ 2147483647 h 1057"/>
              <a:gd name="T44" fmla="*/ 2147483647 w 904"/>
              <a:gd name="T45" fmla="*/ 2147483647 h 1057"/>
              <a:gd name="T46" fmla="*/ 2147483647 w 904"/>
              <a:gd name="T47" fmla="*/ 2147483647 h 1057"/>
              <a:gd name="T48" fmla="*/ 2147483647 w 904"/>
              <a:gd name="T49" fmla="*/ 2147483647 h 1057"/>
              <a:gd name="T50" fmla="*/ 2147483647 w 904"/>
              <a:gd name="T51" fmla="*/ 2147483647 h 1057"/>
              <a:gd name="T52" fmla="*/ 2147483647 w 904"/>
              <a:gd name="T53" fmla="*/ 2147483647 h 1057"/>
              <a:gd name="T54" fmla="*/ 2147483647 w 904"/>
              <a:gd name="T55" fmla="*/ 2147483647 h 1057"/>
              <a:gd name="T56" fmla="*/ 2147483647 w 904"/>
              <a:gd name="T57" fmla="*/ 2147483647 h 1057"/>
              <a:gd name="T58" fmla="*/ 2147483647 w 904"/>
              <a:gd name="T59" fmla="*/ 2147483647 h 1057"/>
              <a:gd name="T60" fmla="*/ 2147483647 w 904"/>
              <a:gd name="T61" fmla="*/ 2147483647 h 1057"/>
              <a:gd name="T62" fmla="*/ 2147483647 w 904"/>
              <a:gd name="T63" fmla="*/ 2147483647 h 1057"/>
              <a:gd name="T64" fmla="*/ 2147483647 w 904"/>
              <a:gd name="T65" fmla="*/ 2147483647 h 1057"/>
              <a:gd name="T66" fmla="*/ 2147483647 w 904"/>
              <a:gd name="T67" fmla="*/ 2147483647 h 1057"/>
              <a:gd name="T68" fmla="*/ 2147483647 w 904"/>
              <a:gd name="T69" fmla="*/ 2147483647 h 1057"/>
              <a:gd name="T70" fmla="*/ 2147483647 w 904"/>
              <a:gd name="T71" fmla="*/ 2147483647 h 1057"/>
              <a:gd name="T72" fmla="*/ 2147483647 w 904"/>
              <a:gd name="T73" fmla="*/ 2147483647 h 1057"/>
              <a:gd name="T74" fmla="*/ 2147483647 w 904"/>
              <a:gd name="T75" fmla="*/ 2147483647 h 1057"/>
              <a:gd name="T76" fmla="*/ 2147483647 w 904"/>
              <a:gd name="T77" fmla="*/ 2147483647 h 1057"/>
              <a:gd name="T78" fmla="*/ 2147483647 w 904"/>
              <a:gd name="T79" fmla="*/ 2147483647 h 1057"/>
              <a:gd name="T80" fmla="*/ 2147483647 w 904"/>
              <a:gd name="T81" fmla="*/ 2147483647 h 1057"/>
              <a:gd name="T82" fmla="*/ 2147483647 w 904"/>
              <a:gd name="T83" fmla="*/ 2147483647 h 1057"/>
              <a:gd name="T84" fmla="*/ 2147483647 w 904"/>
              <a:gd name="T85" fmla="*/ 2147483647 h 1057"/>
              <a:gd name="T86" fmla="*/ 2147483647 w 904"/>
              <a:gd name="T87" fmla="*/ 2147483647 h 1057"/>
              <a:gd name="T88" fmla="*/ 2147483647 w 904"/>
              <a:gd name="T89" fmla="*/ 2147483647 h 10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904"/>
              <a:gd name="T136" fmla="*/ 0 h 1057"/>
              <a:gd name="T137" fmla="*/ 904 w 904"/>
              <a:gd name="T138" fmla="*/ 1057 h 10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904" h="1057">
                <a:moveTo>
                  <a:pt x="764" y="1057"/>
                </a:moveTo>
                <a:lnTo>
                  <a:pt x="142" y="1057"/>
                </a:lnTo>
                <a:lnTo>
                  <a:pt x="142" y="373"/>
                </a:lnTo>
                <a:lnTo>
                  <a:pt x="40" y="373"/>
                </a:lnTo>
                <a:cubicBezTo>
                  <a:pt x="16" y="366"/>
                  <a:pt x="7" y="364"/>
                  <a:pt x="0" y="333"/>
                </a:cubicBezTo>
                <a:lnTo>
                  <a:pt x="0" y="185"/>
                </a:lnTo>
                <a:cubicBezTo>
                  <a:pt x="6" y="154"/>
                  <a:pt x="11" y="155"/>
                  <a:pt x="36" y="149"/>
                </a:cubicBezTo>
                <a:lnTo>
                  <a:pt x="148" y="151"/>
                </a:lnTo>
                <a:lnTo>
                  <a:pt x="148" y="37"/>
                </a:lnTo>
                <a:cubicBezTo>
                  <a:pt x="155" y="18"/>
                  <a:pt x="183" y="18"/>
                  <a:pt x="190" y="37"/>
                </a:cubicBezTo>
                <a:lnTo>
                  <a:pt x="190" y="151"/>
                </a:lnTo>
                <a:cubicBezTo>
                  <a:pt x="197" y="170"/>
                  <a:pt x="225" y="170"/>
                  <a:pt x="232" y="151"/>
                </a:cubicBezTo>
                <a:lnTo>
                  <a:pt x="232" y="37"/>
                </a:lnTo>
                <a:cubicBezTo>
                  <a:pt x="239" y="18"/>
                  <a:pt x="267" y="17"/>
                  <a:pt x="274" y="37"/>
                </a:cubicBezTo>
                <a:lnTo>
                  <a:pt x="274" y="155"/>
                </a:lnTo>
                <a:cubicBezTo>
                  <a:pt x="281" y="174"/>
                  <a:pt x="307" y="175"/>
                  <a:pt x="314" y="155"/>
                </a:cubicBezTo>
                <a:lnTo>
                  <a:pt x="314" y="33"/>
                </a:lnTo>
                <a:cubicBezTo>
                  <a:pt x="320" y="12"/>
                  <a:pt x="346" y="12"/>
                  <a:pt x="352" y="31"/>
                </a:cubicBezTo>
                <a:lnTo>
                  <a:pt x="352" y="145"/>
                </a:lnTo>
                <a:cubicBezTo>
                  <a:pt x="358" y="164"/>
                  <a:pt x="382" y="164"/>
                  <a:pt x="388" y="145"/>
                </a:cubicBezTo>
                <a:lnTo>
                  <a:pt x="388" y="31"/>
                </a:lnTo>
                <a:cubicBezTo>
                  <a:pt x="394" y="12"/>
                  <a:pt x="418" y="11"/>
                  <a:pt x="424" y="31"/>
                </a:cubicBezTo>
                <a:lnTo>
                  <a:pt x="424" y="151"/>
                </a:lnTo>
                <a:cubicBezTo>
                  <a:pt x="431" y="170"/>
                  <a:pt x="459" y="165"/>
                  <a:pt x="466" y="145"/>
                </a:cubicBezTo>
                <a:lnTo>
                  <a:pt x="466" y="31"/>
                </a:lnTo>
                <a:cubicBezTo>
                  <a:pt x="474" y="12"/>
                  <a:pt x="506" y="12"/>
                  <a:pt x="514" y="31"/>
                </a:cubicBezTo>
                <a:lnTo>
                  <a:pt x="514" y="145"/>
                </a:lnTo>
                <a:cubicBezTo>
                  <a:pt x="521" y="163"/>
                  <a:pt x="547" y="162"/>
                  <a:pt x="554" y="143"/>
                </a:cubicBezTo>
                <a:lnTo>
                  <a:pt x="554" y="27"/>
                </a:lnTo>
                <a:cubicBezTo>
                  <a:pt x="561" y="7"/>
                  <a:pt x="591" y="5"/>
                  <a:pt x="598" y="25"/>
                </a:cubicBezTo>
                <a:lnTo>
                  <a:pt x="598" y="145"/>
                </a:lnTo>
                <a:cubicBezTo>
                  <a:pt x="604" y="165"/>
                  <a:pt x="628" y="165"/>
                  <a:pt x="634" y="145"/>
                </a:cubicBezTo>
                <a:lnTo>
                  <a:pt x="634" y="23"/>
                </a:lnTo>
                <a:cubicBezTo>
                  <a:pt x="640" y="3"/>
                  <a:pt x="664" y="5"/>
                  <a:pt x="670" y="25"/>
                </a:cubicBezTo>
                <a:lnTo>
                  <a:pt x="670" y="145"/>
                </a:lnTo>
                <a:cubicBezTo>
                  <a:pt x="676" y="165"/>
                  <a:pt x="702" y="167"/>
                  <a:pt x="708" y="147"/>
                </a:cubicBezTo>
                <a:lnTo>
                  <a:pt x="708" y="23"/>
                </a:lnTo>
                <a:cubicBezTo>
                  <a:pt x="714" y="2"/>
                  <a:pt x="740" y="0"/>
                  <a:pt x="746" y="21"/>
                </a:cubicBezTo>
                <a:lnTo>
                  <a:pt x="746" y="149"/>
                </a:lnTo>
                <a:lnTo>
                  <a:pt x="868" y="149"/>
                </a:lnTo>
                <a:cubicBezTo>
                  <a:pt x="894" y="156"/>
                  <a:pt x="898" y="162"/>
                  <a:pt x="904" y="193"/>
                </a:cubicBezTo>
                <a:lnTo>
                  <a:pt x="904" y="337"/>
                </a:lnTo>
                <a:cubicBezTo>
                  <a:pt x="895" y="367"/>
                  <a:pt x="875" y="367"/>
                  <a:pt x="852" y="373"/>
                </a:cubicBezTo>
                <a:lnTo>
                  <a:pt x="766" y="373"/>
                </a:lnTo>
                <a:lnTo>
                  <a:pt x="764" y="1057"/>
                </a:lnTo>
                <a:close/>
              </a:path>
            </a:pathLst>
          </a:custGeom>
          <a:gradFill rotWithShape="0">
            <a:gsLst>
              <a:gs pos="0">
                <a:srgbClr val="765E47"/>
              </a:gs>
              <a:gs pos="100000">
                <a:srgbClr val="FFCC99"/>
              </a:gs>
            </a:gsLst>
            <a:lin ang="5400000" scaled="1"/>
          </a:gradFill>
          <a:ln w="9525">
            <a:solidFill>
              <a:srgbClr val="FF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405104" y="3386137"/>
            <a:ext cx="98456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500" b="1">
                <a:solidFill>
                  <a:srgbClr val="FF0000"/>
                </a:solidFill>
              </a:rPr>
              <a:t>Jonction</a:t>
            </a:r>
          </a:p>
          <a:p>
            <a:pPr algn="ctr"/>
            <a:r>
              <a:rPr lang="en-US" sz="1500" b="1">
                <a:solidFill>
                  <a:srgbClr val="FF0000"/>
                </a:solidFill>
              </a:rPr>
              <a:t>sérrée</a:t>
            </a:r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3314700" y="3500438"/>
            <a:ext cx="214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4560095" y="5137549"/>
            <a:ext cx="2980135" cy="646331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b="1">
                <a:solidFill>
                  <a:srgbClr val="FF0000"/>
                </a:solidFill>
              </a:rPr>
              <a:t>Voie transcellulaire</a:t>
            </a:r>
          </a:p>
          <a:p>
            <a:pPr algn="ctr"/>
            <a:r>
              <a:rPr lang="fr-FR" b="1">
                <a:solidFill>
                  <a:srgbClr val="FF0000"/>
                </a:solidFill>
              </a:rPr>
              <a:t>Avec glucose et Na</a:t>
            </a:r>
            <a:r>
              <a:rPr lang="fr-FR" b="1" baseline="300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5772150" y="2571750"/>
            <a:ext cx="0" cy="257175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5241393" y="4207669"/>
            <a:ext cx="1103187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650" b="1">
                <a:solidFill>
                  <a:srgbClr val="FF0000"/>
                </a:solidFill>
              </a:rPr>
              <a:t>Diffusion</a:t>
            </a:r>
          </a:p>
          <a:p>
            <a:pPr algn="ctr">
              <a:lnSpc>
                <a:spcPct val="80000"/>
              </a:lnSpc>
            </a:pPr>
            <a:r>
              <a:rPr lang="en-US" sz="1650" b="1">
                <a:solidFill>
                  <a:srgbClr val="FF0000"/>
                </a:solidFill>
              </a:rPr>
              <a:t>passive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1382317" y="4835129"/>
            <a:ext cx="2955131" cy="1292662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b="1">
                <a:solidFill>
                  <a:srgbClr val="FF0000"/>
                </a:solidFill>
              </a:rPr>
              <a:t>Voie Paracellulaire</a:t>
            </a:r>
          </a:p>
          <a:p>
            <a:pPr algn="ctr"/>
            <a:r>
              <a:rPr lang="fr-FR" sz="1500" b="1">
                <a:solidFill>
                  <a:srgbClr val="FF0000"/>
                </a:solidFill>
              </a:rPr>
              <a:t>Grâce au gradient local de Na+ qui est excrété de façon active sur les parois des entérocytes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4069557" y="3638550"/>
            <a:ext cx="540533" cy="369332"/>
          </a:xfrm>
          <a:prstGeom prst="rect">
            <a:avLst/>
          </a:prstGeom>
          <a:solidFill>
            <a:srgbClr val="FF7C8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>
                <a:solidFill>
                  <a:srgbClr val="FF0000"/>
                </a:solidFill>
                <a:latin typeface="Times New Roman" pitchFamily="18" charset="0"/>
              </a:rPr>
              <a:t>Na</a:t>
            </a:r>
            <a:r>
              <a:rPr lang="fr-FR" baseline="30000">
                <a:solidFill>
                  <a:srgbClr val="FF00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6397" name="AutoShape 13"/>
          <p:cNvSpPr>
            <a:spLocks noChangeArrowheads="1"/>
          </p:cNvSpPr>
          <p:nvPr/>
        </p:nvSpPr>
        <p:spPr bwMode="auto">
          <a:xfrm rot="3613077">
            <a:off x="3862983" y="4005858"/>
            <a:ext cx="544116" cy="742950"/>
          </a:xfrm>
          <a:prstGeom prst="curvedLeftArrow">
            <a:avLst>
              <a:gd name="adj1" fmla="val 27309"/>
              <a:gd name="adj2" fmla="val 54617"/>
              <a:gd name="adj3" fmla="val 33333"/>
            </a:avLst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63517" y="2680098"/>
            <a:ext cx="615874" cy="369332"/>
          </a:xfrm>
          <a:prstGeom prst="rect">
            <a:avLst/>
          </a:prstGeom>
          <a:solidFill>
            <a:srgbClr val="FF7C8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/>
              <a:t>H</a:t>
            </a:r>
            <a:r>
              <a:rPr lang="fr-FR" b="1" baseline="-25000"/>
              <a:t>2</a:t>
            </a:r>
            <a:r>
              <a:rPr lang="fr-FR" b="1"/>
              <a:t>O</a:t>
            </a: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601642" y="3062288"/>
            <a:ext cx="20240" cy="1371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5438776" y="2486026"/>
            <a:ext cx="615874" cy="369332"/>
          </a:xfrm>
          <a:prstGeom prst="rect">
            <a:avLst/>
          </a:prstGeom>
          <a:solidFill>
            <a:srgbClr val="FF7C8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/>
              <a:t>H</a:t>
            </a:r>
            <a:r>
              <a:rPr lang="fr-FR" b="1" baseline="-25000"/>
              <a:t>2</a:t>
            </a:r>
            <a:r>
              <a:rPr lang="fr-FR" b="1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1550652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54956" y="1226344"/>
            <a:ext cx="5829300" cy="600075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Diffusion et gradient</a:t>
            </a:r>
          </a:p>
        </p:txBody>
      </p:sp>
      <p:pic>
        <p:nvPicPr>
          <p:cNvPr id="19459" name="Picture 4" descr="FG05_0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9198" y="2119313"/>
            <a:ext cx="2462213" cy="1950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3321934" y="2119313"/>
            <a:ext cx="5741043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000" b="1" dirty="0"/>
              <a:t>Diffusion</a:t>
            </a:r>
            <a:r>
              <a:rPr lang="fr-FR" sz="2000" dirty="0"/>
              <a:t>: Mouvements browniens se faisant uniquement sous l’action des  forces thermodynamiques</a:t>
            </a:r>
          </a:p>
          <a:p>
            <a:endParaRPr lang="fr-FR" sz="2000" dirty="0"/>
          </a:p>
          <a:p>
            <a:r>
              <a:rPr lang="fr-FR" sz="2000" dirty="0"/>
              <a:t>Si une membrane sépare deux compartiments, le passage par diffusion simple se fera sous l’action d’un </a:t>
            </a:r>
            <a:r>
              <a:rPr lang="fr-FR" sz="2000" b="1" dirty="0"/>
              <a:t>gradient</a:t>
            </a:r>
            <a:r>
              <a:rPr lang="fr-FR" sz="2000" dirty="0"/>
              <a:t> (une force) électrochimique (gradient d’origine chimique et gradient d’origine électrique) </a:t>
            </a:r>
          </a:p>
        </p:txBody>
      </p:sp>
    </p:spTree>
    <p:extLst>
      <p:ext uri="{BB962C8B-B14F-4D97-AF65-F5344CB8AC3E}">
        <p14:creationId xmlns:p14="http://schemas.microsoft.com/office/powerpoint/2010/main" val="277475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90588"/>
            <a:ext cx="6172200" cy="857250"/>
          </a:xfrm>
        </p:spPr>
        <p:txBody>
          <a:bodyPr/>
          <a:lstStyle/>
          <a:p>
            <a:pPr eaLnBrk="1" hangingPunct="1"/>
            <a:r>
              <a:rPr lang="fr-FR" sz="2400" b="1"/>
              <a:t>Mécanismes de passage transmembranaire des médicaments :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57313" y="1863328"/>
            <a:ext cx="6172200" cy="413742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b="1" smtClean="0"/>
              <a:t>1- Diffusion passive : </a:t>
            </a:r>
          </a:p>
          <a:p>
            <a:pPr eaLnBrk="1" hangingPunct="1">
              <a:buFontTx/>
              <a:buNone/>
            </a:pPr>
            <a:endParaRPr lang="fr-FR" b="1" smtClean="0"/>
          </a:p>
          <a:p>
            <a:pPr eaLnBrk="1" hangingPunct="1">
              <a:buFontTx/>
              <a:buNone/>
            </a:pPr>
            <a:endParaRPr lang="fr-FR" b="1" smtClean="0"/>
          </a:p>
          <a:p>
            <a:pPr eaLnBrk="1" hangingPunct="1">
              <a:buFontTx/>
              <a:buNone/>
            </a:pPr>
            <a:r>
              <a:rPr lang="fr-FR" b="1" smtClean="0"/>
              <a:t> </a:t>
            </a:r>
          </a:p>
          <a:p>
            <a:pPr algn="ctr" eaLnBrk="1" hangingPunct="1">
              <a:buFontTx/>
              <a:buNone/>
            </a:pPr>
            <a:r>
              <a:rPr lang="fr-FR" b="1" smtClean="0">
                <a:solidFill>
                  <a:schemeClr val="accent2"/>
                </a:solidFill>
              </a:rPr>
              <a:t>Loi de FICK :</a:t>
            </a:r>
          </a:p>
          <a:p>
            <a:pPr algn="ctr" eaLnBrk="1" hangingPunct="1">
              <a:buFontTx/>
              <a:buNone/>
            </a:pPr>
            <a:r>
              <a:rPr lang="fr-FR" b="1" smtClean="0">
                <a:solidFill>
                  <a:schemeClr val="accent2"/>
                </a:solidFill>
              </a:rPr>
              <a:t>dQ/dT = vitesse= D.K.S (C1 – C2)  / e</a:t>
            </a:r>
          </a:p>
          <a:p>
            <a:pPr eaLnBrk="1" hangingPunct="1">
              <a:buFontTx/>
              <a:buNone/>
            </a:pPr>
            <a:endParaRPr lang="fr-FR" b="1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865710" y="3670697"/>
            <a:ext cx="5238750" cy="919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75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85900" y="944167"/>
            <a:ext cx="6172200" cy="163949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sz="1800" b="1"/>
              <a:t>Facteurs influençant  la diffusion passive :</a:t>
            </a:r>
            <a:endParaRPr lang="fr-FR" sz="180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fr-FR" sz="1800"/>
              <a:t>Le graduant de concentration 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fr-FR" sz="1800"/>
              <a:t>La taille des molécules 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fr-FR" sz="1800"/>
              <a:t>La liposolubilité des molécules 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fr-FR" sz="1800"/>
              <a:t>L’état d’ionisation.</a:t>
            </a:r>
          </a:p>
        </p:txBody>
      </p:sp>
      <p:pic>
        <p:nvPicPr>
          <p:cNvPr id="2150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143001" y="2511028"/>
            <a:ext cx="6723460" cy="3489722"/>
          </a:xfrm>
        </p:spPr>
      </p:pic>
    </p:spTree>
    <p:extLst>
      <p:ext uri="{BB962C8B-B14F-4D97-AF65-F5344CB8AC3E}">
        <p14:creationId xmlns:p14="http://schemas.microsoft.com/office/powerpoint/2010/main" val="321870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84747" y="1196580"/>
            <a:ext cx="5505450" cy="554831"/>
          </a:xfrm>
        </p:spPr>
        <p:txBody>
          <a:bodyPr>
            <a:normAutofit fontScale="90000"/>
          </a:bodyPr>
          <a:lstStyle/>
          <a:p>
            <a:r>
              <a:rPr lang="fr-FR" sz="3000"/>
              <a:t>Diffusion facilitée: protéine de transport;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4268" y="1889521"/>
            <a:ext cx="5099341" cy="4430255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endParaRPr lang="fr-FR" sz="1500" dirty="0"/>
          </a:p>
          <a:p>
            <a:pPr lvl="1">
              <a:lnSpc>
                <a:spcPct val="90000"/>
              </a:lnSpc>
            </a:pPr>
            <a:endParaRPr lang="fr-FR" sz="1500" dirty="0"/>
          </a:p>
          <a:p>
            <a:pPr lvl="1">
              <a:lnSpc>
                <a:spcPct val="90000"/>
              </a:lnSpc>
            </a:pPr>
            <a:r>
              <a:rPr lang="fr-FR" sz="2400" dirty="0"/>
              <a:t>Mouvement de diffusion d’une molécules à travers une membrane grâce à une protéine de transport encore appelée </a:t>
            </a:r>
            <a:r>
              <a:rPr lang="fr-FR" sz="2400" dirty="0">
                <a:solidFill>
                  <a:srgbClr val="FF0000"/>
                </a:solidFill>
              </a:rPr>
              <a:t>perméase</a:t>
            </a:r>
          </a:p>
          <a:p>
            <a:pPr lvl="1">
              <a:lnSpc>
                <a:spcPct val="90000"/>
              </a:lnSpc>
            </a:pPr>
            <a:r>
              <a:rPr lang="fr-FR" sz="2400" dirty="0"/>
              <a:t>Le  </a:t>
            </a:r>
            <a:r>
              <a:rPr lang="fr-FR" sz="2400" dirty="0">
                <a:solidFill>
                  <a:schemeClr val="tx2"/>
                </a:solidFill>
              </a:rPr>
              <a:t>transporteur </a:t>
            </a:r>
            <a:r>
              <a:rPr lang="fr-FR" sz="2400" dirty="0">
                <a:solidFill>
                  <a:srgbClr val="FF0000"/>
                </a:solidFill>
              </a:rPr>
              <a:t>(</a:t>
            </a:r>
            <a:r>
              <a:rPr lang="fr-FR" sz="2400" dirty="0" err="1">
                <a:solidFill>
                  <a:srgbClr val="FF0000"/>
                </a:solidFill>
              </a:rPr>
              <a:t>uniport</a:t>
            </a:r>
            <a:r>
              <a:rPr lang="fr-FR" sz="2400" dirty="0">
                <a:solidFill>
                  <a:srgbClr val="FF0000"/>
                </a:solidFill>
              </a:rPr>
              <a:t>) : </a:t>
            </a:r>
            <a:r>
              <a:rPr lang="fr-FR" sz="2400" b="1" dirty="0">
                <a:solidFill>
                  <a:srgbClr val="00B050"/>
                </a:solidFill>
              </a:rPr>
              <a:t>spécificité</a:t>
            </a:r>
          </a:p>
          <a:p>
            <a:pPr lvl="1">
              <a:lnSpc>
                <a:spcPct val="90000"/>
              </a:lnSpc>
            </a:pPr>
            <a:r>
              <a:rPr lang="fr-FR" sz="2400" dirty="0"/>
              <a:t>Mécanisme utilisé par les  molécules insolubles dans les lipides (pas de diffusion passive) et trop grosse pour passer par des pores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fr-FR" sz="2400" dirty="0">
                <a:solidFill>
                  <a:schemeClr val="tx2"/>
                </a:solidFill>
              </a:rPr>
              <a:t>Ex: glucose, fructose, galactose</a:t>
            </a:r>
          </a:p>
        </p:txBody>
      </p:sp>
      <p:pic>
        <p:nvPicPr>
          <p:cNvPr id="22532" name="Picture 4" descr="FG05_06"/>
          <p:cNvPicPr>
            <a:picLocks noChangeAspect="1" noChangeArrowheads="1"/>
          </p:cNvPicPr>
          <p:nvPr/>
        </p:nvPicPr>
        <p:blipFill>
          <a:blip r:embed="rId3"/>
          <a:srcRect l="41051" t="26413" r="30199" b="19495"/>
          <a:stretch>
            <a:fillRect/>
          </a:stretch>
        </p:blipFill>
        <p:spPr bwMode="auto">
          <a:xfrm>
            <a:off x="1333500" y="2330053"/>
            <a:ext cx="2081213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5259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smtClean="0"/>
              <a:t>13-cours-absorption-mécanismes-</a:t>
            </a:r>
            <a:fld id="{1BC8E9C6-1290-4003-B298-55330BDC61A2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447" y="1120380"/>
            <a:ext cx="5829300" cy="921544"/>
          </a:xfrm>
        </p:spPr>
        <p:txBody>
          <a:bodyPr>
            <a:normAutofit fontScale="90000"/>
          </a:bodyPr>
          <a:lstStyle/>
          <a:p>
            <a:r>
              <a:rPr lang="fr-FR" sz="2700" dirty="0"/>
              <a:t> </a:t>
            </a:r>
            <a:r>
              <a:rPr lang="fr-FR" sz="2700" b="1" dirty="0">
                <a:solidFill>
                  <a:srgbClr val="FF0000"/>
                </a:solidFill>
              </a:rPr>
              <a:t>Transport sous forme moléculaire à travers la membrane plasmique: voie </a:t>
            </a:r>
            <a:r>
              <a:rPr lang="fr-FR" sz="2700" b="1" dirty="0" err="1">
                <a:solidFill>
                  <a:srgbClr val="FF0000"/>
                </a:solidFill>
              </a:rPr>
              <a:t>transcellulaire</a:t>
            </a:r>
            <a:r>
              <a:rPr lang="fr-FR" sz="2700" b="1" dirty="0">
                <a:solidFill>
                  <a:srgbClr val="FF0000"/>
                </a:solidFill>
              </a:rPr>
              <a:t>.</a:t>
            </a:r>
            <a:endParaRPr lang="en-US" sz="2700" b="1" dirty="0">
              <a:solidFill>
                <a:srgbClr val="FF0000"/>
              </a:solidFill>
            </a:endParaRPr>
          </a:p>
        </p:txBody>
      </p:sp>
      <p:pic>
        <p:nvPicPr>
          <p:cNvPr id="23556" name="Picture 3" descr="Fig_12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648" y="2269331"/>
            <a:ext cx="644604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6673455" y="2414587"/>
            <a:ext cx="1120378" cy="2949179"/>
          </a:xfrm>
          <a:prstGeom prst="rect">
            <a:avLst/>
          </a:prstGeom>
          <a:noFill/>
          <a:ln w="571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3048000" y="5516167"/>
            <a:ext cx="1872854" cy="207169"/>
          </a:xfrm>
          <a:prstGeom prst="rect">
            <a:avLst/>
          </a:prstGeom>
          <a:noFill/>
          <a:ln w="571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5334001" y="5439966"/>
            <a:ext cx="1479947" cy="304800"/>
          </a:xfrm>
          <a:prstGeom prst="rect">
            <a:avLst/>
          </a:prstGeom>
          <a:noFill/>
          <a:ln w="57150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4966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2"/>
          <p:cNvSpPr>
            <a:spLocks noGrp="1" noChangeArrowheads="1"/>
          </p:cNvSpPr>
          <p:nvPr>
            <p:ph type="body" idx="4294967295"/>
          </p:nvPr>
        </p:nvSpPr>
        <p:spPr>
          <a:xfrm>
            <a:off x="1485900" y="1160860"/>
            <a:ext cx="6515100" cy="42910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b="1" u="sng"/>
              <a:t>Diffusion facilitée :</a:t>
            </a:r>
            <a:endParaRPr lang="fr-FR"/>
          </a:p>
          <a:p>
            <a:pPr eaLnBrk="1" hangingPunct="1">
              <a:buFontTx/>
              <a:buNone/>
            </a:pPr>
            <a:r>
              <a:rPr lang="fr-FR"/>
              <a:t>Vitesse supérieure à la diffusion passive non proportionnelle au gradient de concentration</a:t>
            </a:r>
          </a:p>
          <a:p>
            <a:pPr eaLnBrk="1" hangingPunct="1">
              <a:buFontTx/>
              <a:buNone/>
            </a:pPr>
            <a:endParaRPr lang="fr-FR" b="1"/>
          </a:p>
          <a:p>
            <a:pPr eaLnBrk="1" hangingPunct="1">
              <a:buFontTx/>
              <a:buNone/>
            </a:pPr>
            <a:r>
              <a:rPr lang="fr-FR" b="1"/>
              <a:t>Caractéristiques :</a:t>
            </a:r>
            <a:endParaRPr lang="fr-FR"/>
          </a:p>
          <a:p>
            <a:pPr eaLnBrk="1" hangingPunct="1">
              <a:buFont typeface="Wingdings" pitchFamily="2" charset="2"/>
              <a:buChar char="ü"/>
            </a:pPr>
            <a:r>
              <a:rPr lang="fr-FR"/>
              <a:t>Se fait dans le sens du gradient de concentration ;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fr-FR"/>
              <a:t>Facilité par un transporteur protéique : spécifique, saturable et possibilité de compétition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fr-FR"/>
              <a:t>Pas de consommation d’énergie.</a:t>
            </a:r>
          </a:p>
        </p:txBody>
      </p:sp>
    </p:spTree>
    <p:extLst>
      <p:ext uri="{BB962C8B-B14F-4D97-AF65-F5344CB8AC3E}">
        <p14:creationId xmlns:p14="http://schemas.microsoft.com/office/powerpoint/2010/main" val="46001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2829" y="1564483"/>
            <a:ext cx="5829300" cy="783431"/>
          </a:xfrm>
        </p:spPr>
        <p:txBody>
          <a:bodyPr/>
          <a:lstStyle/>
          <a:p>
            <a:r>
              <a:rPr lang="fr-FR" sz="4500" b="1" dirty="0"/>
              <a:t>Transport actif</a:t>
            </a:r>
          </a:p>
        </p:txBody>
      </p:sp>
      <p:pic>
        <p:nvPicPr>
          <p:cNvPr id="27651" name="Picture 4" descr="FG05_06"/>
          <p:cNvPicPr>
            <a:picLocks noChangeAspect="1" noChangeArrowheads="1"/>
          </p:cNvPicPr>
          <p:nvPr/>
        </p:nvPicPr>
        <p:blipFill>
          <a:blip r:embed="rId3"/>
          <a:srcRect l="58038" t="25784" r="4718" b="13206"/>
          <a:stretch>
            <a:fillRect/>
          </a:stretch>
        </p:blipFill>
        <p:spPr bwMode="auto">
          <a:xfrm>
            <a:off x="1419226" y="2627711"/>
            <a:ext cx="2484835" cy="314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4274344" y="2897982"/>
            <a:ext cx="3558779" cy="230832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2400"/>
              <a:t>Transport d’ions ou de molécules non chargées contre leur gradient électro-chimique et nécessitant de l’énergie (ATP)</a:t>
            </a:r>
          </a:p>
        </p:txBody>
      </p:sp>
    </p:spTree>
    <p:extLst>
      <p:ext uri="{BB962C8B-B14F-4D97-AF65-F5344CB8AC3E}">
        <p14:creationId xmlns:p14="http://schemas.microsoft.com/office/powerpoint/2010/main" val="386617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35919" y="1338264"/>
            <a:ext cx="5829300" cy="554831"/>
          </a:xfrm>
        </p:spPr>
        <p:txBody>
          <a:bodyPr/>
          <a:lstStyle/>
          <a:p>
            <a:r>
              <a:rPr lang="en-US" sz="3000"/>
              <a:t>Les 2 types de transport actifs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1830" y="2377679"/>
            <a:ext cx="3612356" cy="3086100"/>
          </a:xfrm>
        </p:spPr>
        <p:txBody>
          <a:bodyPr/>
          <a:lstStyle/>
          <a:p>
            <a:pPr marL="342900" indent="-342900">
              <a:buFontTx/>
              <a:buAutoNum type="arabicPeriod"/>
            </a:pPr>
            <a:r>
              <a:rPr lang="fr-FR" sz="1800">
                <a:solidFill>
                  <a:schemeClr val="tx2"/>
                </a:solidFill>
              </a:rPr>
              <a:t>Primaire (direct)</a:t>
            </a:r>
          </a:p>
          <a:p>
            <a:pPr marL="628650" lvl="1" indent="-285750"/>
            <a:r>
              <a:rPr lang="fr-FR" sz="1500"/>
              <a:t>Pompes membranaires ATP-dépendantes qui demandent une source directe d’énergie pour fonctionner</a:t>
            </a:r>
          </a:p>
          <a:p>
            <a:pPr marL="342900" indent="-342900">
              <a:buFontTx/>
              <a:buAutoNum type="arabicPeriod"/>
            </a:pPr>
            <a:r>
              <a:rPr lang="fr-FR" sz="1800">
                <a:solidFill>
                  <a:schemeClr val="tx2"/>
                </a:solidFill>
              </a:rPr>
              <a:t>Secondaire (indirect)</a:t>
            </a:r>
          </a:p>
          <a:p>
            <a:pPr marL="628650" lvl="1" indent="-285750"/>
            <a:r>
              <a:rPr lang="fr-FR" sz="1500"/>
              <a:t> mouvement d’une  substance contre son  gradient  électrochimique grâce à un cotransportage (symport ou antiport) avec un autre analyte dont le gradient est maintenu par ailleurs de façon active </a:t>
            </a:r>
          </a:p>
        </p:txBody>
      </p:sp>
      <p:pic>
        <p:nvPicPr>
          <p:cNvPr id="28676" name="Picture 4" descr="Glomerulus 005"/>
          <p:cNvPicPr>
            <a:picLocks noChangeAspect="1" noChangeArrowheads="1"/>
          </p:cNvPicPr>
          <p:nvPr/>
        </p:nvPicPr>
        <p:blipFill>
          <a:blip r:embed="rId3"/>
          <a:srcRect l="56384" t="24071"/>
          <a:stretch>
            <a:fillRect/>
          </a:stretch>
        </p:blipFill>
        <p:spPr bwMode="auto">
          <a:xfrm>
            <a:off x="5204223" y="2424113"/>
            <a:ext cx="2511028" cy="2914650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  <a:headEnd/>
            <a:tailEnd/>
          </a:ln>
        </p:spPr>
      </p:pic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5462588" y="2431257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fr-FR" sz="15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515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84019" y="998935"/>
            <a:ext cx="7716982" cy="4728188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fr-FR" sz="1800" b="1" u="sng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1800" b="1" u="sng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1800" b="1" u="sng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4350" b="1" u="sng" dirty="0"/>
              <a:t>Transport actif 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4350" b="1" u="sng" dirty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fr-FR" sz="4350" b="1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4350" b="1" dirty="0"/>
              <a:t>Caractéristiques :</a:t>
            </a:r>
            <a:r>
              <a:rPr lang="fr-FR" sz="4350" dirty="0"/>
              <a:t> même caractéristique que le précèdent sauf qu’il :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fr-FR" sz="4350" dirty="0"/>
              <a:t>Se fait contre le gradient de concentration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fr-FR" sz="4350" dirty="0"/>
              <a:t>Consomme de l’énergie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fr-FR" sz="4350" dirty="0"/>
              <a:t>bidirectionnel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fr-FR" sz="4350" dirty="0" err="1">
                <a:solidFill>
                  <a:schemeClr val="accent2"/>
                </a:solidFill>
              </a:rPr>
              <a:t>Exp</a:t>
            </a:r>
            <a:r>
              <a:rPr lang="fr-FR" sz="4350" dirty="0">
                <a:solidFill>
                  <a:schemeClr val="accent2"/>
                </a:solidFill>
              </a:rPr>
              <a:t> : pénicilline ; acides aminés ; </a:t>
            </a:r>
            <a:r>
              <a:rPr lang="fr-FR" sz="4350" dirty="0" err="1">
                <a:solidFill>
                  <a:schemeClr val="accent2"/>
                </a:solidFill>
              </a:rPr>
              <a:t>probenicide</a:t>
            </a:r>
            <a:r>
              <a:rPr lang="fr-FR" sz="4350" dirty="0">
                <a:solidFill>
                  <a:schemeClr val="accent2"/>
                </a:solidFill>
              </a:rPr>
              <a:t> (même transporteur que la pénicilline)</a:t>
            </a:r>
          </a:p>
        </p:txBody>
      </p:sp>
    </p:spTree>
    <p:extLst>
      <p:ext uri="{BB962C8B-B14F-4D97-AF65-F5344CB8AC3E}">
        <p14:creationId xmlns:p14="http://schemas.microsoft.com/office/powerpoint/2010/main" val="69019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fr-FR" b="1" dirty="0" smtClean="0"/>
              <a:t>Résumé des caractéristiques des mécanismes d’absorption</a:t>
            </a:r>
            <a:endParaRPr lang="fr-FR" sz="3000" b="1" dirty="0"/>
          </a:p>
        </p:txBody>
      </p:sp>
      <p:sp>
        <p:nvSpPr>
          <p:cNvPr id="30723" name="AutoShape 3"/>
          <p:cNvSpPr>
            <a:spLocks noChangeArrowheads="1"/>
          </p:cNvSpPr>
          <p:nvPr/>
        </p:nvSpPr>
        <p:spPr bwMode="auto">
          <a:xfrm>
            <a:off x="4133850" y="4872039"/>
            <a:ext cx="1196579" cy="745331"/>
          </a:xfrm>
          <a:prstGeom prst="flowChartAlternateProcess">
            <a:avLst/>
          </a:prstGeom>
          <a:solidFill>
            <a:srgbClr val="FFFFCC"/>
          </a:solidFill>
          <a:ln w="76200" cmpd="tri">
            <a:solidFill>
              <a:srgbClr val="9966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4133850" y="4757739"/>
            <a:ext cx="0" cy="10691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3731420" y="4767263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3845720" y="4881563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3842147" y="5139929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3707608" y="4966097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3989785" y="5205413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4193381" y="5257801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C2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3731419" y="5241132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C1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4379119" y="557331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GB">
              <a:solidFill>
                <a:schemeClr val="tx2"/>
              </a:solidFill>
              <a:latin typeface="Trebuchet MS" pitchFamily="34" charset="0"/>
            </a:endParaRPr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>
            <a:off x="5330429" y="4757739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34" name="Line 14"/>
          <p:cNvSpPr>
            <a:spLocks noChangeShapeType="1"/>
          </p:cNvSpPr>
          <p:nvPr/>
        </p:nvSpPr>
        <p:spPr bwMode="auto">
          <a:xfrm>
            <a:off x="5497116" y="4754167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5287567" y="4764882"/>
            <a:ext cx="34015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S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A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N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G</a:t>
            </a:r>
          </a:p>
        </p:txBody>
      </p:sp>
      <p:sp>
        <p:nvSpPr>
          <p:cNvPr id="30736" name="AutoShape 16"/>
          <p:cNvSpPr>
            <a:spLocks noChangeArrowheads="1"/>
          </p:cNvSpPr>
          <p:nvPr/>
        </p:nvSpPr>
        <p:spPr bwMode="auto">
          <a:xfrm>
            <a:off x="1879998" y="4926808"/>
            <a:ext cx="1196578" cy="745331"/>
          </a:xfrm>
          <a:prstGeom prst="flowChartAlternateProcess">
            <a:avLst/>
          </a:prstGeom>
          <a:solidFill>
            <a:srgbClr val="FFFFCC"/>
          </a:solidFill>
          <a:ln w="76200" cmpd="tri">
            <a:solidFill>
              <a:srgbClr val="9966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37" name="Line 17"/>
          <p:cNvSpPr>
            <a:spLocks noChangeShapeType="1"/>
          </p:cNvSpPr>
          <p:nvPr/>
        </p:nvSpPr>
        <p:spPr bwMode="auto">
          <a:xfrm>
            <a:off x="1879997" y="4812508"/>
            <a:ext cx="0" cy="10691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38" name="Oval 18"/>
          <p:cNvSpPr>
            <a:spLocks noChangeArrowheads="1"/>
          </p:cNvSpPr>
          <p:nvPr/>
        </p:nvSpPr>
        <p:spPr bwMode="auto">
          <a:xfrm>
            <a:off x="1477566" y="4822031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39" name="Oval 19"/>
          <p:cNvSpPr>
            <a:spLocks noChangeArrowheads="1"/>
          </p:cNvSpPr>
          <p:nvPr/>
        </p:nvSpPr>
        <p:spPr bwMode="auto">
          <a:xfrm>
            <a:off x="1591866" y="4936331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40" name="Oval 20"/>
          <p:cNvSpPr>
            <a:spLocks noChangeArrowheads="1"/>
          </p:cNvSpPr>
          <p:nvPr/>
        </p:nvSpPr>
        <p:spPr bwMode="auto">
          <a:xfrm>
            <a:off x="1588295" y="5194697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41" name="Oval 21"/>
          <p:cNvSpPr>
            <a:spLocks noChangeArrowheads="1"/>
          </p:cNvSpPr>
          <p:nvPr/>
        </p:nvSpPr>
        <p:spPr bwMode="auto">
          <a:xfrm>
            <a:off x="1453753" y="5020866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>
            <a:off x="1735931" y="5260181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1939529" y="5312569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C2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1477567" y="5295901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C1</a:t>
            </a: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2125266" y="5628085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fr-FR">
              <a:solidFill>
                <a:schemeClr val="tx2"/>
              </a:solidFill>
              <a:latin typeface="Trebuchet MS" pitchFamily="34" charset="0"/>
            </a:endParaRPr>
          </a:p>
        </p:txBody>
      </p:sp>
      <p:sp>
        <p:nvSpPr>
          <p:cNvPr id="30746" name="Line 26"/>
          <p:cNvSpPr>
            <a:spLocks noChangeShapeType="1"/>
          </p:cNvSpPr>
          <p:nvPr/>
        </p:nvSpPr>
        <p:spPr bwMode="auto">
          <a:xfrm>
            <a:off x="3076575" y="4812508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>
            <a:off x="3243263" y="4808936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>
            <a:off x="3033712" y="4819651"/>
            <a:ext cx="34015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S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A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N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G</a:t>
            </a:r>
          </a:p>
        </p:txBody>
      </p:sp>
      <p:sp>
        <p:nvSpPr>
          <p:cNvPr id="30749" name="Oval 29"/>
          <p:cNvSpPr>
            <a:spLocks noChangeArrowheads="1"/>
          </p:cNvSpPr>
          <p:nvPr/>
        </p:nvSpPr>
        <p:spPr bwMode="auto">
          <a:xfrm>
            <a:off x="4030267" y="5139930"/>
            <a:ext cx="348853" cy="159544"/>
          </a:xfrm>
          <a:prstGeom prst="ellipse">
            <a:avLst/>
          </a:prstGeom>
          <a:solidFill>
            <a:srgbClr val="996633"/>
          </a:solidFill>
          <a:ln w="9525">
            <a:solidFill>
              <a:srgbClr val="6633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GB" sz="3300">
              <a:solidFill>
                <a:srgbClr val="FF66FF"/>
              </a:solidFill>
              <a:latin typeface="Trebuchet MS" pitchFamily="34" charset="0"/>
            </a:endParaRPr>
          </a:p>
        </p:txBody>
      </p:sp>
      <p:sp>
        <p:nvSpPr>
          <p:cNvPr id="30750" name="AutoShape 30"/>
          <p:cNvSpPr>
            <a:spLocks noChangeArrowheads="1"/>
          </p:cNvSpPr>
          <p:nvPr/>
        </p:nvSpPr>
        <p:spPr bwMode="auto">
          <a:xfrm>
            <a:off x="6560344" y="4872039"/>
            <a:ext cx="1196579" cy="745331"/>
          </a:xfrm>
          <a:prstGeom prst="flowChartAlternateProcess">
            <a:avLst/>
          </a:prstGeom>
          <a:solidFill>
            <a:srgbClr val="FFFFCC"/>
          </a:solidFill>
          <a:ln w="76200" cmpd="tri">
            <a:solidFill>
              <a:srgbClr val="9966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51" name="Line 31"/>
          <p:cNvSpPr>
            <a:spLocks noChangeShapeType="1"/>
          </p:cNvSpPr>
          <p:nvPr/>
        </p:nvSpPr>
        <p:spPr bwMode="auto">
          <a:xfrm>
            <a:off x="6560344" y="4757739"/>
            <a:ext cx="0" cy="10691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52" name="Oval 32"/>
          <p:cNvSpPr>
            <a:spLocks noChangeArrowheads="1"/>
          </p:cNvSpPr>
          <p:nvPr/>
        </p:nvSpPr>
        <p:spPr bwMode="auto">
          <a:xfrm>
            <a:off x="6268641" y="5139929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53" name="Oval 33"/>
          <p:cNvSpPr>
            <a:spLocks noChangeArrowheads="1"/>
          </p:cNvSpPr>
          <p:nvPr/>
        </p:nvSpPr>
        <p:spPr bwMode="auto">
          <a:xfrm>
            <a:off x="7317583" y="5269706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6416278" y="5205413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0755" name="Text Box 35"/>
          <p:cNvSpPr txBox="1">
            <a:spLocks noChangeArrowheads="1"/>
          </p:cNvSpPr>
          <p:nvPr/>
        </p:nvSpPr>
        <p:spPr bwMode="auto">
          <a:xfrm>
            <a:off x="6619875" y="5257801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C2</a:t>
            </a:r>
          </a:p>
        </p:txBody>
      </p:sp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6157913" y="5241132"/>
            <a:ext cx="3690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sz="1200" b="1">
                <a:latin typeface="Trebuchet MS" pitchFamily="34" charset="0"/>
              </a:rPr>
              <a:t>C1</a:t>
            </a:r>
          </a:p>
        </p:txBody>
      </p:sp>
      <p:sp>
        <p:nvSpPr>
          <p:cNvPr id="30757" name="Line 37"/>
          <p:cNvSpPr>
            <a:spLocks noChangeShapeType="1"/>
          </p:cNvSpPr>
          <p:nvPr/>
        </p:nvSpPr>
        <p:spPr bwMode="auto">
          <a:xfrm>
            <a:off x="7756922" y="4757739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7923610" y="4754167"/>
            <a:ext cx="0" cy="106918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59" name="Text Box 39"/>
          <p:cNvSpPr txBox="1">
            <a:spLocks noChangeArrowheads="1"/>
          </p:cNvSpPr>
          <p:nvPr/>
        </p:nvSpPr>
        <p:spPr bwMode="auto">
          <a:xfrm>
            <a:off x="7714061" y="4764882"/>
            <a:ext cx="34015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S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A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N</a:t>
            </a:r>
          </a:p>
          <a:p>
            <a:pPr eaLnBrk="0" hangingPunct="0"/>
            <a:r>
              <a:rPr lang="fr-FR">
                <a:solidFill>
                  <a:srgbClr val="FF0000"/>
                </a:solidFill>
                <a:latin typeface="Trebuchet MS" pitchFamily="34" charset="0"/>
              </a:rPr>
              <a:t>G</a:t>
            </a:r>
          </a:p>
        </p:txBody>
      </p:sp>
      <p:sp>
        <p:nvSpPr>
          <p:cNvPr id="30760" name="Oval 40"/>
          <p:cNvSpPr>
            <a:spLocks noChangeArrowheads="1"/>
          </p:cNvSpPr>
          <p:nvPr/>
        </p:nvSpPr>
        <p:spPr bwMode="auto">
          <a:xfrm>
            <a:off x="6444855" y="5139930"/>
            <a:ext cx="348853" cy="159544"/>
          </a:xfrm>
          <a:prstGeom prst="ellipse">
            <a:avLst/>
          </a:prstGeom>
          <a:solidFill>
            <a:srgbClr val="996633"/>
          </a:solidFill>
          <a:ln w="9525">
            <a:solidFill>
              <a:srgbClr val="6633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GB" sz="3300">
              <a:solidFill>
                <a:srgbClr val="FF66FF"/>
              </a:solidFill>
              <a:latin typeface="Trebuchet MS" pitchFamily="34" charset="0"/>
            </a:endParaRPr>
          </a:p>
        </p:txBody>
      </p:sp>
      <p:sp>
        <p:nvSpPr>
          <p:cNvPr id="30761" name="Oval 41"/>
          <p:cNvSpPr>
            <a:spLocks noChangeArrowheads="1"/>
          </p:cNvSpPr>
          <p:nvPr/>
        </p:nvSpPr>
        <p:spPr bwMode="auto">
          <a:xfrm>
            <a:off x="6248401" y="5080397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2" name="Oval 42"/>
          <p:cNvSpPr>
            <a:spLocks noChangeArrowheads="1"/>
          </p:cNvSpPr>
          <p:nvPr/>
        </p:nvSpPr>
        <p:spPr bwMode="auto">
          <a:xfrm>
            <a:off x="7304485" y="5073254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3" name="Oval 43"/>
          <p:cNvSpPr>
            <a:spLocks noChangeArrowheads="1"/>
          </p:cNvSpPr>
          <p:nvPr/>
        </p:nvSpPr>
        <p:spPr bwMode="auto">
          <a:xfrm>
            <a:off x="7186614" y="5316141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4" name="Oval 44"/>
          <p:cNvSpPr>
            <a:spLocks noChangeArrowheads="1"/>
          </p:cNvSpPr>
          <p:nvPr/>
        </p:nvSpPr>
        <p:spPr bwMode="auto">
          <a:xfrm>
            <a:off x="7186614" y="5178029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5" name="Oval 45"/>
          <p:cNvSpPr>
            <a:spLocks noChangeArrowheads="1"/>
          </p:cNvSpPr>
          <p:nvPr/>
        </p:nvSpPr>
        <p:spPr bwMode="auto">
          <a:xfrm>
            <a:off x="7068741" y="5041106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6" name="AutoShape 46"/>
          <p:cNvSpPr>
            <a:spLocks noChangeArrowheads="1"/>
          </p:cNvSpPr>
          <p:nvPr/>
        </p:nvSpPr>
        <p:spPr bwMode="auto">
          <a:xfrm rot="-7529896">
            <a:off x="6334125" y="5295900"/>
            <a:ext cx="291704" cy="358379"/>
          </a:xfrm>
          <a:prstGeom prst="lightningBol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67" name="Rectangle 47"/>
          <p:cNvSpPr>
            <a:spLocks noGrp="1" noChangeArrowheads="1"/>
          </p:cNvSpPr>
          <p:nvPr>
            <p:ph type="body" sz="half" idx="1"/>
          </p:nvPr>
        </p:nvSpPr>
        <p:spPr>
          <a:xfrm>
            <a:off x="1328739" y="2402681"/>
            <a:ext cx="6485335" cy="1787129"/>
          </a:xfrm>
          <a:noFill/>
        </p:spPr>
        <p:txBody>
          <a:bodyPr>
            <a:normAutofit fontScale="77500" lnSpcReduction="20000"/>
          </a:bodyPr>
          <a:lstStyle/>
          <a:p>
            <a:pPr eaLnBrk="1" hangingPunct="1">
              <a:buFontTx/>
              <a:buNone/>
            </a:pPr>
            <a:r>
              <a:rPr lang="fr-FR" sz="1500" b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Diffusion passive</a:t>
            </a:r>
          </a:p>
          <a:p>
            <a:pPr eaLnBrk="1" hangingPunct="1">
              <a:buClr>
                <a:schemeClr val="tx1"/>
              </a:buClr>
              <a:buSzPct val="80000"/>
            </a:pPr>
            <a:r>
              <a:rPr lang="fr-FR" sz="1500">
                <a:latin typeface="Tahoma" pitchFamily="34" charset="0"/>
                <a:cs typeface="Tahoma" pitchFamily="34" charset="0"/>
              </a:rPr>
              <a:t>Selon un gradient </a:t>
            </a:r>
          </a:p>
          <a:p>
            <a:pPr eaLnBrk="1" hangingPunct="1">
              <a:buClr>
                <a:schemeClr val="tx1"/>
              </a:buClr>
              <a:buSzPct val="80000"/>
            </a:pPr>
            <a:r>
              <a:rPr lang="fr-FR" sz="1500">
                <a:latin typeface="Tahoma" pitchFamily="34" charset="0"/>
                <a:cs typeface="Tahoma" pitchFamily="34" charset="0"/>
              </a:rPr>
              <a:t>Non spécifique</a:t>
            </a:r>
          </a:p>
          <a:p>
            <a:pPr eaLnBrk="1" hangingPunct="1">
              <a:buClr>
                <a:schemeClr val="tx1"/>
              </a:buClr>
              <a:buSzPct val="80000"/>
            </a:pPr>
            <a:r>
              <a:rPr lang="fr-FR" sz="1500">
                <a:latin typeface="Tahoma" pitchFamily="34" charset="0"/>
                <a:cs typeface="Tahoma" pitchFamily="34" charset="0"/>
              </a:rPr>
              <a:t>Pas de compétition</a:t>
            </a:r>
          </a:p>
          <a:p>
            <a:pPr eaLnBrk="1" hangingPunct="1">
              <a:buClr>
                <a:schemeClr val="tx1"/>
              </a:buClr>
              <a:buSzPct val="80000"/>
            </a:pPr>
            <a:r>
              <a:rPr lang="fr-FR" sz="1500">
                <a:latin typeface="Tahoma" pitchFamily="34" charset="0"/>
                <a:cs typeface="Tahoma" pitchFamily="34" charset="0"/>
              </a:rPr>
              <a:t>Pas de saturation</a:t>
            </a:r>
          </a:p>
          <a:p>
            <a:pPr eaLnBrk="1" hangingPunct="1">
              <a:buClr>
                <a:schemeClr val="tx1"/>
              </a:buClr>
              <a:buSzPct val="80000"/>
            </a:pPr>
            <a:r>
              <a:rPr lang="fr-FR" sz="1500">
                <a:latin typeface="Tahoma" pitchFamily="34" charset="0"/>
                <a:cs typeface="Tahoma" pitchFamily="34" charset="0"/>
              </a:rPr>
              <a:t>LOI DE FICK</a:t>
            </a:r>
          </a:p>
        </p:txBody>
      </p:sp>
      <p:sp>
        <p:nvSpPr>
          <p:cNvPr id="30768" name="Rectangle 48"/>
          <p:cNvSpPr>
            <a:spLocks noChangeArrowheads="1"/>
          </p:cNvSpPr>
          <p:nvPr/>
        </p:nvSpPr>
        <p:spPr bwMode="auto">
          <a:xfrm>
            <a:off x="5243512" y="2430066"/>
            <a:ext cx="2757488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57213" lvl="1" indent="-214313">
              <a:lnSpc>
                <a:spcPct val="90000"/>
              </a:lnSpc>
              <a:spcBef>
                <a:spcPct val="20000"/>
              </a:spcBef>
            </a:pPr>
            <a:r>
              <a:rPr lang="fr-FR" sz="1500" b="1">
                <a:solidFill>
                  <a:schemeClr val="tx2"/>
                </a:solidFill>
              </a:rPr>
              <a:t>          </a:t>
            </a:r>
            <a:r>
              <a:rPr lang="fr-FR" sz="1500" b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Transport actif</a:t>
            </a:r>
          </a:p>
          <a:p>
            <a:pPr marL="857250" lvl="2" indent="-171450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fr-FR" sz="1500"/>
              <a:t>Contre un gradient</a:t>
            </a:r>
          </a:p>
          <a:p>
            <a:pPr marL="857250" lvl="2" indent="-1714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fr-FR" sz="1500"/>
              <a:t>Saturable</a:t>
            </a:r>
          </a:p>
          <a:p>
            <a:pPr marL="857250" lvl="2" indent="-1714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fr-FR" sz="1500"/>
              <a:t>Spécifique</a:t>
            </a:r>
          </a:p>
          <a:p>
            <a:pPr marL="857250" lvl="2" indent="-1714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fr-FR" sz="1500"/>
              <a:t>Compétition +++</a:t>
            </a:r>
          </a:p>
          <a:p>
            <a:pPr marL="857250" lvl="2" indent="-1714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r>
              <a:rPr lang="fr-FR" sz="1500"/>
              <a:t>Énergie +++</a:t>
            </a:r>
          </a:p>
          <a:p>
            <a:pPr marL="857250" lvl="2" indent="-171450">
              <a:lnSpc>
                <a:spcPct val="90000"/>
              </a:lnSpc>
              <a:spcBef>
                <a:spcPct val="20000"/>
              </a:spcBef>
            </a:pPr>
            <a:r>
              <a:rPr lang="fr-FR" sz="1500"/>
              <a:t>Ex: transport AA, </a:t>
            </a:r>
            <a:endParaRPr lang="fr-FR"/>
          </a:p>
        </p:txBody>
      </p:sp>
      <p:sp>
        <p:nvSpPr>
          <p:cNvPr id="30769" name="Text Box 49"/>
          <p:cNvSpPr txBox="1">
            <a:spLocks noChangeArrowheads="1"/>
          </p:cNvSpPr>
          <p:nvPr/>
        </p:nvSpPr>
        <p:spPr bwMode="auto">
          <a:xfrm>
            <a:off x="3437335" y="2407444"/>
            <a:ext cx="2774477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tabLst>
                <a:tab pos="129779" algn="l"/>
              </a:tabLst>
            </a:pPr>
            <a:r>
              <a:rPr lang="fr-FR" sz="1500" b="1">
                <a:solidFill>
                  <a:schemeClr val="tx2"/>
                </a:solidFill>
                <a:latin typeface="Tahoma" pitchFamily="34" charset="0"/>
              </a:rPr>
              <a:t>Diffusion facilitée</a:t>
            </a:r>
          </a:p>
          <a:p>
            <a:pPr eaLnBrk="0" hangingPunct="0">
              <a:lnSpc>
                <a:spcPct val="110000"/>
              </a:lnSpc>
              <a:buFontTx/>
              <a:buChar char="•"/>
              <a:tabLst>
                <a:tab pos="129779" algn="l"/>
              </a:tabLst>
            </a:pPr>
            <a:r>
              <a:rPr lang="fr-FR" sz="1500">
                <a:latin typeface="Trebuchet MS" pitchFamily="34" charset="0"/>
              </a:rPr>
              <a:t> </a:t>
            </a:r>
            <a:r>
              <a:rPr lang="fr-FR" sz="1500">
                <a:latin typeface="Tahoma" pitchFamily="34" charset="0"/>
              </a:rPr>
              <a:t>Selon un gradient </a:t>
            </a:r>
          </a:p>
          <a:p>
            <a:pPr eaLnBrk="0" hangingPunct="0">
              <a:lnSpc>
                <a:spcPct val="110000"/>
              </a:lnSpc>
              <a:buSzPct val="85000"/>
              <a:buFontTx/>
              <a:buChar char="•"/>
              <a:tabLst>
                <a:tab pos="129779" algn="l"/>
              </a:tabLst>
            </a:pPr>
            <a:r>
              <a:rPr lang="fr-FR" sz="1500">
                <a:latin typeface="Tahoma" pitchFamily="34" charset="0"/>
              </a:rPr>
              <a:t> Protéine de transport</a:t>
            </a:r>
          </a:p>
          <a:p>
            <a:pPr eaLnBrk="0" hangingPunct="0">
              <a:lnSpc>
                <a:spcPct val="110000"/>
              </a:lnSpc>
              <a:buSzPct val="85000"/>
              <a:buFontTx/>
              <a:buChar char="•"/>
              <a:tabLst>
                <a:tab pos="129779" algn="l"/>
              </a:tabLst>
            </a:pPr>
            <a:r>
              <a:rPr lang="fr-FR" sz="1500">
                <a:latin typeface="Tahoma" pitchFamily="34" charset="0"/>
              </a:rPr>
              <a:t> Saturable</a:t>
            </a:r>
          </a:p>
          <a:p>
            <a:pPr eaLnBrk="0" hangingPunct="0">
              <a:lnSpc>
                <a:spcPct val="110000"/>
              </a:lnSpc>
              <a:buSzPct val="85000"/>
              <a:buFontTx/>
              <a:buChar char="•"/>
              <a:tabLst>
                <a:tab pos="129779" algn="l"/>
              </a:tabLst>
            </a:pPr>
            <a:r>
              <a:rPr lang="fr-FR" sz="1500">
                <a:latin typeface="Tahoma" pitchFamily="34" charset="0"/>
              </a:rPr>
              <a:t> Spécifique</a:t>
            </a:r>
          </a:p>
          <a:p>
            <a:pPr eaLnBrk="0" hangingPunct="0">
              <a:lnSpc>
                <a:spcPct val="110000"/>
              </a:lnSpc>
              <a:buFontTx/>
              <a:buChar char="•"/>
              <a:tabLst>
                <a:tab pos="129779" algn="l"/>
              </a:tabLst>
            </a:pPr>
            <a:r>
              <a:rPr lang="fr-FR" sz="1500">
                <a:latin typeface="Trebuchet MS" pitchFamily="34" charset="0"/>
              </a:rPr>
              <a:t> Compétition </a:t>
            </a:r>
          </a:p>
          <a:p>
            <a:pPr eaLnBrk="0" hangingPunct="0">
              <a:lnSpc>
                <a:spcPct val="110000"/>
              </a:lnSpc>
              <a:tabLst>
                <a:tab pos="129779" algn="l"/>
              </a:tabLst>
            </a:pPr>
            <a:r>
              <a:rPr lang="fr-FR" sz="1500">
                <a:latin typeface="Trebuchet MS" pitchFamily="34" charset="0"/>
              </a:rPr>
              <a:t>	Ex: pénicilline/probenicide  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331120" y="4119560"/>
            <a:ext cx="2493170" cy="632222"/>
            <a:chOff x="191" y="3298"/>
            <a:chExt cx="2094" cy="531"/>
          </a:xfrm>
        </p:grpSpPr>
        <p:grpSp>
          <p:nvGrpSpPr>
            <p:cNvPr id="3" name="Group 51"/>
            <p:cNvGrpSpPr>
              <a:grpSpLocks/>
            </p:cNvGrpSpPr>
            <p:nvPr/>
          </p:nvGrpSpPr>
          <p:grpSpPr bwMode="auto">
            <a:xfrm>
              <a:off x="191" y="3298"/>
              <a:ext cx="393" cy="531"/>
              <a:chOff x="213" y="3331"/>
              <a:chExt cx="393" cy="531"/>
            </a:xfrm>
          </p:grpSpPr>
          <p:sp>
            <p:nvSpPr>
              <p:cNvPr id="30781" name="Text Box 52"/>
              <p:cNvSpPr txBox="1">
                <a:spLocks noChangeArrowheads="1"/>
              </p:cNvSpPr>
              <p:nvPr/>
            </p:nvSpPr>
            <p:spPr bwMode="auto">
              <a:xfrm>
                <a:off x="213" y="3331"/>
                <a:ext cx="393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fr-FR">
                    <a:latin typeface="Trebuchet MS" pitchFamily="34" charset="0"/>
                  </a:rPr>
                  <a:t>dQ</a:t>
                </a:r>
              </a:p>
            </p:txBody>
          </p:sp>
          <p:sp>
            <p:nvSpPr>
              <p:cNvPr id="30782" name="Text Box 53"/>
              <p:cNvSpPr txBox="1">
                <a:spLocks noChangeArrowheads="1"/>
              </p:cNvSpPr>
              <p:nvPr/>
            </p:nvSpPr>
            <p:spPr bwMode="auto">
              <a:xfrm>
                <a:off x="213" y="3552"/>
                <a:ext cx="340" cy="3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fr-FR">
                    <a:latin typeface="Trebuchet MS" pitchFamily="34" charset="0"/>
                  </a:rPr>
                  <a:t>dt</a:t>
                </a:r>
              </a:p>
            </p:txBody>
          </p:sp>
          <p:sp>
            <p:nvSpPr>
              <p:cNvPr id="30783" name="Line 54"/>
              <p:cNvSpPr>
                <a:spLocks noChangeShapeType="1"/>
              </p:cNvSpPr>
              <p:nvPr/>
            </p:nvSpPr>
            <p:spPr bwMode="auto">
              <a:xfrm>
                <a:off x="213" y="3612"/>
                <a:ext cx="31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0780" name="Text Box 55"/>
            <p:cNvSpPr txBox="1">
              <a:spLocks noChangeArrowheads="1"/>
            </p:cNvSpPr>
            <p:nvPr/>
          </p:nvSpPr>
          <p:spPr bwMode="auto">
            <a:xfrm>
              <a:off x="468" y="3397"/>
              <a:ext cx="181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fr-FR">
                  <a:latin typeface="Trebuchet MS" pitchFamily="34" charset="0"/>
                </a:rPr>
                <a:t>= D.Kp.S/E.(C1-C2)</a:t>
              </a:r>
            </a:p>
          </p:txBody>
        </p:sp>
      </p:grpSp>
      <p:sp>
        <p:nvSpPr>
          <p:cNvPr id="30771" name="Oval 56"/>
          <p:cNvSpPr>
            <a:spLocks noChangeArrowheads="1"/>
          </p:cNvSpPr>
          <p:nvPr/>
        </p:nvSpPr>
        <p:spPr bwMode="auto">
          <a:xfrm>
            <a:off x="2511028" y="5167313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72" name="Oval 57"/>
          <p:cNvSpPr>
            <a:spLocks noChangeArrowheads="1"/>
          </p:cNvSpPr>
          <p:nvPr/>
        </p:nvSpPr>
        <p:spPr bwMode="auto">
          <a:xfrm>
            <a:off x="1385889" y="5222081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73" name="Oval 58"/>
          <p:cNvSpPr>
            <a:spLocks noChangeArrowheads="1"/>
          </p:cNvSpPr>
          <p:nvPr/>
        </p:nvSpPr>
        <p:spPr bwMode="auto">
          <a:xfrm>
            <a:off x="4652964" y="5060156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74" name="Oval 59"/>
          <p:cNvSpPr>
            <a:spLocks noChangeArrowheads="1"/>
          </p:cNvSpPr>
          <p:nvPr/>
        </p:nvSpPr>
        <p:spPr bwMode="auto">
          <a:xfrm>
            <a:off x="4760120" y="5222081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75" name="Text Box 60"/>
          <p:cNvSpPr txBox="1">
            <a:spLocks noChangeArrowheads="1"/>
          </p:cNvSpPr>
          <p:nvPr/>
        </p:nvSpPr>
        <p:spPr bwMode="auto">
          <a:xfrm>
            <a:off x="6030516" y="5638801"/>
            <a:ext cx="9715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ATP</a:t>
            </a:r>
          </a:p>
        </p:txBody>
      </p:sp>
      <p:sp>
        <p:nvSpPr>
          <p:cNvPr id="30776" name="Line 61"/>
          <p:cNvSpPr>
            <a:spLocks noChangeShapeType="1"/>
          </p:cNvSpPr>
          <p:nvPr/>
        </p:nvSpPr>
        <p:spPr bwMode="auto">
          <a:xfrm>
            <a:off x="6192441" y="4948238"/>
            <a:ext cx="6524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0777" name="Oval 62"/>
          <p:cNvSpPr>
            <a:spLocks noChangeArrowheads="1"/>
          </p:cNvSpPr>
          <p:nvPr/>
        </p:nvSpPr>
        <p:spPr bwMode="auto">
          <a:xfrm>
            <a:off x="6354367" y="4887516"/>
            <a:ext cx="377428" cy="161925"/>
          </a:xfrm>
          <a:prstGeom prst="ellipse">
            <a:avLst/>
          </a:prstGeom>
          <a:solidFill>
            <a:srgbClr val="CCFF99"/>
          </a:solidFill>
          <a:ln w="9525">
            <a:solidFill>
              <a:srgbClr val="33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0778" name="Oval 63"/>
          <p:cNvSpPr>
            <a:spLocks noChangeArrowheads="1"/>
          </p:cNvSpPr>
          <p:nvPr/>
        </p:nvSpPr>
        <p:spPr bwMode="auto">
          <a:xfrm>
            <a:off x="6084095" y="4779169"/>
            <a:ext cx="117872" cy="1047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44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57350" y="1237061"/>
            <a:ext cx="5829300" cy="1012031"/>
          </a:xfrm>
        </p:spPr>
        <p:txBody>
          <a:bodyPr/>
          <a:lstStyle/>
          <a:p>
            <a:r>
              <a:rPr lang="fr-FR" sz="3000"/>
              <a:t>Les mécanismes de passage transcellulaire de l’entérocyte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91880" y="2458641"/>
            <a:ext cx="5959078" cy="3099197"/>
          </a:xfrm>
        </p:spPr>
        <p:txBody>
          <a:bodyPr/>
          <a:lstStyle/>
          <a:p>
            <a:endParaRPr lang="fr-FR" smtClean="0"/>
          </a:p>
          <a:p>
            <a:r>
              <a:rPr lang="fr-FR" smtClean="0">
                <a:solidFill>
                  <a:srgbClr val="7030A0"/>
                </a:solidFill>
              </a:rPr>
              <a:t>Sous forme moléculaire</a:t>
            </a:r>
          </a:p>
          <a:p>
            <a:pPr lvl="1"/>
            <a:r>
              <a:rPr lang="fr-FR" smtClean="0"/>
              <a:t>Passif vs actif</a:t>
            </a:r>
          </a:p>
          <a:p>
            <a:pPr lvl="1"/>
            <a:r>
              <a:rPr lang="fr-FR" smtClean="0"/>
              <a:t>Avec ou sans l’aide d’une protéine</a:t>
            </a:r>
          </a:p>
          <a:p>
            <a:r>
              <a:rPr lang="fr-FR" smtClean="0">
                <a:solidFill>
                  <a:srgbClr val="7030A0"/>
                </a:solidFill>
              </a:rPr>
              <a:t>En masse</a:t>
            </a:r>
          </a:p>
          <a:p>
            <a:pPr lvl="1"/>
            <a:r>
              <a:rPr lang="fr-FR" smtClean="0"/>
              <a:t>Endocytose (Pinocytose, phagocytose)</a:t>
            </a:r>
          </a:p>
          <a:p>
            <a:pPr lvl="1">
              <a:buFontTx/>
              <a:buNone/>
            </a:pPr>
            <a:endParaRPr lang="fr-FR" smtClean="0"/>
          </a:p>
        </p:txBody>
      </p:sp>
      <p:sp>
        <p:nvSpPr>
          <p:cNvPr id="6" name="Rectangle 5"/>
          <p:cNvSpPr/>
          <p:nvPr/>
        </p:nvSpPr>
        <p:spPr>
          <a:xfrm>
            <a:off x="1382317" y="3728822"/>
            <a:ext cx="6268640" cy="10179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20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5458" y="3589735"/>
            <a:ext cx="5622131" cy="1819275"/>
          </a:xfrm>
          <a:prstGeom prst="rect">
            <a:avLst/>
          </a:prstGeom>
          <a:noFill/>
          <a:ln w="50800">
            <a:solidFill>
              <a:srgbClr val="43412C"/>
            </a:solidFill>
            <a:miter lim="800000"/>
            <a:headEnd/>
            <a:tailEnd/>
          </a:ln>
        </p:spPr>
      </p:pic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749" y="1004889"/>
            <a:ext cx="6449615" cy="2370535"/>
          </a:xfrm>
          <a:solidFill>
            <a:schemeClr val="accent1"/>
          </a:solidFill>
        </p:spPr>
        <p:txBody>
          <a:bodyPr/>
          <a:lstStyle/>
          <a:p>
            <a:pPr marL="395288" indent="-227410" defTabSz="482204">
              <a:lnSpc>
                <a:spcPct val="80000"/>
              </a:lnSpc>
              <a:spcAft>
                <a:spcPts val="947"/>
              </a:spcAft>
              <a:tabLst>
                <a:tab pos="556022" algn="l"/>
              </a:tabLst>
            </a:pPr>
            <a:r>
              <a:rPr lang="fr-FR" smtClean="0"/>
              <a:t>Endocytose :</a:t>
            </a:r>
          </a:p>
          <a:p>
            <a:pPr marL="635794" lvl="1" indent="-227410" defTabSz="482204">
              <a:lnSpc>
                <a:spcPct val="80000"/>
              </a:lnSpc>
              <a:spcAft>
                <a:spcPts val="947"/>
              </a:spcAft>
              <a:tabLst>
                <a:tab pos="556022" algn="l"/>
              </a:tabLst>
            </a:pPr>
            <a:r>
              <a:rPr lang="fr-FR"/>
              <a:t>Permet à de grosses particules, des structure micellaires (issues de la digestion des  lipides)  ou des macromolécules d’entrer dans la cellule.</a:t>
            </a:r>
          </a:p>
          <a:p>
            <a:pPr marL="635794" lvl="1" indent="-227410" defTabSz="482204">
              <a:lnSpc>
                <a:spcPct val="80000"/>
              </a:lnSpc>
              <a:spcAft>
                <a:spcPts val="947"/>
              </a:spcAft>
              <a:tabLst>
                <a:tab pos="556022" algn="l"/>
              </a:tabLst>
            </a:pPr>
            <a:r>
              <a:rPr lang="fr-FR"/>
              <a:t>Phagocytose (absorption d’une grosses particules comme les bactéries) et pinocytose (absorption de liquide contenant des solutés comme pour de  grosses protéines)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756759" y="5117307"/>
            <a:ext cx="1761701" cy="24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482204">
              <a:tabLst>
                <a:tab pos="561975" algn="l"/>
              </a:tabLst>
            </a:pPr>
            <a:r>
              <a:rPr lang="en-US" sz="1575">
                <a:solidFill>
                  <a:srgbClr val="000000"/>
                </a:solidFill>
                <a:latin typeface="Gill Sans" pitchFamily="34" charset="0"/>
              </a:rPr>
              <a:t>vésicule pinocytaire</a:t>
            </a:r>
          </a:p>
        </p:txBody>
      </p:sp>
    </p:spTree>
    <p:extLst>
      <p:ext uri="{BB962C8B-B14F-4D97-AF65-F5344CB8AC3E}">
        <p14:creationId xmlns:p14="http://schemas.microsoft.com/office/powerpoint/2010/main" val="23717511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Absorption intestinale: Pinocytose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94235" y="3123011"/>
            <a:ext cx="6023372" cy="215860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fr-FR"/>
              <a:t>Passage transcellulaire en masse  de liquide (Bulk transport) qui nécessite de l’énergie</a:t>
            </a:r>
          </a:p>
          <a:p>
            <a:pPr lvl="1">
              <a:lnSpc>
                <a:spcPct val="80000"/>
              </a:lnSpc>
            </a:pPr>
            <a:r>
              <a:rPr lang="fr-FR" smtClean="0">
                <a:solidFill>
                  <a:schemeClr val="tx2"/>
                </a:solidFill>
              </a:rPr>
              <a:t>Absorption des immunoglobulines chez le nouveau-né (Les immunoglobulines sont trop grosses pour passer par des transporteurs)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160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37009"/>
            <a:ext cx="6172200" cy="857251"/>
          </a:xfrm>
        </p:spPr>
        <p:txBody>
          <a:bodyPr>
            <a:normAutofit/>
          </a:bodyPr>
          <a:lstStyle/>
          <a:p>
            <a:pPr eaLnBrk="1" hangingPunct="1"/>
            <a:r>
              <a:rPr lang="fr-FR" sz="3000"/>
              <a:t>Absorption des médicaments par voie orale « per os »</a:t>
            </a:r>
          </a:p>
        </p:txBody>
      </p:sp>
      <p:pic>
        <p:nvPicPr>
          <p:cNvPr id="348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494235" y="1754982"/>
            <a:ext cx="6172200" cy="4245769"/>
          </a:xfrm>
        </p:spPr>
      </p:pic>
    </p:spTree>
    <p:extLst>
      <p:ext uri="{BB962C8B-B14F-4D97-AF65-F5344CB8AC3E}">
        <p14:creationId xmlns:p14="http://schemas.microsoft.com/office/powerpoint/2010/main" val="389337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ChangeArrowheads="1"/>
          </p:cNvSpPr>
          <p:nvPr/>
        </p:nvSpPr>
        <p:spPr bwMode="invGray">
          <a:xfrm rot="-5400000">
            <a:off x="5659042" y="3206353"/>
            <a:ext cx="688181" cy="3833813"/>
          </a:xfrm>
          <a:prstGeom prst="can">
            <a:avLst>
              <a:gd name="adj" fmla="val 56277"/>
            </a:avLst>
          </a:prstGeom>
          <a:solidFill>
            <a:srgbClr val="FFFFCC"/>
          </a:solidFill>
          <a:ln w="19050">
            <a:solidFill>
              <a:srgbClr val="CC6600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GB" sz="2100" b="1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47814" y="2349105"/>
            <a:ext cx="2051447" cy="682228"/>
            <a:chOff x="340" y="1253"/>
            <a:chExt cx="1723" cy="573"/>
          </a:xfrm>
        </p:grpSpPr>
        <p:sp>
          <p:nvSpPr>
            <p:cNvPr id="35878" name="Rectangle 4"/>
            <p:cNvSpPr>
              <a:spLocks noChangeArrowheads="1"/>
            </p:cNvSpPr>
            <p:nvPr/>
          </p:nvSpPr>
          <p:spPr bwMode="auto">
            <a:xfrm>
              <a:off x="340" y="1253"/>
              <a:ext cx="1134" cy="49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b="1">
                  <a:latin typeface="Tahoma" pitchFamily="34" charset="0"/>
                </a:rPr>
                <a:t>Formulation</a:t>
              </a:r>
            </a:p>
            <a:p>
              <a:pPr algn="ctr"/>
              <a:r>
                <a:rPr lang="fr-FR">
                  <a:latin typeface="Tahoma" pitchFamily="34" charset="0"/>
                </a:rPr>
                <a:t> (comprimé, gélule) </a:t>
              </a:r>
            </a:p>
          </p:txBody>
        </p:sp>
        <p:pic>
          <p:nvPicPr>
            <p:cNvPr id="35879" name="Picture 5" descr="tablet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19" y="1298"/>
              <a:ext cx="544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5844" name="Rectangle 6"/>
          <p:cNvSpPr>
            <a:spLocks noChangeArrowheads="1"/>
          </p:cNvSpPr>
          <p:nvPr/>
        </p:nvSpPr>
        <p:spPr bwMode="auto">
          <a:xfrm>
            <a:off x="2303861" y="5157789"/>
            <a:ext cx="1726406" cy="270272"/>
          </a:xfrm>
          <a:prstGeom prst="rect">
            <a:avLst/>
          </a:prstGeom>
          <a:solidFill>
            <a:srgbClr val="CCCC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b="1">
                <a:latin typeface="Tahoma" pitchFamily="34" charset="0"/>
              </a:rPr>
              <a:t>Vidange gastrique</a:t>
            </a:r>
            <a:r>
              <a:rPr lang="fr-FR">
                <a:latin typeface="Tahoma" pitchFamily="34" charset="0"/>
              </a:rPr>
              <a:t> </a:t>
            </a:r>
          </a:p>
        </p:txBody>
      </p:sp>
      <p:sp>
        <p:nvSpPr>
          <p:cNvPr id="35845" name="Rectangle 7"/>
          <p:cNvSpPr>
            <a:spLocks noChangeArrowheads="1"/>
          </p:cNvSpPr>
          <p:nvPr/>
        </p:nvSpPr>
        <p:spPr bwMode="auto">
          <a:xfrm>
            <a:off x="5113736" y="5588795"/>
            <a:ext cx="1726406" cy="270272"/>
          </a:xfrm>
          <a:prstGeom prst="rect">
            <a:avLst/>
          </a:prstGeom>
          <a:solidFill>
            <a:srgbClr val="CCCCFF"/>
          </a:solidFill>
          <a:ln w="285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b="1">
                <a:latin typeface="Tahoma" pitchFamily="34" charset="0"/>
              </a:rPr>
              <a:t>Transit intestinal</a:t>
            </a:r>
            <a:r>
              <a:rPr lang="fr-FR">
                <a:latin typeface="Tahoma" pitchFamily="34" charset="0"/>
              </a:rPr>
              <a:t> </a:t>
            </a:r>
          </a:p>
        </p:txBody>
      </p:sp>
      <p:sp>
        <p:nvSpPr>
          <p:cNvPr id="35846" name="Rectangle 8"/>
          <p:cNvSpPr>
            <a:spLocks noChangeArrowheads="1"/>
          </p:cNvSpPr>
          <p:nvPr/>
        </p:nvSpPr>
        <p:spPr bwMode="auto">
          <a:xfrm>
            <a:off x="5759053" y="4562476"/>
            <a:ext cx="1081088" cy="270272"/>
          </a:xfrm>
          <a:prstGeom prst="rect">
            <a:avLst/>
          </a:prstGeom>
          <a:solidFill>
            <a:srgbClr val="FFCC99"/>
          </a:solidFill>
          <a:ln w="28575">
            <a:solidFill>
              <a:srgbClr val="CC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b="1">
                <a:latin typeface="Tahoma" pitchFamily="34" charset="0"/>
              </a:rPr>
              <a:t>Absorption</a:t>
            </a:r>
            <a:r>
              <a:rPr lang="fr-FR">
                <a:latin typeface="Tahoma" pitchFamily="34" charset="0"/>
              </a:rPr>
              <a:t> 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0474" y="2943226"/>
            <a:ext cx="2107406" cy="756047"/>
            <a:chOff x="611" y="1752"/>
            <a:chExt cx="1770" cy="635"/>
          </a:xfrm>
        </p:grpSpPr>
        <p:sp>
          <p:nvSpPr>
            <p:cNvPr id="35871" name="Rectangle 10"/>
            <p:cNvSpPr>
              <a:spLocks noChangeArrowheads="1"/>
            </p:cNvSpPr>
            <p:nvPr/>
          </p:nvSpPr>
          <p:spPr bwMode="auto">
            <a:xfrm>
              <a:off x="1202" y="2160"/>
              <a:ext cx="1179" cy="227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b="1">
                  <a:latin typeface="Tahoma" pitchFamily="34" charset="0"/>
                </a:rPr>
                <a:t>Désintégration</a:t>
              </a:r>
              <a:r>
                <a:rPr lang="fr-FR">
                  <a:latin typeface="Tahoma" pitchFamily="34" charset="0"/>
                </a:rPr>
                <a:t> </a:t>
              </a:r>
            </a:p>
          </p:txBody>
        </p:sp>
        <p:sp>
          <p:nvSpPr>
            <p:cNvPr id="35872" name="AutoShape 11"/>
            <p:cNvSpPr>
              <a:spLocks noChangeAspect="1" noChangeArrowheads="1"/>
            </p:cNvSpPr>
            <p:nvPr/>
          </p:nvSpPr>
          <p:spPr bwMode="auto">
            <a:xfrm>
              <a:off x="763" y="2024"/>
              <a:ext cx="193" cy="1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7 w 21600"/>
                <a:gd name="T13" fmla="*/ 4469 h 21600"/>
                <a:gd name="T14" fmla="*/ 17123 w 21600"/>
                <a:gd name="T15" fmla="*/ 1713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FF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5873" name="AutoShape 12"/>
            <p:cNvSpPr>
              <a:spLocks noChangeAspect="1" noChangeArrowheads="1"/>
            </p:cNvSpPr>
            <p:nvPr/>
          </p:nvSpPr>
          <p:spPr bwMode="auto">
            <a:xfrm rot="-5708610">
              <a:off x="714" y="2237"/>
              <a:ext cx="88" cy="5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miter lim="800000"/>
              <a:headEnd/>
              <a:tailEnd/>
            </a:ln>
            <a:scene3d>
              <a:camera prst="legacyPerspectiveBottomLeft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FF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5874" name="AutoShape 13"/>
            <p:cNvSpPr>
              <a:spLocks noChangeAspect="1" noChangeArrowheads="1"/>
            </p:cNvSpPr>
            <p:nvPr/>
          </p:nvSpPr>
          <p:spPr bwMode="auto">
            <a:xfrm>
              <a:off x="611" y="2171"/>
              <a:ext cx="58" cy="87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FF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5875" name="AutoShape 14"/>
            <p:cNvSpPr>
              <a:spLocks noChangeAspect="1" noChangeArrowheads="1"/>
            </p:cNvSpPr>
            <p:nvPr/>
          </p:nvSpPr>
          <p:spPr bwMode="auto">
            <a:xfrm rot="-5710207">
              <a:off x="958" y="2069"/>
              <a:ext cx="88" cy="116"/>
            </a:xfrm>
            <a:prstGeom prst="rtTriangle">
              <a:avLst/>
            </a:prstGeom>
            <a:solidFill>
              <a:srgbClr val="FFCCFF"/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FF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5876" name="AutoShape 15"/>
            <p:cNvSpPr>
              <a:spLocks noChangeAspect="1" noChangeArrowheads="1"/>
            </p:cNvSpPr>
            <p:nvPr/>
          </p:nvSpPr>
          <p:spPr bwMode="auto">
            <a:xfrm rot="-5757352">
              <a:off x="898" y="2203"/>
              <a:ext cx="57" cy="58"/>
            </a:xfrm>
            <a:prstGeom prst="rtTriangle">
              <a:avLst/>
            </a:prstGeom>
            <a:solidFill>
              <a:srgbClr val="FFCCFF"/>
            </a:solidFill>
            <a:ln w="9525">
              <a:miter lim="800000"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FF"/>
              </a:extrusionClr>
            </a:sp3d>
          </p:spPr>
          <p:txBody>
            <a:bodyPr wrap="none" anchor="ctr">
              <a:flatTx/>
            </a:bodyPr>
            <a:lstStyle/>
            <a:p>
              <a:endParaRPr lang="fr-FR"/>
            </a:p>
          </p:txBody>
        </p:sp>
        <p:sp>
          <p:nvSpPr>
            <p:cNvPr id="35877" name="Line 16"/>
            <p:cNvSpPr>
              <a:spLocks noChangeShapeType="1"/>
            </p:cNvSpPr>
            <p:nvPr/>
          </p:nvSpPr>
          <p:spPr bwMode="auto">
            <a:xfrm>
              <a:off x="1791" y="1752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734866" y="3752850"/>
            <a:ext cx="1081088" cy="810816"/>
            <a:chOff x="1337" y="2432"/>
            <a:chExt cx="908" cy="681"/>
          </a:xfrm>
        </p:grpSpPr>
        <p:sp>
          <p:nvSpPr>
            <p:cNvPr id="35869" name="Rectangle 18"/>
            <p:cNvSpPr>
              <a:spLocks noChangeArrowheads="1"/>
            </p:cNvSpPr>
            <p:nvPr/>
          </p:nvSpPr>
          <p:spPr bwMode="auto">
            <a:xfrm>
              <a:off x="1337" y="2886"/>
              <a:ext cx="908" cy="227"/>
            </a:xfrm>
            <a:prstGeom prst="rect">
              <a:avLst/>
            </a:prstGeom>
            <a:solidFill>
              <a:srgbClr val="FFCC99"/>
            </a:solidFill>
            <a:ln w="28575">
              <a:solidFill>
                <a:srgbClr val="CC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fr-FR" b="1">
                  <a:latin typeface="Tahoma" pitchFamily="34" charset="0"/>
                </a:rPr>
                <a:t>Dissolution</a:t>
              </a:r>
              <a:r>
                <a:rPr lang="fr-FR">
                  <a:latin typeface="Tahoma" pitchFamily="34" charset="0"/>
                </a:rPr>
                <a:t> </a:t>
              </a:r>
            </a:p>
          </p:txBody>
        </p:sp>
        <p:sp>
          <p:nvSpPr>
            <p:cNvPr id="35870" name="Line 19"/>
            <p:cNvSpPr>
              <a:spLocks noChangeShapeType="1"/>
            </p:cNvSpPr>
            <p:nvPr/>
          </p:nvSpPr>
          <p:spPr bwMode="auto">
            <a:xfrm>
              <a:off x="1791" y="2432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5849" name="Text Box 20"/>
          <p:cNvSpPr txBox="1">
            <a:spLocks noChangeArrowheads="1"/>
          </p:cNvSpPr>
          <p:nvPr/>
        </p:nvSpPr>
        <p:spPr bwMode="auto">
          <a:xfrm>
            <a:off x="6948489" y="4779170"/>
            <a:ext cx="1079897" cy="128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fr-FR" b="1">
                <a:latin typeface="Tahoma" pitchFamily="34" charset="0"/>
              </a:rPr>
              <a:t>Intestin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pH basique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flore</a:t>
            </a:r>
          </a:p>
        </p:txBody>
      </p:sp>
      <p:pic>
        <p:nvPicPr>
          <p:cNvPr id="35850" name="Picture 21" descr="estomac"/>
          <p:cNvPicPr>
            <a:picLocks noChangeAspect="1" noChangeArrowheads="1"/>
          </p:cNvPicPr>
          <p:nvPr/>
        </p:nvPicPr>
        <p:blipFill>
          <a:blip r:embed="rId4"/>
          <a:srcRect l="5370" t="9625" r="7996" b="12727"/>
          <a:stretch>
            <a:fillRect/>
          </a:stretch>
        </p:blipFill>
        <p:spPr bwMode="auto">
          <a:xfrm>
            <a:off x="1385889" y="4023123"/>
            <a:ext cx="864394" cy="864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51" name="Freeform 22"/>
          <p:cNvSpPr>
            <a:spLocks/>
          </p:cNvSpPr>
          <p:nvPr/>
        </p:nvSpPr>
        <p:spPr bwMode="auto">
          <a:xfrm>
            <a:off x="3275411" y="4617245"/>
            <a:ext cx="702469" cy="432197"/>
          </a:xfrm>
          <a:custGeom>
            <a:avLst/>
            <a:gdLst>
              <a:gd name="T0" fmla="*/ 0 w 590"/>
              <a:gd name="T1" fmla="*/ 0 h 499"/>
              <a:gd name="T2" fmla="*/ 2147483647 w 590"/>
              <a:gd name="T3" fmla="*/ 2147483647 h 499"/>
              <a:gd name="T4" fmla="*/ 2147483647 w 590"/>
              <a:gd name="T5" fmla="*/ 2147483647 h 499"/>
              <a:gd name="T6" fmla="*/ 2147483647 w 590"/>
              <a:gd name="T7" fmla="*/ 2147483647 h 499"/>
              <a:gd name="T8" fmla="*/ 0 60000 65536"/>
              <a:gd name="T9" fmla="*/ 0 60000 65536"/>
              <a:gd name="T10" fmla="*/ 0 60000 65536"/>
              <a:gd name="T11" fmla="*/ 0 60000 65536"/>
              <a:gd name="T12" fmla="*/ 0 w 590"/>
              <a:gd name="T13" fmla="*/ 0 h 499"/>
              <a:gd name="T14" fmla="*/ 590 w 590"/>
              <a:gd name="T15" fmla="*/ 499 h 49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0" h="499">
                <a:moveTo>
                  <a:pt x="0" y="0"/>
                </a:moveTo>
                <a:cubicBezTo>
                  <a:pt x="8" y="37"/>
                  <a:pt x="3" y="156"/>
                  <a:pt x="46" y="225"/>
                </a:cubicBezTo>
                <a:cubicBezTo>
                  <a:pt x="89" y="294"/>
                  <a:pt x="167" y="369"/>
                  <a:pt x="258" y="415"/>
                </a:cubicBezTo>
                <a:cubicBezTo>
                  <a:pt x="349" y="461"/>
                  <a:pt x="521" y="482"/>
                  <a:pt x="590" y="499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35852" name="Line 23"/>
          <p:cNvSpPr>
            <a:spLocks noChangeShapeType="1"/>
          </p:cNvSpPr>
          <p:nvPr/>
        </p:nvSpPr>
        <p:spPr bwMode="auto">
          <a:xfrm>
            <a:off x="4680348" y="5103019"/>
            <a:ext cx="2159794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35853" name="Freeform 24"/>
          <p:cNvSpPr>
            <a:spLocks/>
          </p:cNvSpPr>
          <p:nvPr/>
        </p:nvSpPr>
        <p:spPr bwMode="blackWhite">
          <a:xfrm rot="5400000" flipV="1">
            <a:off x="4436270" y="4248151"/>
            <a:ext cx="721519" cy="557213"/>
          </a:xfrm>
          <a:custGeom>
            <a:avLst/>
            <a:gdLst>
              <a:gd name="T0" fmla="*/ 0 w 2738"/>
              <a:gd name="T1" fmla="*/ 2147483647 h 1023"/>
              <a:gd name="T2" fmla="*/ 0 w 2738"/>
              <a:gd name="T3" fmla="*/ 2147483647 h 1023"/>
              <a:gd name="T4" fmla="*/ 2147483647 w 2738"/>
              <a:gd name="T5" fmla="*/ 0 h 1023"/>
              <a:gd name="T6" fmla="*/ 2147483647 w 2738"/>
              <a:gd name="T7" fmla="*/ 2147483647 h 1023"/>
              <a:gd name="T8" fmla="*/ 2147483647 w 2738"/>
              <a:gd name="T9" fmla="*/ 2147483647 h 1023"/>
              <a:gd name="T10" fmla="*/ 2147483647 w 2738"/>
              <a:gd name="T11" fmla="*/ 2147483647 h 1023"/>
              <a:gd name="T12" fmla="*/ 2147483647 w 2738"/>
              <a:gd name="T13" fmla="*/ 2147483647 h 1023"/>
              <a:gd name="T14" fmla="*/ 2147483647 w 2738"/>
              <a:gd name="T15" fmla="*/ 2147483647 h 1023"/>
              <a:gd name="T16" fmla="*/ 2147483647 w 2738"/>
              <a:gd name="T17" fmla="*/ 2147483647 h 1023"/>
              <a:gd name="T18" fmla="*/ 2147483647 w 2738"/>
              <a:gd name="T19" fmla="*/ 2147483647 h 1023"/>
              <a:gd name="T20" fmla="*/ 2147483647 w 2738"/>
              <a:gd name="T21" fmla="*/ 2147483647 h 1023"/>
              <a:gd name="T22" fmla="*/ 2147483647 w 2738"/>
              <a:gd name="T23" fmla="*/ 2147483647 h 1023"/>
              <a:gd name="T24" fmla="*/ 2147483647 w 2738"/>
              <a:gd name="T25" fmla="*/ 2147483647 h 1023"/>
              <a:gd name="T26" fmla="*/ 2147483647 w 2738"/>
              <a:gd name="T27" fmla="*/ 2147483647 h 1023"/>
              <a:gd name="T28" fmla="*/ 2147483647 w 2738"/>
              <a:gd name="T29" fmla="*/ 2147483647 h 1023"/>
              <a:gd name="T30" fmla="*/ 2147483647 w 2738"/>
              <a:gd name="T31" fmla="*/ 2147483647 h 1023"/>
              <a:gd name="T32" fmla="*/ 2147483647 w 2738"/>
              <a:gd name="T33" fmla="*/ 2147483647 h 1023"/>
              <a:gd name="T34" fmla="*/ 2147483647 w 2738"/>
              <a:gd name="T35" fmla="*/ 2147483647 h 1023"/>
              <a:gd name="T36" fmla="*/ 2147483647 w 2738"/>
              <a:gd name="T37" fmla="*/ 2147483647 h 1023"/>
              <a:gd name="T38" fmla="*/ 2147483647 w 2738"/>
              <a:gd name="T39" fmla="*/ 2147483647 h 1023"/>
              <a:gd name="T40" fmla="*/ 2147483647 w 2738"/>
              <a:gd name="T41" fmla="*/ 2147483647 h 1023"/>
              <a:gd name="T42" fmla="*/ 2147483647 w 2738"/>
              <a:gd name="T43" fmla="*/ 2147483647 h 1023"/>
              <a:gd name="T44" fmla="*/ 2147483647 w 2738"/>
              <a:gd name="T45" fmla="*/ 2147483647 h 1023"/>
              <a:gd name="T46" fmla="*/ 2147483647 w 2738"/>
              <a:gd name="T47" fmla="*/ 2147483647 h 1023"/>
              <a:gd name="T48" fmla="*/ 2147483647 w 2738"/>
              <a:gd name="T49" fmla="*/ 2147483647 h 1023"/>
              <a:gd name="T50" fmla="*/ 2147483647 w 2738"/>
              <a:gd name="T51" fmla="*/ 2147483647 h 1023"/>
              <a:gd name="T52" fmla="*/ 2147483647 w 2738"/>
              <a:gd name="T53" fmla="*/ 2147483647 h 1023"/>
              <a:gd name="T54" fmla="*/ 2147483647 w 2738"/>
              <a:gd name="T55" fmla="*/ 2147483647 h 1023"/>
              <a:gd name="T56" fmla="*/ 2147483647 w 2738"/>
              <a:gd name="T57" fmla="*/ 2147483647 h 1023"/>
              <a:gd name="T58" fmla="*/ 2147483647 w 2738"/>
              <a:gd name="T59" fmla="*/ 2147483647 h 1023"/>
              <a:gd name="T60" fmla="*/ 2147483647 w 2738"/>
              <a:gd name="T61" fmla="*/ 2147483647 h 1023"/>
              <a:gd name="T62" fmla="*/ 2147483647 w 2738"/>
              <a:gd name="T63" fmla="*/ 2147483647 h 1023"/>
              <a:gd name="T64" fmla="*/ 2147483647 w 2738"/>
              <a:gd name="T65" fmla="*/ 2147483647 h 1023"/>
              <a:gd name="T66" fmla="*/ 2147483647 w 2738"/>
              <a:gd name="T67" fmla="*/ 2147483647 h 1023"/>
              <a:gd name="T68" fmla="*/ 0 w 2738"/>
              <a:gd name="T69" fmla="*/ 2147483647 h 102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738"/>
              <a:gd name="T106" fmla="*/ 0 h 1023"/>
              <a:gd name="T107" fmla="*/ 2738 w 2738"/>
              <a:gd name="T108" fmla="*/ 1023 h 1023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738" h="1023">
                <a:moveTo>
                  <a:pt x="0" y="1021"/>
                </a:moveTo>
                <a:lnTo>
                  <a:pt x="0" y="1"/>
                </a:lnTo>
                <a:lnTo>
                  <a:pt x="2425" y="0"/>
                </a:lnTo>
                <a:lnTo>
                  <a:pt x="2647" y="11"/>
                </a:lnTo>
                <a:cubicBezTo>
                  <a:pt x="2683" y="24"/>
                  <a:pt x="2696" y="69"/>
                  <a:pt x="2647" y="80"/>
                </a:cubicBezTo>
                <a:lnTo>
                  <a:pt x="2351" y="80"/>
                </a:lnTo>
                <a:cubicBezTo>
                  <a:pt x="2302" y="91"/>
                  <a:pt x="2302" y="137"/>
                  <a:pt x="2351" y="149"/>
                </a:cubicBezTo>
                <a:lnTo>
                  <a:pt x="2647" y="149"/>
                </a:lnTo>
                <a:cubicBezTo>
                  <a:pt x="2696" y="161"/>
                  <a:pt x="2698" y="207"/>
                  <a:pt x="2647" y="218"/>
                </a:cubicBezTo>
                <a:lnTo>
                  <a:pt x="2340" y="218"/>
                </a:lnTo>
                <a:cubicBezTo>
                  <a:pt x="2291" y="230"/>
                  <a:pt x="2289" y="272"/>
                  <a:pt x="2340" y="283"/>
                </a:cubicBezTo>
                <a:lnTo>
                  <a:pt x="2658" y="283"/>
                </a:lnTo>
                <a:cubicBezTo>
                  <a:pt x="2711" y="293"/>
                  <a:pt x="2711" y="337"/>
                  <a:pt x="2662" y="345"/>
                </a:cubicBezTo>
                <a:lnTo>
                  <a:pt x="2366" y="345"/>
                </a:lnTo>
                <a:cubicBezTo>
                  <a:pt x="2317" y="356"/>
                  <a:pt x="2317" y="395"/>
                  <a:pt x="2366" y="405"/>
                </a:cubicBezTo>
                <a:lnTo>
                  <a:pt x="2662" y="405"/>
                </a:lnTo>
                <a:cubicBezTo>
                  <a:pt x="2711" y="415"/>
                  <a:pt x="2715" y="455"/>
                  <a:pt x="2662" y="464"/>
                </a:cubicBezTo>
                <a:lnTo>
                  <a:pt x="2351" y="464"/>
                </a:lnTo>
                <a:cubicBezTo>
                  <a:pt x="2302" y="475"/>
                  <a:pt x="2315" y="522"/>
                  <a:pt x="2366" y="533"/>
                </a:cubicBezTo>
                <a:lnTo>
                  <a:pt x="2662" y="533"/>
                </a:lnTo>
                <a:cubicBezTo>
                  <a:pt x="2711" y="546"/>
                  <a:pt x="2711" y="598"/>
                  <a:pt x="2662" y="612"/>
                </a:cubicBezTo>
                <a:lnTo>
                  <a:pt x="2366" y="612"/>
                </a:lnTo>
                <a:cubicBezTo>
                  <a:pt x="2319" y="624"/>
                  <a:pt x="2323" y="665"/>
                  <a:pt x="2372" y="677"/>
                </a:cubicBezTo>
                <a:lnTo>
                  <a:pt x="2672" y="677"/>
                </a:lnTo>
                <a:cubicBezTo>
                  <a:pt x="2724" y="688"/>
                  <a:pt x="2730" y="738"/>
                  <a:pt x="2679" y="749"/>
                </a:cubicBezTo>
                <a:lnTo>
                  <a:pt x="2366" y="749"/>
                </a:lnTo>
                <a:cubicBezTo>
                  <a:pt x="2315" y="759"/>
                  <a:pt x="2315" y="799"/>
                  <a:pt x="2366" y="808"/>
                </a:cubicBezTo>
                <a:lnTo>
                  <a:pt x="2683" y="808"/>
                </a:lnTo>
                <a:cubicBezTo>
                  <a:pt x="2734" y="818"/>
                  <a:pt x="2730" y="857"/>
                  <a:pt x="2679" y="867"/>
                </a:cubicBezTo>
                <a:lnTo>
                  <a:pt x="2366" y="867"/>
                </a:lnTo>
                <a:cubicBezTo>
                  <a:pt x="2315" y="878"/>
                  <a:pt x="2310" y="919"/>
                  <a:pt x="2362" y="930"/>
                </a:cubicBezTo>
                <a:lnTo>
                  <a:pt x="2683" y="930"/>
                </a:lnTo>
                <a:cubicBezTo>
                  <a:pt x="2738" y="940"/>
                  <a:pt x="2733" y="977"/>
                  <a:pt x="2687" y="992"/>
                </a:cubicBezTo>
                <a:lnTo>
                  <a:pt x="2404" y="1023"/>
                </a:lnTo>
                <a:lnTo>
                  <a:pt x="0" y="1021"/>
                </a:lnTo>
                <a:close/>
              </a:path>
            </a:pathLst>
          </a:custGeom>
          <a:solidFill>
            <a:srgbClr val="C5A885"/>
          </a:solidFill>
          <a:ln w="19050">
            <a:solidFill>
              <a:srgbClr val="9966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5854" name="Freeform 25"/>
          <p:cNvSpPr>
            <a:spLocks/>
          </p:cNvSpPr>
          <p:nvPr/>
        </p:nvSpPr>
        <p:spPr bwMode="blackWhite">
          <a:xfrm rot="5400000" flipV="1">
            <a:off x="5012532" y="4248151"/>
            <a:ext cx="721519" cy="557213"/>
          </a:xfrm>
          <a:custGeom>
            <a:avLst/>
            <a:gdLst>
              <a:gd name="T0" fmla="*/ 0 w 2738"/>
              <a:gd name="T1" fmla="*/ 2147483647 h 1023"/>
              <a:gd name="T2" fmla="*/ 0 w 2738"/>
              <a:gd name="T3" fmla="*/ 2147483647 h 1023"/>
              <a:gd name="T4" fmla="*/ 2147483647 w 2738"/>
              <a:gd name="T5" fmla="*/ 0 h 1023"/>
              <a:gd name="T6" fmla="*/ 2147483647 w 2738"/>
              <a:gd name="T7" fmla="*/ 2147483647 h 1023"/>
              <a:gd name="T8" fmla="*/ 2147483647 w 2738"/>
              <a:gd name="T9" fmla="*/ 2147483647 h 1023"/>
              <a:gd name="T10" fmla="*/ 2147483647 w 2738"/>
              <a:gd name="T11" fmla="*/ 2147483647 h 1023"/>
              <a:gd name="T12" fmla="*/ 2147483647 w 2738"/>
              <a:gd name="T13" fmla="*/ 2147483647 h 1023"/>
              <a:gd name="T14" fmla="*/ 2147483647 w 2738"/>
              <a:gd name="T15" fmla="*/ 2147483647 h 1023"/>
              <a:gd name="T16" fmla="*/ 2147483647 w 2738"/>
              <a:gd name="T17" fmla="*/ 2147483647 h 1023"/>
              <a:gd name="T18" fmla="*/ 2147483647 w 2738"/>
              <a:gd name="T19" fmla="*/ 2147483647 h 1023"/>
              <a:gd name="T20" fmla="*/ 2147483647 w 2738"/>
              <a:gd name="T21" fmla="*/ 2147483647 h 1023"/>
              <a:gd name="T22" fmla="*/ 2147483647 w 2738"/>
              <a:gd name="T23" fmla="*/ 2147483647 h 1023"/>
              <a:gd name="T24" fmla="*/ 2147483647 w 2738"/>
              <a:gd name="T25" fmla="*/ 2147483647 h 1023"/>
              <a:gd name="T26" fmla="*/ 2147483647 w 2738"/>
              <a:gd name="T27" fmla="*/ 2147483647 h 1023"/>
              <a:gd name="T28" fmla="*/ 2147483647 w 2738"/>
              <a:gd name="T29" fmla="*/ 2147483647 h 1023"/>
              <a:gd name="T30" fmla="*/ 2147483647 w 2738"/>
              <a:gd name="T31" fmla="*/ 2147483647 h 1023"/>
              <a:gd name="T32" fmla="*/ 2147483647 w 2738"/>
              <a:gd name="T33" fmla="*/ 2147483647 h 1023"/>
              <a:gd name="T34" fmla="*/ 2147483647 w 2738"/>
              <a:gd name="T35" fmla="*/ 2147483647 h 1023"/>
              <a:gd name="T36" fmla="*/ 2147483647 w 2738"/>
              <a:gd name="T37" fmla="*/ 2147483647 h 1023"/>
              <a:gd name="T38" fmla="*/ 2147483647 w 2738"/>
              <a:gd name="T39" fmla="*/ 2147483647 h 1023"/>
              <a:gd name="T40" fmla="*/ 2147483647 w 2738"/>
              <a:gd name="T41" fmla="*/ 2147483647 h 1023"/>
              <a:gd name="T42" fmla="*/ 2147483647 w 2738"/>
              <a:gd name="T43" fmla="*/ 2147483647 h 1023"/>
              <a:gd name="T44" fmla="*/ 2147483647 w 2738"/>
              <a:gd name="T45" fmla="*/ 2147483647 h 1023"/>
              <a:gd name="T46" fmla="*/ 2147483647 w 2738"/>
              <a:gd name="T47" fmla="*/ 2147483647 h 1023"/>
              <a:gd name="T48" fmla="*/ 2147483647 w 2738"/>
              <a:gd name="T49" fmla="*/ 2147483647 h 1023"/>
              <a:gd name="T50" fmla="*/ 2147483647 w 2738"/>
              <a:gd name="T51" fmla="*/ 2147483647 h 1023"/>
              <a:gd name="T52" fmla="*/ 2147483647 w 2738"/>
              <a:gd name="T53" fmla="*/ 2147483647 h 1023"/>
              <a:gd name="T54" fmla="*/ 2147483647 w 2738"/>
              <a:gd name="T55" fmla="*/ 2147483647 h 1023"/>
              <a:gd name="T56" fmla="*/ 2147483647 w 2738"/>
              <a:gd name="T57" fmla="*/ 2147483647 h 1023"/>
              <a:gd name="T58" fmla="*/ 2147483647 w 2738"/>
              <a:gd name="T59" fmla="*/ 2147483647 h 1023"/>
              <a:gd name="T60" fmla="*/ 2147483647 w 2738"/>
              <a:gd name="T61" fmla="*/ 2147483647 h 1023"/>
              <a:gd name="T62" fmla="*/ 2147483647 w 2738"/>
              <a:gd name="T63" fmla="*/ 2147483647 h 1023"/>
              <a:gd name="T64" fmla="*/ 2147483647 w 2738"/>
              <a:gd name="T65" fmla="*/ 2147483647 h 1023"/>
              <a:gd name="T66" fmla="*/ 2147483647 w 2738"/>
              <a:gd name="T67" fmla="*/ 2147483647 h 1023"/>
              <a:gd name="T68" fmla="*/ 0 w 2738"/>
              <a:gd name="T69" fmla="*/ 2147483647 h 102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738"/>
              <a:gd name="T106" fmla="*/ 0 h 1023"/>
              <a:gd name="T107" fmla="*/ 2738 w 2738"/>
              <a:gd name="T108" fmla="*/ 1023 h 1023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738" h="1023">
                <a:moveTo>
                  <a:pt x="0" y="1021"/>
                </a:moveTo>
                <a:lnTo>
                  <a:pt x="0" y="1"/>
                </a:lnTo>
                <a:lnTo>
                  <a:pt x="2425" y="0"/>
                </a:lnTo>
                <a:lnTo>
                  <a:pt x="2647" y="11"/>
                </a:lnTo>
                <a:cubicBezTo>
                  <a:pt x="2683" y="24"/>
                  <a:pt x="2696" y="69"/>
                  <a:pt x="2647" y="80"/>
                </a:cubicBezTo>
                <a:lnTo>
                  <a:pt x="2351" y="80"/>
                </a:lnTo>
                <a:cubicBezTo>
                  <a:pt x="2302" y="91"/>
                  <a:pt x="2302" y="137"/>
                  <a:pt x="2351" y="149"/>
                </a:cubicBezTo>
                <a:lnTo>
                  <a:pt x="2647" y="149"/>
                </a:lnTo>
                <a:cubicBezTo>
                  <a:pt x="2696" y="161"/>
                  <a:pt x="2698" y="207"/>
                  <a:pt x="2647" y="218"/>
                </a:cubicBezTo>
                <a:lnTo>
                  <a:pt x="2340" y="218"/>
                </a:lnTo>
                <a:cubicBezTo>
                  <a:pt x="2291" y="230"/>
                  <a:pt x="2289" y="272"/>
                  <a:pt x="2340" y="283"/>
                </a:cubicBezTo>
                <a:lnTo>
                  <a:pt x="2658" y="283"/>
                </a:lnTo>
                <a:cubicBezTo>
                  <a:pt x="2711" y="293"/>
                  <a:pt x="2711" y="337"/>
                  <a:pt x="2662" y="345"/>
                </a:cubicBezTo>
                <a:lnTo>
                  <a:pt x="2366" y="345"/>
                </a:lnTo>
                <a:cubicBezTo>
                  <a:pt x="2317" y="356"/>
                  <a:pt x="2317" y="395"/>
                  <a:pt x="2366" y="405"/>
                </a:cubicBezTo>
                <a:lnTo>
                  <a:pt x="2662" y="405"/>
                </a:lnTo>
                <a:cubicBezTo>
                  <a:pt x="2711" y="415"/>
                  <a:pt x="2715" y="455"/>
                  <a:pt x="2662" y="464"/>
                </a:cubicBezTo>
                <a:lnTo>
                  <a:pt x="2351" y="464"/>
                </a:lnTo>
                <a:cubicBezTo>
                  <a:pt x="2302" y="475"/>
                  <a:pt x="2315" y="522"/>
                  <a:pt x="2366" y="533"/>
                </a:cubicBezTo>
                <a:lnTo>
                  <a:pt x="2662" y="533"/>
                </a:lnTo>
                <a:cubicBezTo>
                  <a:pt x="2711" y="546"/>
                  <a:pt x="2711" y="598"/>
                  <a:pt x="2662" y="612"/>
                </a:cubicBezTo>
                <a:lnTo>
                  <a:pt x="2366" y="612"/>
                </a:lnTo>
                <a:cubicBezTo>
                  <a:pt x="2319" y="624"/>
                  <a:pt x="2323" y="665"/>
                  <a:pt x="2372" y="677"/>
                </a:cubicBezTo>
                <a:lnTo>
                  <a:pt x="2672" y="677"/>
                </a:lnTo>
                <a:cubicBezTo>
                  <a:pt x="2724" y="688"/>
                  <a:pt x="2730" y="738"/>
                  <a:pt x="2679" y="749"/>
                </a:cubicBezTo>
                <a:lnTo>
                  <a:pt x="2366" y="749"/>
                </a:lnTo>
                <a:cubicBezTo>
                  <a:pt x="2315" y="759"/>
                  <a:pt x="2315" y="799"/>
                  <a:pt x="2366" y="808"/>
                </a:cubicBezTo>
                <a:lnTo>
                  <a:pt x="2683" y="808"/>
                </a:lnTo>
                <a:cubicBezTo>
                  <a:pt x="2734" y="818"/>
                  <a:pt x="2730" y="857"/>
                  <a:pt x="2679" y="867"/>
                </a:cubicBezTo>
                <a:lnTo>
                  <a:pt x="2366" y="867"/>
                </a:lnTo>
                <a:cubicBezTo>
                  <a:pt x="2315" y="878"/>
                  <a:pt x="2310" y="919"/>
                  <a:pt x="2362" y="930"/>
                </a:cubicBezTo>
                <a:lnTo>
                  <a:pt x="2683" y="930"/>
                </a:lnTo>
                <a:cubicBezTo>
                  <a:pt x="2738" y="940"/>
                  <a:pt x="2733" y="977"/>
                  <a:pt x="2687" y="992"/>
                </a:cubicBezTo>
                <a:lnTo>
                  <a:pt x="2404" y="1023"/>
                </a:lnTo>
                <a:lnTo>
                  <a:pt x="0" y="1021"/>
                </a:lnTo>
                <a:close/>
              </a:path>
            </a:pathLst>
          </a:custGeom>
          <a:solidFill>
            <a:srgbClr val="C5A885"/>
          </a:solidFill>
          <a:ln w="19050">
            <a:solidFill>
              <a:srgbClr val="9966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5855" name="AutoShape 26"/>
          <p:cNvSpPr>
            <a:spLocks noChangeArrowheads="1"/>
          </p:cNvSpPr>
          <p:nvPr/>
        </p:nvSpPr>
        <p:spPr bwMode="auto">
          <a:xfrm rot="-5400000">
            <a:off x="4571406" y="4670228"/>
            <a:ext cx="432197" cy="216694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5856" name="AutoShape 27"/>
          <p:cNvSpPr>
            <a:spLocks noChangeArrowheads="1"/>
          </p:cNvSpPr>
          <p:nvPr/>
        </p:nvSpPr>
        <p:spPr bwMode="auto">
          <a:xfrm rot="-5400000">
            <a:off x="5165528" y="4670228"/>
            <a:ext cx="432197" cy="216694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5857" name="AutoShape 28"/>
          <p:cNvSpPr>
            <a:spLocks noChangeArrowheads="1"/>
          </p:cNvSpPr>
          <p:nvPr/>
        </p:nvSpPr>
        <p:spPr bwMode="invGray">
          <a:xfrm rot="-5400000">
            <a:off x="5361980" y="2639020"/>
            <a:ext cx="417909" cy="2538413"/>
          </a:xfrm>
          <a:prstGeom prst="can">
            <a:avLst>
              <a:gd name="adj" fmla="val 61359"/>
            </a:avLst>
          </a:prstGeom>
          <a:solidFill>
            <a:srgbClr val="FF7C80"/>
          </a:solidFill>
          <a:ln w="19050">
            <a:solidFill>
              <a:srgbClr val="CC6600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50000"/>
              </a:spcBef>
              <a:buFontTx/>
              <a:buChar char="•"/>
            </a:pPr>
            <a:endParaRPr lang="en-GB" sz="2100" b="1"/>
          </a:p>
        </p:txBody>
      </p:sp>
      <p:sp>
        <p:nvSpPr>
          <p:cNvPr id="35858" name="Line 29"/>
          <p:cNvSpPr>
            <a:spLocks noChangeShapeType="1"/>
          </p:cNvSpPr>
          <p:nvPr/>
        </p:nvSpPr>
        <p:spPr bwMode="auto">
          <a:xfrm>
            <a:off x="6786564" y="3861197"/>
            <a:ext cx="378619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35859" name="Text Box 30"/>
          <p:cNvSpPr txBox="1">
            <a:spLocks noChangeArrowheads="1"/>
          </p:cNvSpPr>
          <p:nvPr/>
        </p:nvSpPr>
        <p:spPr bwMode="auto">
          <a:xfrm>
            <a:off x="4572001" y="4185047"/>
            <a:ext cx="102631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Entérocytes</a:t>
            </a:r>
          </a:p>
        </p:txBody>
      </p:sp>
      <p:sp>
        <p:nvSpPr>
          <p:cNvPr id="35860" name="Text Box 31"/>
          <p:cNvSpPr txBox="1">
            <a:spLocks noChangeArrowheads="1"/>
          </p:cNvSpPr>
          <p:nvPr/>
        </p:nvSpPr>
        <p:spPr bwMode="auto">
          <a:xfrm>
            <a:off x="6085285" y="3699274"/>
            <a:ext cx="971550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Veine porte</a:t>
            </a:r>
          </a:p>
        </p:txBody>
      </p:sp>
      <p:sp>
        <p:nvSpPr>
          <p:cNvPr id="35861" name="Text Box 32"/>
          <p:cNvSpPr txBox="1">
            <a:spLocks noChangeArrowheads="1"/>
          </p:cNvSpPr>
          <p:nvPr/>
        </p:nvSpPr>
        <p:spPr bwMode="auto">
          <a:xfrm>
            <a:off x="7217570" y="3699272"/>
            <a:ext cx="54054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FOIE</a:t>
            </a:r>
          </a:p>
        </p:txBody>
      </p:sp>
      <p:sp>
        <p:nvSpPr>
          <p:cNvPr id="35862" name="Line 33"/>
          <p:cNvSpPr>
            <a:spLocks noChangeShapeType="1"/>
          </p:cNvSpPr>
          <p:nvPr/>
        </p:nvSpPr>
        <p:spPr bwMode="auto">
          <a:xfrm flipV="1">
            <a:off x="4788694" y="3969544"/>
            <a:ext cx="0" cy="21550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5863" name="Line 34"/>
          <p:cNvSpPr>
            <a:spLocks noChangeShapeType="1"/>
          </p:cNvSpPr>
          <p:nvPr/>
        </p:nvSpPr>
        <p:spPr bwMode="auto">
          <a:xfrm flipV="1">
            <a:off x="5328047" y="3969544"/>
            <a:ext cx="0" cy="21550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35864" name="Line 35"/>
          <p:cNvSpPr>
            <a:spLocks noChangeShapeType="1"/>
          </p:cNvSpPr>
          <p:nvPr/>
        </p:nvSpPr>
        <p:spPr bwMode="auto">
          <a:xfrm>
            <a:off x="5435205" y="3861197"/>
            <a:ext cx="378619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35865" name="Line 36"/>
          <p:cNvSpPr>
            <a:spLocks noChangeShapeType="1"/>
          </p:cNvSpPr>
          <p:nvPr/>
        </p:nvSpPr>
        <p:spPr bwMode="auto">
          <a:xfrm>
            <a:off x="4895851" y="3861197"/>
            <a:ext cx="378619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35866" name="Text Box 37"/>
          <p:cNvSpPr txBox="1">
            <a:spLocks noChangeArrowheads="1"/>
          </p:cNvSpPr>
          <p:nvPr/>
        </p:nvSpPr>
        <p:spPr bwMode="auto">
          <a:xfrm>
            <a:off x="1439466" y="4832748"/>
            <a:ext cx="890588" cy="1117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>
                <a:latin typeface="Tahoma" pitchFamily="34" charset="0"/>
              </a:rPr>
              <a:t>Estomac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fr-FR">
                <a:latin typeface="Tahoma" pitchFamily="34" charset="0"/>
              </a:rPr>
              <a:t>pH acide</a:t>
            </a:r>
          </a:p>
        </p:txBody>
      </p:sp>
      <p:sp>
        <p:nvSpPr>
          <p:cNvPr id="35867" name="Rectangle 3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pPr eaLnBrk="1" hangingPunct="1"/>
            <a:r>
              <a:rPr lang="fr-FR" smtClean="0"/>
              <a:t>Absorption par la voie orale</a:t>
            </a:r>
          </a:p>
        </p:txBody>
      </p:sp>
      <p:pic>
        <p:nvPicPr>
          <p:cNvPr id="35868" name="Picture 39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46106" y="3075385"/>
            <a:ext cx="1028700" cy="6238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279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317" y="1302544"/>
            <a:ext cx="6079331" cy="857250"/>
          </a:xfrm>
        </p:spPr>
        <p:txBody>
          <a:bodyPr>
            <a:normAutofit fontScale="90000"/>
          </a:bodyPr>
          <a:lstStyle/>
          <a:p>
            <a:pPr marL="269081" indent="-269081">
              <a:lnSpc>
                <a:spcPct val="110000"/>
              </a:lnSpc>
            </a:pPr>
            <a:r>
              <a:rPr lang="fr-FR" sz="2700"/>
              <a:t>Absorption par voie orale </a:t>
            </a:r>
            <a:br>
              <a:rPr lang="fr-FR" sz="2700"/>
            </a:br>
            <a:r>
              <a:rPr lang="fr-FR" sz="2400"/>
              <a:t>Bilan des facteurs influençant l’absorption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0" y="2451498"/>
            <a:ext cx="3914775" cy="340756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FR" u="sng" smtClean="0">
                <a:solidFill>
                  <a:srgbClr val="000099"/>
                </a:solidFill>
              </a:rPr>
              <a:t>Caractéristiques du médicament:</a:t>
            </a:r>
          </a:p>
          <a:p>
            <a:pPr lvl="1" eaLnBrk="1" hangingPunct="1">
              <a:lnSpc>
                <a:spcPct val="80000"/>
              </a:lnSpc>
              <a:spcBef>
                <a:spcPct val="60000"/>
              </a:spcBef>
            </a:pPr>
            <a:r>
              <a:rPr lang="fr-FR" smtClean="0"/>
              <a:t>Solubilité dans les fluides gastro-intestinaux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Degré d’ionisation (pKa)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Liposolubilité (coefficient de partage octanol/eau)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fr-FR" smtClean="0"/>
              <a:t>Poids moléculaire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Stabilité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Substrat de transporteurs (P-gp)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Formulation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80386" y="2451499"/>
            <a:ext cx="3020615" cy="351591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FR" u="sng" smtClean="0">
                <a:solidFill>
                  <a:srgbClr val="DE0000"/>
                </a:solidFill>
              </a:rPr>
              <a:t>Caractéristiques de l’individu:</a:t>
            </a:r>
          </a:p>
          <a:p>
            <a:pPr lvl="1" eaLnBrk="1" hangingPunct="1">
              <a:lnSpc>
                <a:spcPct val="130000"/>
              </a:lnSpc>
            </a:pPr>
            <a:r>
              <a:rPr lang="fr-FR" smtClean="0"/>
              <a:t>pH digestif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Vitesse de vidange gastrique, transit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Prise d’aliments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Prise concomitante de médicaments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Débit sanguin</a:t>
            </a:r>
          </a:p>
          <a:p>
            <a:pPr lvl="1" eaLnBrk="1" hangingPunct="1">
              <a:lnSpc>
                <a:spcPct val="80000"/>
              </a:lnSpc>
            </a:pPr>
            <a:r>
              <a:rPr lang="fr-FR" smtClean="0"/>
              <a:t>États pathologiques du tube digestif.</a:t>
            </a:r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4895850" y="234315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12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L’évaluation quantitative de l’absorption des médicaments</a:t>
            </a:r>
          </a:p>
        </p:txBody>
      </p:sp>
      <p:sp>
        <p:nvSpPr>
          <p:cNvPr id="53251" name="Espace réservé du contenu 2"/>
          <p:cNvSpPr>
            <a:spLocks noGrp="1"/>
          </p:cNvSpPr>
          <p:nvPr>
            <p:ph idx="1"/>
          </p:nvPr>
        </p:nvSpPr>
        <p:spPr>
          <a:xfrm>
            <a:off x="1143000" y="2057401"/>
            <a:ext cx="6858000" cy="3394472"/>
          </a:xfrm>
        </p:spPr>
        <p:txBody>
          <a:bodyPr/>
          <a:lstStyle/>
          <a:p>
            <a:endParaRPr lang="fr-FR" smtClean="0"/>
          </a:p>
          <a:p>
            <a:endParaRPr lang="fr-FR" smtClean="0"/>
          </a:p>
          <a:p>
            <a:pPr algn="ctr">
              <a:buFontTx/>
              <a:buNone/>
            </a:pPr>
            <a:r>
              <a:rPr lang="fr-FR" b="1" smtClean="0"/>
              <a:t>La biodisponibilité </a:t>
            </a:r>
          </a:p>
          <a:p>
            <a:pPr algn="ctr">
              <a:buFontTx/>
              <a:buNone/>
            </a:pPr>
            <a:r>
              <a:rPr lang="fr-FR" b="1" smtClean="0"/>
              <a:t>= </a:t>
            </a:r>
          </a:p>
          <a:p>
            <a:pPr algn="ctr">
              <a:buFontTx/>
              <a:buNone/>
            </a:pPr>
            <a:r>
              <a:rPr lang="fr-FR" b="1" smtClean="0"/>
              <a:t>disponibilité biologique du médicament </a:t>
            </a:r>
          </a:p>
          <a:p>
            <a:pPr>
              <a:buFontTx/>
              <a:buNone/>
            </a:pP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367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31120" y="1107283"/>
            <a:ext cx="6326981" cy="4698206"/>
          </a:xfrm>
        </p:spPr>
      </p:pic>
    </p:spTree>
    <p:extLst>
      <p:ext uri="{BB962C8B-B14F-4D97-AF65-F5344CB8AC3E}">
        <p14:creationId xmlns:p14="http://schemas.microsoft.com/office/powerpoint/2010/main" val="13715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distribution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32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908050"/>
            <a:ext cx="7910512" cy="4033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Freeform 902"/>
          <p:cNvSpPr>
            <a:spLocks/>
          </p:cNvSpPr>
          <p:nvPr/>
        </p:nvSpPr>
        <p:spPr bwMode="auto">
          <a:xfrm rot="5400000">
            <a:off x="1972791" y="3147889"/>
            <a:ext cx="469900" cy="3912443"/>
          </a:xfrm>
          <a:custGeom>
            <a:avLst/>
            <a:gdLst/>
            <a:ahLst/>
            <a:cxnLst>
              <a:cxn ang="0">
                <a:pos x="73" y="482"/>
              </a:cxn>
              <a:cxn ang="0">
                <a:pos x="0" y="482"/>
              </a:cxn>
              <a:cxn ang="0">
                <a:pos x="0" y="549"/>
              </a:cxn>
              <a:cxn ang="0">
                <a:pos x="147" y="549"/>
              </a:cxn>
              <a:cxn ang="0">
                <a:pos x="147" y="305"/>
              </a:cxn>
              <a:cxn ang="0">
                <a:pos x="208" y="305"/>
              </a:cxn>
              <a:cxn ang="0">
                <a:pos x="208" y="334"/>
              </a:cxn>
              <a:cxn ang="0">
                <a:pos x="296" y="274"/>
              </a:cxn>
              <a:cxn ang="0">
                <a:pos x="208" y="218"/>
              </a:cxn>
              <a:cxn ang="0">
                <a:pos x="208" y="244"/>
              </a:cxn>
              <a:cxn ang="0">
                <a:pos x="147" y="244"/>
              </a:cxn>
              <a:cxn ang="0">
                <a:pos x="147" y="0"/>
              </a:cxn>
              <a:cxn ang="0">
                <a:pos x="0" y="0"/>
              </a:cxn>
              <a:cxn ang="0">
                <a:pos x="0" y="67"/>
              </a:cxn>
              <a:cxn ang="0">
                <a:pos x="73" y="67"/>
              </a:cxn>
              <a:cxn ang="0">
                <a:pos x="73" y="482"/>
              </a:cxn>
            </a:cxnLst>
            <a:rect l="0" t="0" r="r" b="b"/>
            <a:pathLst>
              <a:path w="296" h="549">
                <a:moveTo>
                  <a:pt x="73" y="482"/>
                </a:moveTo>
                <a:lnTo>
                  <a:pt x="0" y="482"/>
                </a:lnTo>
                <a:lnTo>
                  <a:pt x="0" y="549"/>
                </a:lnTo>
                <a:lnTo>
                  <a:pt x="147" y="549"/>
                </a:lnTo>
                <a:lnTo>
                  <a:pt x="147" y="305"/>
                </a:lnTo>
                <a:lnTo>
                  <a:pt x="208" y="305"/>
                </a:lnTo>
                <a:lnTo>
                  <a:pt x="208" y="334"/>
                </a:lnTo>
                <a:lnTo>
                  <a:pt x="296" y="274"/>
                </a:lnTo>
                <a:lnTo>
                  <a:pt x="208" y="218"/>
                </a:lnTo>
                <a:lnTo>
                  <a:pt x="208" y="244"/>
                </a:lnTo>
                <a:lnTo>
                  <a:pt x="147" y="244"/>
                </a:lnTo>
                <a:lnTo>
                  <a:pt x="147" y="0"/>
                </a:lnTo>
                <a:lnTo>
                  <a:pt x="0" y="0"/>
                </a:lnTo>
                <a:lnTo>
                  <a:pt x="0" y="67"/>
                </a:lnTo>
                <a:lnTo>
                  <a:pt x="73" y="67"/>
                </a:lnTo>
                <a:lnTo>
                  <a:pt x="73" y="482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+mn-lt"/>
              <a:cs typeface="+mn-cs"/>
            </a:endParaRPr>
          </a:p>
        </p:txBody>
      </p:sp>
      <p:sp>
        <p:nvSpPr>
          <p:cNvPr id="25" name="Freeform 902"/>
          <p:cNvSpPr>
            <a:spLocks/>
          </p:cNvSpPr>
          <p:nvPr/>
        </p:nvSpPr>
        <p:spPr bwMode="auto">
          <a:xfrm rot="5400000">
            <a:off x="6137250" y="2943871"/>
            <a:ext cx="469900" cy="4320479"/>
          </a:xfrm>
          <a:custGeom>
            <a:avLst/>
            <a:gdLst/>
            <a:ahLst/>
            <a:cxnLst>
              <a:cxn ang="0">
                <a:pos x="73" y="482"/>
              </a:cxn>
              <a:cxn ang="0">
                <a:pos x="0" y="482"/>
              </a:cxn>
              <a:cxn ang="0">
                <a:pos x="0" y="549"/>
              </a:cxn>
              <a:cxn ang="0">
                <a:pos x="147" y="549"/>
              </a:cxn>
              <a:cxn ang="0">
                <a:pos x="147" y="305"/>
              </a:cxn>
              <a:cxn ang="0">
                <a:pos x="208" y="305"/>
              </a:cxn>
              <a:cxn ang="0">
                <a:pos x="208" y="334"/>
              </a:cxn>
              <a:cxn ang="0">
                <a:pos x="296" y="274"/>
              </a:cxn>
              <a:cxn ang="0">
                <a:pos x="208" y="218"/>
              </a:cxn>
              <a:cxn ang="0">
                <a:pos x="208" y="244"/>
              </a:cxn>
              <a:cxn ang="0">
                <a:pos x="147" y="244"/>
              </a:cxn>
              <a:cxn ang="0">
                <a:pos x="147" y="0"/>
              </a:cxn>
              <a:cxn ang="0">
                <a:pos x="0" y="0"/>
              </a:cxn>
              <a:cxn ang="0">
                <a:pos x="0" y="67"/>
              </a:cxn>
              <a:cxn ang="0">
                <a:pos x="73" y="67"/>
              </a:cxn>
              <a:cxn ang="0">
                <a:pos x="73" y="482"/>
              </a:cxn>
            </a:cxnLst>
            <a:rect l="0" t="0" r="r" b="b"/>
            <a:pathLst>
              <a:path w="296" h="549">
                <a:moveTo>
                  <a:pt x="73" y="482"/>
                </a:moveTo>
                <a:lnTo>
                  <a:pt x="0" y="482"/>
                </a:lnTo>
                <a:lnTo>
                  <a:pt x="0" y="549"/>
                </a:lnTo>
                <a:lnTo>
                  <a:pt x="147" y="549"/>
                </a:lnTo>
                <a:lnTo>
                  <a:pt x="147" y="305"/>
                </a:lnTo>
                <a:lnTo>
                  <a:pt x="208" y="305"/>
                </a:lnTo>
                <a:lnTo>
                  <a:pt x="208" y="334"/>
                </a:lnTo>
                <a:lnTo>
                  <a:pt x="296" y="274"/>
                </a:lnTo>
                <a:lnTo>
                  <a:pt x="208" y="218"/>
                </a:lnTo>
                <a:lnTo>
                  <a:pt x="208" y="244"/>
                </a:lnTo>
                <a:lnTo>
                  <a:pt x="147" y="244"/>
                </a:lnTo>
                <a:lnTo>
                  <a:pt x="147" y="0"/>
                </a:lnTo>
                <a:lnTo>
                  <a:pt x="0" y="0"/>
                </a:lnTo>
                <a:lnTo>
                  <a:pt x="0" y="67"/>
                </a:lnTo>
                <a:lnTo>
                  <a:pt x="73" y="67"/>
                </a:lnTo>
                <a:lnTo>
                  <a:pt x="73" y="482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latin typeface="+mn-lt"/>
              <a:cs typeface="+mn-cs"/>
            </a:endParaRPr>
          </a:p>
        </p:txBody>
      </p:sp>
      <p:grpSp>
        <p:nvGrpSpPr>
          <p:cNvPr id="2" name="Groupe 12"/>
          <p:cNvGrpSpPr>
            <a:grpSpLocks/>
          </p:cNvGrpSpPr>
          <p:nvPr/>
        </p:nvGrpSpPr>
        <p:grpSpPr bwMode="auto">
          <a:xfrm>
            <a:off x="468313" y="5345342"/>
            <a:ext cx="3095625" cy="800567"/>
            <a:chOff x="467544" y="5561708"/>
            <a:chExt cx="3096344" cy="800679"/>
          </a:xfrm>
        </p:grpSpPr>
        <p:sp>
          <p:nvSpPr>
            <p:cNvPr id="10267" name="Rectangle 3"/>
            <p:cNvSpPr>
              <a:spLocks noChangeArrowheads="1"/>
            </p:cNvSpPr>
            <p:nvPr/>
          </p:nvSpPr>
          <p:spPr bwMode="auto">
            <a:xfrm>
              <a:off x="1043608" y="5561708"/>
              <a:ext cx="2520280" cy="800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b="1" dirty="0" smtClean="0">
                  <a:cs typeface="Times New Roman" panose="02020603050405020304" pitchFamily="18" charset="0"/>
                </a:rPr>
                <a:t>Phase plasmatique (Transport sanguin)</a:t>
              </a:r>
              <a:r>
                <a:rPr lang="fr-FR" b="1" dirty="0" smtClean="0"/>
                <a:t>    </a:t>
              </a:r>
              <a:endParaRPr lang="fr-FR" sz="2800" b="1" dirty="0"/>
            </a:p>
          </p:txBody>
        </p:sp>
        <p:sp>
          <p:nvSpPr>
            <p:cNvPr id="27" name="Demi-cadre 26"/>
            <p:cNvSpPr/>
            <p:nvPr/>
          </p:nvSpPr>
          <p:spPr>
            <a:xfrm rot="10800000" flipH="1">
              <a:off x="899444" y="5631115"/>
              <a:ext cx="647850" cy="360569"/>
            </a:xfrm>
            <a:prstGeom prst="halfFrame">
              <a:avLst>
                <a:gd name="adj1" fmla="val 17655"/>
                <a:gd name="adj2" fmla="val 22881"/>
              </a:avLst>
            </a:prstGeom>
            <a:noFill/>
            <a:ln w="19050">
              <a:solidFill>
                <a:schemeClr val="bg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7544" y="5645631"/>
              <a:ext cx="360446" cy="360569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dirty="0"/>
                <a:t>1</a:t>
              </a:r>
            </a:p>
          </p:txBody>
        </p:sp>
      </p:grpSp>
      <p:grpSp>
        <p:nvGrpSpPr>
          <p:cNvPr id="3" name="Groupe 13"/>
          <p:cNvGrpSpPr>
            <a:grpSpLocks/>
          </p:cNvGrpSpPr>
          <p:nvPr/>
        </p:nvGrpSpPr>
        <p:grpSpPr bwMode="auto">
          <a:xfrm>
            <a:off x="4716464" y="5248295"/>
            <a:ext cx="3145013" cy="872035"/>
            <a:chOff x="4716016" y="5464293"/>
            <a:chExt cx="3144795" cy="872534"/>
          </a:xfrm>
        </p:grpSpPr>
        <p:sp>
          <p:nvSpPr>
            <p:cNvPr id="10264" name="Rectangle 3"/>
            <p:cNvSpPr>
              <a:spLocks noChangeArrowheads="1"/>
            </p:cNvSpPr>
            <p:nvPr/>
          </p:nvSpPr>
          <p:spPr bwMode="auto">
            <a:xfrm>
              <a:off x="5315999" y="5464293"/>
              <a:ext cx="2544812" cy="872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fr-FR" b="1" dirty="0" smtClean="0">
                  <a:solidFill>
                    <a:srgbClr val="000000"/>
                  </a:solidFill>
                </a:rPr>
                <a:t>Phase tissulaire (Diffusion tissulaire) </a:t>
              </a:r>
              <a:endParaRPr lang="fr-FR" b="1" dirty="0">
                <a:solidFill>
                  <a:srgbClr val="000000"/>
                </a:solidFill>
              </a:endParaRPr>
            </a:p>
          </p:txBody>
        </p:sp>
        <p:sp>
          <p:nvSpPr>
            <p:cNvPr id="26" name="Demi-cadre 25"/>
            <p:cNvSpPr/>
            <p:nvPr/>
          </p:nvSpPr>
          <p:spPr>
            <a:xfrm rot="10800000" flipH="1">
              <a:off x="5147786" y="5616549"/>
              <a:ext cx="647655" cy="360569"/>
            </a:xfrm>
            <a:prstGeom prst="halfFrame">
              <a:avLst>
                <a:gd name="adj1" fmla="val 17655"/>
                <a:gd name="adj2" fmla="val 22881"/>
              </a:avLst>
            </a:prstGeom>
            <a:noFill/>
            <a:ln w="19050">
              <a:solidFill>
                <a:schemeClr val="bg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716016" y="5631070"/>
              <a:ext cx="360337" cy="360569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dirty="0"/>
                <a:t>2</a:t>
              </a:r>
            </a:p>
          </p:txBody>
        </p:sp>
      </p:grpSp>
      <p:sp>
        <p:nvSpPr>
          <p:cNvPr id="30" name="ZoneTexte 10"/>
          <p:cNvSpPr txBox="1">
            <a:spLocks noChangeArrowheads="1"/>
          </p:cNvSpPr>
          <p:nvPr/>
        </p:nvSpPr>
        <p:spPr bwMode="auto">
          <a:xfrm>
            <a:off x="250825" y="188913"/>
            <a:ext cx="5041900" cy="511175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b="1" dirty="0">
                <a:latin typeface="Georgia" pitchFamily="18" charset="0"/>
              </a:rPr>
              <a:t> </a:t>
            </a:r>
            <a:r>
              <a:rPr lang="fr-FR" sz="2200" b="1" dirty="0">
                <a:latin typeface="Georgia" pitchFamily="18" charset="0"/>
              </a:rPr>
              <a:t>Étapes de distribution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297476" y="6027737"/>
            <a:ext cx="45354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sz="1600" dirty="0">
                <a:latin typeface="Trebuchet MS" panose="020B0603020202020204" pitchFamily="34" charset="0"/>
              </a:rPr>
              <a:t>– Site accepteur (stockage)</a:t>
            </a:r>
          </a:p>
          <a:p>
            <a:pPr eaLnBrk="1" hangingPunct="1"/>
            <a:r>
              <a:rPr lang="fr-FR" sz="1600" dirty="0">
                <a:latin typeface="Trebuchet MS" panose="020B0603020202020204" pitchFamily="34" charset="0"/>
              </a:rPr>
              <a:t>– Site récepteur (E. thérapeutique ou EI)</a:t>
            </a:r>
          </a:p>
          <a:p>
            <a:pPr eaLnBrk="1" hangingPunct="1"/>
            <a:r>
              <a:rPr lang="fr-FR" sz="1600" dirty="0">
                <a:latin typeface="Trebuchet MS" panose="020B0603020202020204" pitchFamily="34" charset="0"/>
              </a:rPr>
              <a:t>– Site enzymatique (métabolisme)</a:t>
            </a:r>
          </a:p>
        </p:txBody>
      </p:sp>
      <p:sp>
        <p:nvSpPr>
          <p:cNvPr id="21" name="Ellipse 20"/>
          <p:cNvSpPr/>
          <p:nvPr/>
        </p:nvSpPr>
        <p:spPr>
          <a:xfrm rot="5400000">
            <a:off x="2812257" y="2820195"/>
            <a:ext cx="647700" cy="1144587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2" name="Flèche droite 21"/>
          <p:cNvSpPr/>
          <p:nvPr/>
        </p:nvSpPr>
        <p:spPr>
          <a:xfrm>
            <a:off x="3707904" y="3212976"/>
            <a:ext cx="648072" cy="43204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3" name="Flèche droite 22"/>
          <p:cNvSpPr/>
          <p:nvPr/>
        </p:nvSpPr>
        <p:spPr>
          <a:xfrm>
            <a:off x="5292080" y="3212976"/>
            <a:ext cx="648072" cy="43204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38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  <p:bldP spid="21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804862" y="585402"/>
            <a:ext cx="7688263" cy="689188"/>
          </a:xfrm>
        </p:spPr>
        <p:txBody>
          <a:bodyPr>
            <a:normAutofit/>
          </a:bodyPr>
          <a:lstStyle/>
          <a:p>
            <a:r>
              <a:rPr lang="fr-FR" sz="3200" b="1" dirty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/>
              <a:t>   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9413" y="1186032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Fixation des médicaments sur les constituants du sang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1075038" y="2382796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1-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éléments figurés du sang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1062681" y="3680254"/>
            <a:ext cx="7086599" cy="718751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0" name="Rectangle à coins arrondis 9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2163358" y="29758"/>
              <a:ext cx="1769284" cy="956484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2- Fixation sur les protéines plasmatiques</a:t>
              </a:r>
              <a:endParaRPr lang="fr-F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140" y="2335426"/>
            <a:ext cx="8332499" cy="440959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3500" dirty="0" smtClean="0">
                <a:solidFill>
                  <a:srgbClr val="7030A0"/>
                </a:solidFill>
              </a:rPr>
              <a:t>Hématies:</a:t>
            </a:r>
          </a:p>
          <a:p>
            <a:r>
              <a:rPr lang="fr-FR" dirty="0" smtClean="0"/>
              <a:t>Site de fixation:</a:t>
            </a:r>
          </a:p>
          <a:p>
            <a:pPr lvl="1"/>
            <a:r>
              <a:rPr lang="fr-FR" dirty="0" smtClean="0"/>
              <a:t>Membrane cellulaire.</a:t>
            </a:r>
          </a:p>
          <a:p>
            <a:pPr lvl="1"/>
            <a:r>
              <a:rPr lang="fr-FR" dirty="0" smtClean="0"/>
              <a:t>Constituants intracellulaires: </a:t>
            </a:r>
            <a:r>
              <a:rPr lang="fr-FR" dirty="0" err="1" smtClean="0"/>
              <a:t>Hb</a:t>
            </a:r>
            <a:r>
              <a:rPr lang="fr-FR" dirty="0" smtClean="0"/>
              <a:t>, </a:t>
            </a:r>
            <a:r>
              <a:rPr lang="fr-FR" dirty="0" err="1" smtClean="0"/>
              <a:t>anhydrase</a:t>
            </a:r>
            <a:r>
              <a:rPr lang="fr-FR" dirty="0" smtClean="0"/>
              <a:t> carbonique.</a:t>
            </a:r>
          </a:p>
          <a:p>
            <a:r>
              <a:rPr lang="fr-FR" dirty="0" smtClean="0"/>
              <a:t>Exemples de médicaments: </a:t>
            </a:r>
            <a:r>
              <a:rPr lang="fr-FR" i="1" dirty="0" err="1" smtClean="0"/>
              <a:t>Pentazocine</a:t>
            </a:r>
            <a:r>
              <a:rPr lang="fr-FR" i="1" dirty="0" smtClean="0"/>
              <a:t>, </a:t>
            </a:r>
            <a:r>
              <a:rPr lang="fr-FR" i="1" dirty="0" err="1" smtClean="0"/>
              <a:t>Promazine</a:t>
            </a:r>
            <a:r>
              <a:rPr lang="fr-FR" i="1" dirty="0" smtClean="0"/>
              <a:t>, Salicylate, Metformine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pPr marL="514350" indent="-514350">
              <a:buFont typeface="+mj-lt"/>
              <a:buAutoNum type="arabicPeriod" startAt="2"/>
            </a:pPr>
            <a:r>
              <a:rPr lang="fr-FR" sz="3500" dirty="0" smtClean="0">
                <a:solidFill>
                  <a:srgbClr val="7030A0"/>
                </a:solidFill>
              </a:rPr>
              <a:t>Leucocytes:</a:t>
            </a:r>
          </a:p>
          <a:p>
            <a:r>
              <a:rPr lang="fr-FR" dirty="0" smtClean="0"/>
              <a:t>Exemples de médicament : </a:t>
            </a:r>
            <a:r>
              <a:rPr lang="fr-FR" i="1" dirty="0" err="1" smtClean="0"/>
              <a:t>Azithromycine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pPr marL="514350" indent="-514350">
              <a:buFont typeface="+mj-lt"/>
              <a:buAutoNum type="arabicPeriod" startAt="3"/>
            </a:pPr>
            <a:r>
              <a:rPr lang="fr-FR" sz="3500" dirty="0" smtClean="0">
                <a:solidFill>
                  <a:srgbClr val="7030A0"/>
                </a:solidFill>
              </a:rPr>
              <a:t>Conséquence:</a:t>
            </a:r>
          </a:p>
          <a:p>
            <a:r>
              <a:rPr lang="fr-FR" dirty="0" smtClean="0"/>
              <a:t>Comportement pharmacocinétique particulier.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9" name="Groupe 8"/>
          <p:cNvGrpSpPr/>
          <p:nvPr/>
        </p:nvGrpSpPr>
        <p:grpSpPr>
          <a:xfrm>
            <a:off x="1322171" y="1092368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0" name="Rectangle à coins arrondis 9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1-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éléments figurés du sang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2" name="Titre 1"/>
          <p:cNvSpPr txBox="1">
            <a:spLocks/>
          </p:cNvSpPr>
          <p:nvPr/>
        </p:nvSpPr>
        <p:spPr>
          <a:xfrm>
            <a:off x="1002805" y="365178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  <p:sp>
        <p:nvSpPr>
          <p:cNvPr id="7" name="Ellipse 6"/>
          <p:cNvSpPr/>
          <p:nvPr/>
        </p:nvSpPr>
        <p:spPr>
          <a:xfrm>
            <a:off x="6734629" y="4572000"/>
            <a:ext cx="2123621" cy="1291771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/>
              <a:t>Concerne les médicaments </a:t>
            </a:r>
            <a:r>
              <a:rPr lang="fr-FR" sz="2000" b="1" dirty="0"/>
              <a:t>lipophiles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36</a:t>
            </a:fld>
            <a:endParaRPr lang="en-US"/>
          </a:p>
        </p:txBody>
      </p:sp>
      <p:grpSp>
        <p:nvGrpSpPr>
          <p:cNvPr id="6" name="Groupe 5"/>
          <p:cNvGrpSpPr/>
          <p:nvPr/>
        </p:nvGrpSpPr>
        <p:grpSpPr>
          <a:xfrm>
            <a:off x="1322171" y="1043460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protéines plasmatiques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691980" y="2903835"/>
            <a:ext cx="7982468" cy="756505"/>
            <a:chOff x="395412" y="3311616"/>
            <a:chExt cx="7982468" cy="756505"/>
          </a:xfrm>
        </p:grpSpPr>
        <p:grpSp>
          <p:nvGrpSpPr>
            <p:cNvPr id="24" name="Groupe 23"/>
            <p:cNvGrpSpPr/>
            <p:nvPr/>
          </p:nvGrpSpPr>
          <p:grpSpPr>
            <a:xfrm>
              <a:off x="395412" y="3447537"/>
              <a:ext cx="7982468" cy="426996"/>
              <a:chOff x="395412" y="3447537"/>
              <a:chExt cx="7982468" cy="426996"/>
            </a:xfrm>
          </p:grpSpPr>
          <p:sp>
            <p:nvSpPr>
              <p:cNvPr id="9" name="ZoneTexte 8"/>
              <p:cNvSpPr txBox="1"/>
              <p:nvPr/>
            </p:nvSpPr>
            <p:spPr>
              <a:xfrm>
                <a:off x="395412" y="3447537"/>
                <a:ext cx="21253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smtClean="0"/>
                  <a:t>[Médicament libre] </a:t>
                </a:r>
                <a:endParaRPr lang="fr-FR" dirty="0"/>
              </a:p>
            </p:txBody>
          </p:sp>
          <p:sp>
            <p:nvSpPr>
              <p:cNvPr id="10" name="ZoneTexte 9"/>
              <p:cNvSpPr txBox="1"/>
              <p:nvPr/>
            </p:nvSpPr>
            <p:spPr>
              <a:xfrm>
                <a:off x="2496053" y="3459892"/>
                <a:ext cx="3707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+</a:t>
                </a:r>
                <a:endParaRPr lang="fr-FR" dirty="0"/>
              </a:p>
            </p:txBody>
          </p:sp>
          <p:sp>
            <p:nvSpPr>
              <p:cNvPr id="11" name="ZoneTexte 10"/>
              <p:cNvSpPr txBox="1"/>
              <p:nvPr/>
            </p:nvSpPr>
            <p:spPr>
              <a:xfrm>
                <a:off x="2784377" y="3464011"/>
                <a:ext cx="1701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smtClean="0"/>
                  <a:t>[Protéine libre]</a:t>
                </a:r>
                <a:endParaRPr lang="fr-FR" dirty="0"/>
              </a:p>
            </p:txBody>
          </p:sp>
          <p:grpSp>
            <p:nvGrpSpPr>
              <p:cNvPr id="22" name="Groupe 21"/>
              <p:cNvGrpSpPr/>
              <p:nvPr/>
            </p:nvGrpSpPr>
            <p:grpSpPr>
              <a:xfrm>
                <a:off x="4617296" y="3632886"/>
                <a:ext cx="1165655" cy="123567"/>
                <a:chOff x="5198075" y="3632886"/>
                <a:chExt cx="1165655" cy="123567"/>
              </a:xfrm>
            </p:grpSpPr>
            <p:cxnSp>
              <p:nvCxnSpPr>
                <p:cNvPr id="16" name="Connecteur droit avec flèche 15"/>
                <p:cNvCxnSpPr/>
                <p:nvPr/>
              </p:nvCxnSpPr>
              <p:spPr>
                <a:xfrm flipV="1">
                  <a:off x="5198075" y="3632886"/>
                  <a:ext cx="1165655" cy="8246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Connecteur droit avec flèche 17"/>
                <p:cNvCxnSpPr/>
                <p:nvPr/>
              </p:nvCxnSpPr>
              <p:spPr>
                <a:xfrm rot="10800000" flipV="1">
                  <a:off x="5202198" y="3744096"/>
                  <a:ext cx="1124462" cy="12357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ZoneTexte 22"/>
              <p:cNvSpPr txBox="1"/>
              <p:nvPr/>
            </p:nvSpPr>
            <p:spPr>
              <a:xfrm>
                <a:off x="5832388" y="3505201"/>
                <a:ext cx="25454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smtClean="0"/>
                  <a:t>[Médicament-Protéine]</a:t>
                </a:r>
                <a:endParaRPr lang="fr-FR" dirty="0"/>
              </a:p>
            </p:txBody>
          </p:sp>
        </p:grpSp>
        <p:sp>
          <p:nvSpPr>
            <p:cNvPr id="25" name="ZoneTexte 24"/>
            <p:cNvSpPr txBox="1"/>
            <p:nvPr/>
          </p:nvSpPr>
          <p:spPr>
            <a:xfrm>
              <a:off x="4955062" y="3311616"/>
              <a:ext cx="469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K</a:t>
              </a:r>
              <a:r>
                <a:rPr lang="fr-FR" baseline="-25000" dirty="0" smtClean="0"/>
                <a:t>1</a:t>
              </a:r>
              <a:endParaRPr lang="fr-FR" baseline="-25000" dirty="0"/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4959178" y="3698789"/>
              <a:ext cx="469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K</a:t>
              </a:r>
              <a:r>
                <a:rPr lang="fr-FR" baseline="-25000" dirty="0" smtClean="0"/>
                <a:t>2</a:t>
              </a:r>
              <a:endParaRPr lang="fr-FR" baseline="-25000" dirty="0"/>
            </a:p>
          </p:txBody>
        </p:sp>
      </p:grpSp>
      <p:sp>
        <p:nvSpPr>
          <p:cNvPr id="28" name="ZoneTexte 27"/>
          <p:cNvSpPr txBox="1"/>
          <p:nvPr/>
        </p:nvSpPr>
        <p:spPr>
          <a:xfrm>
            <a:off x="963827" y="3410467"/>
            <a:ext cx="14828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7030A0"/>
                </a:solidFill>
              </a:rPr>
              <a:t>Forme libre </a:t>
            </a:r>
            <a:r>
              <a:rPr lang="fr-FR" dirty="0" smtClean="0">
                <a:solidFill>
                  <a:srgbClr val="7030A0"/>
                </a:solidFill>
              </a:rPr>
              <a:t>(</a:t>
            </a:r>
            <a:r>
              <a:rPr lang="fr-FR" sz="2000" i="1" dirty="0" err="1" smtClean="0">
                <a:solidFill>
                  <a:srgbClr val="FF0000"/>
                </a:solidFill>
                <a:latin typeface="Bell MT" pitchFamily="18" charset="0"/>
                <a:cs typeface="+mn-cs"/>
                <a:sym typeface="Wingdings 3"/>
              </a:rPr>
              <a:t>fl</a:t>
            </a:r>
            <a:r>
              <a:rPr lang="fr-FR" dirty="0" smtClean="0">
                <a:solidFill>
                  <a:srgbClr val="7030A0"/>
                </a:solidFill>
              </a:rPr>
              <a:t>)</a:t>
            </a:r>
            <a:endParaRPr lang="fr-FR" dirty="0">
              <a:solidFill>
                <a:srgbClr val="7030A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6540841" y="3439298"/>
            <a:ext cx="1371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7030A0"/>
                </a:solidFill>
              </a:rPr>
              <a:t>Forme liée </a:t>
            </a:r>
            <a:r>
              <a:rPr lang="fr-FR" dirty="0" smtClean="0">
                <a:solidFill>
                  <a:srgbClr val="7030A0"/>
                </a:solidFill>
              </a:rPr>
              <a:t>(</a:t>
            </a:r>
            <a:r>
              <a:rPr lang="fr-FR" sz="2000" i="1" dirty="0" err="1" smtClean="0">
                <a:solidFill>
                  <a:srgbClr val="FF0000"/>
                </a:solidFill>
                <a:latin typeface="Bell MT" pitchFamily="18" charset="0"/>
                <a:cs typeface="+mn-cs"/>
                <a:sym typeface="Wingdings 3"/>
              </a:rPr>
              <a:t>Fl</a:t>
            </a:r>
            <a:r>
              <a:rPr lang="fr-FR" dirty="0" smtClean="0">
                <a:solidFill>
                  <a:srgbClr val="7030A0"/>
                </a:solidFill>
              </a:rPr>
              <a:t>)</a:t>
            </a:r>
            <a:endParaRPr lang="fr-FR" dirty="0">
              <a:solidFill>
                <a:srgbClr val="7030A0"/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4695572" y="3653482"/>
            <a:ext cx="172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7030A0"/>
                </a:solidFill>
              </a:rPr>
              <a:t>Constante de dissociation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625550" y="2310708"/>
            <a:ext cx="1725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rgbClr val="7030A0"/>
                </a:solidFill>
              </a:rPr>
              <a:t>Constante d’association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32" name="Flèche vers le bas 31"/>
          <p:cNvSpPr/>
          <p:nvPr/>
        </p:nvSpPr>
        <p:spPr>
          <a:xfrm>
            <a:off x="1668162" y="4102442"/>
            <a:ext cx="185352" cy="593124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à coins arrondis 32"/>
          <p:cNvSpPr/>
          <p:nvPr/>
        </p:nvSpPr>
        <p:spPr>
          <a:xfrm>
            <a:off x="617837" y="4732637"/>
            <a:ext cx="3286897" cy="17052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Font typeface="Wingdings" pitchFamily="2" charset="2"/>
              <a:buChar char="Ø"/>
            </a:pPr>
            <a:r>
              <a:rPr lang="fr-FR" dirty="0" smtClean="0">
                <a:solidFill>
                  <a:schemeClr val="accent1">
                    <a:lumMod val="50000"/>
                  </a:schemeClr>
                </a:solidFill>
              </a:rPr>
              <a:t>Forme diffusible dans les tissus et les compartiments liquidiens.</a:t>
            </a:r>
          </a:p>
          <a:p>
            <a:pPr algn="just">
              <a:buFont typeface="Wingdings" pitchFamily="2" charset="2"/>
              <a:buChar char="Ø"/>
            </a:pPr>
            <a:r>
              <a:rPr lang="fr-FR" dirty="0" smtClean="0">
                <a:solidFill>
                  <a:schemeClr val="accent1">
                    <a:lumMod val="50000"/>
                  </a:schemeClr>
                </a:solidFill>
              </a:rPr>
              <a:t>Forme </a:t>
            </a:r>
            <a:r>
              <a:rPr lang="fr-FR" dirty="0" err="1" smtClean="0">
                <a:solidFill>
                  <a:schemeClr val="accent1">
                    <a:lumMod val="50000"/>
                  </a:schemeClr>
                </a:solidFill>
              </a:rPr>
              <a:t>pharmacologiquement</a:t>
            </a:r>
            <a:r>
              <a:rPr lang="fr-FR" dirty="0" smtClean="0">
                <a:solidFill>
                  <a:schemeClr val="accent1">
                    <a:lumMod val="50000"/>
                  </a:schemeClr>
                </a:solidFill>
              </a:rPr>
              <a:t> active.</a:t>
            </a:r>
          </a:p>
        </p:txBody>
      </p:sp>
      <p:sp>
        <p:nvSpPr>
          <p:cNvPr id="34" name="Flèche vers le bas 33"/>
          <p:cNvSpPr/>
          <p:nvPr/>
        </p:nvSpPr>
        <p:spPr>
          <a:xfrm>
            <a:off x="7133978" y="4069491"/>
            <a:ext cx="185352" cy="593124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à coins arrondis 34"/>
          <p:cNvSpPr/>
          <p:nvPr/>
        </p:nvSpPr>
        <p:spPr>
          <a:xfrm>
            <a:off x="5539945" y="4699686"/>
            <a:ext cx="3286897" cy="17052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Font typeface="Wingdings" pitchFamily="2" charset="2"/>
              <a:buChar char="Ø"/>
            </a:pPr>
            <a:r>
              <a:rPr lang="fr-FR" dirty="0" smtClean="0">
                <a:solidFill>
                  <a:schemeClr val="accent1">
                    <a:lumMod val="50000"/>
                  </a:schemeClr>
                </a:solidFill>
              </a:rPr>
              <a:t>Forme de stockage et de transport dans le plasma.</a:t>
            </a:r>
          </a:p>
        </p:txBody>
      </p:sp>
      <p:sp>
        <p:nvSpPr>
          <p:cNvPr id="36" name="Titre 1"/>
          <p:cNvSpPr txBox="1">
            <a:spLocks/>
          </p:cNvSpPr>
          <p:nvPr/>
        </p:nvSpPr>
        <p:spPr>
          <a:xfrm>
            <a:off x="1002805" y="297977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  <p:sp>
        <p:nvSpPr>
          <p:cNvPr id="13" name="Organigramme : Alternative 12"/>
          <p:cNvSpPr/>
          <p:nvPr/>
        </p:nvSpPr>
        <p:spPr>
          <a:xfrm>
            <a:off x="6560459" y="2438400"/>
            <a:ext cx="1685925" cy="60135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Affinité _ saturation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 animBg="1"/>
      <p:bldP spid="33" grpId="0" animBg="1"/>
      <p:bldP spid="34" grpId="0" animBg="1"/>
      <p:bldP spid="35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915" y="2631990"/>
            <a:ext cx="8593824" cy="38182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fr-FR" sz="2800" b="1" i="1" dirty="0" smtClean="0">
                <a:solidFill>
                  <a:srgbClr val="7030A0"/>
                </a:solidFill>
              </a:rPr>
              <a:t>PP impliquées dans la liaison aux </a:t>
            </a:r>
            <a:r>
              <a:rPr lang="fr-FR" sz="2800" b="1" i="1" dirty="0" err="1" smtClean="0">
                <a:solidFill>
                  <a:srgbClr val="7030A0"/>
                </a:solidFill>
              </a:rPr>
              <a:t>mdts</a:t>
            </a:r>
            <a:r>
              <a:rPr lang="fr-FR" sz="2800" b="1" i="1" dirty="0" smtClean="0">
                <a:solidFill>
                  <a:srgbClr val="7030A0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 smtClean="0"/>
              <a:t>Albumine.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 smtClean="0">
                <a:sym typeface="Symbol"/>
              </a:rPr>
              <a:t></a:t>
            </a:r>
            <a:r>
              <a:rPr lang="fr-FR" sz="2800" baseline="-25000" dirty="0" smtClean="0">
                <a:sym typeface="Symbol"/>
              </a:rPr>
              <a:t>1</a:t>
            </a:r>
            <a:r>
              <a:rPr lang="fr-FR" sz="2800" dirty="0" smtClean="0">
                <a:sym typeface="Symbol"/>
              </a:rPr>
              <a:t> glycoprotéine acide (</a:t>
            </a:r>
            <a:r>
              <a:rPr lang="fr-FR" sz="2800" dirty="0" err="1" smtClean="0">
                <a:sym typeface="Symbol"/>
              </a:rPr>
              <a:t>Orosomucoïde</a:t>
            </a:r>
            <a:r>
              <a:rPr lang="fr-FR" sz="2800" dirty="0" smtClean="0">
                <a:sym typeface="Symbol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 smtClean="0">
                <a:sym typeface="Symbol"/>
              </a:rPr>
              <a:t>Globulines (, , ).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 smtClean="0">
                <a:sym typeface="Symbol"/>
              </a:rPr>
              <a:t>Lipoprotéines.</a:t>
            </a:r>
            <a:endParaRPr lang="fr-FR" sz="2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37</a:t>
            </a:fld>
            <a:endParaRPr lang="en-US"/>
          </a:p>
        </p:txBody>
      </p:sp>
      <p:grpSp>
        <p:nvGrpSpPr>
          <p:cNvPr id="6" name="Groupe 5"/>
          <p:cNvGrpSpPr/>
          <p:nvPr/>
        </p:nvGrpSpPr>
        <p:grpSpPr>
          <a:xfrm>
            <a:off x="1254062" y="1187603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protéines plasmatiques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" name="Titre 1"/>
          <p:cNvSpPr txBox="1">
            <a:spLocks/>
          </p:cNvSpPr>
          <p:nvPr/>
        </p:nvSpPr>
        <p:spPr>
          <a:xfrm>
            <a:off x="1002805" y="446407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1915" y="2372497"/>
            <a:ext cx="8593824" cy="3753666"/>
          </a:xfrm>
        </p:spPr>
        <p:txBody>
          <a:bodyPr/>
          <a:lstStyle/>
          <a:p>
            <a:pPr marL="514350" indent="-514350" algn="just">
              <a:lnSpc>
                <a:spcPct val="80000"/>
              </a:lnSpc>
              <a:buFont typeface="+mj-lt"/>
              <a:buAutoNum type="arabicPeriod" startAt="2"/>
            </a:pPr>
            <a:r>
              <a:rPr lang="fr-FR" sz="2400" b="1" i="1" dirty="0" smtClean="0">
                <a:solidFill>
                  <a:srgbClr val="7030A0"/>
                </a:solidFill>
              </a:rPr>
              <a:t>Caractéristiques de la liaison aux PP selon la nature du </a:t>
            </a:r>
            <a:r>
              <a:rPr lang="fr-FR" sz="2400" b="1" i="1" dirty="0" err="1" smtClean="0">
                <a:solidFill>
                  <a:srgbClr val="7030A0"/>
                </a:solidFill>
              </a:rPr>
              <a:t>mdt</a:t>
            </a:r>
            <a:r>
              <a:rPr lang="fr-FR" sz="2400" b="1" i="1" dirty="0" smtClean="0">
                <a:solidFill>
                  <a:srgbClr val="7030A0"/>
                </a:solidFill>
              </a:rPr>
              <a:t>:</a:t>
            </a:r>
            <a:endParaRPr lang="fr-FR" sz="2400" dirty="0" smtClean="0">
              <a:sym typeface="Symbol"/>
            </a:endParaRPr>
          </a:p>
          <a:p>
            <a:pPr>
              <a:buNone/>
            </a:pPr>
            <a:endParaRPr lang="fr-FR" dirty="0" smtClean="0">
              <a:sym typeface="Symbol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2" name="Groupe 5"/>
          <p:cNvGrpSpPr/>
          <p:nvPr/>
        </p:nvGrpSpPr>
        <p:grpSpPr>
          <a:xfrm>
            <a:off x="1254062" y="1117050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protéines plasmatiques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19798"/>
              </p:ext>
            </p:extLst>
          </p:nvPr>
        </p:nvGraphicFramePr>
        <p:xfrm>
          <a:off x="861553" y="3090031"/>
          <a:ext cx="7571946" cy="335727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78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750"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Acides faibles 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Bases faibles</a:t>
                      </a:r>
                      <a:endParaRPr lang="fr-F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2521">
                <a:tc>
                  <a:txBody>
                    <a:bodyPr/>
                    <a:lstStyle/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Fixation sur l’Albumine +++.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Fixation réversible.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Forte affinité.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Faible nombre de sites.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Saturation possible.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Interactions possibles.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Ex: AINS, AVK, Barbituriques, hypoglycémiants….</a:t>
                      </a:r>
                    </a:p>
                    <a:p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Fixation</a:t>
                      </a:r>
                      <a:r>
                        <a:rPr lang="fr-FR" sz="2000" baseline="0" dirty="0" smtClean="0"/>
                        <a:t> sur toutes les PP.</a:t>
                      </a:r>
                      <a:endParaRPr lang="fr-FR" sz="2000" dirty="0" smtClean="0"/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Fixation réversible.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Faible affinité.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Nombre de sites élevé.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Saturation peu probable.</a:t>
                      </a:r>
                    </a:p>
                    <a:p>
                      <a:pPr lvl="0">
                        <a:buFont typeface="Wingdings" pitchFamily="2" charset="2"/>
                        <a:buChar char="Ø"/>
                      </a:pPr>
                      <a:r>
                        <a:rPr lang="fr-FR" sz="2000" dirty="0" smtClean="0"/>
                        <a:t>Interactions rares.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fr-FR" sz="2000" dirty="0" smtClean="0"/>
                        <a:t>Ex: </a:t>
                      </a:r>
                      <a:r>
                        <a:rPr lang="el-GR" sz="2000" dirty="0" smtClean="0"/>
                        <a:t>β</a:t>
                      </a:r>
                      <a:r>
                        <a:rPr lang="fr-FR" sz="2000" dirty="0" smtClean="0"/>
                        <a:t>-bloquants, antidépresseurs, </a:t>
                      </a:r>
                      <a:r>
                        <a:rPr lang="fr-FR" sz="2000" dirty="0" err="1" smtClean="0"/>
                        <a:t>quinidine</a:t>
                      </a:r>
                      <a:r>
                        <a:rPr lang="fr-FR" sz="2000" dirty="0" smtClean="0"/>
                        <a:t>…</a:t>
                      </a:r>
                      <a:endParaRPr lang="fr-FR" sz="20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re 1"/>
          <p:cNvSpPr txBox="1">
            <a:spLocks/>
          </p:cNvSpPr>
          <p:nvPr/>
        </p:nvSpPr>
        <p:spPr>
          <a:xfrm>
            <a:off x="804862" y="419099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9413" y="2251674"/>
            <a:ext cx="8828604" cy="951471"/>
          </a:xfrm>
        </p:spPr>
        <p:txBody>
          <a:bodyPr/>
          <a:lstStyle/>
          <a:p>
            <a:pPr marL="514350" indent="-514350">
              <a:lnSpc>
                <a:spcPct val="80000"/>
              </a:lnSpc>
              <a:buFont typeface="+mj-lt"/>
              <a:buAutoNum type="arabicPeriod" startAt="3"/>
            </a:pPr>
            <a:r>
              <a:rPr lang="fr-FR" sz="2800" b="1" i="1" dirty="0" smtClean="0">
                <a:solidFill>
                  <a:srgbClr val="7030A0"/>
                </a:solidFill>
              </a:rPr>
              <a:t>Classification des médicaments selon leur pourcentage de fixation aux PP: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2" name="Groupe 5"/>
          <p:cNvGrpSpPr/>
          <p:nvPr/>
        </p:nvGrpSpPr>
        <p:grpSpPr>
          <a:xfrm>
            <a:off x="1168949" y="1167749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protéines plasmatiques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" name="Titre 1"/>
          <p:cNvSpPr txBox="1">
            <a:spLocks/>
          </p:cNvSpPr>
          <p:nvPr/>
        </p:nvSpPr>
        <p:spPr>
          <a:xfrm>
            <a:off x="849583" y="470128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606118"/>
              </p:ext>
            </p:extLst>
          </p:nvPr>
        </p:nvGraphicFramePr>
        <p:xfrm>
          <a:off x="1130130" y="3487599"/>
          <a:ext cx="6893421" cy="1286913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85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50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latin typeface="Times New Roman"/>
                          <a:ea typeface="Times New Roman"/>
                        </a:rPr>
                        <a:t>Pourcentage</a:t>
                      </a:r>
                      <a:r>
                        <a:rPr lang="fr-FR" sz="1400" b="1" baseline="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fr-FR" sz="1400" b="1" dirty="0" smtClean="0">
                          <a:latin typeface="Times New Roman"/>
                          <a:ea typeface="Times New Roman"/>
                        </a:rPr>
                        <a:t>de </a:t>
                      </a:r>
                      <a:r>
                        <a:rPr lang="fr-FR" sz="1400" b="1" dirty="0">
                          <a:latin typeface="Times New Roman"/>
                          <a:ea typeface="Times New Roman"/>
                        </a:rPr>
                        <a:t>liaison </a:t>
                      </a:r>
                      <a:endParaRPr lang="fr-FR" sz="14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BC5F7">
                            <a:shade val="30000"/>
                            <a:satMod val="115000"/>
                          </a:srgbClr>
                        </a:gs>
                        <a:gs pos="50000">
                          <a:srgbClr val="FBC5F7">
                            <a:shade val="67500"/>
                            <a:satMod val="115000"/>
                          </a:srgbClr>
                        </a:gs>
                        <a:gs pos="100000">
                          <a:srgbClr val="FBC5F7">
                            <a:shade val="100000"/>
                            <a:satMod val="115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latin typeface="Times New Roman"/>
                          <a:ea typeface="Times New Roman"/>
                        </a:rPr>
                        <a:t>Classification</a:t>
                      </a:r>
                      <a:endParaRPr lang="fr-FR" sz="14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BC5F7">
                            <a:shade val="30000"/>
                            <a:satMod val="115000"/>
                          </a:srgbClr>
                        </a:gs>
                        <a:gs pos="50000">
                          <a:srgbClr val="FBC5F7">
                            <a:shade val="67500"/>
                            <a:satMod val="115000"/>
                          </a:srgbClr>
                        </a:gs>
                        <a:gs pos="100000">
                          <a:srgbClr val="FBC5F7">
                            <a:shade val="100000"/>
                            <a:satMod val="115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 smtClean="0">
                          <a:latin typeface="Times New Roman"/>
                          <a:ea typeface="Times New Roman"/>
                        </a:rPr>
                        <a:t>Exemples</a:t>
                      </a:r>
                      <a:r>
                        <a:rPr lang="fr-FR" sz="1400" b="1" baseline="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fr-FR" sz="1400" b="1" dirty="0" smtClean="0">
                          <a:latin typeface="Times New Roman"/>
                          <a:ea typeface="Times New Roman"/>
                        </a:rPr>
                        <a:t>de </a:t>
                      </a:r>
                      <a:r>
                        <a:rPr lang="fr-FR" sz="1400" b="1" dirty="0">
                          <a:latin typeface="Times New Roman"/>
                          <a:ea typeface="Times New Roman"/>
                        </a:rPr>
                        <a:t>médicaments</a:t>
                      </a:r>
                      <a:endParaRPr lang="fr-FR" sz="14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FBC5F7">
                            <a:shade val="30000"/>
                            <a:satMod val="115000"/>
                          </a:srgbClr>
                        </a:gs>
                        <a:gs pos="50000">
                          <a:srgbClr val="FBC5F7">
                            <a:shade val="67500"/>
                            <a:satMod val="115000"/>
                          </a:srgbClr>
                        </a:gs>
                        <a:gs pos="100000">
                          <a:srgbClr val="FBC5F7">
                            <a:shade val="100000"/>
                            <a:satMod val="115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40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latin typeface="Times New Roman"/>
                          <a:ea typeface="Times New Roman"/>
                        </a:rPr>
                        <a:t>Supérieur à </a:t>
                      </a:r>
                      <a:r>
                        <a:rPr lang="fr-FR" sz="1600" b="1" dirty="0">
                          <a:latin typeface="Times New Roman"/>
                          <a:ea typeface="Times New Roman"/>
                        </a:rPr>
                        <a:t>75%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Times New Roman"/>
                          <a:ea typeface="Times New Roman"/>
                        </a:rPr>
                        <a:t>Les médicaments fortement fixés</a:t>
                      </a:r>
                      <a:endParaRPr lang="fr-FR" sz="16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Dicoumarol (99%)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 err="1">
                          <a:latin typeface="Times New Roman"/>
                          <a:ea typeface="Times New Roman"/>
                        </a:rPr>
                        <a:t>Warfarine</a:t>
                      </a: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 (99%) 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Rifampicine (89%)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902914"/>
              </p:ext>
            </p:extLst>
          </p:nvPr>
        </p:nvGraphicFramePr>
        <p:xfrm>
          <a:off x="1130130" y="4774512"/>
          <a:ext cx="6893421" cy="891575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85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15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latin typeface="Times New Roman"/>
                          <a:ea typeface="Times New Roman"/>
                        </a:rPr>
                        <a:t>Compris </a:t>
                      </a:r>
                      <a:endParaRPr lang="fr-FR" sz="1600" dirty="0" smtClean="0">
                        <a:latin typeface="Times New Roman"/>
                        <a:ea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smtClean="0">
                          <a:latin typeface="Times New Roman"/>
                          <a:ea typeface="Times New Roman"/>
                        </a:rPr>
                        <a:t>entre </a:t>
                      </a:r>
                      <a:r>
                        <a:rPr lang="fr-FR" sz="1600" b="1" dirty="0">
                          <a:latin typeface="Times New Roman"/>
                          <a:ea typeface="Times New Roman"/>
                        </a:rPr>
                        <a:t>45-75%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Times New Roman"/>
                          <a:ea typeface="Times New Roman"/>
                        </a:rPr>
                        <a:t>Les médicaments moyennement fixés</a:t>
                      </a:r>
                      <a:endParaRPr lang="fr-FR" sz="16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Phénobarbital (50%)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Pénicilline G (52%)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 err="1">
                          <a:latin typeface="Times New Roman"/>
                          <a:ea typeface="Times New Roman"/>
                        </a:rPr>
                        <a:t>Quinidine</a:t>
                      </a: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 (75%)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19669"/>
              </p:ext>
            </p:extLst>
          </p:nvPr>
        </p:nvGraphicFramePr>
        <p:xfrm>
          <a:off x="1130130" y="5638608"/>
          <a:ext cx="6893421" cy="773840"/>
        </p:xfrm>
        <a:graphic>
          <a:graphicData uri="http://schemas.openxmlformats.org/drawingml/2006/table">
            <a:tbl>
              <a:tblPr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1851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38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latin typeface="Times New Roman"/>
                          <a:ea typeface="Calibri"/>
                          <a:cs typeface="Arial"/>
                        </a:rPr>
                        <a:t>Inférieur </a:t>
                      </a:r>
                      <a:r>
                        <a:rPr lang="fr-FR" sz="1600" b="1" dirty="0">
                          <a:latin typeface="Times New Roman"/>
                          <a:ea typeface="Calibri"/>
                          <a:cs typeface="Arial"/>
                        </a:rPr>
                        <a:t>à 45%</a:t>
                      </a:r>
                      <a:endParaRPr lang="fr-FR" sz="1400" b="1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Times New Roman"/>
                          <a:ea typeface="Times New Roman"/>
                        </a:rPr>
                        <a:t>Les médicaments faiblement fixés</a:t>
                      </a:r>
                      <a:endParaRPr lang="fr-FR" sz="1600" dirty="0">
                        <a:latin typeface="Times New Roman"/>
                        <a:ea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 rtl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Isoniazide (0%)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Paracétamol (4%)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-"/>
                        <a:tabLst>
                          <a:tab pos="228600" algn="l"/>
                        </a:tabLst>
                      </a:pPr>
                      <a:r>
                        <a:rPr lang="fr-FR" sz="1400" dirty="0">
                          <a:latin typeface="Times New Roman"/>
                          <a:ea typeface="Times New Roman"/>
                        </a:rPr>
                        <a:t>Morphine (35%)</a:t>
                      </a: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8013" y="2152089"/>
            <a:ext cx="8279026" cy="454728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fr-FR" sz="3000" b="1" i="1" dirty="0" smtClean="0">
                <a:solidFill>
                  <a:srgbClr val="7030A0"/>
                </a:solidFill>
              </a:rPr>
              <a:t>Limites de la liaison </a:t>
            </a:r>
            <a:r>
              <a:rPr lang="fr-FR" sz="3000" b="1" i="1" dirty="0" err="1" smtClean="0">
                <a:solidFill>
                  <a:srgbClr val="7030A0"/>
                </a:solidFill>
              </a:rPr>
              <a:t>mdt</a:t>
            </a:r>
            <a:r>
              <a:rPr lang="fr-FR" sz="3000" b="1" i="1" dirty="0" smtClean="0">
                <a:solidFill>
                  <a:srgbClr val="7030A0"/>
                </a:solidFill>
              </a:rPr>
              <a:t>-PP:</a:t>
            </a:r>
            <a:endParaRPr lang="fr-FR" sz="2800" b="1" i="1" dirty="0" smtClean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400" b="1" dirty="0" smtClean="0">
                <a:solidFill>
                  <a:srgbClr val="002060"/>
                </a:solidFill>
              </a:rPr>
              <a:t>pH sanguin et </a:t>
            </a:r>
            <a:r>
              <a:rPr lang="fr-FR" sz="2400" b="1" dirty="0" err="1" smtClean="0">
                <a:solidFill>
                  <a:srgbClr val="002060"/>
                </a:solidFill>
              </a:rPr>
              <a:t>pKa</a:t>
            </a:r>
            <a:r>
              <a:rPr lang="fr-FR" sz="2400" b="1" dirty="0" smtClean="0">
                <a:solidFill>
                  <a:srgbClr val="002060"/>
                </a:solidFill>
              </a:rPr>
              <a:t> de la molécule:</a:t>
            </a:r>
            <a:r>
              <a:rPr lang="fr-FR" sz="2400" dirty="0"/>
              <a:t> </a:t>
            </a:r>
            <a:r>
              <a:rPr lang="fr-FR" sz="2400" dirty="0" smtClean="0">
                <a:sym typeface="Wingdings 3"/>
              </a:rPr>
              <a:t>formes ionisées forme non diffusible.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Saturation des sites de fixation</a:t>
            </a:r>
            <a:r>
              <a:rPr lang="fr-FR" sz="2400" b="1" dirty="0" smtClean="0">
                <a:solidFill>
                  <a:srgbClr val="002060"/>
                </a:solidFill>
              </a:rPr>
              <a:t>: </a:t>
            </a:r>
            <a:r>
              <a:rPr lang="fr-FR" sz="2400" dirty="0" smtClean="0"/>
              <a:t>(</a:t>
            </a:r>
            <a:r>
              <a:rPr lang="fr-FR" sz="2400" dirty="0"/>
              <a:t>Albumine </a:t>
            </a:r>
            <a:r>
              <a:rPr lang="fr-FR" sz="2400" dirty="0" smtClean="0"/>
              <a:t>+++).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Influence des facteurs pathologiques </a:t>
            </a:r>
            <a:r>
              <a:rPr lang="fr-FR" sz="2400" b="1" dirty="0" smtClean="0">
                <a:solidFill>
                  <a:srgbClr val="002060"/>
                </a:solidFill>
              </a:rPr>
              <a:t>:</a:t>
            </a:r>
            <a:r>
              <a:rPr lang="fr-FR" sz="2400" dirty="0">
                <a:solidFill>
                  <a:prstClr val="black"/>
                </a:solidFill>
              </a:rPr>
              <a:t> Pathologies affectant le taux de PP ou le pH </a:t>
            </a:r>
            <a:r>
              <a:rPr lang="fr-FR" sz="2400" dirty="0" smtClean="0">
                <a:solidFill>
                  <a:prstClr val="black"/>
                </a:solidFill>
              </a:rPr>
              <a:t>sanguin</a:t>
            </a:r>
          </a:p>
          <a:p>
            <a:pPr lvl="0">
              <a:buClr>
                <a:srgbClr val="1CADE4"/>
              </a:buClr>
              <a:buFont typeface="Wingdings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Influence des facteurs </a:t>
            </a:r>
            <a:r>
              <a:rPr lang="fr-FR" sz="2400" b="1" dirty="0" smtClean="0">
                <a:solidFill>
                  <a:srgbClr val="002060"/>
                </a:solidFill>
              </a:rPr>
              <a:t>physiologiques</a:t>
            </a:r>
          </a:p>
          <a:p>
            <a:pPr lvl="0">
              <a:buClr>
                <a:srgbClr val="1CADE4"/>
              </a:buClr>
              <a:buFont typeface="Wingdings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Interaction des médicaments avec des substances endogènes et </a:t>
            </a:r>
            <a:r>
              <a:rPr lang="fr-FR" sz="2400" b="1" dirty="0" smtClean="0">
                <a:solidFill>
                  <a:srgbClr val="002060"/>
                </a:solidFill>
              </a:rPr>
              <a:t>exogènes</a:t>
            </a:r>
            <a:endParaRPr lang="fr-FR" sz="2400" b="1" dirty="0">
              <a:solidFill>
                <a:srgbClr val="002060"/>
              </a:solidFill>
            </a:endParaRPr>
          </a:p>
          <a:p>
            <a:pPr lvl="0">
              <a:buClr>
                <a:srgbClr val="1CADE4"/>
              </a:buClr>
              <a:buFont typeface="Wingdings" pitchFamily="2" charset="2"/>
              <a:buChar char="Ø"/>
            </a:pPr>
            <a:endParaRPr lang="fr-FR" sz="2400" b="1" dirty="0">
              <a:solidFill>
                <a:srgbClr val="002060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fr-FR" dirty="0" smtClean="0">
              <a:sym typeface="Wingdings 3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2" name="Groupe 5"/>
          <p:cNvGrpSpPr/>
          <p:nvPr/>
        </p:nvGrpSpPr>
        <p:grpSpPr>
          <a:xfrm>
            <a:off x="1122761" y="1122540"/>
            <a:ext cx="7049529" cy="805248"/>
            <a:chOff x="2133600" y="0"/>
            <a:chExt cx="1828800" cy="1016000"/>
          </a:xfr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" name="Rectangle à coins arrondis 6"/>
            <p:cNvSpPr/>
            <p:nvPr/>
          </p:nvSpPr>
          <p:spPr>
            <a:xfrm>
              <a:off x="2133600" y="0"/>
              <a:ext cx="1828800" cy="101600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2163358" y="29758"/>
              <a:ext cx="1769284" cy="812561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fr-FR" sz="2400" b="1" kern="1200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- </a:t>
              </a:r>
              <a:r>
                <a:rPr lang="fr-FR" sz="2400" b="1" dirty="0" smtClean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Fixation sur les protéines plasmatiques</a:t>
              </a:r>
              <a:endParaRPr lang="fr-FR" sz="2400" b="1" kern="1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" name="Titre 1"/>
          <p:cNvSpPr txBox="1">
            <a:spLocks/>
          </p:cNvSpPr>
          <p:nvPr/>
        </p:nvSpPr>
        <p:spPr>
          <a:xfrm>
            <a:off x="804862" y="433352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fr-FR" sz="3200" b="1" dirty="0" smtClean="0">
                <a:cs typeface="Times New Roman" panose="02020603050405020304" pitchFamily="18" charset="0"/>
              </a:rPr>
              <a:t>Phase plasmatique (Transport sanguin)</a:t>
            </a:r>
            <a:r>
              <a:rPr lang="fr-FR" sz="3200" b="1" dirty="0" smtClean="0"/>
              <a:t>    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70" name="Groupe 69"/>
          <p:cNvGrpSpPr/>
          <p:nvPr/>
        </p:nvGrpSpPr>
        <p:grpSpPr>
          <a:xfrm>
            <a:off x="98835" y="1734070"/>
            <a:ext cx="8901005" cy="3726253"/>
            <a:chOff x="98835" y="1351003"/>
            <a:chExt cx="8901005" cy="3726253"/>
          </a:xfrm>
        </p:grpSpPr>
        <p:sp>
          <p:nvSpPr>
            <p:cNvPr id="6" name="ZoneTexte 5"/>
            <p:cNvSpPr txBox="1"/>
            <p:nvPr/>
          </p:nvSpPr>
          <p:spPr>
            <a:xfrm>
              <a:off x="98835" y="3052119"/>
              <a:ext cx="1359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Absorption </a:t>
              </a:r>
              <a:endParaRPr lang="fr-FR" dirty="0"/>
            </a:p>
          </p:txBody>
        </p:sp>
        <p:cxnSp>
          <p:nvCxnSpPr>
            <p:cNvPr id="7" name="Connecteur droit avec flèche 6"/>
            <p:cNvCxnSpPr/>
            <p:nvPr/>
          </p:nvCxnSpPr>
          <p:spPr>
            <a:xfrm flipV="1">
              <a:off x="1400411" y="3299254"/>
              <a:ext cx="527243" cy="4121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e 63"/>
            <p:cNvGrpSpPr/>
            <p:nvPr/>
          </p:nvGrpSpPr>
          <p:grpSpPr>
            <a:xfrm>
              <a:off x="1952329" y="2360143"/>
              <a:ext cx="3015088" cy="1272743"/>
              <a:chOff x="1952329" y="2360143"/>
              <a:chExt cx="3015088" cy="1272743"/>
            </a:xfrm>
          </p:grpSpPr>
          <p:grpSp>
            <p:nvGrpSpPr>
              <p:cNvPr id="63" name="Groupe 62"/>
              <p:cNvGrpSpPr/>
              <p:nvPr/>
            </p:nvGrpSpPr>
            <p:grpSpPr>
              <a:xfrm>
                <a:off x="1952329" y="2916194"/>
                <a:ext cx="3015088" cy="716692"/>
                <a:chOff x="1952329" y="2916194"/>
                <a:chExt cx="3015088" cy="716692"/>
              </a:xfrm>
            </p:grpSpPr>
            <p:sp>
              <p:nvSpPr>
                <p:cNvPr id="32" name="Rectangle à coins arrondis 31"/>
                <p:cNvSpPr/>
                <p:nvPr/>
              </p:nvSpPr>
              <p:spPr>
                <a:xfrm>
                  <a:off x="1964725" y="2916194"/>
                  <a:ext cx="3002692" cy="71669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grpSp>
              <p:nvGrpSpPr>
                <p:cNvPr id="33" name="Groupe 32"/>
                <p:cNvGrpSpPr/>
                <p:nvPr/>
              </p:nvGrpSpPr>
              <p:grpSpPr>
                <a:xfrm>
                  <a:off x="1952329" y="3052119"/>
                  <a:ext cx="3015053" cy="369332"/>
                  <a:chOff x="1915258" y="3052119"/>
                  <a:chExt cx="3015053" cy="369332"/>
                </a:xfrm>
              </p:grpSpPr>
              <p:sp>
                <p:nvSpPr>
                  <p:cNvPr id="8" name="ZoneTexte 7"/>
                  <p:cNvSpPr txBox="1"/>
                  <p:nvPr/>
                </p:nvSpPr>
                <p:spPr>
                  <a:xfrm>
                    <a:off x="1915258" y="3052119"/>
                    <a:ext cx="113682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 – P]</a:t>
                    </a:r>
                    <a:endParaRPr lang="fr-FR" dirty="0"/>
                  </a:p>
                </p:txBody>
              </p:sp>
              <p:grpSp>
                <p:nvGrpSpPr>
                  <p:cNvPr id="17" name="Groupe 16"/>
                  <p:cNvGrpSpPr/>
                  <p:nvPr/>
                </p:nvGrpSpPr>
                <p:grpSpPr>
                  <a:xfrm>
                    <a:off x="2986172" y="3225105"/>
                    <a:ext cx="609633" cy="135933"/>
                    <a:chOff x="3579308" y="3225105"/>
                    <a:chExt cx="1165655" cy="123567"/>
                  </a:xfrm>
                </p:grpSpPr>
                <p:cxnSp>
                  <p:nvCxnSpPr>
                    <p:cNvPr id="10" name="Connecteur droit avec flèche 9"/>
                    <p:cNvCxnSpPr/>
                    <p:nvPr/>
                  </p:nvCxnSpPr>
                  <p:spPr>
                    <a:xfrm flipV="1">
                      <a:off x="3579308" y="3225105"/>
                      <a:ext cx="1165655" cy="8246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Connecteur droit avec flèche 10"/>
                    <p:cNvCxnSpPr/>
                    <p:nvPr/>
                  </p:nvCxnSpPr>
                  <p:spPr>
                    <a:xfrm rot="10800000" flipV="1">
                      <a:off x="3583431" y="3336315"/>
                      <a:ext cx="1124462" cy="12357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" name="ZoneTexte 11"/>
                  <p:cNvSpPr txBox="1"/>
                  <p:nvPr/>
                </p:nvSpPr>
                <p:spPr>
                  <a:xfrm>
                    <a:off x="3608138" y="3052119"/>
                    <a:ext cx="132217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[P] + 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]</a:t>
                    </a:r>
                    <a:endParaRPr lang="fr-FR" dirty="0"/>
                  </a:p>
                </p:txBody>
              </p:sp>
            </p:grpSp>
          </p:grpSp>
          <p:sp>
            <p:nvSpPr>
              <p:cNvPr id="45" name="ZoneTexte 44"/>
              <p:cNvSpPr txBox="1"/>
              <p:nvPr/>
            </p:nvSpPr>
            <p:spPr>
              <a:xfrm>
                <a:off x="2026509" y="2360143"/>
                <a:ext cx="28667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Compartiment central</a:t>
                </a:r>
              </a:p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(sang) </a:t>
                </a:r>
                <a:endParaRPr lang="fr-FR" sz="14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5" name="Groupe 64"/>
            <p:cNvGrpSpPr/>
            <p:nvPr/>
          </p:nvGrpSpPr>
          <p:grpSpPr>
            <a:xfrm>
              <a:off x="5997146" y="1351003"/>
              <a:ext cx="3002694" cy="1285102"/>
              <a:chOff x="5997146" y="1351003"/>
              <a:chExt cx="3002694" cy="1285102"/>
            </a:xfrm>
          </p:grpSpPr>
          <p:grpSp>
            <p:nvGrpSpPr>
              <p:cNvPr id="42" name="Groupe 41"/>
              <p:cNvGrpSpPr/>
              <p:nvPr/>
            </p:nvGrpSpPr>
            <p:grpSpPr>
              <a:xfrm>
                <a:off x="5997148" y="1919413"/>
                <a:ext cx="3002692" cy="716692"/>
                <a:chOff x="5935363" y="2178910"/>
                <a:chExt cx="3002692" cy="716692"/>
              </a:xfrm>
            </p:grpSpPr>
            <p:sp>
              <p:nvSpPr>
                <p:cNvPr id="41" name="Rectangle à coins arrondis 40"/>
                <p:cNvSpPr/>
                <p:nvPr/>
              </p:nvSpPr>
              <p:spPr>
                <a:xfrm>
                  <a:off x="5935363" y="2178910"/>
                  <a:ext cx="3002692" cy="71669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grpSp>
              <p:nvGrpSpPr>
                <p:cNvPr id="24" name="Groupe 23"/>
                <p:cNvGrpSpPr/>
                <p:nvPr/>
              </p:nvGrpSpPr>
              <p:grpSpPr>
                <a:xfrm>
                  <a:off x="5980662" y="2290119"/>
                  <a:ext cx="2842054" cy="381690"/>
                  <a:chOff x="5881806" y="2290119"/>
                  <a:chExt cx="2842054" cy="381690"/>
                </a:xfrm>
              </p:grpSpPr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7587039" y="2302477"/>
                    <a:ext cx="113682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 – P]</a:t>
                    </a:r>
                    <a:endParaRPr lang="fr-FR" dirty="0"/>
                  </a:p>
                </p:txBody>
              </p:sp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7039220" y="2475462"/>
                    <a:ext cx="609633" cy="135933"/>
                    <a:chOff x="3579308" y="3225105"/>
                    <a:chExt cx="1165655" cy="123567"/>
                  </a:xfrm>
                </p:grpSpPr>
                <p:cxnSp>
                  <p:nvCxnSpPr>
                    <p:cNvPr id="20" name="Connecteur droit avec flèche 19"/>
                    <p:cNvCxnSpPr/>
                    <p:nvPr/>
                  </p:nvCxnSpPr>
                  <p:spPr>
                    <a:xfrm flipV="1">
                      <a:off x="3579308" y="3225105"/>
                      <a:ext cx="1165655" cy="8246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Connecteur droit avec flèche 20"/>
                    <p:cNvCxnSpPr/>
                    <p:nvPr/>
                  </p:nvCxnSpPr>
                  <p:spPr>
                    <a:xfrm rot="10800000" flipV="1">
                      <a:off x="3583431" y="3336315"/>
                      <a:ext cx="1124462" cy="12357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" name="ZoneTexte 21"/>
                  <p:cNvSpPr txBox="1"/>
                  <p:nvPr/>
                </p:nvSpPr>
                <p:spPr>
                  <a:xfrm>
                    <a:off x="5881806" y="2290119"/>
                    <a:ext cx="132217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[P] + 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]</a:t>
                    </a:r>
                    <a:endParaRPr lang="fr-FR" dirty="0"/>
                  </a:p>
                </p:txBody>
              </p:sp>
            </p:grpSp>
          </p:grpSp>
          <p:sp>
            <p:nvSpPr>
              <p:cNvPr id="46" name="ZoneTexte 45"/>
              <p:cNvSpPr txBox="1"/>
              <p:nvPr/>
            </p:nvSpPr>
            <p:spPr>
              <a:xfrm>
                <a:off x="5997146" y="1351003"/>
                <a:ext cx="28667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Compartiment périphérique</a:t>
                </a:r>
              </a:p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(foie) </a:t>
                </a:r>
                <a:endParaRPr lang="fr-FR" sz="1400" b="1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66" name="Groupe 65"/>
            <p:cNvGrpSpPr/>
            <p:nvPr/>
          </p:nvGrpSpPr>
          <p:grpSpPr>
            <a:xfrm>
              <a:off x="5885934" y="3566994"/>
              <a:ext cx="3002692" cy="1293337"/>
              <a:chOff x="5885934" y="3566994"/>
              <a:chExt cx="3002692" cy="1293337"/>
            </a:xfrm>
          </p:grpSpPr>
          <p:grpSp>
            <p:nvGrpSpPr>
              <p:cNvPr id="44" name="Groupe 43"/>
              <p:cNvGrpSpPr/>
              <p:nvPr/>
            </p:nvGrpSpPr>
            <p:grpSpPr>
              <a:xfrm>
                <a:off x="5885934" y="4143639"/>
                <a:ext cx="3002692" cy="716692"/>
                <a:chOff x="5972433" y="3772929"/>
                <a:chExt cx="3002692" cy="716692"/>
              </a:xfrm>
            </p:grpSpPr>
            <p:sp>
              <p:nvSpPr>
                <p:cNvPr id="43" name="Rectangle à coins arrondis 42"/>
                <p:cNvSpPr/>
                <p:nvPr/>
              </p:nvSpPr>
              <p:spPr>
                <a:xfrm>
                  <a:off x="5972433" y="3772929"/>
                  <a:ext cx="3002692" cy="716692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grpSp>
              <p:nvGrpSpPr>
                <p:cNvPr id="25" name="Groupe 24"/>
                <p:cNvGrpSpPr/>
                <p:nvPr/>
              </p:nvGrpSpPr>
              <p:grpSpPr>
                <a:xfrm>
                  <a:off x="6058920" y="3925330"/>
                  <a:ext cx="2842054" cy="381690"/>
                  <a:chOff x="5881806" y="2290119"/>
                  <a:chExt cx="2842054" cy="381690"/>
                </a:xfrm>
              </p:grpSpPr>
              <p:sp>
                <p:nvSpPr>
                  <p:cNvPr id="26" name="ZoneTexte 25"/>
                  <p:cNvSpPr txBox="1"/>
                  <p:nvPr/>
                </p:nvSpPr>
                <p:spPr>
                  <a:xfrm>
                    <a:off x="7587039" y="2302477"/>
                    <a:ext cx="113682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 – P]</a:t>
                    </a:r>
                    <a:endParaRPr lang="fr-FR" dirty="0"/>
                  </a:p>
                </p:txBody>
              </p:sp>
              <p:grpSp>
                <p:nvGrpSpPr>
                  <p:cNvPr id="27" name="Groupe 18"/>
                  <p:cNvGrpSpPr/>
                  <p:nvPr/>
                </p:nvGrpSpPr>
                <p:grpSpPr>
                  <a:xfrm>
                    <a:off x="7039220" y="2475384"/>
                    <a:ext cx="609633" cy="135930"/>
                    <a:chOff x="3579308" y="3225105"/>
                    <a:chExt cx="1165655" cy="123567"/>
                  </a:xfrm>
                </p:grpSpPr>
                <p:cxnSp>
                  <p:nvCxnSpPr>
                    <p:cNvPr id="29" name="Connecteur droit avec flèche 28"/>
                    <p:cNvCxnSpPr/>
                    <p:nvPr/>
                  </p:nvCxnSpPr>
                  <p:spPr>
                    <a:xfrm flipV="1">
                      <a:off x="3579308" y="3225105"/>
                      <a:ext cx="1165655" cy="8246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Connecteur droit avec flèche 29"/>
                    <p:cNvCxnSpPr/>
                    <p:nvPr/>
                  </p:nvCxnSpPr>
                  <p:spPr>
                    <a:xfrm rot="10800000" flipV="1">
                      <a:off x="3583431" y="3336315"/>
                      <a:ext cx="1124462" cy="12357"/>
                    </a:xfrm>
                    <a:prstGeom prst="straightConnector1">
                      <a:avLst/>
                    </a:prstGeom>
                    <a:ln w="25400">
                      <a:solidFill>
                        <a:srgbClr val="00206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" name="ZoneTexte 27"/>
                  <p:cNvSpPr txBox="1"/>
                  <p:nvPr/>
                </p:nvSpPr>
                <p:spPr>
                  <a:xfrm>
                    <a:off x="5881806" y="2290119"/>
                    <a:ext cx="132217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dirty="0" smtClean="0"/>
                      <a:t>[P] + [</a:t>
                    </a:r>
                    <a:r>
                      <a:rPr lang="fr-FR" dirty="0" err="1" smtClean="0"/>
                      <a:t>Mdt</a:t>
                    </a:r>
                    <a:r>
                      <a:rPr lang="fr-FR" dirty="0" smtClean="0"/>
                      <a:t>]</a:t>
                    </a:r>
                    <a:endParaRPr lang="fr-FR" dirty="0"/>
                  </a:p>
                </p:txBody>
              </p:sp>
            </p:grpSp>
          </p:grpSp>
          <p:sp>
            <p:nvSpPr>
              <p:cNvPr id="47" name="ZoneTexte 46"/>
              <p:cNvSpPr txBox="1"/>
              <p:nvPr/>
            </p:nvSpPr>
            <p:spPr>
              <a:xfrm>
                <a:off x="5976550" y="3566994"/>
                <a:ext cx="28667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Compartiment profond</a:t>
                </a:r>
              </a:p>
              <a:p>
                <a:pPr algn="ctr"/>
                <a:r>
                  <a:rPr lang="fr-FR" sz="1400" b="1" dirty="0" smtClean="0">
                    <a:solidFill>
                      <a:srgbClr val="FF0000"/>
                    </a:solidFill>
                  </a:rPr>
                  <a:t>(Tissu adipeux) </a:t>
                </a:r>
                <a:endParaRPr lang="fr-FR" sz="14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1" name="ZoneTexte 50"/>
            <p:cNvSpPr txBox="1"/>
            <p:nvPr/>
          </p:nvSpPr>
          <p:spPr>
            <a:xfrm>
              <a:off x="3867677" y="4707924"/>
              <a:ext cx="13098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Élimination </a:t>
              </a:r>
              <a:endParaRPr lang="fr-FR" dirty="0"/>
            </a:p>
          </p:txBody>
        </p:sp>
        <p:grpSp>
          <p:nvGrpSpPr>
            <p:cNvPr id="69" name="Groupe 68"/>
            <p:cNvGrpSpPr/>
            <p:nvPr/>
          </p:nvGrpSpPr>
          <p:grpSpPr>
            <a:xfrm>
              <a:off x="4044780" y="3715252"/>
              <a:ext cx="469557" cy="906177"/>
              <a:chOff x="4044780" y="3715252"/>
              <a:chExt cx="469557" cy="906177"/>
            </a:xfrm>
          </p:grpSpPr>
          <p:cxnSp>
            <p:nvCxnSpPr>
              <p:cNvPr id="48" name="Connecteur droit avec flèche 47"/>
              <p:cNvCxnSpPr/>
              <p:nvPr/>
            </p:nvCxnSpPr>
            <p:spPr>
              <a:xfrm rot="16200000" flipH="1">
                <a:off x="4042718" y="4166275"/>
                <a:ext cx="906177" cy="4132"/>
              </a:xfrm>
              <a:prstGeom prst="straightConnector1">
                <a:avLst/>
              </a:prstGeom>
              <a:ln w="25400">
                <a:solidFill>
                  <a:srgbClr val="00206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ZoneTexte 53"/>
              <p:cNvSpPr txBox="1"/>
              <p:nvPr/>
            </p:nvSpPr>
            <p:spPr>
              <a:xfrm>
                <a:off x="4044780" y="3859427"/>
                <a:ext cx="4695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err="1" smtClean="0">
                    <a:solidFill>
                      <a:srgbClr val="7030A0"/>
                    </a:solidFill>
                  </a:rPr>
                  <a:t>K</a:t>
                </a:r>
                <a:r>
                  <a:rPr lang="fr-FR" b="1" baseline="-25000" dirty="0" err="1" smtClean="0">
                    <a:solidFill>
                      <a:srgbClr val="7030A0"/>
                    </a:solidFill>
                  </a:rPr>
                  <a:t>e</a:t>
                </a:r>
                <a:endParaRPr lang="fr-FR" b="1" baseline="-25000" dirty="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67" name="Groupe 66"/>
            <p:cNvGrpSpPr/>
            <p:nvPr/>
          </p:nvGrpSpPr>
          <p:grpSpPr>
            <a:xfrm>
              <a:off x="4901507" y="2347785"/>
              <a:ext cx="1165655" cy="481902"/>
              <a:chOff x="4901507" y="2347785"/>
              <a:chExt cx="1165655" cy="481902"/>
            </a:xfrm>
          </p:grpSpPr>
          <p:sp>
            <p:nvSpPr>
              <p:cNvPr id="52" name="ZoneTexte 51"/>
              <p:cNvSpPr txBox="1"/>
              <p:nvPr/>
            </p:nvSpPr>
            <p:spPr>
              <a:xfrm>
                <a:off x="5128053" y="2347785"/>
                <a:ext cx="4695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7030A0"/>
                    </a:solidFill>
                  </a:rPr>
                  <a:t>K</a:t>
                </a:r>
                <a:r>
                  <a:rPr lang="fr-FR" b="1" baseline="-25000" dirty="0" smtClean="0">
                    <a:solidFill>
                      <a:srgbClr val="7030A0"/>
                    </a:solidFill>
                  </a:rPr>
                  <a:t>1</a:t>
                </a:r>
                <a:endParaRPr lang="fr-FR" b="1" baseline="-25000" dirty="0">
                  <a:solidFill>
                    <a:srgbClr val="7030A0"/>
                  </a:solidFill>
                </a:endParaRPr>
              </a:p>
            </p:txBody>
          </p:sp>
          <p:grpSp>
            <p:nvGrpSpPr>
              <p:cNvPr id="59" name="Groupe 58"/>
              <p:cNvGrpSpPr/>
              <p:nvPr/>
            </p:nvGrpSpPr>
            <p:grpSpPr>
              <a:xfrm rot="20276373">
                <a:off x="4901507" y="2706120"/>
                <a:ext cx="1165655" cy="123567"/>
                <a:chOff x="4913864" y="3225105"/>
                <a:chExt cx="1165655" cy="123567"/>
              </a:xfrm>
            </p:grpSpPr>
            <p:cxnSp>
              <p:nvCxnSpPr>
                <p:cNvPr id="55" name="Connecteur droit avec flèche 54"/>
                <p:cNvCxnSpPr/>
                <p:nvPr/>
              </p:nvCxnSpPr>
              <p:spPr>
                <a:xfrm flipV="1">
                  <a:off x="4913864" y="3225105"/>
                  <a:ext cx="1165655" cy="8246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avec flèche 55"/>
                <p:cNvCxnSpPr/>
                <p:nvPr/>
              </p:nvCxnSpPr>
              <p:spPr>
                <a:xfrm rot="10800000" flipV="1">
                  <a:off x="4917987" y="3336315"/>
                  <a:ext cx="1124462" cy="12357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8" name="Groupe 67"/>
            <p:cNvGrpSpPr/>
            <p:nvPr/>
          </p:nvGrpSpPr>
          <p:grpSpPr>
            <a:xfrm>
              <a:off x="4856194" y="3822355"/>
              <a:ext cx="1165655" cy="443477"/>
              <a:chOff x="4856194" y="3822355"/>
              <a:chExt cx="1165655" cy="443477"/>
            </a:xfrm>
          </p:grpSpPr>
          <p:sp>
            <p:nvSpPr>
              <p:cNvPr id="53" name="ZoneTexte 52"/>
              <p:cNvSpPr txBox="1"/>
              <p:nvPr/>
            </p:nvSpPr>
            <p:spPr>
              <a:xfrm>
                <a:off x="5070387" y="3896500"/>
                <a:ext cx="4695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7030A0"/>
                    </a:solidFill>
                  </a:rPr>
                  <a:t>K</a:t>
                </a:r>
                <a:r>
                  <a:rPr lang="fr-FR" b="1" baseline="-25000" dirty="0" smtClean="0">
                    <a:solidFill>
                      <a:srgbClr val="7030A0"/>
                    </a:solidFill>
                  </a:rPr>
                  <a:t>2</a:t>
                </a:r>
                <a:endParaRPr lang="fr-FR" b="1" baseline="-25000" dirty="0">
                  <a:solidFill>
                    <a:srgbClr val="7030A0"/>
                  </a:solidFill>
                </a:endParaRPr>
              </a:p>
            </p:txBody>
          </p:sp>
          <p:grpSp>
            <p:nvGrpSpPr>
              <p:cNvPr id="60" name="Groupe 59"/>
              <p:cNvGrpSpPr/>
              <p:nvPr/>
            </p:nvGrpSpPr>
            <p:grpSpPr>
              <a:xfrm rot="2015699">
                <a:off x="4856194" y="3822355"/>
                <a:ext cx="1165655" cy="123567"/>
                <a:chOff x="4913864" y="3225105"/>
                <a:chExt cx="1165655" cy="123567"/>
              </a:xfrm>
            </p:grpSpPr>
            <p:cxnSp>
              <p:nvCxnSpPr>
                <p:cNvPr id="61" name="Connecteur droit avec flèche 60"/>
                <p:cNvCxnSpPr/>
                <p:nvPr/>
              </p:nvCxnSpPr>
              <p:spPr>
                <a:xfrm flipV="1">
                  <a:off x="4913864" y="3225105"/>
                  <a:ext cx="1165655" cy="8246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Connecteur droit avec flèche 61"/>
                <p:cNvCxnSpPr/>
                <p:nvPr/>
              </p:nvCxnSpPr>
              <p:spPr>
                <a:xfrm rot="10800000" flipV="1">
                  <a:off x="4917987" y="3336315"/>
                  <a:ext cx="1124462" cy="12357"/>
                </a:xfrm>
                <a:prstGeom prst="straightConnector1">
                  <a:avLst/>
                </a:prstGeom>
                <a:ln w="25400">
                  <a:solidFill>
                    <a:srgbClr val="00206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57" name="Titre 1"/>
          <p:cNvSpPr txBox="1">
            <a:spLocks/>
          </p:cNvSpPr>
          <p:nvPr/>
        </p:nvSpPr>
        <p:spPr>
          <a:xfrm>
            <a:off x="804862" y="367684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Phase </a:t>
            </a:r>
            <a:r>
              <a:rPr lang="fr-FR" sz="3200" b="1" dirty="0" smtClean="0">
                <a:cs typeface="Times New Roman" panose="02020603050405020304" pitchFamily="18" charset="0"/>
              </a:rPr>
              <a:t>tissulaire</a:t>
            </a:r>
            <a:endParaRPr lang="fr-FR" sz="3200" b="1" dirty="0"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79413" y="997343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Diffusion tissulaire des médicaments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1386" y="1944741"/>
            <a:ext cx="8482614" cy="4525963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fr-FR" sz="3200" b="1" dirty="0" smtClean="0">
                <a:solidFill>
                  <a:srgbClr val="7030A0"/>
                </a:solidFill>
              </a:rPr>
              <a:t>1. Mécanisme de passage:</a:t>
            </a:r>
          </a:p>
          <a:p>
            <a:pPr marL="0" indent="0">
              <a:lnSpc>
                <a:spcPct val="80000"/>
              </a:lnSpc>
              <a:buNone/>
            </a:pPr>
            <a:endParaRPr lang="fr-FR" sz="3200" b="1" dirty="0" smtClean="0">
              <a:solidFill>
                <a:srgbClr val="7030A0"/>
              </a:solidFill>
            </a:endParaRPr>
          </a:p>
          <a:p>
            <a:r>
              <a:rPr lang="fr-FR" sz="2800" dirty="0" smtClean="0"/>
              <a:t>Transferts </a:t>
            </a:r>
            <a:r>
              <a:rPr lang="fr-F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passifs</a:t>
            </a:r>
            <a:r>
              <a:rPr lang="fr-FR" sz="2800" dirty="0" smtClean="0"/>
              <a:t>:</a:t>
            </a:r>
          </a:p>
          <a:p>
            <a:pPr marL="623888" lvl="1" indent="-136525"/>
            <a:r>
              <a:rPr lang="fr-FR" sz="2400" dirty="0" smtClean="0"/>
              <a:t>Diffusion passive.</a:t>
            </a:r>
          </a:p>
          <a:p>
            <a:pPr marL="623888" lvl="1" indent="-136525"/>
            <a:r>
              <a:rPr lang="fr-FR" sz="2400" dirty="0" smtClean="0"/>
              <a:t>Diffusion facilité.</a:t>
            </a:r>
          </a:p>
          <a:p>
            <a:pPr marL="623888" lvl="1" indent="-136525"/>
            <a:r>
              <a:rPr lang="fr-FR" sz="2400" dirty="0" smtClean="0"/>
              <a:t>Filtration.</a:t>
            </a:r>
          </a:p>
          <a:p>
            <a:pPr lvl="1"/>
            <a:endParaRPr lang="fr-FR" dirty="0" smtClean="0"/>
          </a:p>
          <a:p>
            <a:r>
              <a:rPr lang="fr-FR" sz="2800" dirty="0" smtClean="0"/>
              <a:t>Transferts </a:t>
            </a:r>
            <a:r>
              <a:rPr lang="fr-F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actifs</a:t>
            </a:r>
            <a:r>
              <a:rPr lang="fr-FR" sz="2800" dirty="0" smtClean="0"/>
              <a:t> : fixation </a:t>
            </a:r>
            <a:r>
              <a:rPr lang="fr-FR" sz="2800" i="1" dirty="0" smtClean="0"/>
              <a:t>préférentielle</a:t>
            </a:r>
            <a:r>
              <a:rPr lang="fr-FR" sz="2800" dirty="0" smtClean="0"/>
              <a:t> à un tissu. Ex: Iode </a:t>
            </a:r>
            <a:r>
              <a:rPr lang="fr-FR" sz="2800" dirty="0" smtClean="0">
                <a:sym typeface="Wingdings 3"/>
              </a:rPr>
              <a:t> glande thyroïdienne.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804862" y="367684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Phase </a:t>
            </a:r>
            <a:r>
              <a:rPr lang="fr-FR" sz="3200" b="1" dirty="0" smtClean="0">
                <a:cs typeface="Times New Roman" panose="02020603050405020304" pitchFamily="18" charset="0"/>
              </a:rPr>
              <a:t>tissulaire</a:t>
            </a:r>
            <a:endParaRPr lang="fr-FR" sz="3200" b="1" dirty="0"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9413" y="997343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Diffusion tissulaire des médicaments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"/>
          <p:cNvSpPr txBox="1">
            <a:spLocks/>
          </p:cNvSpPr>
          <p:nvPr/>
        </p:nvSpPr>
        <p:spPr bwMode="auto">
          <a:xfrm>
            <a:off x="630195" y="1322174"/>
            <a:ext cx="8445543" cy="4803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fr-FR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Facteurs limitant la diffusion tissulaire:</a:t>
            </a:r>
            <a:endParaRPr kumimoji="0" lang="fr-FR" sz="32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9740" y="2249350"/>
            <a:ext cx="8193998" cy="2248930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fr-FR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1- Fixation aux protéines </a:t>
            </a:r>
            <a:r>
              <a:rPr lang="fr-FR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plasmatiques: </a:t>
            </a:r>
            <a:r>
              <a:rPr lang="fr-FR" dirty="0" smtClean="0"/>
              <a:t>Seule la forme libre </a:t>
            </a:r>
            <a:r>
              <a:rPr lang="fr-FR" i="1" dirty="0" err="1" smtClean="0">
                <a:latin typeface="Bell MT" pitchFamily="18" charset="0"/>
              </a:rPr>
              <a:t>fl</a:t>
            </a:r>
            <a:r>
              <a:rPr lang="fr-FR" dirty="0" smtClean="0"/>
              <a:t> est diffusible.</a:t>
            </a:r>
          </a:p>
          <a:p>
            <a:pPr marL="91440" lvl="1" indent="-91440" algn="just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r>
              <a:rPr lang="fr-FR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2- Propriétés physico-chimiques de la </a:t>
            </a:r>
            <a:r>
              <a:rPr lang="fr-FR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molécule: </a:t>
            </a:r>
            <a:r>
              <a:rPr lang="fr-FR" sz="2000" dirty="0"/>
              <a:t>Les molécules </a:t>
            </a:r>
            <a:r>
              <a:rPr lang="fr-FR" sz="2000" dirty="0" smtClean="0"/>
              <a:t>lipophiles et </a:t>
            </a:r>
            <a:r>
              <a:rPr lang="fr-FR" sz="2000" dirty="0"/>
              <a:t>les plus petites</a:t>
            </a:r>
            <a:r>
              <a:rPr lang="fr-FR" sz="2000" dirty="0" smtClean="0"/>
              <a:t> </a:t>
            </a:r>
            <a:r>
              <a:rPr lang="fr-FR" sz="2000" dirty="0"/>
              <a:t>diffusent mieux</a:t>
            </a:r>
            <a:r>
              <a:rPr lang="fr-FR" sz="2000" dirty="0" smtClean="0"/>
              <a:t>.</a:t>
            </a:r>
          </a:p>
          <a:p>
            <a:pPr marL="91440" lvl="1" indent="-91440" algn="just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r>
              <a:rPr lang="fr-FR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3- Irrigation des </a:t>
            </a:r>
            <a:r>
              <a:rPr lang="fr-FR" sz="2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organes:</a:t>
            </a:r>
            <a:endParaRPr lang="fr-FR" sz="2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91440" lvl="1" indent="-91440" algn="just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endParaRPr lang="fr-FR" sz="2000" dirty="0"/>
          </a:p>
          <a:p>
            <a:pPr algn="just">
              <a:lnSpc>
                <a:spcPct val="100000"/>
              </a:lnSpc>
            </a:pPr>
            <a:endParaRPr lang="fr-FR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lnSpc>
                <a:spcPct val="100000"/>
              </a:lnSpc>
            </a:pP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804862" y="193513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Phase </a:t>
            </a:r>
            <a:r>
              <a:rPr lang="fr-FR" sz="3200" b="1" dirty="0" smtClean="0">
                <a:cs typeface="Times New Roman" panose="02020603050405020304" pitchFamily="18" charset="0"/>
              </a:rPr>
              <a:t>tissulaire</a:t>
            </a:r>
            <a:endParaRPr lang="fr-FR" sz="3200" b="1" dirty="0"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9413" y="823172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Diffusion tissulaire des médicaments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375636" y="4579889"/>
            <a:ext cx="8482614" cy="1718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Arial" pitchFamily="34" charset="0"/>
              <a:buChar char="•"/>
            </a:pPr>
            <a:r>
              <a:rPr lang="fr-FR" sz="1800" b="1" dirty="0" smtClean="0">
                <a:solidFill>
                  <a:srgbClr val="FF0000"/>
                </a:solidFill>
              </a:rPr>
              <a:t>Tissus richement vascularisés </a:t>
            </a:r>
            <a:r>
              <a:rPr lang="fr-FR" sz="1800" dirty="0" smtClean="0">
                <a:solidFill>
                  <a:srgbClr val="FF0000"/>
                </a:solidFill>
              </a:rPr>
              <a:t>: </a:t>
            </a:r>
            <a:r>
              <a:rPr lang="fr-FR" sz="1800" dirty="0" smtClean="0"/>
              <a:t>cœur, poumons, foie, reins, cerveau, glandes endocrines.</a:t>
            </a:r>
          </a:p>
          <a:p>
            <a:pPr fontAlgn="auto">
              <a:buFont typeface="Arial" pitchFamily="34" charset="0"/>
              <a:buChar char="•"/>
            </a:pPr>
            <a:r>
              <a:rPr lang="fr-FR" sz="1800" b="1" dirty="0" smtClean="0">
                <a:solidFill>
                  <a:srgbClr val="FF0000"/>
                </a:solidFill>
              </a:rPr>
              <a:t>Tissus moyennement vascularisés : </a:t>
            </a:r>
            <a:r>
              <a:rPr lang="fr-FR" sz="1800" dirty="0" smtClean="0"/>
              <a:t>peau, muscles.</a:t>
            </a:r>
          </a:p>
          <a:p>
            <a:pPr fontAlgn="auto">
              <a:buFont typeface="Arial" pitchFamily="34" charset="0"/>
              <a:buChar char="•"/>
            </a:pPr>
            <a:r>
              <a:rPr lang="fr-FR" sz="1800" b="1" dirty="0" smtClean="0">
                <a:solidFill>
                  <a:srgbClr val="FF0000"/>
                </a:solidFill>
              </a:rPr>
              <a:t>Tissus peu vascularisés :</a:t>
            </a:r>
            <a:r>
              <a:rPr lang="fr-FR" sz="1800" dirty="0" smtClean="0"/>
              <a:t> moelle, tissu adipeux.	</a:t>
            </a:r>
          </a:p>
          <a:p>
            <a:pPr fontAlgn="auto">
              <a:buFont typeface="Arial" pitchFamily="34" charset="0"/>
              <a:buChar char="•"/>
            </a:pPr>
            <a:r>
              <a:rPr lang="fr-FR" sz="1800" b="1" dirty="0" smtClean="0">
                <a:solidFill>
                  <a:srgbClr val="FF0000"/>
                </a:solidFill>
              </a:rPr>
              <a:t>Tissus très peu vascularisés : </a:t>
            </a:r>
            <a:r>
              <a:rPr lang="fr-FR" sz="1800" dirty="0" smtClean="0"/>
              <a:t>os, dents, tendons, ligaments, cartilages, phanères.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630195" y="1322174"/>
            <a:ext cx="8445543" cy="255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  <a:defRPr/>
            </a:pPr>
            <a:r>
              <a:rPr lang="fr-FR" sz="2400" b="1" kern="0" dirty="0" smtClean="0">
                <a:solidFill>
                  <a:srgbClr val="7030A0"/>
                </a:solidFill>
                <a:latin typeface="+mn-lt"/>
                <a:cs typeface="+mn-cs"/>
              </a:rPr>
              <a:t>Phénomène de redistribution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+mn-cs"/>
              </a:rPr>
              <a:t>: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2 organes: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i="0" u="none" strike="noStrike" kern="0" cap="none" spc="0" normalizeH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Organe 1: richement vascularisé, faible affinité.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Organe 2 : faiblement vascularisé, forte affinité.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Le </a:t>
            </a:r>
            <a:r>
              <a:rPr lang="fr-FR" sz="2000" kern="0" dirty="0" err="1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mdt</a:t>
            </a: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diffuse d’abord vers le 1</a:t>
            </a:r>
            <a:r>
              <a:rPr lang="fr-FR" sz="2000" kern="0" baseline="300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ier</a:t>
            </a: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 puis le quitte pour rejoindre le 2</a:t>
            </a:r>
            <a:r>
              <a:rPr lang="fr-FR" sz="2000" kern="0" baseline="3000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nd</a:t>
            </a: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.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cs"/>
              </a:rPr>
              <a:t>Ex: Thiopental </a:t>
            </a: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(très lipophile).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Organe 1: Cerveau (riche en lipide et bien irrigué)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Organe 2: tissu adipeux (moins bien irrigué que le cerveau).</a:t>
            </a: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rPr>
              <a:t>Conséquence: Thiopental </a:t>
            </a:r>
            <a:r>
              <a:rPr lang="fr-FR" sz="2000" kern="0" dirty="0" smtClean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  <a:sym typeface="Wingdings 3"/>
              </a:rPr>
              <a:t>action très rapide et de courte durée.</a:t>
            </a:r>
            <a:endParaRPr lang="fr-FR" sz="2000" kern="0" dirty="0" smtClean="0">
              <a:solidFill>
                <a:schemeClr val="accent1">
                  <a:lumMod val="50000"/>
                </a:schemeClr>
              </a:solidFill>
              <a:latin typeface="+mn-lt"/>
              <a:cs typeface="+mn-cs"/>
            </a:endParaRPr>
          </a:p>
          <a:p>
            <a:pPr marL="514350" marR="0" lvl="0" indent="-5143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fr-FR" sz="2000" kern="0" dirty="0" smtClean="0">
              <a:solidFill>
                <a:schemeClr val="accent4"/>
              </a:solidFill>
              <a:latin typeface="+mn-lt"/>
              <a:cs typeface="+mn-cs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506627" y="5350121"/>
            <a:ext cx="3150973" cy="143376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u="sng" dirty="0" smtClean="0">
                <a:solidFill>
                  <a:schemeClr val="accent1">
                    <a:lumMod val="50000"/>
                  </a:schemeClr>
                </a:solidFill>
              </a:rPr>
              <a:t>Tissu 1</a:t>
            </a:r>
          </a:p>
          <a:p>
            <a:pPr algn="ctr"/>
            <a:r>
              <a:rPr lang="fr-FR" sz="1600" dirty="0" smtClean="0">
                <a:solidFill>
                  <a:schemeClr val="accent1">
                    <a:lumMod val="50000"/>
                  </a:schemeClr>
                </a:solidFill>
              </a:rPr>
              <a:t>- Forte vascularisation</a:t>
            </a:r>
          </a:p>
          <a:p>
            <a:pPr algn="ctr"/>
            <a:r>
              <a:rPr lang="fr-FR" sz="1600" dirty="0" smtClean="0">
                <a:solidFill>
                  <a:schemeClr val="accent1">
                    <a:lumMod val="50000"/>
                  </a:schemeClr>
                </a:solidFill>
              </a:rPr>
              <a:t>- Faible affinité</a:t>
            </a:r>
            <a:endParaRPr lang="fr-F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078627" y="5350121"/>
            <a:ext cx="3323968" cy="145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u="sng" dirty="0" smtClean="0">
                <a:solidFill>
                  <a:schemeClr val="accent1">
                    <a:lumMod val="50000"/>
                  </a:schemeClr>
                </a:solidFill>
              </a:rPr>
              <a:t>Tissu 2</a:t>
            </a:r>
          </a:p>
          <a:p>
            <a:pPr algn="ctr"/>
            <a:r>
              <a:rPr lang="fr-FR" sz="1600" dirty="0" smtClean="0">
                <a:solidFill>
                  <a:schemeClr val="accent1">
                    <a:lumMod val="50000"/>
                  </a:schemeClr>
                </a:solidFill>
              </a:rPr>
              <a:t>- Faible vascularisation</a:t>
            </a:r>
          </a:p>
          <a:p>
            <a:pPr algn="ctr"/>
            <a:r>
              <a:rPr lang="fr-FR" sz="1600" dirty="0" smtClean="0">
                <a:solidFill>
                  <a:schemeClr val="accent1">
                    <a:lumMod val="50000"/>
                  </a:schemeClr>
                </a:solidFill>
              </a:rPr>
              <a:t>- Forte affinité</a:t>
            </a:r>
            <a:endParaRPr lang="fr-F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3793526" y="4806786"/>
            <a:ext cx="1062680" cy="7043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accent4"/>
                </a:solidFill>
              </a:rPr>
              <a:t>Mdt</a:t>
            </a:r>
            <a:endParaRPr lang="fr-FR" dirty="0">
              <a:solidFill>
                <a:schemeClr val="accent4"/>
              </a:solidFill>
            </a:endParaRPr>
          </a:p>
        </p:txBody>
      </p:sp>
      <p:cxnSp>
        <p:nvCxnSpPr>
          <p:cNvPr id="11" name="Connecteur en arc 10"/>
          <p:cNvCxnSpPr>
            <a:endCxn id="8" idx="2"/>
          </p:cNvCxnSpPr>
          <p:nvPr/>
        </p:nvCxnSpPr>
        <p:spPr>
          <a:xfrm>
            <a:off x="3731741" y="5177486"/>
            <a:ext cx="1346886" cy="901875"/>
          </a:xfrm>
          <a:prstGeom prst="curvedConnector3">
            <a:avLst>
              <a:gd name="adj1" fmla="val -53670"/>
            </a:avLst>
          </a:prstGeom>
          <a:ln w="254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804862" y="91911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Phase </a:t>
            </a:r>
            <a:r>
              <a:rPr lang="fr-FR" sz="3200" b="1" dirty="0" smtClean="0">
                <a:cs typeface="Times New Roman" panose="02020603050405020304" pitchFamily="18" charset="0"/>
              </a:rPr>
              <a:t>tissulaire</a:t>
            </a:r>
            <a:endParaRPr lang="fr-FR" sz="3200" b="1" dirty="0"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9413" y="721570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Diffusion tissulaire des médicaments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 bwMode="auto">
          <a:xfrm>
            <a:off x="698457" y="1769668"/>
            <a:ext cx="8445543" cy="255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fr-FR" sz="2400" b="1" kern="0" dirty="0" smtClean="0">
                <a:solidFill>
                  <a:srgbClr val="7030A0"/>
                </a:solidFill>
                <a:latin typeface="+mn-lt"/>
                <a:cs typeface="+mn-cs"/>
              </a:rPr>
              <a:t>4. Phénomène de stockage (accumulation) </a:t>
            </a:r>
            <a:r>
              <a:rPr kumimoji="0" lang="fr-F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cs typeface="+mn-cs"/>
              </a:rPr>
              <a:t>: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fr-FR" sz="2400" b="1" i="0" u="none" strike="noStrike" kern="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514350" lvl="0" indent="-514350" algn="just">
              <a:spcBef>
                <a:spcPct val="20000"/>
              </a:spcBef>
              <a:defRPr/>
            </a:pPr>
            <a:r>
              <a:rPr lang="fr-FR" sz="2000" dirty="0"/>
              <a:t>Certains tissus sont capables de fixer et de stocker de manière prolongée certaines substances: tissu adipeux, tissu osseux</a:t>
            </a:r>
            <a:r>
              <a:rPr lang="fr-FR" sz="2000" dirty="0" smtClean="0"/>
              <a:t>.</a:t>
            </a:r>
          </a:p>
          <a:p>
            <a:pPr marL="514350" lvl="0" indent="-514350" algn="just">
              <a:spcBef>
                <a:spcPct val="20000"/>
              </a:spcBef>
              <a:defRPr/>
            </a:pPr>
            <a:endParaRPr lang="fr-FR" sz="2000" kern="0" dirty="0">
              <a:solidFill>
                <a:schemeClr val="accent4"/>
              </a:solidFill>
              <a:latin typeface="+mn-lt"/>
              <a:cs typeface="+mn-cs"/>
            </a:endParaRPr>
          </a:p>
          <a:p>
            <a:endParaRPr lang="fr-FR" sz="2000" dirty="0"/>
          </a:p>
          <a:p>
            <a:r>
              <a:rPr lang="fr-FR" sz="2000" dirty="0"/>
              <a:t>ex: </a:t>
            </a:r>
            <a:endParaRPr lang="fr-FR" sz="2000" dirty="0" smtClean="0"/>
          </a:p>
          <a:p>
            <a:r>
              <a:rPr lang="fr-FR" sz="2000" dirty="0" smtClean="0"/>
              <a:t>- Tétracycline </a:t>
            </a:r>
            <a:r>
              <a:rPr lang="fr-FR" sz="2000" dirty="0"/>
              <a:t>chélate Ca2+ des dents et des os</a:t>
            </a:r>
            <a:r>
              <a:rPr lang="fr-FR" sz="2000" dirty="0" smtClean="0"/>
              <a:t>.</a:t>
            </a:r>
          </a:p>
          <a:p>
            <a:r>
              <a:rPr lang="fr-FR" sz="2000" dirty="0" smtClean="0"/>
              <a:t>- Fixation </a:t>
            </a:r>
            <a:r>
              <a:rPr lang="fr-FR" sz="2000" dirty="0"/>
              <a:t>des métaux lourds sur la peau et sur les phanères</a:t>
            </a:r>
          </a:p>
          <a:p>
            <a:pPr marL="514350" lvl="0" indent="-514350" algn="just">
              <a:spcBef>
                <a:spcPct val="20000"/>
              </a:spcBef>
              <a:defRPr/>
            </a:pPr>
            <a:endParaRPr lang="fr-FR" sz="2000" kern="0" dirty="0" smtClean="0">
              <a:solidFill>
                <a:schemeClr val="accent4"/>
              </a:solidFill>
              <a:latin typeface="+mn-lt"/>
              <a:cs typeface="+mn-cs"/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873124" y="425740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Phase </a:t>
            </a:r>
            <a:r>
              <a:rPr lang="fr-FR" sz="3200" b="1" dirty="0" smtClean="0">
                <a:cs typeface="Times New Roman" panose="02020603050405020304" pitchFamily="18" charset="0"/>
              </a:rPr>
              <a:t>tissulaire</a:t>
            </a:r>
            <a:endParaRPr lang="fr-FR" sz="3200" b="1" dirty="0"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7675" y="1055399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1">
                    <a:lumMod val="50000"/>
                  </a:schemeClr>
                </a:solidFill>
              </a:rPr>
              <a:t>Diffusion tissulaire des médicaments</a:t>
            </a:r>
            <a:endParaRPr lang="fr-FR" sz="2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09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487" y="2447287"/>
            <a:ext cx="2582561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62184" y="2421925"/>
            <a:ext cx="2681416" cy="2533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2706" y="2421147"/>
            <a:ext cx="2582948" cy="269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0" name="Groupe 19"/>
          <p:cNvGrpSpPr/>
          <p:nvPr/>
        </p:nvGrpSpPr>
        <p:grpSpPr>
          <a:xfrm>
            <a:off x="5301046" y="4349575"/>
            <a:ext cx="1606381" cy="1025614"/>
            <a:chOff x="5301047" y="4349575"/>
            <a:chExt cx="1000898" cy="1511758"/>
          </a:xfrm>
        </p:grpSpPr>
        <p:sp>
          <p:nvSpPr>
            <p:cNvPr id="7" name="ZoneTexte 6"/>
            <p:cNvSpPr txBox="1"/>
            <p:nvPr/>
          </p:nvSpPr>
          <p:spPr>
            <a:xfrm>
              <a:off x="5301047" y="5338113"/>
              <a:ext cx="10008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/>
                <a:t>Jonction serrée </a:t>
              </a:r>
              <a:endParaRPr lang="fr-FR" sz="1400" dirty="0"/>
            </a:p>
          </p:txBody>
        </p:sp>
        <p:cxnSp>
          <p:nvCxnSpPr>
            <p:cNvPr id="9" name="Connecteur droit avec flèche 8"/>
            <p:cNvCxnSpPr/>
            <p:nvPr/>
          </p:nvCxnSpPr>
          <p:spPr>
            <a:xfrm rot="16200000" flipV="1">
              <a:off x="4961239" y="4726456"/>
              <a:ext cx="988541" cy="23477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ZoneTexte 18"/>
          <p:cNvSpPr txBox="1"/>
          <p:nvPr/>
        </p:nvSpPr>
        <p:spPr>
          <a:xfrm>
            <a:off x="790830" y="1651542"/>
            <a:ext cx="80674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fr-FR" sz="2000" b="1" dirty="0" smtClean="0">
                <a:solidFill>
                  <a:srgbClr val="7030A0"/>
                </a:solidFill>
              </a:rPr>
              <a:t>Structure de la barrière hémato-encéphalique (Plasma/SNC):</a:t>
            </a:r>
            <a:endParaRPr lang="fr-FR" sz="2000" b="1" dirty="0">
              <a:solidFill>
                <a:srgbClr val="7030A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075038" y="5251618"/>
            <a:ext cx="6932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Jonctions serrées entre les cellules endothéliales.</a:t>
            </a:r>
          </a:p>
          <a:p>
            <a:pPr>
              <a:buFont typeface="Wingdings" pitchFamily="2" charset="2"/>
              <a:buChar char="§"/>
            </a:pPr>
            <a:r>
              <a:rPr lang="fr-FR" dirty="0" smtClean="0"/>
              <a:t>Gaine de cellules </a:t>
            </a:r>
            <a:r>
              <a:rPr lang="fr-FR" dirty="0" err="1" smtClean="0"/>
              <a:t>astrocytaires</a:t>
            </a:r>
            <a:r>
              <a:rPr lang="fr-FR" dirty="0" smtClean="0"/>
              <a:t> entourant les capillaires.</a:t>
            </a:r>
            <a:endParaRPr lang="fr-FR" dirty="0"/>
          </a:p>
        </p:txBody>
      </p:sp>
      <p:sp>
        <p:nvSpPr>
          <p:cNvPr id="22" name="Flèche vers le bas 21"/>
          <p:cNvSpPr/>
          <p:nvPr/>
        </p:nvSpPr>
        <p:spPr>
          <a:xfrm>
            <a:off x="4386649" y="5869456"/>
            <a:ext cx="135924" cy="284205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617848" y="6166019"/>
            <a:ext cx="773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Ne laisse passer que les molécules lipophiles ou absorbées par le biais d’un transporteur.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804862" y="280599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Passage particulier des médicaments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9413" y="924772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fr-FR" sz="2800" b="1" i="1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Passage des médicaments dans le SNC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4016" y="1605378"/>
            <a:ext cx="8351623" cy="2403388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spcBef>
                <a:spcPct val="0"/>
              </a:spcBef>
              <a:buNone/>
            </a:pPr>
            <a:r>
              <a:rPr lang="fr-FR" sz="2800" b="1" kern="1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Autres phénomènes empêchant le passage de </a:t>
            </a:r>
            <a:r>
              <a:rPr lang="fr-FR" sz="2800" b="1" kern="1200" dirty="0" err="1" smtClean="0">
                <a:solidFill>
                  <a:srgbClr val="7030A0"/>
                </a:solidFill>
                <a:latin typeface="Arial" charset="0"/>
                <a:cs typeface="Arial" charset="0"/>
              </a:rPr>
              <a:t>mdts</a:t>
            </a:r>
            <a:r>
              <a:rPr lang="fr-FR" sz="2800" b="1" kern="1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 dans le SNC:</a:t>
            </a:r>
          </a:p>
          <a:p>
            <a:r>
              <a:rPr lang="fr-FR" b="1" dirty="0" smtClean="0"/>
              <a:t>Dégradation enzymatique</a:t>
            </a:r>
            <a:r>
              <a:rPr lang="fr-FR" dirty="0" smtClean="0"/>
              <a:t>:</a:t>
            </a:r>
          </a:p>
          <a:p>
            <a:pPr lvl="1"/>
            <a:r>
              <a:rPr lang="fr-FR" dirty="0" smtClean="0"/>
              <a:t>Mono-</a:t>
            </a:r>
            <a:r>
              <a:rPr lang="fr-FR" dirty="0" err="1" smtClean="0"/>
              <a:t>amino</a:t>
            </a:r>
            <a:r>
              <a:rPr lang="fr-FR" dirty="0" smtClean="0"/>
              <a:t>-oxydase (MAO).</a:t>
            </a:r>
          </a:p>
          <a:p>
            <a:pPr lvl="1"/>
            <a:r>
              <a:rPr lang="fr-FR" dirty="0" smtClean="0"/>
              <a:t>Catéchol O-</a:t>
            </a:r>
            <a:r>
              <a:rPr lang="fr-FR" dirty="0" err="1" smtClean="0"/>
              <a:t>méthyl</a:t>
            </a:r>
            <a:r>
              <a:rPr lang="fr-FR" dirty="0" smtClean="0"/>
              <a:t> Transférase (COMT)</a:t>
            </a:r>
          </a:p>
          <a:p>
            <a:pPr lvl="1"/>
            <a:r>
              <a:rPr lang="fr-FR" dirty="0" smtClean="0"/>
              <a:t>GABA transaminase.</a:t>
            </a:r>
          </a:p>
          <a:p>
            <a:r>
              <a:rPr lang="fr-FR" b="1" dirty="0" smtClean="0"/>
              <a:t>Phénomène de sécrétion active</a:t>
            </a:r>
            <a:r>
              <a:rPr lang="fr-FR" dirty="0" smtClean="0"/>
              <a:t>: Système de la glycoprotéine P.</a:t>
            </a:r>
          </a:p>
          <a:p>
            <a:r>
              <a:rPr lang="fr-FR" b="1" dirty="0" smtClean="0"/>
              <a:t>Forte affinité aux protéines</a:t>
            </a:r>
            <a:r>
              <a:rPr lang="fr-FR" dirty="0" smtClean="0"/>
              <a:t>: faible taux de protéines dans le LCR.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ZoneTexte 8"/>
          <p:cNvSpPr txBox="1"/>
          <p:nvPr/>
        </p:nvSpPr>
        <p:spPr>
          <a:xfrm>
            <a:off x="506627" y="4008766"/>
            <a:ext cx="73028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dirty="0" smtClean="0">
                <a:solidFill>
                  <a:srgbClr val="7030A0"/>
                </a:solidFill>
              </a:rPr>
              <a:t>Conséquences:</a:t>
            </a:r>
          </a:p>
          <a:p>
            <a:r>
              <a:rPr lang="fr-FR" sz="2000" dirty="0" smtClean="0">
                <a:latin typeface="+mn-lt"/>
                <a:cs typeface="+mn-cs"/>
              </a:rPr>
              <a:t>Pour qu’une molécule puisse traverser vers le SNC:</a:t>
            </a:r>
          </a:p>
          <a:p>
            <a:pPr>
              <a:buFontTx/>
              <a:buChar char="-"/>
            </a:pPr>
            <a:r>
              <a:rPr lang="fr-FR" sz="2000" dirty="0" err="1" smtClean="0">
                <a:latin typeface="+mn-lt"/>
                <a:cs typeface="+mn-cs"/>
              </a:rPr>
              <a:t>Liposolubilité</a:t>
            </a:r>
            <a:r>
              <a:rPr lang="fr-FR" sz="2000" dirty="0" smtClean="0">
                <a:latin typeface="+mn-lt"/>
                <a:cs typeface="+mn-cs"/>
              </a:rPr>
              <a:t> </a:t>
            </a:r>
            <a:r>
              <a:rPr lang="fr-FR" sz="2000" dirty="0" smtClean="0">
                <a:latin typeface="+mn-lt"/>
                <a:cs typeface="+mn-cs"/>
                <a:sym typeface="Wingdings 3"/>
              </a:rPr>
              <a:t>.</a:t>
            </a:r>
          </a:p>
          <a:p>
            <a:pPr>
              <a:buFontTx/>
              <a:buChar char="-"/>
            </a:pPr>
            <a:r>
              <a:rPr lang="fr-FR" sz="2000" dirty="0" smtClean="0">
                <a:latin typeface="+mn-lt"/>
                <a:cs typeface="+mn-cs"/>
                <a:sym typeface="Wingdings 3"/>
              </a:rPr>
              <a:t>Taille .</a:t>
            </a:r>
            <a:endParaRPr lang="fr-FR" sz="2000" dirty="0" smtClean="0">
              <a:latin typeface="+mn-lt"/>
              <a:cs typeface="+mn-c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81917" y="5424616"/>
            <a:ext cx="836552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dirty="0" smtClean="0">
                <a:solidFill>
                  <a:srgbClr val="7030A0"/>
                </a:solidFill>
              </a:rPr>
              <a:t>Remarque: </a:t>
            </a:r>
          </a:p>
          <a:p>
            <a:r>
              <a:rPr lang="fr-FR" sz="2000" dirty="0" smtClean="0">
                <a:latin typeface="+mn-lt"/>
                <a:cs typeface="+mn-cs"/>
              </a:rPr>
              <a:t>Lors d’une inflammation ou une atteinte méningée, il y a augmentation de la perméabilité de BHE aux </a:t>
            </a:r>
            <a:r>
              <a:rPr lang="fr-FR" sz="2000" dirty="0" err="1" smtClean="0">
                <a:latin typeface="+mn-lt"/>
                <a:cs typeface="+mn-cs"/>
              </a:rPr>
              <a:t>mdts</a:t>
            </a:r>
            <a:r>
              <a:rPr lang="fr-FR" sz="2000" dirty="0" smtClean="0">
                <a:latin typeface="+mn-lt"/>
                <a:cs typeface="+mn-cs"/>
              </a:rPr>
              <a:t>.</a:t>
            </a:r>
          </a:p>
        </p:txBody>
      </p:sp>
      <p:sp>
        <p:nvSpPr>
          <p:cNvPr id="11" name="Titre 1"/>
          <p:cNvSpPr txBox="1">
            <a:spLocks/>
          </p:cNvSpPr>
          <p:nvPr/>
        </p:nvSpPr>
        <p:spPr>
          <a:xfrm>
            <a:off x="804862" y="222544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Passage particulier des médicaments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413" y="866717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fr-FR" sz="2800" b="1" i="1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Passage des médicaments dans le SNC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5761" y="1988098"/>
            <a:ext cx="8742107" cy="4899454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fr-FR" b="1" kern="1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Mécanisme de passage:</a:t>
            </a:r>
          </a:p>
          <a:p>
            <a:r>
              <a:rPr lang="fr-FR" dirty="0" smtClean="0"/>
              <a:t>Diffusion passive: molécules lipophiles de PM</a:t>
            </a:r>
            <a:r>
              <a:rPr lang="fr-FR" dirty="0" smtClean="0">
                <a:sym typeface="Wingdings 3"/>
              </a:rPr>
              <a:t>.</a:t>
            </a:r>
          </a:p>
          <a:p>
            <a:r>
              <a:rPr lang="fr-FR" dirty="0" smtClean="0">
                <a:sym typeface="Wingdings 3"/>
              </a:rPr>
              <a:t>Transport actif: acides aminés et électrolytes.</a:t>
            </a:r>
          </a:p>
          <a:p>
            <a:pPr>
              <a:buNone/>
            </a:pPr>
            <a:endParaRPr lang="fr-FR" sz="1400" dirty="0" smtClean="0">
              <a:sym typeface="Wingdings 3"/>
            </a:endParaRPr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fr-FR" b="1" kern="1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Conséquences:</a:t>
            </a:r>
          </a:p>
          <a:p>
            <a:pPr algn="just"/>
            <a:r>
              <a:rPr lang="fr-FR" dirty="0" smtClean="0"/>
              <a:t>Risque de  malformations congénitales (effet tératogène).</a:t>
            </a:r>
          </a:p>
          <a:p>
            <a:pPr algn="just"/>
            <a:r>
              <a:rPr lang="fr-FR" dirty="0" smtClean="0"/>
              <a:t>Risque d’intoxication à la naissance du NN.</a:t>
            </a:r>
          </a:p>
          <a:p>
            <a:pPr>
              <a:buNone/>
            </a:pPr>
            <a:endParaRPr lang="fr-FR" sz="1400" dirty="0" smtClean="0"/>
          </a:p>
          <a:p>
            <a:pPr>
              <a:spcBef>
                <a:spcPct val="0"/>
              </a:spcBef>
              <a:buFont typeface="Wingdings" pitchFamily="2" charset="2"/>
              <a:buChar char="Ø"/>
            </a:pPr>
            <a:r>
              <a:rPr lang="fr-FR" sz="2400" b="1" kern="1200" dirty="0" smtClean="0">
                <a:solidFill>
                  <a:srgbClr val="7030A0"/>
                </a:solidFill>
                <a:latin typeface="Arial" charset="0"/>
                <a:cs typeface="Arial" charset="0"/>
              </a:rPr>
              <a:t>Médicaments traversant la barrière placentaire:</a:t>
            </a:r>
          </a:p>
          <a:p>
            <a:r>
              <a:rPr lang="fr-FR" dirty="0" smtClean="0"/>
              <a:t>Anesthésiques généraux, anticancéreux, analgésiques, benzodiazépines, neuroleptiques, thalidomide, thiopental…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14F2C-2D0F-4477-9AD0-C4A5D857429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804862" y="648216"/>
            <a:ext cx="7688263" cy="689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fr-FR" sz="3200" b="1" dirty="0">
                <a:cs typeface="Times New Roman" panose="02020603050405020304" pitchFamily="18" charset="0"/>
              </a:rPr>
              <a:t>Passage particulier des médicaments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642" y="1240609"/>
            <a:ext cx="8736226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i="1" dirty="0" smtClean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fr-FR" sz="2800" b="1" i="1" dirty="0">
                <a:solidFill>
                  <a:schemeClr val="accent2">
                    <a:lumMod val="75000"/>
                  </a:schemeClr>
                </a:solidFill>
              </a:rPr>
              <a:t>Passage des médicaments à travers la barrière </a:t>
            </a:r>
            <a:r>
              <a:rPr lang="fr-FR" sz="2800" b="1" i="1" dirty="0" smtClean="0">
                <a:solidFill>
                  <a:schemeClr val="accent2">
                    <a:lumMod val="75000"/>
                  </a:schemeClr>
                </a:solidFill>
              </a:rPr>
              <a:t>placentaire</a:t>
            </a:r>
            <a:endParaRPr lang="fr-FR" sz="28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33600" y="1460190"/>
            <a:ext cx="6596893" cy="197669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dirty="0" smtClean="0"/>
              <a:t>Merci pour votre attention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38695" y="5023199"/>
            <a:ext cx="3986705" cy="1463040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chemeClr val="bg1">
                    <a:lumMod val="50000"/>
                  </a:schemeClr>
                </a:solidFill>
              </a:rPr>
              <a:t>Email: leila-adda.abbou@gmail.com</a:t>
            </a:r>
          </a:p>
        </p:txBody>
      </p:sp>
    </p:spTree>
    <p:extLst>
      <p:ext uri="{BB962C8B-B14F-4D97-AF65-F5344CB8AC3E}">
        <p14:creationId xmlns:p14="http://schemas.microsoft.com/office/powerpoint/2010/main" val="99537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é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é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Crop">
  <a:themeElements>
    <a:clrScheme name="Personnalisé 11">
      <a:dk1>
        <a:sysClr val="windowText" lastClr="000000"/>
      </a:dk1>
      <a:lt1>
        <a:sysClr val="window" lastClr="FFFFFF"/>
      </a:lt1>
      <a:dk2>
        <a:srgbClr val="1485A4"/>
      </a:dk2>
      <a:lt2>
        <a:srgbClr val="FFFFFF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3588</TotalTime>
  <Words>1919</Words>
  <Application>Microsoft Office PowerPoint</Application>
  <PresentationFormat>Affichage à l'écran (4:3)</PresentationFormat>
  <Paragraphs>489</Paragraphs>
  <Slides>49</Slides>
  <Notes>33</Notes>
  <HiddenSlides>1</HiddenSlides>
  <MMClips>1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49</vt:i4>
      </vt:variant>
    </vt:vector>
  </HeadingPairs>
  <TitlesOfParts>
    <vt:vector size="65" baseType="lpstr">
      <vt:lpstr>Arial</vt:lpstr>
      <vt:lpstr>Bell MT</vt:lpstr>
      <vt:lpstr>Calibri</vt:lpstr>
      <vt:lpstr>Franklin Gothic Book</vt:lpstr>
      <vt:lpstr>Georgia</vt:lpstr>
      <vt:lpstr>Gill Sans</vt:lpstr>
      <vt:lpstr>Symbol</vt:lpstr>
      <vt:lpstr>Tahoma</vt:lpstr>
      <vt:lpstr>Times New Roman</vt:lpstr>
      <vt:lpstr>Trebuchet MS</vt:lpstr>
      <vt:lpstr>Tw Cen MT</vt:lpstr>
      <vt:lpstr>Tw Cen MT Condensed</vt:lpstr>
      <vt:lpstr>Wingdings</vt:lpstr>
      <vt:lpstr>Wingdings 3</vt:lpstr>
      <vt:lpstr>Intégral</vt:lpstr>
      <vt:lpstr>Crop</vt:lpstr>
      <vt:lpstr>Absorption et distribution des médicaments </vt:lpstr>
      <vt:lpstr>Introduction :</vt:lpstr>
      <vt:lpstr>Introduction </vt:lpstr>
      <vt:lpstr>L’ABSORPTION DES MEDICAMENTS </vt:lpstr>
      <vt:lpstr>I – Définition de l’absorption des médicaments :</vt:lpstr>
      <vt:lpstr> Ultra structure de la barrière physiologique impliqué dans l’étape d’absorption transcellulaire des médicaments :</vt:lpstr>
      <vt:lpstr>Principe de passage  à travers la bicouche lipidique</vt:lpstr>
      <vt:lpstr>Propriétés physicochimiques des médicaments impliquées dans le passage transmembranaire:</vt:lpstr>
      <vt:lpstr>Présentation PowerPoint</vt:lpstr>
      <vt:lpstr>Présentation PowerPoint</vt:lpstr>
      <vt:lpstr>Mécanismes d’absorption des médicaments</vt:lpstr>
      <vt:lpstr>Absorption intestinale: voies de passage cellulaires</vt:lpstr>
      <vt:lpstr>Exemples de l’absorption paracellulaire et transcellulaire de l’eau</vt:lpstr>
      <vt:lpstr>Diffusion et gradient</vt:lpstr>
      <vt:lpstr>Mécanismes de passage transmembranaire des médicaments :</vt:lpstr>
      <vt:lpstr>Présentation PowerPoint</vt:lpstr>
      <vt:lpstr>Diffusion facilitée: protéine de transport;</vt:lpstr>
      <vt:lpstr> Transport sous forme moléculaire à travers la membrane plasmique: voie transcellulaire.</vt:lpstr>
      <vt:lpstr>Présentation PowerPoint</vt:lpstr>
      <vt:lpstr>Transport actif</vt:lpstr>
      <vt:lpstr>Les 2 types de transport actifs</vt:lpstr>
      <vt:lpstr>Présentation PowerPoint</vt:lpstr>
      <vt:lpstr>Résumé des caractéristiques des mécanismes d’absorption</vt:lpstr>
      <vt:lpstr>Les mécanismes de passage transcellulaire de l’entérocyte</vt:lpstr>
      <vt:lpstr>Présentation PowerPoint</vt:lpstr>
      <vt:lpstr>Absorption intestinale: Pinocytose</vt:lpstr>
      <vt:lpstr>Absorption des médicaments par voie orale « per os »</vt:lpstr>
      <vt:lpstr>Absorption par la voie orale</vt:lpstr>
      <vt:lpstr>Absorption par voie orale  Bilan des facteurs influençant l’absorption</vt:lpstr>
      <vt:lpstr>L’évaluation quantitative de l’absorption des médicaments</vt:lpstr>
      <vt:lpstr>Présentation PowerPoint</vt:lpstr>
      <vt:lpstr>La distribution </vt:lpstr>
      <vt:lpstr>Présentation PowerPoint</vt:lpstr>
      <vt:lpstr>Phase plasmatique (Transport sanguin)  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Utilisateur Windows</dc:creator>
  <cp:lastModifiedBy>SCORPION</cp:lastModifiedBy>
  <cp:revision>183</cp:revision>
  <dcterms:created xsi:type="dcterms:W3CDTF">2009-06-28T08:52:37Z</dcterms:created>
  <dcterms:modified xsi:type="dcterms:W3CDTF">2024-12-08T11:59:20Z</dcterms:modified>
</cp:coreProperties>
</file>