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quickStyle1.xml" ContentType="application/vnd.openxmlformats-officedocument.drawingml.diagramStyle+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1.xml" ContentType="application/vnd.openxmlformats-officedocument.drawingml.diagramLayout+xml"/>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7" r:id="rId3"/>
    <p:sldId id="275" r:id="rId4"/>
    <p:sldId id="264" r:id="rId5"/>
    <p:sldId id="258" r:id="rId6"/>
    <p:sldId id="259" r:id="rId7"/>
    <p:sldId id="260" r:id="rId8"/>
    <p:sldId id="261" r:id="rId9"/>
    <p:sldId id="262" r:id="rId10"/>
    <p:sldId id="265" r:id="rId11"/>
    <p:sldId id="280" r:id="rId12"/>
    <p:sldId id="276" r:id="rId13"/>
    <p:sldId id="279" r:id="rId14"/>
    <p:sldId id="278" r:id="rId15"/>
    <p:sldId id="277" r:id="rId16"/>
    <p:sldId id="282" r:id="rId17"/>
    <p:sldId id="267" r:id="rId18"/>
    <p:sldId id="268" r:id="rId19"/>
    <p:sldId id="269" r:id="rId20"/>
    <p:sldId id="270" r:id="rId21"/>
    <p:sldId id="271" r:id="rId22"/>
    <p:sldId id="281" r:id="rId23"/>
    <p:sldId id="272" r:id="rId24"/>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0145" autoAdjust="0"/>
  </p:normalViewPr>
  <p:slideViewPr>
    <p:cSldViewPr>
      <p:cViewPr varScale="1">
        <p:scale>
          <a:sx n="72" d="100"/>
          <a:sy n="72" d="100"/>
        </p:scale>
        <p:origin x="-1908"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9457FF-112D-4B8C-B78D-F7F7F39AF30D}" type="doc">
      <dgm:prSet loTypeId="urn:microsoft.com/office/officeart/2005/8/layout/hierarchy1" loCatId="hierarchy" qsTypeId="urn:microsoft.com/office/officeart/2005/8/quickstyle/simple1" qsCatId="simple" csTypeId="urn:microsoft.com/office/officeart/2005/8/colors/colorful1" csCatId="colorful" phldr="1"/>
      <dgm:spPr/>
      <dgm:t>
        <a:bodyPr/>
        <a:lstStyle/>
        <a:p>
          <a:endParaRPr lang="fr-FR"/>
        </a:p>
      </dgm:t>
    </dgm:pt>
    <dgm:pt modelId="{AEC32EE7-BAD5-40AF-9EE4-D24BF05DA943}">
      <dgm:prSet phldrT="[Texte]"/>
      <dgm:spPr/>
      <dgm:t>
        <a:bodyPr/>
        <a:lstStyle/>
        <a:p>
          <a:r>
            <a:rPr lang="fr-FR" b="1" smtClean="0"/>
            <a:t>Classification </a:t>
          </a:r>
          <a:endParaRPr lang="fr-FR" b="1" dirty="0"/>
        </a:p>
      </dgm:t>
    </dgm:pt>
    <dgm:pt modelId="{FCECCC73-4182-4023-A559-14CD25C7C3CB}" type="parTrans" cxnId="{2C497ACC-9D33-474C-AD5D-A305F7BEC75C}">
      <dgm:prSet/>
      <dgm:spPr/>
      <dgm:t>
        <a:bodyPr/>
        <a:lstStyle/>
        <a:p>
          <a:endParaRPr lang="fr-FR"/>
        </a:p>
      </dgm:t>
    </dgm:pt>
    <dgm:pt modelId="{28775261-CAD2-4F40-AC93-6E2100AC1BA4}" type="sibTrans" cxnId="{2C497ACC-9D33-474C-AD5D-A305F7BEC75C}">
      <dgm:prSet/>
      <dgm:spPr/>
      <dgm:t>
        <a:bodyPr/>
        <a:lstStyle/>
        <a:p>
          <a:endParaRPr lang="fr-FR"/>
        </a:p>
      </dgm:t>
    </dgm:pt>
    <dgm:pt modelId="{C39EB354-A6A9-43C3-AB68-1563D9276B14}">
      <dgm:prSet phldrT="[Texte]">
        <dgm:style>
          <a:lnRef idx="2">
            <a:schemeClr val="accent3"/>
          </a:lnRef>
          <a:fillRef idx="1">
            <a:schemeClr val="lt1"/>
          </a:fillRef>
          <a:effectRef idx="0">
            <a:schemeClr val="accent3"/>
          </a:effectRef>
          <a:fontRef idx="minor">
            <a:schemeClr val="dk1"/>
          </a:fontRef>
        </dgm:style>
      </dgm:prSet>
      <dgm:spPr/>
      <dgm:t>
        <a:bodyPr/>
        <a:lstStyle/>
        <a:p>
          <a:r>
            <a:rPr lang="fr-FR" i="0" dirty="0" smtClean="0">
              <a:solidFill>
                <a:schemeClr val="accent3">
                  <a:lumMod val="50000"/>
                </a:schemeClr>
              </a:solidFill>
            </a:rPr>
            <a:t>délai d’action du médicament administré </a:t>
          </a:r>
          <a:endParaRPr lang="fr-FR" i="0" dirty="0">
            <a:solidFill>
              <a:schemeClr val="accent3">
                <a:lumMod val="50000"/>
              </a:schemeClr>
            </a:solidFill>
          </a:endParaRPr>
        </a:p>
      </dgm:t>
    </dgm:pt>
    <dgm:pt modelId="{BFC9A41E-1954-4DFD-9FBD-6F34F182D5B8}" type="parTrans" cxnId="{F4E5D1E6-641D-421D-9675-E179CE407C6F}">
      <dgm:prSet/>
      <dgm:spPr/>
      <dgm:t>
        <a:bodyPr/>
        <a:lstStyle/>
        <a:p>
          <a:endParaRPr lang="fr-FR"/>
        </a:p>
      </dgm:t>
    </dgm:pt>
    <dgm:pt modelId="{5A6A492E-0099-44A8-8301-5E14BE11CA37}" type="sibTrans" cxnId="{F4E5D1E6-641D-421D-9675-E179CE407C6F}">
      <dgm:prSet/>
      <dgm:spPr/>
      <dgm:t>
        <a:bodyPr/>
        <a:lstStyle/>
        <a:p>
          <a:endParaRPr lang="fr-FR"/>
        </a:p>
      </dgm:t>
    </dgm:pt>
    <dgm:pt modelId="{7F83369C-34EA-47CB-911D-23453CEB977E}">
      <dgm:prSet phldrT="[Texte]">
        <dgm:style>
          <a:lnRef idx="2">
            <a:schemeClr val="accent5"/>
          </a:lnRef>
          <a:fillRef idx="1">
            <a:schemeClr val="lt1"/>
          </a:fillRef>
          <a:effectRef idx="0">
            <a:schemeClr val="accent5"/>
          </a:effectRef>
          <a:fontRef idx="minor">
            <a:schemeClr val="dk1"/>
          </a:fontRef>
        </dgm:style>
      </dgm:prSet>
      <dgm:spPr/>
      <dgm:t>
        <a:bodyPr/>
        <a:lstStyle/>
        <a:p>
          <a:r>
            <a:rPr lang="fr-FR" i="0" dirty="0" smtClean="0">
              <a:solidFill>
                <a:schemeClr val="accent5">
                  <a:lumMod val="75000"/>
                </a:schemeClr>
              </a:solidFill>
            </a:rPr>
            <a:t>Effraction  de la barrière </a:t>
          </a:r>
          <a:r>
            <a:rPr lang="fr-FR" i="0" dirty="0" err="1" smtClean="0">
              <a:solidFill>
                <a:schemeClr val="accent5">
                  <a:lumMod val="75000"/>
                </a:schemeClr>
              </a:solidFill>
            </a:rPr>
            <a:t>cutanéo</a:t>
          </a:r>
          <a:r>
            <a:rPr lang="fr-FR" i="0" dirty="0" smtClean="0">
              <a:solidFill>
                <a:schemeClr val="accent5">
                  <a:lumMod val="75000"/>
                </a:schemeClr>
              </a:solidFill>
            </a:rPr>
            <a:t>-muqueuse </a:t>
          </a:r>
          <a:endParaRPr lang="fr-FR" i="0" dirty="0">
            <a:solidFill>
              <a:schemeClr val="accent5">
                <a:lumMod val="75000"/>
              </a:schemeClr>
            </a:solidFill>
          </a:endParaRPr>
        </a:p>
      </dgm:t>
    </dgm:pt>
    <dgm:pt modelId="{2599FDA8-9DB9-4427-B2E7-65ACB6510D9B}" type="parTrans" cxnId="{6129482B-5CE4-4BAE-B835-311723B6CF83}">
      <dgm:prSet/>
      <dgm:spPr/>
      <dgm:t>
        <a:bodyPr/>
        <a:lstStyle/>
        <a:p>
          <a:endParaRPr lang="fr-FR"/>
        </a:p>
      </dgm:t>
    </dgm:pt>
    <dgm:pt modelId="{F222D605-5A04-4323-B1B8-4A744A5A7CF0}" type="sibTrans" cxnId="{6129482B-5CE4-4BAE-B835-311723B6CF83}">
      <dgm:prSet/>
      <dgm:spPr/>
      <dgm:t>
        <a:bodyPr/>
        <a:lstStyle/>
        <a:p>
          <a:endParaRPr lang="fr-FR"/>
        </a:p>
      </dgm:t>
    </dgm:pt>
    <dgm:pt modelId="{0AB9194E-A2EF-4E49-94B4-0125436E8E1C}">
      <dgm:prSet phldrT="[Texte]"/>
      <dgm:spPr/>
      <dgm:t>
        <a:bodyPr/>
        <a:lstStyle/>
        <a:p>
          <a:r>
            <a:rPr lang="fr-FR" dirty="0" smtClean="0">
              <a:solidFill>
                <a:schemeClr val="accent2">
                  <a:lumMod val="75000"/>
                </a:schemeClr>
              </a:solidFill>
            </a:rPr>
            <a:t>Effet recherché </a:t>
          </a:r>
          <a:endParaRPr lang="fr-FR" dirty="0">
            <a:solidFill>
              <a:schemeClr val="accent2">
                <a:lumMod val="75000"/>
              </a:schemeClr>
            </a:solidFill>
          </a:endParaRPr>
        </a:p>
      </dgm:t>
    </dgm:pt>
    <dgm:pt modelId="{427A4084-5D75-4551-82B4-B9CBFAA70D8C}" type="sibTrans" cxnId="{ABD1E1C2-13EF-4354-BECB-97AD68379DE5}">
      <dgm:prSet/>
      <dgm:spPr/>
      <dgm:t>
        <a:bodyPr/>
        <a:lstStyle/>
        <a:p>
          <a:endParaRPr lang="fr-FR"/>
        </a:p>
      </dgm:t>
    </dgm:pt>
    <dgm:pt modelId="{E0B57601-E340-4751-B7DC-B66C6ED6952B}" type="parTrans" cxnId="{ABD1E1C2-13EF-4354-BECB-97AD68379DE5}">
      <dgm:prSet/>
      <dgm:spPr/>
      <dgm:t>
        <a:bodyPr/>
        <a:lstStyle/>
        <a:p>
          <a:endParaRPr lang="fr-FR"/>
        </a:p>
      </dgm:t>
    </dgm:pt>
    <dgm:pt modelId="{17C8F8AC-77C8-46D2-8D73-41045197EF4D}" type="pres">
      <dgm:prSet presAssocID="{4F9457FF-112D-4B8C-B78D-F7F7F39AF30D}" presName="hierChild1" presStyleCnt="0">
        <dgm:presLayoutVars>
          <dgm:chPref val="1"/>
          <dgm:dir/>
          <dgm:animOne val="branch"/>
          <dgm:animLvl val="lvl"/>
          <dgm:resizeHandles/>
        </dgm:presLayoutVars>
      </dgm:prSet>
      <dgm:spPr/>
      <dgm:t>
        <a:bodyPr/>
        <a:lstStyle/>
        <a:p>
          <a:endParaRPr lang="fr-FR"/>
        </a:p>
      </dgm:t>
    </dgm:pt>
    <dgm:pt modelId="{A64B95D3-C7F6-43E3-AB87-F3CC8284E409}" type="pres">
      <dgm:prSet presAssocID="{AEC32EE7-BAD5-40AF-9EE4-D24BF05DA943}" presName="hierRoot1" presStyleCnt="0"/>
      <dgm:spPr/>
    </dgm:pt>
    <dgm:pt modelId="{FB2BCC11-BF7A-4DB2-B242-3ADF163F2EF3}" type="pres">
      <dgm:prSet presAssocID="{AEC32EE7-BAD5-40AF-9EE4-D24BF05DA943}" presName="composite" presStyleCnt="0"/>
      <dgm:spPr/>
    </dgm:pt>
    <dgm:pt modelId="{C4FE1D94-DF5F-40F8-B66A-3C887147D68B}" type="pres">
      <dgm:prSet presAssocID="{AEC32EE7-BAD5-40AF-9EE4-D24BF05DA943}" presName="background" presStyleLbl="node0" presStyleIdx="0" presStyleCnt="1"/>
      <dgm:spPr/>
    </dgm:pt>
    <dgm:pt modelId="{EB89830D-E641-4AFA-BC0D-12ABD6609108}" type="pres">
      <dgm:prSet presAssocID="{AEC32EE7-BAD5-40AF-9EE4-D24BF05DA943}" presName="text" presStyleLbl="fgAcc0" presStyleIdx="0" presStyleCnt="1">
        <dgm:presLayoutVars>
          <dgm:chPref val="3"/>
        </dgm:presLayoutVars>
      </dgm:prSet>
      <dgm:spPr/>
      <dgm:t>
        <a:bodyPr/>
        <a:lstStyle/>
        <a:p>
          <a:endParaRPr lang="fr-FR"/>
        </a:p>
      </dgm:t>
    </dgm:pt>
    <dgm:pt modelId="{CD535E2D-376E-4838-A632-DECFB77D87F6}" type="pres">
      <dgm:prSet presAssocID="{AEC32EE7-BAD5-40AF-9EE4-D24BF05DA943}" presName="hierChild2" presStyleCnt="0"/>
      <dgm:spPr/>
    </dgm:pt>
    <dgm:pt modelId="{53D517D1-4F23-4413-8CCB-3B9FD887E57A}" type="pres">
      <dgm:prSet presAssocID="{E0B57601-E340-4751-B7DC-B66C6ED6952B}" presName="Name10" presStyleLbl="parChTrans1D2" presStyleIdx="0" presStyleCnt="3"/>
      <dgm:spPr/>
      <dgm:t>
        <a:bodyPr/>
        <a:lstStyle/>
        <a:p>
          <a:endParaRPr lang="fr-FR"/>
        </a:p>
      </dgm:t>
    </dgm:pt>
    <dgm:pt modelId="{0A5BF29E-EB0D-4CB4-99F3-4E0952CE06B3}" type="pres">
      <dgm:prSet presAssocID="{0AB9194E-A2EF-4E49-94B4-0125436E8E1C}" presName="hierRoot2" presStyleCnt="0"/>
      <dgm:spPr/>
    </dgm:pt>
    <dgm:pt modelId="{F1CCD4BE-5C82-4CE1-81E1-F9E665E55BFB}" type="pres">
      <dgm:prSet presAssocID="{0AB9194E-A2EF-4E49-94B4-0125436E8E1C}" presName="composite2" presStyleCnt="0"/>
      <dgm:spPr/>
    </dgm:pt>
    <dgm:pt modelId="{AEF9886C-3184-4593-ADDC-99C049BEE374}" type="pres">
      <dgm:prSet presAssocID="{0AB9194E-A2EF-4E49-94B4-0125436E8E1C}" presName="background2" presStyleLbl="node2" presStyleIdx="0" presStyleCnt="3">
        <dgm:style>
          <a:lnRef idx="1">
            <a:schemeClr val="accent1"/>
          </a:lnRef>
          <a:fillRef idx="2">
            <a:schemeClr val="accent1"/>
          </a:fillRef>
          <a:effectRef idx="1">
            <a:schemeClr val="accent1"/>
          </a:effectRef>
          <a:fontRef idx="minor">
            <a:schemeClr val="dk1"/>
          </a:fontRef>
        </dgm:style>
      </dgm:prSet>
      <dgm:spPr/>
    </dgm:pt>
    <dgm:pt modelId="{8976743A-5309-4BBF-BB68-A48A77E8244B}" type="pres">
      <dgm:prSet presAssocID="{0AB9194E-A2EF-4E49-94B4-0125436E8E1C}" presName="text2" presStyleLbl="fgAcc2" presStyleIdx="0" presStyleCnt="3">
        <dgm:presLayoutVars>
          <dgm:chPref val="3"/>
        </dgm:presLayoutVars>
      </dgm:prSet>
      <dgm:spPr/>
      <dgm:t>
        <a:bodyPr/>
        <a:lstStyle/>
        <a:p>
          <a:endParaRPr lang="fr-FR"/>
        </a:p>
      </dgm:t>
    </dgm:pt>
    <dgm:pt modelId="{D1A97395-0F22-48E7-A622-9E7B7EC173F6}" type="pres">
      <dgm:prSet presAssocID="{0AB9194E-A2EF-4E49-94B4-0125436E8E1C}" presName="hierChild3" presStyleCnt="0"/>
      <dgm:spPr/>
    </dgm:pt>
    <dgm:pt modelId="{5BA19938-4DA4-43D0-997D-867620E10C55}" type="pres">
      <dgm:prSet presAssocID="{2599FDA8-9DB9-4427-B2E7-65ACB6510D9B}" presName="Name10" presStyleLbl="parChTrans1D2" presStyleIdx="1" presStyleCnt="3"/>
      <dgm:spPr/>
      <dgm:t>
        <a:bodyPr/>
        <a:lstStyle/>
        <a:p>
          <a:endParaRPr lang="fr-FR"/>
        </a:p>
      </dgm:t>
    </dgm:pt>
    <dgm:pt modelId="{617D2D86-92E3-4447-8B7A-514CD81CFCD3}" type="pres">
      <dgm:prSet presAssocID="{7F83369C-34EA-47CB-911D-23453CEB977E}" presName="hierRoot2" presStyleCnt="0"/>
      <dgm:spPr/>
    </dgm:pt>
    <dgm:pt modelId="{C3B9BF35-838E-4A70-AB04-A7870220ED26}" type="pres">
      <dgm:prSet presAssocID="{7F83369C-34EA-47CB-911D-23453CEB977E}" presName="composite2" presStyleCnt="0"/>
      <dgm:spPr/>
    </dgm:pt>
    <dgm:pt modelId="{6FB3BA6F-FE41-456E-8C2C-1057727A2E8C}" type="pres">
      <dgm:prSet presAssocID="{7F83369C-34EA-47CB-911D-23453CEB977E}" presName="background2" presStyleLbl="node2" presStyleIdx="1" presStyleCnt="3">
        <dgm:style>
          <a:lnRef idx="1">
            <a:schemeClr val="accent5"/>
          </a:lnRef>
          <a:fillRef idx="2">
            <a:schemeClr val="accent5"/>
          </a:fillRef>
          <a:effectRef idx="1">
            <a:schemeClr val="accent5"/>
          </a:effectRef>
          <a:fontRef idx="minor">
            <a:schemeClr val="dk1"/>
          </a:fontRef>
        </dgm:style>
      </dgm:prSet>
      <dgm:spPr/>
    </dgm:pt>
    <dgm:pt modelId="{BCC64E4A-96B8-4043-9130-9A74C0A482E4}" type="pres">
      <dgm:prSet presAssocID="{7F83369C-34EA-47CB-911D-23453CEB977E}" presName="text2" presStyleLbl="fgAcc2" presStyleIdx="1" presStyleCnt="3">
        <dgm:presLayoutVars>
          <dgm:chPref val="3"/>
        </dgm:presLayoutVars>
      </dgm:prSet>
      <dgm:spPr/>
      <dgm:t>
        <a:bodyPr/>
        <a:lstStyle/>
        <a:p>
          <a:endParaRPr lang="fr-FR"/>
        </a:p>
      </dgm:t>
    </dgm:pt>
    <dgm:pt modelId="{AE16A645-984E-4A89-821B-9875975DC7D3}" type="pres">
      <dgm:prSet presAssocID="{7F83369C-34EA-47CB-911D-23453CEB977E}" presName="hierChild3" presStyleCnt="0"/>
      <dgm:spPr/>
    </dgm:pt>
    <dgm:pt modelId="{4FC7CC4A-1622-4FDF-80E3-9C3D0E6B43D7}" type="pres">
      <dgm:prSet presAssocID="{BFC9A41E-1954-4DFD-9FBD-6F34F182D5B8}" presName="Name10" presStyleLbl="parChTrans1D2" presStyleIdx="2" presStyleCnt="3"/>
      <dgm:spPr/>
      <dgm:t>
        <a:bodyPr/>
        <a:lstStyle/>
        <a:p>
          <a:endParaRPr lang="fr-FR"/>
        </a:p>
      </dgm:t>
    </dgm:pt>
    <dgm:pt modelId="{C3066C69-EAFF-4A40-9048-D5541BAFC72E}" type="pres">
      <dgm:prSet presAssocID="{C39EB354-A6A9-43C3-AB68-1563D9276B14}" presName="hierRoot2" presStyleCnt="0"/>
      <dgm:spPr/>
    </dgm:pt>
    <dgm:pt modelId="{32B85D6C-DE13-4929-8F47-4D63AF09AA5B}" type="pres">
      <dgm:prSet presAssocID="{C39EB354-A6A9-43C3-AB68-1563D9276B14}" presName="composite2" presStyleCnt="0"/>
      <dgm:spPr/>
    </dgm:pt>
    <dgm:pt modelId="{1C15BD2E-4621-4F27-9223-A36064C4830A}" type="pres">
      <dgm:prSet presAssocID="{C39EB354-A6A9-43C3-AB68-1563D9276B14}" presName="background2" presStyleLbl="node2" presStyleIdx="2" presStyleCnt="3">
        <dgm:style>
          <a:lnRef idx="2">
            <a:schemeClr val="accent3">
              <a:shade val="50000"/>
            </a:schemeClr>
          </a:lnRef>
          <a:fillRef idx="1">
            <a:schemeClr val="accent3"/>
          </a:fillRef>
          <a:effectRef idx="0">
            <a:schemeClr val="accent3"/>
          </a:effectRef>
          <a:fontRef idx="minor">
            <a:schemeClr val="lt1"/>
          </a:fontRef>
        </dgm:style>
      </dgm:prSet>
      <dgm:spPr/>
    </dgm:pt>
    <dgm:pt modelId="{C4434341-8496-4711-939E-0587181C71DE}" type="pres">
      <dgm:prSet presAssocID="{C39EB354-A6A9-43C3-AB68-1563D9276B14}" presName="text2" presStyleLbl="fgAcc2" presStyleIdx="2" presStyleCnt="3">
        <dgm:presLayoutVars>
          <dgm:chPref val="3"/>
        </dgm:presLayoutVars>
      </dgm:prSet>
      <dgm:spPr/>
      <dgm:t>
        <a:bodyPr/>
        <a:lstStyle/>
        <a:p>
          <a:endParaRPr lang="fr-FR"/>
        </a:p>
      </dgm:t>
    </dgm:pt>
    <dgm:pt modelId="{BF344356-811C-4569-9960-5F15C0FBAEF1}" type="pres">
      <dgm:prSet presAssocID="{C39EB354-A6A9-43C3-AB68-1563D9276B14}" presName="hierChild3" presStyleCnt="0"/>
      <dgm:spPr/>
    </dgm:pt>
  </dgm:ptLst>
  <dgm:cxnLst>
    <dgm:cxn modelId="{224AB48B-014C-4E80-8408-B6D9812266D8}" type="presOf" srcId="{0AB9194E-A2EF-4E49-94B4-0125436E8E1C}" destId="{8976743A-5309-4BBF-BB68-A48A77E8244B}" srcOrd="0" destOrd="0" presId="urn:microsoft.com/office/officeart/2005/8/layout/hierarchy1"/>
    <dgm:cxn modelId="{ABD1E1C2-13EF-4354-BECB-97AD68379DE5}" srcId="{AEC32EE7-BAD5-40AF-9EE4-D24BF05DA943}" destId="{0AB9194E-A2EF-4E49-94B4-0125436E8E1C}" srcOrd="0" destOrd="0" parTransId="{E0B57601-E340-4751-B7DC-B66C6ED6952B}" sibTransId="{427A4084-5D75-4551-82B4-B9CBFAA70D8C}"/>
    <dgm:cxn modelId="{03EA78AA-68A0-46C3-AA07-4EA764EB87CB}" type="presOf" srcId="{E0B57601-E340-4751-B7DC-B66C6ED6952B}" destId="{53D517D1-4F23-4413-8CCB-3B9FD887E57A}" srcOrd="0" destOrd="0" presId="urn:microsoft.com/office/officeart/2005/8/layout/hierarchy1"/>
    <dgm:cxn modelId="{F4E5D1E6-641D-421D-9675-E179CE407C6F}" srcId="{AEC32EE7-BAD5-40AF-9EE4-D24BF05DA943}" destId="{C39EB354-A6A9-43C3-AB68-1563D9276B14}" srcOrd="2" destOrd="0" parTransId="{BFC9A41E-1954-4DFD-9FBD-6F34F182D5B8}" sibTransId="{5A6A492E-0099-44A8-8301-5E14BE11CA37}"/>
    <dgm:cxn modelId="{6129482B-5CE4-4BAE-B835-311723B6CF83}" srcId="{AEC32EE7-BAD5-40AF-9EE4-D24BF05DA943}" destId="{7F83369C-34EA-47CB-911D-23453CEB977E}" srcOrd="1" destOrd="0" parTransId="{2599FDA8-9DB9-4427-B2E7-65ACB6510D9B}" sibTransId="{F222D605-5A04-4323-B1B8-4A744A5A7CF0}"/>
    <dgm:cxn modelId="{55739875-6683-4AF9-B6BD-C3702BA2232F}" type="presOf" srcId="{C39EB354-A6A9-43C3-AB68-1563D9276B14}" destId="{C4434341-8496-4711-939E-0587181C71DE}" srcOrd="0" destOrd="0" presId="urn:microsoft.com/office/officeart/2005/8/layout/hierarchy1"/>
    <dgm:cxn modelId="{0FC512C8-38C1-4B56-B884-7C791DD69646}" type="presOf" srcId="{2599FDA8-9DB9-4427-B2E7-65ACB6510D9B}" destId="{5BA19938-4DA4-43D0-997D-867620E10C55}" srcOrd="0" destOrd="0" presId="urn:microsoft.com/office/officeart/2005/8/layout/hierarchy1"/>
    <dgm:cxn modelId="{30BD9B2D-E4FF-423C-AEB3-6BF6344CB584}" type="presOf" srcId="{AEC32EE7-BAD5-40AF-9EE4-D24BF05DA943}" destId="{EB89830D-E641-4AFA-BC0D-12ABD6609108}" srcOrd="0" destOrd="0" presId="urn:microsoft.com/office/officeart/2005/8/layout/hierarchy1"/>
    <dgm:cxn modelId="{DDA396D8-6274-497D-AA8B-EB871F9B0F18}" type="presOf" srcId="{4F9457FF-112D-4B8C-B78D-F7F7F39AF30D}" destId="{17C8F8AC-77C8-46D2-8D73-41045197EF4D}" srcOrd="0" destOrd="0" presId="urn:microsoft.com/office/officeart/2005/8/layout/hierarchy1"/>
    <dgm:cxn modelId="{C27EDF65-793D-4BEC-B3D4-FF7E346C1729}" type="presOf" srcId="{BFC9A41E-1954-4DFD-9FBD-6F34F182D5B8}" destId="{4FC7CC4A-1622-4FDF-80E3-9C3D0E6B43D7}" srcOrd="0" destOrd="0" presId="urn:microsoft.com/office/officeart/2005/8/layout/hierarchy1"/>
    <dgm:cxn modelId="{537561E1-3856-4907-A0D8-4BE49DF3C29C}" type="presOf" srcId="{7F83369C-34EA-47CB-911D-23453CEB977E}" destId="{BCC64E4A-96B8-4043-9130-9A74C0A482E4}" srcOrd="0" destOrd="0" presId="urn:microsoft.com/office/officeart/2005/8/layout/hierarchy1"/>
    <dgm:cxn modelId="{2C497ACC-9D33-474C-AD5D-A305F7BEC75C}" srcId="{4F9457FF-112D-4B8C-B78D-F7F7F39AF30D}" destId="{AEC32EE7-BAD5-40AF-9EE4-D24BF05DA943}" srcOrd="0" destOrd="0" parTransId="{FCECCC73-4182-4023-A559-14CD25C7C3CB}" sibTransId="{28775261-CAD2-4F40-AC93-6E2100AC1BA4}"/>
    <dgm:cxn modelId="{C27A4B6B-330B-42A6-A832-7F6B22354F49}" type="presParOf" srcId="{17C8F8AC-77C8-46D2-8D73-41045197EF4D}" destId="{A64B95D3-C7F6-43E3-AB87-F3CC8284E409}" srcOrd="0" destOrd="0" presId="urn:microsoft.com/office/officeart/2005/8/layout/hierarchy1"/>
    <dgm:cxn modelId="{C041DCA5-86D4-4EE5-BE5B-A5C284134542}" type="presParOf" srcId="{A64B95D3-C7F6-43E3-AB87-F3CC8284E409}" destId="{FB2BCC11-BF7A-4DB2-B242-3ADF163F2EF3}" srcOrd="0" destOrd="0" presId="urn:microsoft.com/office/officeart/2005/8/layout/hierarchy1"/>
    <dgm:cxn modelId="{4EBA745B-4742-4732-911A-950B1F331D52}" type="presParOf" srcId="{FB2BCC11-BF7A-4DB2-B242-3ADF163F2EF3}" destId="{C4FE1D94-DF5F-40F8-B66A-3C887147D68B}" srcOrd="0" destOrd="0" presId="urn:microsoft.com/office/officeart/2005/8/layout/hierarchy1"/>
    <dgm:cxn modelId="{ABFD69CF-ADB7-4A7F-B9B7-DCC80E59D35A}" type="presParOf" srcId="{FB2BCC11-BF7A-4DB2-B242-3ADF163F2EF3}" destId="{EB89830D-E641-4AFA-BC0D-12ABD6609108}" srcOrd="1" destOrd="0" presId="urn:microsoft.com/office/officeart/2005/8/layout/hierarchy1"/>
    <dgm:cxn modelId="{DECC4787-B386-4331-91D8-397F9731BAA2}" type="presParOf" srcId="{A64B95D3-C7F6-43E3-AB87-F3CC8284E409}" destId="{CD535E2D-376E-4838-A632-DECFB77D87F6}" srcOrd="1" destOrd="0" presId="urn:microsoft.com/office/officeart/2005/8/layout/hierarchy1"/>
    <dgm:cxn modelId="{86A0EAE4-FE86-4428-92B1-CD21C939ED8F}" type="presParOf" srcId="{CD535E2D-376E-4838-A632-DECFB77D87F6}" destId="{53D517D1-4F23-4413-8CCB-3B9FD887E57A}" srcOrd="0" destOrd="0" presId="urn:microsoft.com/office/officeart/2005/8/layout/hierarchy1"/>
    <dgm:cxn modelId="{C6109CCF-2A1C-4E64-B234-046FDB2D3FC0}" type="presParOf" srcId="{CD535E2D-376E-4838-A632-DECFB77D87F6}" destId="{0A5BF29E-EB0D-4CB4-99F3-4E0952CE06B3}" srcOrd="1" destOrd="0" presId="urn:microsoft.com/office/officeart/2005/8/layout/hierarchy1"/>
    <dgm:cxn modelId="{2C2C87ED-F907-4307-894A-0BAC656BEAFD}" type="presParOf" srcId="{0A5BF29E-EB0D-4CB4-99F3-4E0952CE06B3}" destId="{F1CCD4BE-5C82-4CE1-81E1-F9E665E55BFB}" srcOrd="0" destOrd="0" presId="urn:microsoft.com/office/officeart/2005/8/layout/hierarchy1"/>
    <dgm:cxn modelId="{64B54C7D-6D8E-4DD4-8029-B186E8F8250A}" type="presParOf" srcId="{F1CCD4BE-5C82-4CE1-81E1-F9E665E55BFB}" destId="{AEF9886C-3184-4593-ADDC-99C049BEE374}" srcOrd="0" destOrd="0" presId="urn:microsoft.com/office/officeart/2005/8/layout/hierarchy1"/>
    <dgm:cxn modelId="{98E09BD4-51FD-4C48-9833-939DAE178736}" type="presParOf" srcId="{F1CCD4BE-5C82-4CE1-81E1-F9E665E55BFB}" destId="{8976743A-5309-4BBF-BB68-A48A77E8244B}" srcOrd="1" destOrd="0" presId="urn:microsoft.com/office/officeart/2005/8/layout/hierarchy1"/>
    <dgm:cxn modelId="{9036759E-613D-4C0D-B3B1-783EA6657E15}" type="presParOf" srcId="{0A5BF29E-EB0D-4CB4-99F3-4E0952CE06B3}" destId="{D1A97395-0F22-48E7-A622-9E7B7EC173F6}" srcOrd="1" destOrd="0" presId="urn:microsoft.com/office/officeart/2005/8/layout/hierarchy1"/>
    <dgm:cxn modelId="{49F2EE21-5D94-4D46-8906-DC1ECA65080E}" type="presParOf" srcId="{CD535E2D-376E-4838-A632-DECFB77D87F6}" destId="{5BA19938-4DA4-43D0-997D-867620E10C55}" srcOrd="2" destOrd="0" presId="urn:microsoft.com/office/officeart/2005/8/layout/hierarchy1"/>
    <dgm:cxn modelId="{0EE9B904-76AE-4092-BBB3-94F1CBAD0072}" type="presParOf" srcId="{CD535E2D-376E-4838-A632-DECFB77D87F6}" destId="{617D2D86-92E3-4447-8B7A-514CD81CFCD3}" srcOrd="3" destOrd="0" presId="urn:microsoft.com/office/officeart/2005/8/layout/hierarchy1"/>
    <dgm:cxn modelId="{66C8CD56-615C-4BE8-B234-97B07D533E1C}" type="presParOf" srcId="{617D2D86-92E3-4447-8B7A-514CD81CFCD3}" destId="{C3B9BF35-838E-4A70-AB04-A7870220ED26}" srcOrd="0" destOrd="0" presId="urn:microsoft.com/office/officeart/2005/8/layout/hierarchy1"/>
    <dgm:cxn modelId="{0863EA73-87FF-464C-A3C2-889BABC8F2DA}" type="presParOf" srcId="{C3B9BF35-838E-4A70-AB04-A7870220ED26}" destId="{6FB3BA6F-FE41-456E-8C2C-1057727A2E8C}" srcOrd="0" destOrd="0" presId="urn:microsoft.com/office/officeart/2005/8/layout/hierarchy1"/>
    <dgm:cxn modelId="{80467C6D-D7B8-425A-B1CC-321013A831E6}" type="presParOf" srcId="{C3B9BF35-838E-4A70-AB04-A7870220ED26}" destId="{BCC64E4A-96B8-4043-9130-9A74C0A482E4}" srcOrd="1" destOrd="0" presId="urn:microsoft.com/office/officeart/2005/8/layout/hierarchy1"/>
    <dgm:cxn modelId="{FA20A8E2-85AF-456F-A7E5-D910B5F8DB7B}" type="presParOf" srcId="{617D2D86-92E3-4447-8B7A-514CD81CFCD3}" destId="{AE16A645-984E-4A89-821B-9875975DC7D3}" srcOrd="1" destOrd="0" presId="urn:microsoft.com/office/officeart/2005/8/layout/hierarchy1"/>
    <dgm:cxn modelId="{7D6F6479-367B-478E-9E47-2EE25FA28E82}" type="presParOf" srcId="{CD535E2D-376E-4838-A632-DECFB77D87F6}" destId="{4FC7CC4A-1622-4FDF-80E3-9C3D0E6B43D7}" srcOrd="4" destOrd="0" presId="urn:microsoft.com/office/officeart/2005/8/layout/hierarchy1"/>
    <dgm:cxn modelId="{976BFF7B-4555-4C97-9881-68B9E0D766F8}" type="presParOf" srcId="{CD535E2D-376E-4838-A632-DECFB77D87F6}" destId="{C3066C69-EAFF-4A40-9048-D5541BAFC72E}" srcOrd="5" destOrd="0" presId="urn:microsoft.com/office/officeart/2005/8/layout/hierarchy1"/>
    <dgm:cxn modelId="{086BFEE6-0BFB-4875-A216-702458DA8ACA}" type="presParOf" srcId="{C3066C69-EAFF-4A40-9048-D5541BAFC72E}" destId="{32B85D6C-DE13-4929-8F47-4D63AF09AA5B}" srcOrd="0" destOrd="0" presId="urn:microsoft.com/office/officeart/2005/8/layout/hierarchy1"/>
    <dgm:cxn modelId="{55B48CCA-AEB3-47DD-A573-9486745D0B9E}" type="presParOf" srcId="{32B85D6C-DE13-4929-8F47-4D63AF09AA5B}" destId="{1C15BD2E-4621-4F27-9223-A36064C4830A}" srcOrd="0" destOrd="0" presId="urn:microsoft.com/office/officeart/2005/8/layout/hierarchy1"/>
    <dgm:cxn modelId="{9741F861-895F-40FD-B9E9-733B91913BE8}" type="presParOf" srcId="{32B85D6C-DE13-4929-8F47-4D63AF09AA5B}" destId="{C4434341-8496-4711-939E-0587181C71DE}" srcOrd="1" destOrd="0" presId="urn:microsoft.com/office/officeart/2005/8/layout/hierarchy1"/>
    <dgm:cxn modelId="{8B4860FD-2EA2-49B9-B1B1-93F5EE82048B}" type="presParOf" srcId="{C3066C69-EAFF-4A40-9048-D5541BAFC72E}" destId="{BF344356-811C-4569-9960-5F15C0FBAEF1}" srcOrd="1" destOrd="0" presId="urn:microsoft.com/office/officeart/2005/8/layout/hierarchy1"/>
  </dgm:cxnLst>
  <dgm:bg/>
  <dgm:whole/>
</dgm:dataModel>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FCDBED-3616-4EA9-B5F1-B0914E1AD311}" type="datetimeFigureOut">
              <a:rPr lang="fr-FR" smtClean="0"/>
              <a:pPr/>
              <a:t>03/10/2024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42A29C-E127-41D0-AB71-09C188C0C24A}"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msdmanuals.com/fr/accueil/troubles-du-sang/lymphomes/pr%C3%A9sentation-des-lymphomes"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s://www.msdmanuals.com/fr/accueil/probl%C3%A8mes-de-sant%C3%A9-de-la-femme/planning-familial/m%C3%A9thodes-de-contraception-hormonales"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D242A29C-E127-41D0-AB71-09C188C0C24A}" type="slidenum">
              <a:rPr lang="fr-FR" smtClean="0"/>
              <a:pPr/>
              <a:t>3</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D242A29C-E127-41D0-AB71-09C188C0C24A}" type="slidenum">
              <a:rPr lang="fr-FR" smtClean="0"/>
              <a:pPr/>
              <a:t>4</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fontScale="85000" lnSpcReduction="10000"/>
          </a:bodyPr>
          <a:lstStyle/>
          <a:p>
            <a:r>
              <a:rPr lang="fr-FR" sz="1200" b="0" i="0" kern="1200" dirty="0" smtClean="0">
                <a:solidFill>
                  <a:schemeClr val="tx1"/>
                </a:solidFill>
                <a:latin typeface="+mn-lt"/>
                <a:ea typeface="+mn-ea"/>
                <a:cs typeface="+mn-cs"/>
              </a:rPr>
              <a:t>Pour la </a:t>
            </a:r>
            <a:r>
              <a:rPr lang="fr-FR" sz="1200" b="1" i="0" kern="1200" dirty="0" smtClean="0">
                <a:solidFill>
                  <a:schemeClr val="tx1"/>
                </a:solidFill>
                <a:latin typeface="+mn-lt"/>
                <a:ea typeface="+mn-ea"/>
                <a:cs typeface="+mn-cs"/>
              </a:rPr>
              <a:t>voie sous-cutanée</a:t>
            </a:r>
            <a:r>
              <a:rPr lang="fr-FR" sz="1200" b="0" i="0" kern="1200" dirty="0" smtClean="0">
                <a:solidFill>
                  <a:schemeClr val="tx1"/>
                </a:solidFill>
                <a:latin typeface="+mn-lt"/>
                <a:ea typeface="+mn-ea"/>
                <a:cs typeface="+mn-cs"/>
              </a:rPr>
              <a:t>, une aiguille est introduite dans le tissu adipeux situé juste sous la peau. Une fois injecté, soit le médicament pénètre dans les vaisseaux sanguins de petit diamètre (capillaires) et est transporté par la circulation sanguine, soit il gagne la circulation par les vaisseaux lymphatiques (voir figure </a:t>
            </a:r>
            <a:r>
              <a:rPr lang="fr-FR" sz="1200" b="0" i="0" u="sng" kern="1200" dirty="0" smtClean="0">
                <a:solidFill>
                  <a:schemeClr val="tx1"/>
                </a:solidFill>
                <a:latin typeface="+mn-lt"/>
                <a:ea typeface="+mn-ea"/>
                <a:cs typeface="+mn-cs"/>
                <a:hlinkClick r:id="rId3" tooltip="Système lymphatique : Contribue à la défense contre les infections"/>
              </a:rPr>
              <a:t>Système lymphatique : contribuer à la défense contre les infections</a:t>
            </a:r>
            <a:r>
              <a:rPr lang="fr-FR" sz="1200" b="0" i="0" kern="1200" dirty="0" smtClean="0">
                <a:solidFill>
                  <a:schemeClr val="tx1"/>
                </a:solidFill>
                <a:latin typeface="+mn-lt"/>
                <a:ea typeface="+mn-ea"/>
                <a:cs typeface="+mn-cs"/>
              </a:rPr>
              <a:t>). Les médicaments composés de grosses protéines, tels que l’insuline, atteignent en général la circulation sanguine par les vaisseaux lymphatiques, car leur passage du tissu adipeux aux capillaires est très lent. La voie sous-cutanée est utilisée pour de nombreux médicaments protéiques qui seraient détruits dans le tube digestif s’ils étaient administrés par voie orale.</a:t>
            </a:r>
          </a:p>
          <a:p>
            <a:r>
              <a:rPr lang="fr-FR" sz="1200" b="0" i="0" kern="1200" dirty="0" smtClean="0">
                <a:solidFill>
                  <a:schemeClr val="tx1"/>
                </a:solidFill>
                <a:latin typeface="+mn-lt"/>
                <a:ea typeface="+mn-ea"/>
                <a:cs typeface="+mn-cs"/>
              </a:rPr>
              <a:t>Certains médicaments (tels que les progestatifs utilisés comme </a:t>
            </a:r>
            <a:r>
              <a:rPr lang="fr-FR" sz="1200" b="0" i="0" u="sng" kern="1200" dirty="0" smtClean="0">
                <a:solidFill>
                  <a:schemeClr val="tx1"/>
                </a:solidFill>
                <a:latin typeface="+mn-lt"/>
                <a:ea typeface="+mn-ea"/>
                <a:cs typeface="+mn-cs"/>
                <a:hlinkClick r:id="rId4" tooltip="Méthodes de contraception hormonales"/>
              </a:rPr>
              <a:t>contraceptifs</a:t>
            </a:r>
            <a:r>
              <a:rPr lang="fr-FR" sz="1200" b="0" i="0" kern="1200" dirty="0" smtClean="0">
                <a:solidFill>
                  <a:schemeClr val="tx1"/>
                </a:solidFill>
                <a:latin typeface="+mn-lt"/>
                <a:ea typeface="+mn-ea"/>
                <a:cs typeface="+mn-cs"/>
              </a:rPr>
              <a:t>) peuvent être administrés par introduction de capsules en plastique sous la peau (implants). Bien que rarement utilisée, le principal avantage de cette voie d’administration est d’offrir un effet thérapeutique à long terme (par exemple, l’</a:t>
            </a:r>
            <a:r>
              <a:rPr lang="fr-FR" sz="1200" b="0" i="0" kern="1200" dirty="0" err="1" smtClean="0">
                <a:solidFill>
                  <a:schemeClr val="tx1"/>
                </a:solidFill>
                <a:latin typeface="+mn-lt"/>
                <a:ea typeface="+mn-ea"/>
                <a:cs typeface="+mn-cs"/>
              </a:rPr>
              <a:t>étonogestrel</a:t>
            </a:r>
            <a:r>
              <a:rPr lang="fr-FR" sz="1200" b="0" i="0" kern="1200" dirty="0" smtClean="0">
                <a:solidFill>
                  <a:schemeClr val="tx1"/>
                </a:solidFill>
                <a:latin typeface="+mn-lt"/>
                <a:ea typeface="+mn-ea"/>
                <a:cs typeface="+mn-cs"/>
              </a:rPr>
              <a:t> qui est implanté comme contraceptif peut durer jusqu’à 3 ans).</a:t>
            </a:r>
          </a:p>
          <a:p>
            <a:r>
              <a:rPr lang="fr-FR" sz="1200" b="0" i="0" kern="1200" dirty="0" smtClean="0">
                <a:solidFill>
                  <a:schemeClr val="tx1"/>
                </a:solidFill>
                <a:latin typeface="+mn-lt"/>
                <a:ea typeface="+mn-ea"/>
                <a:cs typeface="+mn-cs"/>
              </a:rPr>
              <a:t>La </a:t>
            </a:r>
            <a:r>
              <a:rPr lang="fr-FR" sz="1200" b="1" i="0" kern="1200" dirty="0" smtClean="0">
                <a:solidFill>
                  <a:schemeClr val="tx1"/>
                </a:solidFill>
                <a:latin typeface="+mn-lt"/>
                <a:ea typeface="+mn-ea"/>
                <a:cs typeface="+mn-cs"/>
              </a:rPr>
              <a:t>voie intramusculaire</a:t>
            </a:r>
            <a:r>
              <a:rPr lang="fr-FR" sz="1200" b="0" i="0" kern="1200" dirty="0" smtClean="0">
                <a:solidFill>
                  <a:schemeClr val="tx1"/>
                </a:solidFill>
                <a:latin typeface="+mn-lt"/>
                <a:ea typeface="+mn-ea"/>
                <a:cs typeface="+mn-cs"/>
              </a:rPr>
              <a:t> est préférée à la voie sous-cutanée lorsqu’il est nécessaire d’administrer des volumes plus importants de médicaments. On utilise alors une aiguille plus longue pour atteindre les muscles situés sous la peau et la graisse. Les médicaments sont habituellement injectés dans le muscle du bras, de la cuisse ou de la fesse. La vitesse d’absorption du médicament dans la circulation sanguine dépend en partie du débit sanguin au niveau du muscle : plus le débit sanguin est faible, plus l’absorption est lente.</a:t>
            </a:r>
          </a:p>
          <a:p>
            <a:r>
              <a:rPr lang="fr-FR" sz="1200" b="0" i="0" kern="1200" dirty="0" smtClean="0">
                <a:solidFill>
                  <a:schemeClr val="tx1"/>
                </a:solidFill>
                <a:latin typeface="+mn-lt"/>
                <a:ea typeface="+mn-ea"/>
                <a:cs typeface="+mn-cs"/>
              </a:rPr>
              <a:t>Dans le cas de la </a:t>
            </a:r>
            <a:r>
              <a:rPr lang="fr-FR" sz="1200" b="1" i="0" kern="1200" dirty="0" smtClean="0">
                <a:solidFill>
                  <a:schemeClr val="tx1"/>
                </a:solidFill>
                <a:latin typeface="+mn-lt"/>
                <a:ea typeface="+mn-ea"/>
                <a:cs typeface="+mn-cs"/>
              </a:rPr>
              <a:t>voie intraveineuse</a:t>
            </a:r>
            <a:r>
              <a:rPr lang="fr-FR" sz="1200" b="0" i="0" kern="1200" dirty="0" smtClean="0">
                <a:solidFill>
                  <a:schemeClr val="tx1"/>
                </a:solidFill>
                <a:latin typeface="+mn-lt"/>
                <a:ea typeface="+mn-ea"/>
                <a:cs typeface="+mn-cs"/>
              </a:rPr>
              <a:t>, une aiguille est introduite directement dans une veine. Une solution contenant le médicament peut être administrée en </a:t>
            </a:r>
            <a:r>
              <a:rPr lang="fr-FR" sz="1200" b="0" i="0" kern="1200" dirty="0" err="1" smtClean="0">
                <a:solidFill>
                  <a:schemeClr val="tx1"/>
                </a:solidFill>
                <a:latin typeface="+mn-lt"/>
                <a:ea typeface="+mn-ea"/>
                <a:cs typeface="+mn-cs"/>
              </a:rPr>
              <a:t>bolus</a:t>
            </a:r>
            <a:r>
              <a:rPr lang="fr-FR" sz="1200" b="0" i="0" kern="1200" dirty="0" smtClean="0">
                <a:solidFill>
                  <a:schemeClr val="tx1"/>
                </a:solidFill>
                <a:latin typeface="+mn-lt"/>
                <a:ea typeface="+mn-ea"/>
                <a:cs typeface="+mn-cs"/>
              </a:rPr>
              <a:t> ou par perfusion continue. Dans le cas d’une perfusion, le soluté est administré par gravité (à partir d’une poche en plastique souple) ou le plus souvent par le biais d’une pompe à perfusion à l’aide d’un tube fin et souple (cathéter) inséré dans une veine située habituellement sur l’avant-bras. La voie intraveineuse est la meilleure façon d’administrer une dose précise, de façon rapide et contrôlée, dans tout l’organisme. Elle est également utilisée pour les solutions irritantes qui, si elles étaient administrées par voie sous-cutanée ou intramusculaire, seraient douloureuses et endommageraient les tissus. Une injection intraveineuse est parfois plus difficile à pratiquer qu’une injection sous-cutanée ou intramusculaire, car il peut être difficile d’insérer l’aiguille ou le cathéter dans une veine, surtout si les personnes sont obèses.</a:t>
            </a:r>
          </a:p>
          <a:p>
            <a:endParaRPr lang="fr-FR" dirty="0"/>
          </a:p>
        </p:txBody>
      </p:sp>
      <p:sp>
        <p:nvSpPr>
          <p:cNvPr id="4" name="Espace réservé du numéro de diapositive 3"/>
          <p:cNvSpPr>
            <a:spLocks noGrp="1"/>
          </p:cNvSpPr>
          <p:nvPr>
            <p:ph type="sldNum" sz="quarter" idx="10"/>
          </p:nvPr>
        </p:nvSpPr>
        <p:spPr/>
        <p:txBody>
          <a:bodyPr/>
          <a:lstStyle/>
          <a:p>
            <a:fld id="{D242A29C-E127-41D0-AB71-09C188C0C24A}" type="slidenum">
              <a:rPr lang="fr-FR" smtClean="0"/>
              <a:pPr/>
              <a:t>12</a:t>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D242A29C-E127-41D0-AB71-09C188C0C24A}" type="slidenum">
              <a:rPr lang="fr-FR" smtClean="0"/>
              <a:pPr/>
              <a:t>17</a:t>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D242A29C-E127-41D0-AB71-09C188C0C24A}" type="slidenum">
              <a:rPr lang="fr-FR" smtClean="0"/>
              <a:pPr/>
              <a:t>19</a:t>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D242A29C-E127-41D0-AB71-09C188C0C24A}" type="slidenum">
              <a:rPr lang="fr-FR" smtClean="0"/>
              <a:pPr/>
              <a:t>22</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8" name="Titr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fr-FR" smtClean="0"/>
              <a:t>Cliquez pour modifier le style du titre</a:t>
            </a:r>
            <a:endParaRPr kumimoji="0" lang="en-US"/>
          </a:p>
        </p:txBody>
      </p:sp>
      <p:sp>
        <p:nvSpPr>
          <p:cNvPr id="9" name="Sous-titr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a:xfrm>
            <a:off x="6400800" y="6355080"/>
            <a:ext cx="2286000" cy="365760"/>
          </a:xfrm>
        </p:spPr>
        <p:txBody>
          <a:bodyPr/>
          <a:lstStyle>
            <a:lvl1pPr>
              <a:defRPr sz="1400"/>
            </a:lvl1pPr>
          </a:lstStyle>
          <a:p>
            <a:fld id="{E632CE56-F6DC-4AC6-A75B-231B5F60A31A}" type="datetime1">
              <a:rPr lang="fr-FR" smtClean="0"/>
              <a:pPr/>
              <a:t>03/10/2024</a:t>
            </a:fld>
            <a:endParaRPr lang="fr-FR"/>
          </a:p>
        </p:txBody>
      </p:sp>
      <p:sp>
        <p:nvSpPr>
          <p:cNvPr id="17" name="Espace réservé du pied de page 16"/>
          <p:cNvSpPr>
            <a:spLocks noGrp="1"/>
          </p:cNvSpPr>
          <p:nvPr>
            <p:ph type="ftr" sz="quarter" idx="11"/>
          </p:nvPr>
        </p:nvSpPr>
        <p:spPr>
          <a:xfrm>
            <a:off x="2898648" y="6355080"/>
            <a:ext cx="3474720" cy="365760"/>
          </a:xfrm>
        </p:spPr>
        <p:txBody>
          <a:bodyPr/>
          <a:lstStyle/>
          <a:p>
            <a:endParaRPr lang="fr-FR"/>
          </a:p>
        </p:txBody>
      </p:sp>
      <p:sp>
        <p:nvSpPr>
          <p:cNvPr id="29" name="Espace réservé du numéro de diapositive 28"/>
          <p:cNvSpPr>
            <a:spLocks noGrp="1"/>
          </p:cNvSpPr>
          <p:nvPr>
            <p:ph type="sldNum" sz="quarter" idx="12"/>
          </p:nvPr>
        </p:nvSpPr>
        <p:spPr>
          <a:xfrm>
            <a:off x="1216152" y="6355080"/>
            <a:ext cx="1219200" cy="365760"/>
          </a:xfrm>
        </p:spPr>
        <p:txBody>
          <a:bodyPr/>
          <a:lstStyle/>
          <a:p>
            <a:fld id="{A7C9A1F7-440B-49A3-BFDF-704999814E67}" type="slidenum">
              <a:rPr lang="fr-FR" smtClean="0"/>
              <a:pPr/>
              <a:t>‹N°›</a:t>
            </a:fld>
            <a:endParaRPr lang="fr-F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EB1997EA-75D6-41A0-925F-3089D7C281B0}" type="datetime1">
              <a:rPr lang="fr-FR" smtClean="0"/>
              <a:pPr/>
              <a:t>03/10/2024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7C9A1F7-440B-49A3-BFDF-704999814E67}" type="slidenum">
              <a:rPr lang="fr-FR" smtClean="0"/>
              <a:pPr/>
              <a:t>‹N°›</a:t>
            </a:fld>
            <a:endParaRPr lang="fr-FR"/>
          </a:p>
        </p:txBody>
      </p:sp>
      <p:sp>
        <p:nvSpPr>
          <p:cNvPr id="8" name="Espace réservé du contenu 7"/>
          <p:cNvSpPr>
            <a:spLocks noGrp="1"/>
          </p:cNvSpPr>
          <p:nvPr>
            <p:ph sz="quarter" idx="1"/>
          </p:nvPr>
        </p:nvSpPr>
        <p:spPr>
          <a:xfrm>
            <a:off x="457200" y="1219200"/>
            <a:ext cx="8229600" cy="493776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a:xfrm>
            <a:off x="6400800" y="6355080"/>
            <a:ext cx="2286000" cy="365760"/>
          </a:xfrm>
        </p:spPr>
        <p:txBody>
          <a:bodyPr/>
          <a:lstStyle/>
          <a:p>
            <a:fld id="{E448F566-BE21-4C86-A4F7-49BA92E2822F}" type="datetime1">
              <a:rPr lang="fr-FR" smtClean="0"/>
              <a:pPr/>
              <a:t>03/10/2024</a:t>
            </a:fld>
            <a:endParaRPr lang="fr-FR"/>
          </a:p>
        </p:txBody>
      </p:sp>
      <p:sp>
        <p:nvSpPr>
          <p:cNvPr id="5" name="Espace réservé du pied de page 4"/>
          <p:cNvSpPr>
            <a:spLocks noGrp="1"/>
          </p:cNvSpPr>
          <p:nvPr>
            <p:ph type="ftr" sz="quarter" idx="11"/>
          </p:nvPr>
        </p:nvSpPr>
        <p:spPr>
          <a:xfrm>
            <a:off x="2898648" y="6355080"/>
            <a:ext cx="3474720" cy="365760"/>
          </a:xfrm>
        </p:spPr>
        <p:txBody>
          <a:bodyPr/>
          <a:lstStyle/>
          <a:p>
            <a:endParaRPr lang="fr-FR"/>
          </a:p>
        </p:txBody>
      </p:sp>
      <p:sp>
        <p:nvSpPr>
          <p:cNvPr id="6" name="Espace réservé du numéro de diapositive 5"/>
          <p:cNvSpPr>
            <a:spLocks noGrp="1"/>
          </p:cNvSpPr>
          <p:nvPr>
            <p:ph type="sldNum" sz="quarter" idx="12"/>
          </p:nvPr>
        </p:nvSpPr>
        <p:spPr>
          <a:xfrm>
            <a:off x="1069848" y="6355080"/>
            <a:ext cx="1520952" cy="365760"/>
          </a:xfrm>
        </p:spPr>
        <p:txBody>
          <a:bodyPr/>
          <a:lstStyle/>
          <a:p>
            <a:fld id="{A7C9A1F7-440B-49A3-BFDF-704999814E67}" type="slidenum">
              <a:rPr lang="fr-FR" smtClean="0"/>
              <a:pPr/>
              <a:t>‹N°›</a:t>
            </a:fld>
            <a:endParaRPr lang="fr-F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p:txBody>
          <a:bodyPr/>
          <a:lstStyle/>
          <a:p>
            <a:fld id="{89BF0125-9758-4B10-A52E-5B5DCD935FCA}" type="datetime1">
              <a:rPr lang="fr-FR" smtClean="0"/>
              <a:pPr/>
              <a:t>03/10/2024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7C9A1F7-440B-49A3-BFDF-704999814E67}" type="slidenum">
              <a:rPr lang="fr-FR" smtClean="0"/>
              <a:pPr/>
              <a:t>‹N°›</a:t>
            </a:fld>
            <a:endParaRPr lang="fr-FR"/>
          </a:p>
        </p:txBody>
      </p:sp>
      <p:sp>
        <p:nvSpPr>
          <p:cNvPr id="9" name="Espace réservé du contenu 8"/>
          <p:cNvSpPr>
            <a:spLocks noGrp="1"/>
          </p:cNvSpPr>
          <p:nvPr>
            <p:ph sz="quarter" idx="1"/>
          </p:nvPr>
        </p:nvSpPr>
        <p:spPr>
          <a:xfrm>
            <a:off x="457200" y="1219200"/>
            <a:ext cx="4041648" cy="493776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1" name="Espace réservé du contenu 10"/>
          <p:cNvSpPr>
            <a:spLocks noGrp="1"/>
          </p:cNvSpPr>
          <p:nvPr>
            <p:ph sz="quarter" idx="2"/>
          </p:nvPr>
        </p:nvSpPr>
        <p:spPr>
          <a:xfrm>
            <a:off x="4632198" y="1216152"/>
            <a:ext cx="4041648" cy="493776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nchor="ctr"/>
          <a:lstStyle>
            <a:lvl1pPr>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9AB52154-C87C-4623-B4B7-663C8E5D7329}" type="datetime1">
              <a:rPr lang="fr-FR" smtClean="0"/>
              <a:pPr/>
              <a:t>03/10/2024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A7C9A1F7-440B-49A3-BFDF-704999814E67}" type="slidenum">
              <a:rPr lang="fr-FR" smtClean="0"/>
              <a:pPr/>
              <a:t>‹N°›</a:t>
            </a:fld>
            <a:endParaRPr lang="fr-FR"/>
          </a:p>
        </p:txBody>
      </p:sp>
      <p:sp>
        <p:nvSpPr>
          <p:cNvPr id="11" name="Espace réservé du contenu 10"/>
          <p:cNvSpPr>
            <a:spLocks noGrp="1"/>
          </p:cNvSpPr>
          <p:nvPr>
            <p:ph sz="quarter" idx="2"/>
          </p:nvPr>
        </p:nvSpPr>
        <p:spPr>
          <a:xfrm>
            <a:off x="457200" y="2133600"/>
            <a:ext cx="4038600" cy="40386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3" name="Espace réservé du contenu 12"/>
          <p:cNvSpPr>
            <a:spLocks noGrp="1"/>
          </p:cNvSpPr>
          <p:nvPr>
            <p:ph sz="quarter" idx="4"/>
          </p:nvPr>
        </p:nvSpPr>
        <p:spPr>
          <a:xfrm>
            <a:off x="4648200" y="2133600"/>
            <a:ext cx="4038600" cy="40386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C8EE2553-5C27-4CF3-9135-A6C270A41AAC}" type="datetime1">
              <a:rPr lang="fr-FR" smtClean="0"/>
              <a:pPr/>
              <a:t>03/10/2024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A7C9A1F7-440B-49A3-BFDF-704999814E67}" type="slidenum">
              <a:rPr lang="fr-FR" smtClean="0"/>
              <a:pPr/>
              <a:t>‹N°›</a:t>
            </a:fld>
            <a:endParaRPr lang="fr-FR"/>
          </a:p>
        </p:txBody>
      </p:sp>
      <p:sp>
        <p:nvSpPr>
          <p:cNvPr id="6" name="Triangle isocè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07E859F-0AE4-475C-B236-1EE9EC3C92DE}" type="datetime1">
              <a:rPr lang="fr-FR" smtClean="0"/>
              <a:pPr/>
              <a:t>03/10/2024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A7C9A1F7-440B-49A3-BFDF-704999814E67}" type="slidenum">
              <a:rPr lang="fr-FR" smtClean="0"/>
              <a:pPr/>
              <a:t>‹N°›</a:t>
            </a:fld>
            <a:endParaRPr lang="fr-FR"/>
          </a:p>
        </p:txBody>
      </p:sp>
      <p:sp>
        <p:nvSpPr>
          <p:cNvPr id="5" name="Connecteur droit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Triangle isocè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03C3BA2F-825C-48F7-AB36-B67ED6EFA1D9}" type="datetime1">
              <a:rPr lang="fr-FR" smtClean="0"/>
              <a:pPr/>
              <a:t>03/10/2024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7C9A1F7-440B-49A3-BFDF-704999814E67}" type="slidenum">
              <a:rPr lang="fr-FR" smtClean="0"/>
              <a:pPr/>
              <a:t>‹N°›</a:t>
            </a:fld>
            <a:endParaRPr lang="fr-FR"/>
          </a:p>
        </p:txBody>
      </p:sp>
      <p:sp>
        <p:nvSpPr>
          <p:cNvPr id="8" name="Connecteur droit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Connecteur droit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Triangle isocè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Espace réservé du contenu 11"/>
          <p:cNvSpPr>
            <a:spLocks noGrp="1"/>
          </p:cNvSpPr>
          <p:nvPr>
            <p:ph sz="quarter" idx="1"/>
          </p:nvPr>
        </p:nvSpPr>
        <p:spPr>
          <a:xfrm>
            <a:off x="304800" y="304800"/>
            <a:ext cx="5715000" cy="5715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761584D6-08AF-4305-8B04-436B1F611BD2}" type="datetime1">
              <a:rPr lang="fr-FR" smtClean="0"/>
              <a:pPr/>
              <a:t>03/10/2024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7C9A1F7-440B-49A3-BFDF-704999814E67}" type="slidenum">
              <a:rPr lang="fr-FR" smtClean="0"/>
              <a:pPr/>
              <a:t>‹N°›</a:t>
            </a:fld>
            <a:endParaRPr lang="fr-FR"/>
          </a:p>
        </p:txBody>
      </p:sp>
      <p:sp>
        <p:nvSpPr>
          <p:cNvPr id="8" name="Connecteur droit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Triangle isocè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11D88755-623B-463C-BF72-76D31EFB03A1}" type="datetime1">
              <a:rPr lang="fr-FR" smtClean="0"/>
              <a:pPr/>
              <a:t>03/10/2024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7C9A1F7-440B-49A3-BFDF-704999814E67}"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EBABA4E9-7542-461A-A13A-0744DCFEA560}" type="datetime1">
              <a:rPr lang="fr-FR" smtClean="0"/>
              <a:pPr/>
              <a:t>03/10/2024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7C9A1F7-440B-49A3-BFDF-704999814E67}" type="slidenum">
              <a:rPr lang="fr-FR" smtClean="0"/>
              <a:pPr/>
              <a:t>‹N°›</a:t>
            </a:fld>
            <a:endParaRPr lang="fr-FR"/>
          </a:p>
        </p:txBody>
      </p:sp>
      <p:sp>
        <p:nvSpPr>
          <p:cNvPr id="7" name="Connecteur droit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Triangle isocè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Connecteur droit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Espace réservé du titre 21"/>
          <p:cNvSpPr>
            <a:spLocks noGrp="1"/>
          </p:cNvSpPr>
          <p:nvPr>
            <p:ph type="title"/>
          </p:nvPr>
        </p:nvSpPr>
        <p:spPr>
          <a:xfrm>
            <a:off x="457200" y="152400"/>
            <a:ext cx="8229600" cy="990600"/>
          </a:xfrm>
          <a:prstGeom prst="rect">
            <a:avLst/>
          </a:prstGeom>
        </p:spPr>
        <p:txBody>
          <a:bodyPr vert="horz" anchor="b" anchorCtr="0">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A467D291-465C-455F-8E6B-7D0FB89029F1}" type="datetime1">
              <a:rPr lang="fr-FR" smtClean="0"/>
              <a:pPr/>
              <a:t>03/10/2024</a:t>
            </a:fld>
            <a:endParaRPr lang="fr-FR"/>
          </a:p>
        </p:txBody>
      </p:sp>
      <p:sp>
        <p:nvSpPr>
          <p:cNvPr id="3" name="Espace réservé du pied de page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fr-FR"/>
          </a:p>
        </p:txBody>
      </p:sp>
      <p:sp>
        <p:nvSpPr>
          <p:cNvPr id="23" name="Espace réservé du numéro de diapositive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A7C9A1F7-440B-49A3-BFDF-704999814E67}" type="slidenum">
              <a:rPr lang="fr-FR" smtClean="0"/>
              <a:pPr/>
              <a:t>‹N°›</a:t>
            </a:fld>
            <a:endParaRPr lang="fr-FR"/>
          </a:p>
        </p:txBody>
      </p:sp>
      <p:sp>
        <p:nvSpPr>
          <p:cNvPr id="28" name="Connecteur droit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Connecteur droit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Triangle isocè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fr.wikipedia.org/wiki/M%C3%A9dicament" TargetMode="External"/><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18.jpeg"/><Relationship Id="rId5" Type="http://schemas.openxmlformats.org/officeDocument/2006/relationships/image" Target="../media/image13.jpeg"/><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jpe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755576" y="3789040"/>
            <a:ext cx="7592888" cy="1140158"/>
          </a:xfrm>
        </p:spPr>
        <p:txBody>
          <a:bodyPr>
            <a:normAutofit/>
          </a:bodyPr>
          <a:lstStyle/>
          <a:p>
            <a:r>
              <a:rPr lang="fr-FR" b="1" dirty="0" smtClean="0"/>
              <a:t>Voies d’administration des médicaments et formes pharmaceutiques </a:t>
            </a:r>
            <a:endParaRPr lang="fr-FR" b="1" i="1" dirty="0">
              <a:solidFill>
                <a:schemeClr val="tx1"/>
              </a:solidFill>
            </a:endParaRPr>
          </a:p>
        </p:txBody>
      </p:sp>
      <p:sp>
        <p:nvSpPr>
          <p:cNvPr id="5" name="Espace réservé du pied de page 4"/>
          <p:cNvSpPr>
            <a:spLocks noGrp="1"/>
          </p:cNvSpPr>
          <p:nvPr>
            <p:ph type="ftr" sz="quarter" idx="11"/>
          </p:nvPr>
        </p:nvSpPr>
        <p:spPr/>
        <p:txBody>
          <a:bodyPr/>
          <a:lstStyle/>
          <a:p>
            <a:r>
              <a:rPr lang="fr-FR" dirty="0" smtClean="0"/>
              <a:t>Année </a:t>
            </a:r>
            <a:r>
              <a:rPr lang="fr-FR" smtClean="0"/>
              <a:t>universitaire </a:t>
            </a:r>
            <a:r>
              <a:rPr lang="fr-FR" smtClean="0"/>
              <a:t>2024/ 2025 </a:t>
            </a:r>
            <a:endParaRPr lang="fr-FR" dirty="0"/>
          </a:p>
        </p:txBody>
      </p:sp>
      <p:sp>
        <p:nvSpPr>
          <p:cNvPr id="4" name="Espace réservé du numéro de diapositive 3"/>
          <p:cNvSpPr>
            <a:spLocks noGrp="1"/>
          </p:cNvSpPr>
          <p:nvPr>
            <p:ph type="sldNum" sz="quarter" idx="12"/>
          </p:nvPr>
        </p:nvSpPr>
        <p:spPr/>
        <p:txBody>
          <a:bodyPr/>
          <a:lstStyle/>
          <a:p>
            <a:fld id="{A7C9A1F7-440B-49A3-BFDF-704999814E67}" type="slidenum">
              <a:rPr lang="fr-FR" smtClean="0"/>
              <a:pPr/>
              <a:t>1</a:t>
            </a:fld>
            <a:endParaRPr lang="fr-FR"/>
          </a:p>
        </p:txBody>
      </p:sp>
      <p:sp>
        <p:nvSpPr>
          <p:cNvPr id="6" name="ZoneTexte 5"/>
          <p:cNvSpPr txBox="1"/>
          <p:nvPr/>
        </p:nvSpPr>
        <p:spPr>
          <a:xfrm>
            <a:off x="2000232" y="285728"/>
            <a:ext cx="5143536" cy="1569660"/>
          </a:xfrm>
          <a:prstGeom prst="rect">
            <a:avLst/>
          </a:prstGeom>
          <a:noFill/>
        </p:spPr>
        <p:txBody>
          <a:bodyPr wrap="square" rtlCol="0">
            <a:spAutoFit/>
          </a:bodyPr>
          <a:lstStyle/>
          <a:p>
            <a:pPr algn="ctr"/>
            <a:r>
              <a:rPr lang="fr-FR" sz="2000" b="1" dirty="0" smtClean="0">
                <a:solidFill>
                  <a:schemeClr val="accent1">
                    <a:lumMod val="75000"/>
                  </a:schemeClr>
                </a:solidFill>
              </a:rPr>
              <a:t>Faculté de Médecine d’Alger </a:t>
            </a:r>
          </a:p>
          <a:p>
            <a:pPr algn="ctr"/>
            <a:r>
              <a:rPr lang="fr-FR" sz="2000" b="1" dirty="0" smtClean="0">
                <a:solidFill>
                  <a:schemeClr val="accent1">
                    <a:lumMod val="75000"/>
                  </a:schemeClr>
                </a:solidFill>
              </a:rPr>
              <a:t>Département de médecine dentaire </a:t>
            </a:r>
          </a:p>
          <a:p>
            <a:pPr algn="ctr"/>
            <a:r>
              <a:rPr lang="fr-FR" sz="2000" b="1" dirty="0" smtClean="0">
                <a:solidFill>
                  <a:schemeClr val="accent1">
                    <a:lumMod val="75000"/>
                  </a:schemeClr>
                </a:solidFill>
              </a:rPr>
              <a:t>Module de pharmacologie </a:t>
            </a:r>
          </a:p>
          <a:p>
            <a:pPr algn="ctr"/>
            <a:endParaRPr lang="fr-FR" b="1" dirty="0" smtClean="0">
              <a:solidFill>
                <a:schemeClr val="accent1">
                  <a:lumMod val="75000"/>
                </a:schemeClr>
              </a:solidFill>
            </a:endParaRPr>
          </a:p>
          <a:p>
            <a:pPr algn="ctr"/>
            <a:endParaRPr lang="fr-FR" b="1" dirty="0"/>
          </a:p>
        </p:txBody>
      </p:sp>
      <p:sp>
        <p:nvSpPr>
          <p:cNvPr id="8" name="Rectangle 7"/>
          <p:cNvSpPr/>
          <p:nvPr/>
        </p:nvSpPr>
        <p:spPr>
          <a:xfrm>
            <a:off x="2428860" y="5072074"/>
            <a:ext cx="4306903" cy="646331"/>
          </a:xfrm>
          <a:prstGeom prst="rect">
            <a:avLst/>
          </a:prstGeom>
        </p:spPr>
        <p:txBody>
          <a:bodyPr wrap="square">
            <a:spAutoFit/>
          </a:bodyPr>
          <a:lstStyle/>
          <a:p>
            <a:pPr lvl="0"/>
            <a:r>
              <a:rPr lang="fr-FR" b="1" dirty="0" smtClean="0">
                <a:solidFill>
                  <a:srgbClr val="9FB8CD">
                    <a:lumMod val="50000"/>
                  </a:srgbClr>
                </a:solidFill>
              </a:rPr>
              <a:t>3</a:t>
            </a:r>
            <a:r>
              <a:rPr lang="fr-FR" b="1" baseline="30000" dirty="0" smtClean="0">
                <a:solidFill>
                  <a:srgbClr val="9FB8CD">
                    <a:lumMod val="50000"/>
                  </a:srgbClr>
                </a:solidFill>
              </a:rPr>
              <a:t>ième</a:t>
            </a:r>
            <a:r>
              <a:rPr lang="fr-FR" b="1" dirty="0" smtClean="0">
                <a:solidFill>
                  <a:srgbClr val="9FB8CD">
                    <a:lumMod val="50000"/>
                  </a:srgbClr>
                </a:solidFill>
              </a:rPr>
              <a:t> année médecine dentaire</a:t>
            </a:r>
          </a:p>
          <a:p>
            <a:pPr lvl="0" algn="r"/>
            <a:r>
              <a:rPr lang="fr-FR" b="1" dirty="0" smtClean="0">
                <a:solidFill>
                  <a:srgbClr val="9FB8CD">
                    <a:lumMod val="50000"/>
                  </a:srgbClr>
                </a:solidFill>
              </a:rPr>
              <a:t> Dr </a:t>
            </a:r>
            <a:r>
              <a:rPr lang="fr-FR" b="1" dirty="0" err="1" smtClean="0">
                <a:solidFill>
                  <a:srgbClr val="9FB8CD">
                    <a:lumMod val="50000"/>
                  </a:srgbClr>
                </a:solidFill>
              </a:rPr>
              <a:t>Nekhoul</a:t>
            </a:r>
            <a:r>
              <a:rPr lang="fr-FR" b="1" dirty="0" smtClean="0">
                <a:solidFill>
                  <a:srgbClr val="9FB8CD">
                    <a:lumMod val="50000"/>
                  </a:srgbClr>
                </a:solidFill>
              </a:rPr>
              <a:t> </a:t>
            </a:r>
            <a:endParaRPr lang="fr-F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5305425" y="188640"/>
            <a:ext cx="3838575" cy="2486025"/>
          </a:xfrm>
          <a:prstGeom prst="rect">
            <a:avLst/>
          </a:prstGeom>
          <a:noFill/>
          <a:ln w="9525">
            <a:noFill/>
            <a:miter lim="800000"/>
            <a:headEnd/>
            <a:tailEnd/>
          </a:ln>
        </p:spPr>
      </p:pic>
      <p:sp>
        <p:nvSpPr>
          <p:cNvPr id="4" name="Titre 3"/>
          <p:cNvSpPr>
            <a:spLocks noGrp="1"/>
          </p:cNvSpPr>
          <p:nvPr>
            <p:ph type="title"/>
          </p:nvPr>
        </p:nvSpPr>
        <p:spPr>
          <a:xfrm>
            <a:off x="0" y="404664"/>
            <a:ext cx="8229600" cy="1143000"/>
          </a:xfrm>
        </p:spPr>
        <p:txBody>
          <a:bodyPr/>
          <a:lstStyle/>
          <a:p>
            <a:r>
              <a:rPr lang="fr-FR" dirty="0" smtClean="0"/>
              <a:t>Définition : </a:t>
            </a:r>
            <a:endParaRPr lang="fr-FR" dirty="0"/>
          </a:p>
        </p:txBody>
      </p:sp>
      <p:sp>
        <p:nvSpPr>
          <p:cNvPr id="7" name="Espace réservé du numéro de diapositive 6"/>
          <p:cNvSpPr>
            <a:spLocks noGrp="1"/>
          </p:cNvSpPr>
          <p:nvPr>
            <p:ph type="sldNum" sz="quarter" idx="12"/>
          </p:nvPr>
        </p:nvSpPr>
        <p:spPr/>
        <p:txBody>
          <a:bodyPr/>
          <a:lstStyle/>
          <a:p>
            <a:fld id="{A7C9A1F7-440B-49A3-BFDF-704999814E67}" type="slidenum">
              <a:rPr lang="fr-FR" smtClean="0"/>
              <a:pPr/>
              <a:t>2</a:t>
            </a:fld>
            <a:endParaRPr lang="fr-FR"/>
          </a:p>
        </p:txBody>
      </p:sp>
      <p:sp>
        <p:nvSpPr>
          <p:cNvPr id="5" name="Rectangle 4"/>
          <p:cNvSpPr/>
          <p:nvPr/>
        </p:nvSpPr>
        <p:spPr>
          <a:xfrm>
            <a:off x="467544" y="2780928"/>
            <a:ext cx="8136904" cy="2554545"/>
          </a:xfrm>
          <a:prstGeom prst="rect">
            <a:avLst/>
          </a:prstGeom>
        </p:spPr>
        <p:txBody>
          <a:bodyPr wrap="square">
            <a:spAutoFit/>
          </a:bodyPr>
          <a:lstStyle/>
          <a:p>
            <a:pPr algn="just"/>
            <a:r>
              <a:rPr lang="fr-FR" sz="3200" b="1" dirty="0" smtClean="0">
                <a:solidFill>
                  <a:srgbClr val="0070C0"/>
                </a:solidFill>
              </a:rPr>
              <a:t>La forme pharmaceutique OU galénique  </a:t>
            </a:r>
            <a:r>
              <a:rPr lang="fr-FR" sz="3200" dirty="0" smtClean="0"/>
              <a:t>est la préparation  sous </a:t>
            </a:r>
            <a:r>
              <a:rPr lang="fr-FR" sz="3200" dirty="0"/>
              <a:t>laquelle </a:t>
            </a:r>
            <a:r>
              <a:rPr lang="fr-FR" sz="3200" dirty="0" smtClean="0"/>
              <a:t>est mis le principe actif </a:t>
            </a:r>
            <a:r>
              <a:rPr lang="fr-FR" sz="3200" dirty="0"/>
              <a:t>  et </a:t>
            </a:r>
            <a:r>
              <a:rPr lang="fr-FR" sz="3200" dirty="0" smtClean="0"/>
              <a:t>les excipients </a:t>
            </a:r>
            <a:r>
              <a:rPr lang="fr-FR" sz="3200" dirty="0"/>
              <a:t> </a:t>
            </a:r>
            <a:r>
              <a:rPr lang="fr-FR" sz="3200" dirty="0" smtClean="0"/>
              <a:t> (</a:t>
            </a:r>
            <a:r>
              <a:rPr lang="fr-FR" sz="3200" dirty="0"/>
              <a:t>matières inactives) pour constituer un </a:t>
            </a:r>
            <a:r>
              <a:rPr lang="fr-FR" sz="3200" dirty="0" smtClean="0">
                <a:hlinkClick r:id="rId3" tooltip="Médicament"/>
              </a:rPr>
              <a:t>médicament</a:t>
            </a:r>
            <a:r>
              <a:rPr lang="fr-FR" sz="3200" dirty="0"/>
              <a:t> </a:t>
            </a:r>
            <a:r>
              <a:rPr lang="fr-FR" sz="3200" dirty="0" smtClean="0"/>
              <a:t>qui peut être administrer au patient </a:t>
            </a:r>
            <a:endParaRPr lang="fr-FR" sz="32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style>
          <a:lnRef idx="2">
            <a:schemeClr val="dk1"/>
          </a:lnRef>
          <a:fillRef idx="1">
            <a:schemeClr val="lt1"/>
          </a:fillRef>
          <a:effectRef idx="0">
            <a:schemeClr val="dk1"/>
          </a:effectRef>
          <a:fontRef idx="minor">
            <a:schemeClr val="dk1"/>
          </a:fontRef>
        </p:style>
        <p:txBody>
          <a:bodyPr>
            <a:normAutofit/>
          </a:bodyPr>
          <a:lstStyle/>
          <a:p>
            <a:r>
              <a:rPr lang="fr-FR" b="1" dirty="0" smtClean="0"/>
              <a:t>Classification des  voies d’administration </a:t>
            </a:r>
            <a:endParaRPr lang="fr-FR" dirty="0"/>
          </a:p>
        </p:txBody>
      </p:sp>
      <p:sp>
        <p:nvSpPr>
          <p:cNvPr id="4" name="Espace réservé du numéro de diapositive 3"/>
          <p:cNvSpPr>
            <a:spLocks noGrp="1"/>
          </p:cNvSpPr>
          <p:nvPr>
            <p:ph type="sldNum" sz="quarter" idx="12"/>
          </p:nvPr>
        </p:nvSpPr>
        <p:spPr/>
        <p:txBody>
          <a:bodyPr/>
          <a:lstStyle/>
          <a:p>
            <a:fld id="{A7C9A1F7-440B-49A3-BFDF-704999814E67}" type="slidenum">
              <a:rPr lang="fr-FR" smtClean="0"/>
              <a:pPr/>
              <a:t>3</a:t>
            </a:fld>
            <a:endParaRPr lang="fr-FR"/>
          </a:p>
        </p:txBody>
      </p:sp>
      <p:graphicFrame>
        <p:nvGraphicFramePr>
          <p:cNvPr id="7" name="Diagramme 6"/>
          <p:cNvGraphicFramePr/>
          <p:nvPr/>
        </p:nvGraphicFramePr>
        <p:xfrm>
          <a:off x="1071538" y="785794"/>
          <a:ext cx="7072362"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ZoneTexte 12"/>
          <p:cNvSpPr txBox="1"/>
          <p:nvPr/>
        </p:nvSpPr>
        <p:spPr>
          <a:xfrm>
            <a:off x="714348" y="4643446"/>
            <a:ext cx="2531975" cy="646331"/>
          </a:xfrm>
          <a:prstGeom prst="rect">
            <a:avLst/>
          </a:prstGeom>
          <a:noFill/>
        </p:spPr>
        <p:txBody>
          <a:bodyPr wrap="none" rtlCol="0">
            <a:spAutoFit/>
          </a:bodyPr>
          <a:lstStyle/>
          <a:p>
            <a:pPr>
              <a:buFont typeface="Wingdings" pitchFamily="2" charset="2"/>
              <a:buChar char="§"/>
            </a:pPr>
            <a:r>
              <a:rPr lang="fr-FR" dirty="0" smtClean="0">
                <a:solidFill>
                  <a:schemeClr val="accent2">
                    <a:lumMod val="75000"/>
                  </a:schemeClr>
                </a:solidFill>
              </a:rPr>
              <a:t>Effet local : voie cutanée</a:t>
            </a:r>
          </a:p>
          <a:p>
            <a:pPr>
              <a:buFont typeface="Wingdings" pitchFamily="2" charset="2"/>
              <a:buChar char="§"/>
            </a:pPr>
            <a:r>
              <a:rPr lang="fr-FR" dirty="0" smtClean="0">
                <a:solidFill>
                  <a:schemeClr val="accent2">
                    <a:lumMod val="75000"/>
                  </a:schemeClr>
                </a:solidFill>
              </a:rPr>
              <a:t>Effet général : voie IV</a:t>
            </a:r>
            <a:endParaRPr lang="fr-FR" dirty="0">
              <a:solidFill>
                <a:schemeClr val="accent2">
                  <a:lumMod val="75000"/>
                </a:schemeClr>
              </a:solidFill>
            </a:endParaRPr>
          </a:p>
        </p:txBody>
      </p:sp>
      <p:sp>
        <p:nvSpPr>
          <p:cNvPr id="14" name="ZoneTexte 13"/>
          <p:cNvSpPr txBox="1"/>
          <p:nvPr/>
        </p:nvSpPr>
        <p:spPr>
          <a:xfrm>
            <a:off x="3357554" y="4643446"/>
            <a:ext cx="2599494" cy="646331"/>
          </a:xfrm>
          <a:prstGeom prst="rect">
            <a:avLst/>
          </a:prstGeom>
          <a:noFill/>
        </p:spPr>
        <p:txBody>
          <a:bodyPr wrap="none" rtlCol="0">
            <a:spAutoFit/>
          </a:bodyPr>
          <a:lstStyle/>
          <a:p>
            <a:pPr>
              <a:buFont typeface="Wingdings" pitchFamily="2" charset="2"/>
              <a:buChar char="§"/>
            </a:pPr>
            <a:r>
              <a:rPr lang="fr-FR" dirty="0" smtClean="0">
                <a:solidFill>
                  <a:schemeClr val="accent5">
                    <a:lumMod val="75000"/>
                  </a:schemeClr>
                </a:solidFill>
              </a:rPr>
              <a:t>Voie directe :IV</a:t>
            </a:r>
          </a:p>
          <a:p>
            <a:pPr>
              <a:buFont typeface="Wingdings" pitchFamily="2" charset="2"/>
              <a:buChar char="§"/>
            </a:pPr>
            <a:r>
              <a:rPr lang="fr-FR" dirty="0" smtClean="0">
                <a:solidFill>
                  <a:schemeClr val="accent5">
                    <a:lumMod val="75000"/>
                  </a:schemeClr>
                </a:solidFill>
              </a:rPr>
              <a:t>Voie indirecte: voie orale</a:t>
            </a:r>
            <a:endParaRPr lang="fr-FR" dirty="0">
              <a:solidFill>
                <a:schemeClr val="accent5">
                  <a:lumMod val="75000"/>
                </a:schemeClr>
              </a:solidFill>
            </a:endParaRPr>
          </a:p>
        </p:txBody>
      </p:sp>
      <p:sp>
        <p:nvSpPr>
          <p:cNvPr id="15" name="ZoneTexte 14"/>
          <p:cNvSpPr txBox="1"/>
          <p:nvPr/>
        </p:nvSpPr>
        <p:spPr>
          <a:xfrm>
            <a:off x="6000760" y="4643446"/>
            <a:ext cx="3281732" cy="646331"/>
          </a:xfrm>
          <a:prstGeom prst="rect">
            <a:avLst/>
          </a:prstGeom>
          <a:noFill/>
        </p:spPr>
        <p:txBody>
          <a:bodyPr wrap="none" rtlCol="0">
            <a:spAutoFit/>
          </a:bodyPr>
          <a:lstStyle/>
          <a:p>
            <a:pPr>
              <a:buFont typeface="Wingdings" pitchFamily="2" charset="2"/>
              <a:buChar char="§"/>
            </a:pPr>
            <a:r>
              <a:rPr lang="fr-FR" dirty="0" smtClean="0">
                <a:solidFill>
                  <a:schemeClr val="accent3">
                    <a:lumMod val="50000"/>
                  </a:schemeClr>
                </a:solidFill>
              </a:rPr>
              <a:t>Voie d’urgence : intra cardiaque </a:t>
            </a:r>
          </a:p>
          <a:p>
            <a:pPr>
              <a:buFont typeface="Wingdings" pitchFamily="2" charset="2"/>
              <a:buChar char="§"/>
            </a:pPr>
            <a:r>
              <a:rPr lang="fr-FR" dirty="0" smtClean="0">
                <a:solidFill>
                  <a:schemeClr val="accent3">
                    <a:lumMod val="50000"/>
                  </a:schemeClr>
                </a:solidFill>
              </a:rPr>
              <a:t>Voie  moins rapide : orale </a:t>
            </a:r>
            <a:endParaRPr lang="fr-FR" dirty="0">
              <a:solidFill>
                <a:schemeClr val="accent3">
                  <a:lumMod val="50000"/>
                </a:schemeClr>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a:spLocks noGrp="1"/>
          </p:cNvSpPr>
          <p:nvPr>
            <p:ph type="title"/>
          </p:nvPr>
        </p:nvSpPr>
        <p:spPr>
          <a:xfrm>
            <a:off x="395536" y="188640"/>
            <a:ext cx="8229600" cy="1143000"/>
          </a:xfrm>
        </p:spPr>
        <p:style>
          <a:lnRef idx="3">
            <a:schemeClr val="lt1"/>
          </a:lnRef>
          <a:fillRef idx="1">
            <a:schemeClr val="accent1"/>
          </a:fillRef>
          <a:effectRef idx="1">
            <a:schemeClr val="accent1"/>
          </a:effectRef>
          <a:fontRef idx="minor">
            <a:schemeClr val="lt1"/>
          </a:fontRef>
        </p:style>
        <p:txBody>
          <a:bodyPr/>
          <a:lstStyle/>
          <a:p>
            <a:r>
              <a:rPr lang="fr-FR" b="1" dirty="0" smtClean="0"/>
              <a:t>Administration par voie orale </a:t>
            </a:r>
            <a:endParaRPr lang="fr-FR" b="1" dirty="0"/>
          </a:p>
        </p:txBody>
      </p:sp>
      <p:sp>
        <p:nvSpPr>
          <p:cNvPr id="6" name="Espace réservé du numéro de diapositive 5"/>
          <p:cNvSpPr>
            <a:spLocks noGrp="1"/>
          </p:cNvSpPr>
          <p:nvPr>
            <p:ph type="sldNum" sz="quarter" idx="12"/>
          </p:nvPr>
        </p:nvSpPr>
        <p:spPr/>
        <p:txBody>
          <a:bodyPr/>
          <a:lstStyle/>
          <a:p>
            <a:fld id="{A7C9A1F7-440B-49A3-BFDF-704999814E67}" type="slidenum">
              <a:rPr lang="fr-FR" smtClean="0"/>
              <a:pPr/>
              <a:t>4</a:t>
            </a:fld>
            <a:endParaRPr lang="fr-FR" dirty="0"/>
          </a:p>
        </p:txBody>
      </p:sp>
      <p:sp>
        <p:nvSpPr>
          <p:cNvPr id="4" name="Rectangle 3"/>
          <p:cNvSpPr/>
          <p:nvPr/>
        </p:nvSpPr>
        <p:spPr>
          <a:xfrm>
            <a:off x="539552" y="1628800"/>
            <a:ext cx="9676050" cy="1569660"/>
          </a:xfrm>
          <a:prstGeom prst="rect">
            <a:avLst/>
          </a:prstGeom>
        </p:spPr>
        <p:txBody>
          <a:bodyPr wrap="square">
            <a:spAutoFit/>
          </a:bodyPr>
          <a:lstStyle/>
          <a:p>
            <a:r>
              <a:rPr lang="fr-FR" sz="2400" b="1" dirty="0" smtClean="0">
                <a:solidFill>
                  <a:srgbClr val="00B050"/>
                </a:solidFill>
              </a:rPr>
              <a:t>Avantages: </a:t>
            </a:r>
            <a:endParaRPr lang="fr-FR" sz="2400" b="1" dirty="0">
              <a:solidFill>
                <a:srgbClr val="00B050"/>
              </a:solidFill>
            </a:endParaRPr>
          </a:p>
          <a:p>
            <a:r>
              <a:rPr lang="fr-FR" sz="2400" dirty="0"/>
              <a:t> </a:t>
            </a:r>
            <a:r>
              <a:rPr lang="fr-FR" sz="2400" dirty="0" smtClean="0"/>
              <a:t>-Simple </a:t>
            </a:r>
            <a:r>
              <a:rPr lang="fr-FR" sz="2400" dirty="0"/>
              <a:t>et facile d’emploi (voie </a:t>
            </a:r>
            <a:r>
              <a:rPr lang="fr-FR" sz="2400" dirty="0" smtClean="0"/>
              <a:t>administration naturelle)</a:t>
            </a:r>
            <a:endParaRPr lang="fr-FR" sz="2400" dirty="0"/>
          </a:p>
          <a:p>
            <a:r>
              <a:rPr lang="fr-FR" sz="2400" dirty="0" smtClean="0"/>
              <a:t>- Peu onéreuse</a:t>
            </a:r>
            <a:endParaRPr lang="fr-FR" sz="2400" dirty="0"/>
          </a:p>
          <a:p>
            <a:r>
              <a:rPr lang="fr-FR" sz="2400" dirty="0" smtClean="0"/>
              <a:t>-Traitement </a:t>
            </a:r>
            <a:r>
              <a:rPr lang="fr-FR" sz="2400" dirty="0"/>
              <a:t>ambulatoire</a:t>
            </a:r>
          </a:p>
        </p:txBody>
      </p:sp>
      <p:sp>
        <p:nvSpPr>
          <p:cNvPr id="5" name="Rectangle 4"/>
          <p:cNvSpPr/>
          <p:nvPr/>
        </p:nvSpPr>
        <p:spPr>
          <a:xfrm>
            <a:off x="642910" y="3643314"/>
            <a:ext cx="8208912" cy="3046988"/>
          </a:xfrm>
          <a:prstGeom prst="rect">
            <a:avLst/>
          </a:prstGeom>
        </p:spPr>
        <p:txBody>
          <a:bodyPr wrap="square">
            <a:spAutoFit/>
          </a:bodyPr>
          <a:lstStyle/>
          <a:p>
            <a:r>
              <a:rPr lang="fr-FR" sz="2400" b="1" dirty="0" smtClean="0">
                <a:solidFill>
                  <a:srgbClr val="FF0000"/>
                </a:solidFill>
              </a:rPr>
              <a:t>Limites: </a:t>
            </a:r>
            <a:endParaRPr lang="fr-FR" sz="2400" b="1" dirty="0">
              <a:solidFill>
                <a:srgbClr val="FF0000"/>
              </a:solidFill>
            </a:endParaRPr>
          </a:p>
          <a:p>
            <a:pPr>
              <a:buFontTx/>
              <a:buChar char="-"/>
            </a:pPr>
            <a:r>
              <a:rPr lang="fr-FR" sz="2400" dirty="0" smtClean="0"/>
              <a:t>Impossibilité d'administration si trouble de la déglutition ( coma , vomissement)</a:t>
            </a:r>
          </a:p>
          <a:p>
            <a:pPr>
              <a:buFontTx/>
              <a:buChar char="-"/>
            </a:pPr>
            <a:r>
              <a:rPr lang="fr-FR" sz="2400" dirty="0" smtClean="0"/>
              <a:t>Délai avant l'apparition de l'effet</a:t>
            </a:r>
            <a:endParaRPr lang="fr-FR" sz="2400" dirty="0"/>
          </a:p>
          <a:p>
            <a:pPr>
              <a:buFontTx/>
              <a:buChar char="-"/>
            </a:pPr>
            <a:r>
              <a:rPr lang="fr-FR" sz="2400" dirty="0" smtClean="0"/>
              <a:t>Irritation </a:t>
            </a:r>
            <a:r>
              <a:rPr lang="fr-FR" sz="2400" dirty="0"/>
              <a:t>du tube </a:t>
            </a:r>
            <a:r>
              <a:rPr lang="fr-FR" sz="2400" dirty="0" smtClean="0"/>
              <a:t>digestif (AINS)</a:t>
            </a:r>
            <a:endParaRPr lang="fr-FR" sz="2400" dirty="0"/>
          </a:p>
          <a:p>
            <a:pPr>
              <a:buFontTx/>
              <a:buChar char="-"/>
            </a:pPr>
            <a:r>
              <a:rPr lang="fr-FR" sz="2400" dirty="0" smtClean="0"/>
              <a:t>possible destruction </a:t>
            </a:r>
            <a:r>
              <a:rPr lang="fr-FR" sz="2400" dirty="0"/>
              <a:t>PA par sucs </a:t>
            </a:r>
            <a:r>
              <a:rPr lang="fr-FR" sz="2400" dirty="0" smtClean="0"/>
              <a:t>digestifs (insuline)</a:t>
            </a:r>
            <a:endParaRPr lang="fr-FR" sz="2400" dirty="0"/>
          </a:p>
          <a:p>
            <a:pPr>
              <a:buFontTx/>
              <a:buChar char="-"/>
            </a:pPr>
            <a:r>
              <a:rPr lang="fr-FR" sz="2400" dirty="0" smtClean="0"/>
              <a:t>parfois mauvais goût</a:t>
            </a:r>
          </a:p>
          <a:p>
            <a:endParaRPr lang="fr-FR"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922114"/>
          </a:xfrm>
        </p:spPr>
        <p:style>
          <a:lnRef idx="3">
            <a:schemeClr val="lt1"/>
          </a:lnRef>
          <a:fillRef idx="1">
            <a:schemeClr val="accent1"/>
          </a:fillRef>
          <a:effectRef idx="1">
            <a:schemeClr val="accent1"/>
          </a:effectRef>
          <a:fontRef idx="minor">
            <a:schemeClr val="lt1"/>
          </a:fontRef>
        </p:style>
        <p:txBody>
          <a:bodyPr/>
          <a:lstStyle/>
          <a:p>
            <a:r>
              <a:rPr lang="fr-FR" b="1" dirty="0" smtClean="0"/>
              <a:t> Les formes orales </a:t>
            </a:r>
            <a:endParaRPr lang="fr-FR" b="1" dirty="0"/>
          </a:p>
        </p:txBody>
      </p:sp>
      <p:sp>
        <p:nvSpPr>
          <p:cNvPr id="15" name="Espace réservé du pied de page 14"/>
          <p:cNvSpPr>
            <a:spLocks noGrp="1"/>
          </p:cNvSpPr>
          <p:nvPr>
            <p:ph type="ftr" sz="quarter" idx="11"/>
          </p:nvPr>
        </p:nvSpPr>
        <p:spPr/>
        <p:txBody>
          <a:bodyPr/>
          <a:lstStyle/>
          <a:p>
            <a:endParaRPr lang="fr-FR"/>
          </a:p>
        </p:txBody>
      </p:sp>
      <p:sp>
        <p:nvSpPr>
          <p:cNvPr id="14" name="Espace réservé du numéro de diapositive 13"/>
          <p:cNvSpPr>
            <a:spLocks noGrp="1"/>
          </p:cNvSpPr>
          <p:nvPr>
            <p:ph type="sldNum" sz="quarter" idx="12"/>
          </p:nvPr>
        </p:nvSpPr>
        <p:spPr/>
        <p:txBody>
          <a:bodyPr/>
          <a:lstStyle/>
          <a:p>
            <a:fld id="{A7C9A1F7-440B-49A3-BFDF-704999814E67}" type="slidenum">
              <a:rPr lang="fr-FR" smtClean="0"/>
              <a:pPr/>
              <a:t>5</a:t>
            </a:fld>
            <a:endParaRPr lang="fr-FR"/>
          </a:p>
        </p:txBody>
      </p:sp>
      <p:cxnSp>
        <p:nvCxnSpPr>
          <p:cNvPr id="4" name="Connecteur droit avec flèche 3"/>
          <p:cNvCxnSpPr/>
          <p:nvPr/>
        </p:nvCxnSpPr>
        <p:spPr>
          <a:xfrm flipH="1">
            <a:off x="1835696" y="1340768"/>
            <a:ext cx="648072" cy="115212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7" name="Connecteur droit avec flèche 6"/>
          <p:cNvCxnSpPr/>
          <p:nvPr/>
        </p:nvCxnSpPr>
        <p:spPr>
          <a:xfrm>
            <a:off x="5724128" y="1412776"/>
            <a:ext cx="936104" cy="108012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0" name="ZoneTexte 9"/>
          <p:cNvSpPr txBox="1"/>
          <p:nvPr/>
        </p:nvSpPr>
        <p:spPr>
          <a:xfrm>
            <a:off x="1187624" y="2636912"/>
            <a:ext cx="1321196" cy="52322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fr-FR" sz="2800" b="1" dirty="0" smtClean="0"/>
              <a:t>Solides </a:t>
            </a:r>
            <a:endParaRPr lang="fr-FR" sz="2800" b="1" dirty="0"/>
          </a:p>
        </p:txBody>
      </p:sp>
      <p:sp>
        <p:nvSpPr>
          <p:cNvPr id="11" name="ZoneTexte 10"/>
          <p:cNvSpPr txBox="1"/>
          <p:nvPr/>
        </p:nvSpPr>
        <p:spPr>
          <a:xfrm>
            <a:off x="6084168" y="2636912"/>
            <a:ext cx="1431802" cy="52322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fr-FR" sz="2800" b="1" dirty="0" smtClean="0"/>
              <a:t>liquides </a:t>
            </a:r>
            <a:endParaRPr lang="fr-FR" sz="2800" b="1" dirty="0"/>
          </a:p>
        </p:txBody>
      </p:sp>
      <p:pic>
        <p:nvPicPr>
          <p:cNvPr id="2050" name="Picture 2"/>
          <p:cNvPicPr>
            <a:picLocks noChangeAspect="1" noChangeArrowheads="1"/>
          </p:cNvPicPr>
          <p:nvPr/>
        </p:nvPicPr>
        <p:blipFill>
          <a:blip r:embed="rId2" cstate="print"/>
          <a:srcRect/>
          <a:stretch>
            <a:fillRect/>
          </a:stretch>
        </p:blipFill>
        <p:spPr bwMode="auto">
          <a:xfrm>
            <a:off x="395536" y="3284984"/>
            <a:ext cx="2663949" cy="2905497"/>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5580112" y="3284984"/>
            <a:ext cx="2592288" cy="291502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cstate="print"/>
          <a:srcRect/>
          <a:stretch>
            <a:fillRect/>
          </a:stretch>
        </p:blipFill>
        <p:spPr bwMode="auto">
          <a:xfrm>
            <a:off x="7956376" y="548680"/>
            <a:ext cx="962025" cy="1295400"/>
          </a:xfrm>
          <a:prstGeom prst="rect">
            <a:avLst/>
          </a:prstGeom>
          <a:noFill/>
          <a:ln w="9525">
            <a:noFill/>
            <a:miter lim="800000"/>
            <a:headEnd/>
            <a:tailEnd/>
          </a:ln>
        </p:spPr>
      </p:pic>
      <p:sp>
        <p:nvSpPr>
          <p:cNvPr id="4" name="Rectangle 3"/>
          <p:cNvSpPr/>
          <p:nvPr/>
        </p:nvSpPr>
        <p:spPr>
          <a:xfrm>
            <a:off x="251520" y="836712"/>
            <a:ext cx="7560840" cy="1200329"/>
          </a:xfrm>
          <a:prstGeom prst="rect">
            <a:avLst/>
          </a:prstGeom>
        </p:spPr>
        <p:txBody>
          <a:bodyPr wrap="square">
            <a:spAutoFit/>
          </a:bodyPr>
          <a:lstStyle/>
          <a:p>
            <a:pPr algn="just"/>
            <a:r>
              <a:rPr lang="fr-FR" sz="2400" b="1" dirty="0" smtClean="0">
                <a:solidFill>
                  <a:srgbClr val="FF0000"/>
                </a:solidFill>
              </a:rPr>
              <a:t>Les Poudres :</a:t>
            </a:r>
            <a:r>
              <a:rPr lang="fr-FR" sz="2400" dirty="0" smtClean="0"/>
              <a:t>Préparations </a:t>
            </a:r>
            <a:r>
              <a:rPr lang="fr-FR" sz="2400" dirty="0"/>
              <a:t>constituées de particules solides, libres, sèches et plus ou moins </a:t>
            </a:r>
            <a:r>
              <a:rPr lang="fr-FR" sz="2400" dirty="0" smtClean="0"/>
              <a:t>fines, Les </a:t>
            </a:r>
            <a:r>
              <a:rPr lang="fr-FR" sz="2400" dirty="0"/>
              <a:t>formes dérivées des poudres </a:t>
            </a:r>
            <a:r>
              <a:rPr lang="fr-FR" sz="2400" dirty="0" smtClean="0"/>
              <a:t>:gélules</a:t>
            </a:r>
            <a:r>
              <a:rPr lang="fr-FR" sz="2400" dirty="0"/>
              <a:t>, sachets</a:t>
            </a:r>
          </a:p>
        </p:txBody>
      </p:sp>
      <p:sp>
        <p:nvSpPr>
          <p:cNvPr id="5" name="ZoneTexte 4"/>
          <p:cNvSpPr txBox="1"/>
          <p:nvPr/>
        </p:nvSpPr>
        <p:spPr>
          <a:xfrm>
            <a:off x="714348" y="214290"/>
            <a:ext cx="3571900"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2800" b="1" dirty="0" smtClean="0"/>
              <a:t>1- les formes solides </a:t>
            </a:r>
            <a:endParaRPr lang="fr-FR" sz="2800" b="1" dirty="0"/>
          </a:p>
        </p:txBody>
      </p:sp>
      <p:sp>
        <p:nvSpPr>
          <p:cNvPr id="8" name="Rectangle 7"/>
          <p:cNvSpPr/>
          <p:nvPr/>
        </p:nvSpPr>
        <p:spPr>
          <a:xfrm>
            <a:off x="179512" y="2060848"/>
            <a:ext cx="7560840" cy="3323987"/>
          </a:xfrm>
          <a:prstGeom prst="rect">
            <a:avLst/>
          </a:prstGeom>
        </p:spPr>
        <p:txBody>
          <a:bodyPr wrap="square">
            <a:spAutoFit/>
          </a:bodyPr>
          <a:lstStyle/>
          <a:p>
            <a:pPr algn="just"/>
            <a:r>
              <a:rPr lang="fr-FR" sz="2400" b="1" dirty="0" smtClean="0">
                <a:solidFill>
                  <a:srgbClr val="FF0000"/>
                </a:solidFill>
              </a:rPr>
              <a:t>Les capsules:</a:t>
            </a:r>
            <a:r>
              <a:rPr lang="fr-FR" sz="2400" dirty="0" smtClean="0"/>
              <a:t> Préparations </a:t>
            </a:r>
            <a:r>
              <a:rPr lang="fr-FR" sz="2400" dirty="0"/>
              <a:t>de consistances solide </a:t>
            </a:r>
            <a:r>
              <a:rPr lang="fr-FR" sz="2400" dirty="0" smtClean="0"/>
              <a:t>constituée d’une </a:t>
            </a:r>
            <a:r>
              <a:rPr lang="fr-FR" sz="2400" dirty="0"/>
              <a:t>enveloppe dure ou molle, de forme ou de </a:t>
            </a:r>
            <a:r>
              <a:rPr lang="fr-FR" sz="2400" dirty="0" smtClean="0"/>
              <a:t>capacité </a:t>
            </a:r>
            <a:r>
              <a:rPr lang="fr-FR" sz="2400" dirty="0"/>
              <a:t>variable contenant une dose unitaire de PA. </a:t>
            </a:r>
            <a:endParaRPr lang="fr-FR" sz="2400" dirty="0" smtClean="0"/>
          </a:p>
          <a:p>
            <a:pPr algn="just"/>
            <a:r>
              <a:rPr lang="fr-FR" sz="2400" dirty="0" smtClean="0"/>
              <a:t>2 types:</a:t>
            </a:r>
          </a:p>
          <a:p>
            <a:pPr algn="just">
              <a:buFont typeface="Arial" pitchFamily="34" charset="0"/>
              <a:buChar char="•"/>
            </a:pPr>
            <a:r>
              <a:rPr lang="fr-FR" sz="2400" dirty="0" smtClean="0"/>
              <a:t>Les </a:t>
            </a:r>
            <a:r>
              <a:rPr lang="fr-FR" sz="2400" dirty="0"/>
              <a:t>capsules à enveloppes </a:t>
            </a:r>
            <a:r>
              <a:rPr lang="fr-FR" sz="2400" dirty="0" smtClean="0"/>
              <a:t>molles</a:t>
            </a:r>
          </a:p>
          <a:p>
            <a:pPr algn="just">
              <a:buFont typeface="Arial" pitchFamily="34" charset="0"/>
              <a:buChar char="•"/>
            </a:pPr>
            <a:endParaRPr lang="fr-FR" sz="2400" dirty="0" smtClean="0"/>
          </a:p>
          <a:p>
            <a:pPr algn="just">
              <a:buFont typeface="Arial" pitchFamily="34" charset="0"/>
              <a:buChar char="•"/>
            </a:pPr>
            <a:r>
              <a:rPr lang="fr-FR" sz="2400" dirty="0" smtClean="0"/>
              <a:t>Les </a:t>
            </a:r>
            <a:r>
              <a:rPr lang="fr-FR" sz="2400" dirty="0"/>
              <a:t>capsules à enveloppes dures ou </a:t>
            </a:r>
            <a:r>
              <a:rPr lang="fr-FR" sz="2400" dirty="0" smtClean="0"/>
              <a:t>gélules</a:t>
            </a:r>
            <a:r>
              <a:rPr lang="fr-FR" sz="2400" dirty="0"/>
              <a:t>: </a:t>
            </a:r>
            <a:r>
              <a:rPr lang="fr-FR" sz="2400" dirty="0" smtClean="0"/>
              <a:t>constituées </a:t>
            </a:r>
            <a:r>
              <a:rPr lang="fr-FR" sz="2400" dirty="0"/>
              <a:t>de 2 parties cylindriques</a:t>
            </a:r>
            <a:r>
              <a:rPr lang="fr-FR" dirty="0" smtClean="0"/>
              <a:t>.</a:t>
            </a:r>
          </a:p>
          <a:p>
            <a:pPr algn="just"/>
            <a:endParaRPr lang="fr-FR" dirty="0"/>
          </a:p>
        </p:txBody>
      </p:sp>
      <p:pic>
        <p:nvPicPr>
          <p:cNvPr id="10" name="Picture 9"/>
          <p:cNvPicPr>
            <a:picLocks noChangeAspect="1" noChangeArrowheads="1"/>
          </p:cNvPicPr>
          <p:nvPr/>
        </p:nvPicPr>
        <p:blipFill>
          <a:blip r:embed="rId3" cstate="print"/>
          <a:srcRect/>
          <a:stretch>
            <a:fillRect/>
          </a:stretch>
        </p:blipFill>
        <p:spPr>
          <a:xfrm>
            <a:off x="4357686" y="4929198"/>
            <a:ext cx="2022376" cy="908720"/>
          </a:xfrm>
          <a:prstGeom prst="rect">
            <a:avLst/>
          </a:prstGeom>
          <a:noFill/>
          <a:ln/>
        </p:spPr>
      </p:pic>
      <p:pic>
        <p:nvPicPr>
          <p:cNvPr id="3076" name="Picture 4"/>
          <p:cNvPicPr>
            <a:picLocks noChangeAspect="1" noChangeArrowheads="1"/>
          </p:cNvPicPr>
          <p:nvPr/>
        </p:nvPicPr>
        <p:blipFill>
          <a:blip r:embed="rId4" cstate="print"/>
          <a:srcRect/>
          <a:stretch>
            <a:fillRect/>
          </a:stretch>
        </p:blipFill>
        <p:spPr bwMode="auto">
          <a:xfrm>
            <a:off x="5000628" y="3214686"/>
            <a:ext cx="1538486" cy="1067569"/>
          </a:xfrm>
          <a:prstGeom prst="rect">
            <a:avLst/>
          </a:prstGeom>
          <a:noFill/>
          <a:ln w="9525">
            <a:noFill/>
            <a:miter lim="800000"/>
            <a:headEnd/>
            <a:tailEnd/>
          </a:ln>
        </p:spPr>
      </p:pic>
      <p:sp>
        <p:nvSpPr>
          <p:cNvPr id="13" name="Espace réservé du numéro de diapositive 12"/>
          <p:cNvSpPr>
            <a:spLocks noGrp="1"/>
          </p:cNvSpPr>
          <p:nvPr>
            <p:ph type="sldNum" sz="quarter" idx="12"/>
          </p:nvPr>
        </p:nvSpPr>
        <p:spPr/>
        <p:txBody>
          <a:bodyPr/>
          <a:lstStyle/>
          <a:p>
            <a:fld id="{A7C9A1F7-440B-49A3-BFDF-704999814E67}" type="slidenum">
              <a:rPr lang="fr-FR" smtClean="0"/>
              <a:pPr/>
              <a:t>6</a:t>
            </a:fld>
            <a:endParaRPr lang="fr-F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251520" y="0"/>
            <a:ext cx="3748976"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2800" b="1" dirty="0" smtClean="0"/>
              <a:t>1- les formes solides </a:t>
            </a:r>
            <a:endParaRPr lang="fr-FR" sz="2800" b="1" dirty="0"/>
          </a:p>
        </p:txBody>
      </p:sp>
      <p:sp>
        <p:nvSpPr>
          <p:cNvPr id="6" name="Rectangle 3"/>
          <p:cNvSpPr txBox="1">
            <a:spLocks noChangeArrowheads="1"/>
          </p:cNvSpPr>
          <p:nvPr/>
        </p:nvSpPr>
        <p:spPr>
          <a:xfrm>
            <a:off x="179512" y="836712"/>
            <a:ext cx="8229600" cy="3745086"/>
          </a:xfrm>
          <a:prstGeom prst="rect">
            <a:avLst/>
          </a:prstGeom>
        </p:spPr>
        <p:txBody>
          <a:bodyPr/>
          <a:lstStyle/>
          <a:p>
            <a:pPr marL="342900" marR="0" lvl="0" indent="-342900" algn="just" defTabSz="914400" rtl="0" eaLnBrk="1" fontAlgn="auto" latinLnBrk="0" hangingPunct="1">
              <a:lnSpc>
                <a:spcPct val="80000"/>
              </a:lnSpc>
              <a:spcBef>
                <a:spcPct val="20000"/>
              </a:spcBef>
              <a:spcAft>
                <a:spcPts val="0"/>
              </a:spcAft>
              <a:buClrTx/>
              <a:buSzTx/>
              <a:tabLst/>
              <a:defRPr/>
            </a:pPr>
            <a:r>
              <a:rPr kumimoji="0" lang="fr-FR" sz="2400" b="1" i="0" u="none" strike="noStrike" kern="1200" cap="none" spc="0" normalizeH="0" baseline="0" noProof="0" dirty="0" smtClean="0">
                <a:ln>
                  <a:noFill/>
                </a:ln>
                <a:solidFill>
                  <a:srgbClr val="FF0000"/>
                </a:solidFill>
                <a:effectLst/>
                <a:uLnTx/>
                <a:uFillTx/>
                <a:ea typeface="+mn-ea"/>
                <a:cs typeface="+mn-cs"/>
              </a:rPr>
              <a:t>Le</a:t>
            </a:r>
            <a:r>
              <a:rPr kumimoji="0" lang="fr-FR" sz="2400" b="1" i="0" u="none" strike="noStrike" kern="1200" cap="none" spc="0" normalizeH="0" noProof="0" dirty="0" smtClean="0">
                <a:ln>
                  <a:noFill/>
                </a:ln>
                <a:solidFill>
                  <a:srgbClr val="FF0000"/>
                </a:solidFill>
                <a:effectLst/>
                <a:uLnTx/>
                <a:uFillTx/>
                <a:ea typeface="+mn-ea"/>
                <a:cs typeface="+mn-cs"/>
              </a:rPr>
              <a:t> </a:t>
            </a:r>
            <a:r>
              <a:rPr kumimoji="0" lang="fr-FR" sz="2400" b="1" i="0" u="none" strike="noStrike" kern="1200" cap="none" spc="0" normalizeH="0" baseline="0" noProof="0" dirty="0" smtClean="0">
                <a:ln>
                  <a:noFill/>
                </a:ln>
                <a:solidFill>
                  <a:srgbClr val="FF0000"/>
                </a:solidFill>
                <a:effectLst/>
                <a:uLnTx/>
                <a:uFillTx/>
                <a:ea typeface="+mn-ea"/>
                <a:cs typeface="+mn-cs"/>
              </a:rPr>
              <a:t>Comprimé</a:t>
            </a:r>
            <a:r>
              <a:rPr kumimoji="0" lang="fr-FR" sz="2400" b="1" i="0" u="none" strike="noStrike" kern="1200" cap="none" spc="0" normalizeH="0" baseline="0" noProof="0" dirty="0" smtClean="0">
                <a:ln>
                  <a:noFill/>
                </a:ln>
                <a:solidFill>
                  <a:srgbClr val="FF0000"/>
                </a:solidFill>
                <a:effectLst/>
                <a:uLnTx/>
                <a:uFillTx/>
                <a:latin typeface="Comic Sans MS" pitchFamily="66" charset="0"/>
                <a:ea typeface="+mn-ea"/>
                <a:cs typeface="+mn-cs"/>
              </a:rPr>
              <a:t>:</a:t>
            </a:r>
            <a:r>
              <a:rPr kumimoji="0" lang="fr-FR" sz="2400" b="0" i="0" u="none" strike="noStrike" kern="1200" cap="none" spc="0" normalizeH="0" baseline="0" noProof="0" dirty="0" smtClean="0">
                <a:ln>
                  <a:noFill/>
                </a:ln>
                <a:solidFill>
                  <a:srgbClr val="FF0000"/>
                </a:solidFill>
                <a:effectLst/>
                <a:uLnTx/>
                <a:uFillTx/>
                <a:latin typeface="Comic Sans MS" pitchFamily="66" charset="0"/>
                <a:ea typeface="+mn-ea"/>
                <a:cs typeface="+mn-cs"/>
              </a:rPr>
              <a:t> </a:t>
            </a:r>
            <a:r>
              <a:rPr kumimoji="0" lang="fr-FR" sz="2400" b="0" i="0" u="none" strike="noStrike" kern="1200" cap="none" spc="0" normalizeH="0" baseline="0" noProof="0" dirty="0" smtClean="0">
                <a:ln>
                  <a:noFill/>
                </a:ln>
                <a:solidFill>
                  <a:schemeClr val="tx1"/>
                </a:solidFill>
                <a:effectLst/>
                <a:uLnTx/>
                <a:uFillTx/>
                <a:ea typeface="+mn-ea"/>
                <a:cs typeface="+mn-cs"/>
              </a:rPr>
              <a:t>forme variable, souvent arrondie, solide et compacte. Obtenu par compression des particules de poudre.</a:t>
            </a:r>
          </a:p>
          <a:p>
            <a:pPr marL="742950" marR="0" lvl="1" indent="-285750" algn="just"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fr-FR" sz="2400" b="0" i="1" u="none" strike="noStrike" kern="1200" cap="none" spc="0" normalizeH="0" baseline="0" noProof="0" dirty="0" smtClean="0">
                <a:ln>
                  <a:noFill/>
                </a:ln>
                <a:solidFill>
                  <a:schemeClr val="tx1"/>
                </a:solidFill>
                <a:effectLst/>
                <a:uLnTx/>
                <a:uFillTx/>
                <a:ea typeface="+mn-ea"/>
                <a:cs typeface="+mn-cs"/>
              </a:rPr>
              <a:t>Comprimé non enrobé</a:t>
            </a:r>
            <a:r>
              <a:rPr lang="fr-FR" sz="2400" dirty="0" smtClean="0"/>
              <a:t>:</a:t>
            </a:r>
            <a:endParaRPr kumimoji="0" lang="fr-FR" sz="2400" b="0" i="0" u="none" strike="noStrike" kern="1200" cap="none" spc="0" normalizeH="0" baseline="0" noProof="0" dirty="0" smtClean="0">
              <a:ln>
                <a:noFill/>
              </a:ln>
              <a:solidFill>
                <a:schemeClr val="tx1"/>
              </a:solidFill>
              <a:effectLst/>
              <a:uLnTx/>
              <a:uFillTx/>
              <a:ea typeface="+mn-ea"/>
              <a:cs typeface="+mn-cs"/>
            </a:endParaRPr>
          </a:p>
          <a:p>
            <a:pPr marL="742950" marR="0" lvl="1" indent="-285750" algn="just"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fr-FR" sz="2400" b="0" i="0" u="none" strike="noStrike" kern="1200" cap="none" spc="0" normalizeH="0" baseline="0" noProof="0" dirty="0" smtClean="0">
              <a:ln>
                <a:noFill/>
              </a:ln>
              <a:solidFill>
                <a:schemeClr val="tx1"/>
              </a:solidFill>
              <a:effectLst/>
              <a:uLnTx/>
              <a:uFillTx/>
              <a:ea typeface="+mn-ea"/>
              <a:cs typeface="+mn-cs"/>
            </a:endParaRPr>
          </a:p>
          <a:p>
            <a:pPr marL="742950" marR="0" lvl="1" indent="-285750" algn="just" defTabSz="914400" rtl="0" eaLnBrk="1" fontAlgn="auto" latinLnBrk="0" hangingPunct="1">
              <a:lnSpc>
                <a:spcPct val="80000"/>
              </a:lnSpc>
              <a:spcBef>
                <a:spcPct val="20000"/>
              </a:spcBef>
              <a:spcAft>
                <a:spcPts val="0"/>
              </a:spcAft>
              <a:buClrTx/>
              <a:buSzTx/>
              <a:tabLst/>
              <a:defRPr/>
            </a:pPr>
            <a:endParaRPr kumimoji="0" lang="fr-FR" sz="2400" b="0" i="0" u="none" strike="noStrike" kern="1200" cap="none" spc="0" normalizeH="0" baseline="0" noProof="0" dirty="0" smtClean="0">
              <a:ln>
                <a:noFill/>
              </a:ln>
              <a:solidFill>
                <a:schemeClr val="tx1"/>
              </a:solidFill>
              <a:effectLst/>
              <a:uLnTx/>
              <a:uFillTx/>
              <a:ea typeface="+mn-ea"/>
              <a:cs typeface="+mn-cs"/>
            </a:endParaRPr>
          </a:p>
          <a:p>
            <a:pPr marL="742950" marR="0" lvl="1" indent="-285750" algn="just"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fr-FR" sz="2400" b="0" i="1" u="none" strike="noStrike" kern="1200" cap="none" spc="0" normalizeH="0" baseline="0" noProof="0" dirty="0" smtClean="0">
                <a:ln>
                  <a:noFill/>
                </a:ln>
                <a:solidFill>
                  <a:schemeClr val="tx1"/>
                </a:solidFill>
                <a:effectLst/>
                <a:uLnTx/>
                <a:uFillTx/>
                <a:ea typeface="+mn-ea"/>
                <a:cs typeface="+mn-cs"/>
              </a:rPr>
              <a:t>Comprimé enrobé:</a:t>
            </a:r>
            <a:r>
              <a:rPr kumimoji="0" lang="fr-FR" sz="2400" b="0" i="0" u="none" strike="noStrike" kern="1200" cap="none" spc="0" normalizeH="0" baseline="0" noProof="0" dirty="0" smtClean="0">
                <a:ln>
                  <a:noFill/>
                </a:ln>
                <a:solidFill>
                  <a:schemeClr val="tx1"/>
                </a:solidFill>
                <a:effectLst/>
                <a:uLnTx/>
                <a:uFillTx/>
                <a:ea typeface="+mn-ea"/>
                <a:cs typeface="+mn-cs"/>
              </a:rPr>
              <a:t> recouvert de plusieurs couches de substances diverses qui en facilitent la prise ou la conservation; </a:t>
            </a:r>
          </a:p>
          <a:p>
            <a:pPr marL="742950" marR="0" lvl="1" indent="-285750" algn="just" defTabSz="914400" rtl="0" eaLnBrk="1" fontAlgn="auto" latinLnBrk="0" hangingPunct="1">
              <a:lnSpc>
                <a:spcPct val="80000"/>
              </a:lnSpc>
              <a:spcBef>
                <a:spcPct val="20000"/>
              </a:spcBef>
              <a:spcAft>
                <a:spcPts val="0"/>
              </a:spcAft>
              <a:buClrTx/>
              <a:buSzTx/>
              <a:tabLst/>
              <a:defRPr/>
            </a:pPr>
            <a:endParaRPr kumimoji="0" lang="fr-FR" sz="2400" b="0" i="0" u="none" strike="noStrike" kern="1200" cap="none" spc="0" normalizeH="0" baseline="0" noProof="0" dirty="0" smtClean="0">
              <a:ln>
                <a:noFill/>
              </a:ln>
              <a:solidFill>
                <a:schemeClr val="tx1"/>
              </a:solidFill>
              <a:effectLst/>
              <a:uLnTx/>
              <a:uFillTx/>
              <a:ea typeface="+mn-ea"/>
              <a:cs typeface="+mn-cs"/>
            </a:endParaRPr>
          </a:p>
          <a:p>
            <a:pPr marL="742950" marR="0" lvl="1" indent="-285750" algn="just" defTabSz="914400" rtl="0" eaLnBrk="1" fontAlgn="auto" latinLnBrk="0" hangingPunct="1">
              <a:lnSpc>
                <a:spcPct val="80000"/>
              </a:lnSpc>
              <a:spcBef>
                <a:spcPct val="20000"/>
              </a:spcBef>
              <a:spcAft>
                <a:spcPts val="0"/>
              </a:spcAft>
              <a:buClrTx/>
              <a:buSzTx/>
              <a:tabLst/>
              <a:defRPr/>
            </a:pPr>
            <a:endParaRPr kumimoji="0" lang="fr-FR" sz="2400" b="0" i="0" u="none" strike="noStrike" kern="1200" cap="none" spc="0" normalizeH="0" baseline="0" noProof="0" dirty="0" smtClean="0">
              <a:ln>
                <a:noFill/>
              </a:ln>
              <a:solidFill>
                <a:schemeClr val="tx1"/>
              </a:solidFill>
              <a:effectLst/>
              <a:uLnTx/>
              <a:uFillTx/>
              <a:ea typeface="+mn-ea"/>
              <a:cs typeface="+mn-cs"/>
            </a:endParaRPr>
          </a:p>
          <a:p>
            <a:pPr marL="742950" marR="0" lvl="1" indent="-285750" algn="just"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fr-FR" sz="2400" b="0" i="1" u="none" strike="noStrike" kern="1200" cap="none" spc="0" normalizeH="0" baseline="0" noProof="0" dirty="0" smtClean="0">
                <a:ln>
                  <a:noFill/>
                </a:ln>
                <a:solidFill>
                  <a:schemeClr val="tx1"/>
                </a:solidFill>
                <a:effectLst/>
                <a:uLnTx/>
                <a:uFillTx/>
                <a:ea typeface="+mn-ea"/>
                <a:cs typeface="+mn-cs"/>
              </a:rPr>
              <a:t>Comprimé sécable:</a:t>
            </a:r>
            <a:r>
              <a:rPr kumimoji="0" lang="fr-FR" sz="2400" b="0" i="0" u="none" strike="noStrike" kern="1200" cap="none" spc="0" normalizeH="0" baseline="0" noProof="0" dirty="0" smtClean="0">
                <a:ln>
                  <a:noFill/>
                </a:ln>
                <a:solidFill>
                  <a:schemeClr val="tx1"/>
                </a:solidFill>
                <a:effectLst/>
                <a:uLnTx/>
                <a:uFillTx/>
                <a:ea typeface="+mn-ea"/>
                <a:cs typeface="+mn-cs"/>
              </a:rPr>
              <a:t> avec une fente qui en facilite le fractionnement en vue de l’adaptation de la posologie;</a:t>
            </a:r>
          </a:p>
          <a:p>
            <a:pPr marL="742950" marR="0" lvl="1" indent="-285750" algn="just" defTabSz="914400" rtl="0" eaLnBrk="1" fontAlgn="auto" latinLnBrk="0" hangingPunct="1">
              <a:lnSpc>
                <a:spcPct val="80000"/>
              </a:lnSpc>
              <a:spcBef>
                <a:spcPct val="20000"/>
              </a:spcBef>
              <a:spcAft>
                <a:spcPts val="0"/>
              </a:spcAft>
              <a:buClrTx/>
              <a:buSzTx/>
              <a:tabLst/>
              <a:defRPr/>
            </a:pPr>
            <a:endParaRPr lang="fr-FR" sz="2400" dirty="0" smtClean="0"/>
          </a:p>
          <a:p>
            <a:pPr marL="742950" marR="0" lvl="1" indent="-285750" algn="just" defTabSz="914400" rtl="0" eaLnBrk="1" fontAlgn="auto" latinLnBrk="0" hangingPunct="1">
              <a:lnSpc>
                <a:spcPct val="80000"/>
              </a:lnSpc>
              <a:spcBef>
                <a:spcPct val="20000"/>
              </a:spcBef>
              <a:spcAft>
                <a:spcPts val="0"/>
              </a:spcAft>
              <a:buClrTx/>
              <a:buSzTx/>
              <a:tabLst/>
              <a:defRPr/>
            </a:pPr>
            <a:endParaRPr kumimoji="0" lang="fr-FR" sz="2400" b="0" i="0" u="none" strike="noStrike" kern="1200" cap="none" spc="0" normalizeH="0" baseline="0" noProof="0" dirty="0" smtClean="0">
              <a:ln>
                <a:noFill/>
              </a:ln>
              <a:solidFill>
                <a:schemeClr val="tx1"/>
              </a:solidFill>
              <a:effectLst/>
              <a:uLnTx/>
              <a:uFillTx/>
              <a:ea typeface="+mn-ea"/>
              <a:cs typeface="+mn-cs"/>
            </a:endParaRPr>
          </a:p>
          <a:p>
            <a:pPr marL="742950" marR="0" lvl="1" indent="-285750" algn="just"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fr-FR" sz="2400" b="0" i="1" u="none" strike="noStrike" kern="1200" cap="none" spc="0" normalizeH="0" baseline="0" noProof="0" dirty="0" smtClean="0">
                <a:ln>
                  <a:noFill/>
                </a:ln>
                <a:solidFill>
                  <a:schemeClr val="tx1"/>
                </a:solidFill>
                <a:effectLst/>
                <a:uLnTx/>
                <a:uFillTx/>
                <a:ea typeface="+mn-ea"/>
                <a:cs typeface="+mn-cs"/>
              </a:rPr>
              <a:t>Comprimé effervescent:</a:t>
            </a:r>
            <a:r>
              <a:rPr kumimoji="0" lang="fr-FR" sz="2400" b="0" i="0" u="none" strike="noStrike" kern="1200" cap="none" spc="0" normalizeH="0" baseline="0" noProof="0" dirty="0" smtClean="0">
                <a:ln>
                  <a:noFill/>
                </a:ln>
                <a:solidFill>
                  <a:schemeClr val="tx1"/>
                </a:solidFill>
                <a:effectLst/>
                <a:uLnTx/>
                <a:uFillTx/>
                <a:ea typeface="+mn-ea"/>
                <a:cs typeface="+mn-cs"/>
              </a:rPr>
              <a:t> se désagrège dans l’eau en dégageant du gaz carbonique</a:t>
            </a:r>
            <a:r>
              <a:rPr kumimoji="0" lang="fr-FR" sz="2400" b="0" i="0" u="none" strike="noStrike" kern="1200" cap="none" spc="0" normalizeH="0" noProof="0" dirty="0" smtClean="0">
                <a:ln>
                  <a:noFill/>
                </a:ln>
                <a:solidFill>
                  <a:schemeClr val="tx1"/>
                </a:solidFill>
                <a:effectLst/>
                <a:uLnTx/>
                <a:uFillTx/>
                <a:ea typeface="+mn-ea"/>
                <a:cs typeface="+mn-cs"/>
              </a:rPr>
              <a:t> </a:t>
            </a:r>
            <a:r>
              <a:rPr kumimoji="0" lang="fr-FR" sz="2400" b="0" i="0" u="none" strike="noStrike" kern="1200" cap="none" spc="0" normalizeH="0" noProof="0" dirty="0" smtClean="0">
                <a:ln>
                  <a:noFill/>
                </a:ln>
                <a:solidFill>
                  <a:schemeClr val="tx1"/>
                </a:solidFill>
                <a:effectLst/>
                <a:uLnTx/>
                <a:uFillTx/>
                <a:latin typeface="Times New Roman"/>
                <a:cs typeface="Times New Roman"/>
              </a:rPr>
              <a:t>→</a:t>
            </a:r>
            <a:r>
              <a:rPr kumimoji="0" lang="fr-FR" sz="2400" b="0" i="0" u="none" strike="noStrike" kern="1200" cap="none" spc="0" normalizeH="0" baseline="0" noProof="0" dirty="0" smtClean="0">
                <a:ln>
                  <a:noFill/>
                </a:ln>
                <a:solidFill>
                  <a:schemeClr val="tx1"/>
                </a:solidFill>
                <a:effectLst/>
                <a:uLnTx/>
                <a:uFillTx/>
                <a:ea typeface="+mn-ea"/>
                <a:cs typeface="+mn-cs"/>
              </a:rPr>
              <a:t>Libération accélérée du PA</a:t>
            </a:r>
          </a:p>
          <a:p>
            <a:pPr marL="742950" marR="0" lvl="1" indent="-285750" algn="just" defTabSz="914400" rtl="0" eaLnBrk="1" fontAlgn="auto" latinLnBrk="0" hangingPunct="1">
              <a:lnSpc>
                <a:spcPct val="80000"/>
              </a:lnSpc>
              <a:spcBef>
                <a:spcPct val="20000"/>
              </a:spcBef>
              <a:spcAft>
                <a:spcPts val="0"/>
              </a:spcAft>
              <a:buClrTx/>
              <a:buSzTx/>
              <a:tabLst/>
              <a:defRPr/>
            </a:pPr>
            <a:endParaRPr kumimoji="0" lang="fr-FR" sz="2400" b="0" i="0" u="none" strike="noStrike" kern="1200" cap="none" spc="0" normalizeH="0" baseline="0" noProof="0" dirty="0" smtClean="0">
              <a:ln>
                <a:noFill/>
              </a:ln>
              <a:solidFill>
                <a:schemeClr val="tx1"/>
              </a:solidFill>
              <a:effectLst/>
              <a:uLnTx/>
              <a:uFillTx/>
              <a:ea typeface="+mn-ea"/>
              <a:cs typeface="+mn-cs"/>
            </a:endParaRPr>
          </a:p>
        </p:txBody>
      </p:sp>
      <p:pic>
        <p:nvPicPr>
          <p:cNvPr id="8" name="Picture 7" descr="double compr"/>
          <p:cNvPicPr>
            <a:picLocks noChangeAspect="1" noChangeArrowheads="1"/>
          </p:cNvPicPr>
          <p:nvPr/>
        </p:nvPicPr>
        <p:blipFill>
          <a:blip r:embed="rId2" cstate="print"/>
          <a:srcRect/>
          <a:stretch>
            <a:fillRect/>
          </a:stretch>
        </p:blipFill>
        <p:spPr>
          <a:xfrm>
            <a:off x="5072066" y="3214686"/>
            <a:ext cx="1373833" cy="1000132"/>
          </a:xfrm>
          <a:prstGeom prst="rect">
            <a:avLst/>
          </a:prstGeom>
          <a:noFill/>
          <a:ln/>
        </p:spPr>
      </p:pic>
      <p:sp>
        <p:nvSpPr>
          <p:cNvPr id="9" name="Espace réservé du numéro de diapositive 8"/>
          <p:cNvSpPr>
            <a:spLocks noGrp="1"/>
          </p:cNvSpPr>
          <p:nvPr>
            <p:ph type="sldNum" sz="quarter" idx="12"/>
          </p:nvPr>
        </p:nvSpPr>
        <p:spPr/>
        <p:txBody>
          <a:bodyPr/>
          <a:lstStyle/>
          <a:p>
            <a:fld id="{A7C9A1F7-440B-49A3-BFDF-704999814E67}" type="slidenum">
              <a:rPr lang="fr-FR" smtClean="0"/>
              <a:pPr/>
              <a:t>7</a:t>
            </a:fld>
            <a:endParaRPr lang="fr-FR"/>
          </a:p>
        </p:txBody>
      </p:sp>
      <p:pic>
        <p:nvPicPr>
          <p:cNvPr id="1026" name="Picture 2"/>
          <p:cNvPicPr>
            <a:picLocks noChangeAspect="1" noChangeArrowheads="1"/>
          </p:cNvPicPr>
          <p:nvPr/>
        </p:nvPicPr>
        <p:blipFill>
          <a:blip r:embed="rId3"/>
          <a:srcRect/>
          <a:stretch>
            <a:fillRect/>
          </a:stretch>
        </p:blipFill>
        <p:spPr bwMode="auto">
          <a:xfrm>
            <a:off x="4572000" y="1500174"/>
            <a:ext cx="1852611" cy="1000132"/>
          </a:xfrm>
          <a:prstGeom prst="rect">
            <a:avLst/>
          </a:prstGeom>
          <a:noFill/>
          <a:ln w="9525">
            <a:noFill/>
            <a:miter lim="800000"/>
            <a:headEnd/>
            <a:tailEnd/>
          </a:ln>
          <a:effectLst/>
        </p:spPr>
      </p:pic>
      <p:pic>
        <p:nvPicPr>
          <p:cNvPr id="1027" name="Picture 3"/>
          <p:cNvPicPr>
            <a:picLocks noChangeAspect="1" noChangeArrowheads="1"/>
          </p:cNvPicPr>
          <p:nvPr/>
        </p:nvPicPr>
        <p:blipFill>
          <a:blip r:embed="rId4"/>
          <a:srcRect/>
          <a:stretch>
            <a:fillRect/>
          </a:stretch>
        </p:blipFill>
        <p:spPr bwMode="auto">
          <a:xfrm>
            <a:off x="5143504" y="4857760"/>
            <a:ext cx="1143008" cy="85725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51520" y="0"/>
            <a:ext cx="3748976"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2800" b="1" dirty="0" smtClean="0"/>
              <a:t>1- les formes solides </a:t>
            </a:r>
            <a:endParaRPr lang="fr-FR" sz="2800" b="1" dirty="0"/>
          </a:p>
        </p:txBody>
      </p:sp>
      <p:sp>
        <p:nvSpPr>
          <p:cNvPr id="3" name="ZoneTexte 2"/>
          <p:cNvSpPr txBox="1"/>
          <p:nvPr/>
        </p:nvSpPr>
        <p:spPr>
          <a:xfrm>
            <a:off x="56576" y="908720"/>
            <a:ext cx="6366615" cy="461665"/>
          </a:xfrm>
          <a:prstGeom prst="rect">
            <a:avLst/>
          </a:prstGeom>
          <a:noFill/>
        </p:spPr>
        <p:txBody>
          <a:bodyPr wrap="none" rtlCol="0">
            <a:spAutoFit/>
          </a:bodyPr>
          <a:lstStyle/>
          <a:p>
            <a:r>
              <a:rPr lang="fr-FR" sz="2400" dirty="0" smtClean="0">
                <a:solidFill>
                  <a:srgbClr val="FF0000"/>
                </a:solidFill>
              </a:rPr>
              <a:t>Comprimé et gélules </a:t>
            </a:r>
            <a:r>
              <a:rPr lang="fr-FR" sz="2400" dirty="0" smtClean="0"/>
              <a:t>peuvent exister sous forme :</a:t>
            </a:r>
          </a:p>
        </p:txBody>
      </p:sp>
      <p:sp>
        <p:nvSpPr>
          <p:cNvPr id="6" name="Espace réservé du pied de page 5"/>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A7C9A1F7-440B-49A3-BFDF-704999814E67}" type="slidenum">
              <a:rPr lang="fr-FR" smtClean="0"/>
              <a:pPr/>
              <a:t>8</a:t>
            </a:fld>
            <a:endParaRPr lang="fr-FR"/>
          </a:p>
        </p:txBody>
      </p:sp>
      <p:sp>
        <p:nvSpPr>
          <p:cNvPr id="12289" name="Rectangle 1"/>
          <p:cNvSpPr>
            <a:spLocks noChangeArrowheads="1"/>
          </p:cNvSpPr>
          <p:nvPr/>
        </p:nvSpPr>
        <p:spPr bwMode="auto">
          <a:xfrm>
            <a:off x="285720" y="1714488"/>
            <a:ext cx="8429684" cy="33547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Char char="•"/>
              <a:tabLst/>
            </a:pPr>
            <a:r>
              <a:rPr kumimoji="0" lang="fr-FR" sz="2400" b="0" i="1" u="sng" strike="noStrike" cap="none" normalizeH="0" baseline="0" dirty="0" err="1" smtClean="0">
                <a:ln>
                  <a:noFill/>
                </a:ln>
                <a:solidFill>
                  <a:schemeClr val="tx1"/>
                </a:solidFill>
                <a:effectLst/>
                <a:ea typeface="Calibri" pitchFamily="34" charset="0"/>
                <a:cs typeface="Times New Roman" pitchFamily="18" charset="0"/>
              </a:rPr>
              <a:t>Gastro</a:t>
            </a:r>
            <a:r>
              <a:rPr kumimoji="0" lang="fr-FR" sz="2400" b="0" i="1" u="sng" strike="noStrike" cap="none" normalizeH="0" baseline="0" dirty="0" smtClean="0">
                <a:ln>
                  <a:noFill/>
                </a:ln>
                <a:solidFill>
                  <a:schemeClr val="tx1"/>
                </a:solidFill>
                <a:effectLst/>
                <a:ea typeface="Calibri" pitchFamily="34" charset="0"/>
                <a:cs typeface="Times New Roman" pitchFamily="18" charset="0"/>
              </a:rPr>
              <a:t> – résistante</a:t>
            </a:r>
            <a:r>
              <a:rPr kumimoji="0" lang="fr-FR" sz="2400" b="0" i="1" u="none" strike="noStrike" cap="none" normalizeH="0" baseline="0" dirty="0" smtClean="0">
                <a:ln>
                  <a:noFill/>
                </a:ln>
                <a:solidFill>
                  <a:schemeClr val="tx1"/>
                </a:solidFill>
                <a:effectLst/>
                <a:ea typeface="Calibri" pitchFamily="34" charset="0"/>
                <a:cs typeface="Times New Roman" pitchFamily="18" charset="0"/>
              </a:rPr>
              <a:t> </a:t>
            </a:r>
            <a:r>
              <a:rPr kumimoji="0" lang="fr-FR" sz="2400" b="0" i="0" u="none" strike="noStrike" cap="none" normalizeH="0" baseline="0" dirty="0" smtClean="0">
                <a:ln>
                  <a:noFill/>
                </a:ln>
                <a:solidFill>
                  <a:schemeClr val="tx1"/>
                </a:solidFill>
                <a:effectLst/>
                <a:ea typeface="Calibri" pitchFamily="34" charset="0"/>
                <a:cs typeface="Times New Roman" pitchFamily="18" charset="0"/>
              </a:rPr>
              <a:t>: pour protéger le principe actif du contenu acide de  l’estomac</a:t>
            </a:r>
            <a:endParaRPr kumimoji="0" lang="fr-FR" sz="2400" b="0" i="0" u="none" strike="noStrike" cap="none" normalizeH="0" baseline="0" dirty="0" smtClean="0">
              <a:ln>
                <a:noFill/>
              </a:ln>
              <a:solidFill>
                <a:schemeClr val="tx1"/>
              </a:solidFill>
              <a:effectLst/>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sz="2400" b="0" i="1" u="sng" strike="noStrike" cap="none" normalizeH="0" baseline="0" dirty="0" smtClean="0">
                <a:ln>
                  <a:noFill/>
                </a:ln>
                <a:solidFill>
                  <a:schemeClr val="tx1"/>
                </a:solidFill>
                <a:effectLst/>
                <a:ea typeface="Calibri" pitchFamily="34" charset="0"/>
                <a:cs typeface="Times New Roman" pitchFamily="18" charset="0"/>
              </a:rPr>
              <a:t>À libération modifiée </a:t>
            </a:r>
            <a:r>
              <a:rPr kumimoji="0" lang="fr-FR" sz="2400" b="0" i="1" u="none" strike="noStrike" cap="none" normalizeH="0" baseline="0" dirty="0" smtClean="0">
                <a:ln>
                  <a:noFill/>
                </a:ln>
                <a:solidFill>
                  <a:schemeClr val="tx1"/>
                </a:solidFill>
                <a:effectLst/>
                <a:ea typeface="Calibri" pitchFamily="34" charset="0"/>
                <a:cs typeface="Times New Roman" pitchFamily="18" charset="0"/>
              </a:rPr>
              <a:t>: la </a:t>
            </a:r>
            <a:r>
              <a:rPr kumimoji="0" lang="fr-FR" sz="2400" b="0" i="0" u="none" strike="noStrike" cap="none" normalizeH="0" baseline="0" dirty="0" smtClean="0">
                <a:ln>
                  <a:noFill/>
                </a:ln>
                <a:solidFill>
                  <a:schemeClr val="tx1"/>
                </a:solidFill>
                <a:effectLst/>
                <a:ea typeface="Calibri" pitchFamily="34" charset="0"/>
                <a:cs typeface="Times New Roman" pitchFamily="18" charset="0"/>
              </a:rPr>
              <a:t>vitesse de libération du PA dans l’organisme diffère  par rapport au formes habituelles </a:t>
            </a:r>
          </a:p>
          <a:p>
            <a:pPr marL="0" marR="0" lvl="0" indent="0" algn="just" defTabSz="914400" rtl="0" eaLnBrk="0" fontAlgn="base" latinLnBrk="0" hangingPunct="0">
              <a:lnSpc>
                <a:spcPct val="100000"/>
              </a:lnSpc>
              <a:spcBef>
                <a:spcPct val="0"/>
              </a:spcBef>
              <a:spcAft>
                <a:spcPct val="0"/>
              </a:spcAft>
              <a:buClrTx/>
              <a:buSzTx/>
              <a:tabLst/>
            </a:pPr>
            <a:r>
              <a:rPr kumimoji="0" lang="fr-FR" sz="2400" b="0" i="0" u="none" strike="noStrike" cap="none" normalizeH="0" baseline="0" dirty="0" smtClean="0">
                <a:ln>
                  <a:noFill/>
                </a:ln>
                <a:solidFill>
                  <a:schemeClr val="tx1"/>
                </a:solidFill>
                <a:effectLst/>
                <a:ea typeface="Calibri" pitchFamily="34" charset="0"/>
                <a:cs typeface="Times New Roman" pitchFamily="18" charset="0"/>
              </a:rPr>
              <a:t>ex : comprimé à libération prolongée : le principe actif est libéré de la forme pharmaceutique sur une période de temps assez longue ceci permet de diminuer le nombre de prise du médicament.</a:t>
            </a:r>
            <a:endParaRPr kumimoji="0" lang="fr-FR" sz="24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2000" b="0" i="0" u="none" strike="noStrike" cap="none" normalizeH="0" baseline="0" dirty="0" smtClean="0">
              <a:ln>
                <a:noFill/>
              </a:ln>
              <a:solidFill>
                <a:schemeClr val="tx1"/>
              </a:solidFill>
              <a:effectLst/>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51520" y="0"/>
            <a:ext cx="3820414"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2800" b="1" dirty="0"/>
              <a:t>2</a:t>
            </a:r>
            <a:r>
              <a:rPr lang="fr-FR" sz="2800" b="1" dirty="0" smtClean="0"/>
              <a:t>- les formes liquides </a:t>
            </a:r>
            <a:endParaRPr lang="fr-FR" sz="2800" b="1" dirty="0"/>
          </a:p>
        </p:txBody>
      </p:sp>
      <p:sp>
        <p:nvSpPr>
          <p:cNvPr id="3" name="Rectangle 2"/>
          <p:cNvSpPr/>
          <p:nvPr/>
        </p:nvSpPr>
        <p:spPr>
          <a:xfrm>
            <a:off x="285720" y="928670"/>
            <a:ext cx="8501090" cy="3046988"/>
          </a:xfrm>
          <a:prstGeom prst="rect">
            <a:avLst/>
          </a:prstGeom>
        </p:spPr>
        <p:txBody>
          <a:bodyPr wrap="square">
            <a:spAutoFit/>
          </a:bodyPr>
          <a:lstStyle/>
          <a:p>
            <a:pPr algn="just"/>
            <a:r>
              <a:rPr lang="fr-FR" sz="2400" b="1" dirty="0" smtClean="0">
                <a:solidFill>
                  <a:srgbClr val="FF0000"/>
                </a:solidFill>
              </a:rPr>
              <a:t>Soluté buvable:</a:t>
            </a:r>
            <a:r>
              <a:rPr lang="fr-FR" sz="2400" dirty="0" smtClean="0"/>
              <a:t> </a:t>
            </a:r>
            <a:r>
              <a:rPr lang="fr-FR" sz="2400" dirty="0" err="1" smtClean="0"/>
              <a:t>unidose</a:t>
            </a:r>
            <a:r>
              <a:rPr lang="fr-FR" sz="2400" dirty="0" smtClean="0"/>
              <a:t> (ampoule buvable) ou en flacon </a:t>
            </a:r>
            <a:r>
              <a:rPr lang="fr-FR" sz="2400" dirty="0" err="1" smtClean="0"/>
              <a:t>multidose</a:t>
            </a:r>
            <a:r>
              <a:rPr lang="fr-FR" sz="2400" dirty="0" smtClean="0"/>
              <a:t>. Obtenue par </a:t>
            </a:r>
            <a:r>
              <a:rPr lang="fr-FR" sz="2400" u="sng" dirty="0" smtClean="0"/>
              <a:t>dissolution</a:t>
            </a:r>
            <a:r>
              <a:rPr lang="fr-FR" sz="2400" dirty="0" smtClean="0"/>
              <a:t> d’1 ou plusieurs PA dans un solvant approprié.</a:t>
            </a:r>
          </a:p>
          <a:p>
            <a:pPr algn="just"/>
            <a:r>
              <a:rPr lang="fr-FR" sz="2400" dirty="0" smtClean="0"/>
              <a:t>Soluté </a:t>
            </a:r>
            <a:r>
              <a:rPr lang="fr-FR" sz="2400" dirty="0"/>
              <a:t>aqueux; </a:t>
            </a:r>
            <a:r>
              <a:rPr lang="fr-FR" sz="2400" dirty="0" smtClean="0"/>
              <a:t>ou hydro-alcoolique </a:t>
            </a:r>
            <a:r>
              <a:rPr lang="fr-FR" sz="2400" dirty="0" smtClean="0">
                <a:solidFill>
                  <a:srgbClr val="0070C0"/>
                </a:solidFill>
              </a:rPr>
              <a:t>(ampoule de fer buvable)</a:t>
            </a:r>
            <a:endParaRPr lang="fr-FR" sz="2400" dirty="0"/>
          </a:p>
          <a:p>
            <a:pPr algn="just"/>
            <a:r>
              <a:rPr lang="fr-FR" sz="2400" b="1" dirty="0" smtClean="0">
                <a:solidFill>
                  <a:srgbClr val="FF0000"/>
                </a:solidFill>
              </a:rPr>
              <a:t>Suspension:</a:t>
            </a:r>
            <a:r>
              <a:rPr lang="fr-FR" sz="2400" dirty="0" smtClean="0">
                <a:solidFill>
                  <a:srgbClr val="FF0000"/>
                </a:solidFill>
              </a:rPr>
              <a:t> </a:t>
            </a:r>
            <a:r>
              <a:rPr lang="fr-FR" sz="2400" u="sng" dirty="0" smtClean="0"/>
              <a:t>dispersion</a:t>
            </a:r>
            <a:r>
              <a:rPr lang="fr-FR" sz="2400" dirty="0" smtClean="0"/>
              <a:t> d’un ou plusieurs PA solides sous forme de poudre insoluble dans un liquide /AGITER avant emploi pour remettre en suspension. (flacon </a:t>
            </a:r>
            <a:r>
              <a:rPr lang="fr-FR" sz="2400" dirty="0" err="1" smtClean="0"/>
              <a:t>multidose</a:t>
            </a:r>
            <a:r>
              <a:rPr lang="fr-FR" sz="2400" dirty="0" smtClean="0"/>
              <a:t>)  </a:t>
            </a:r>
            <a:r>
              <a:rPr lang="fr-FR" sz="2400" dirty="0" smtClean="0">
                <a:solidFill>
                  <a:srgbClr val="0070C0"/>
                </a:solidFill>
              </a:rPr>
              <a:t>( ATB à reconstituer)</a:t>
            </a:r>
          </a:p>
          <a:p>
            <a:pPr algn="just"/>
            <a:endParaRPr lang="fr-FR" sz="2400" dirty="0" smtClean="0"/>
          </a:p>
        </p:txBody>
      </p:sp>
      <p:pic>
        <p:nvPicPr>
          <p:cNvPr id="4098" name="Picture 2"/>
          <p:cNvPicPr>
            <a:picLocks noChangeAspect="1" noChangeArrowheads="1"/>
          </p:cNvPicPr>
          <p:nvPr/>
        </p:nvPicPr>
        <p:blipFill>
          <a:blip r:embed="rId2" cstate="print"/>
          <a:srcRect/>
          <a:stretch>
            <a:fillRect/>
          </a:stretch>
        </p:blipFill>
        <p:spPr bwMode="auto">
          <a:xfrm>
            <a:off x="7487816" y="5229200"/>
            <a:ext cx="1656184" cy="1440160"/>
          </a:xfrm>
          <a:prstGeom prst="rect">
            <a:avLst/>
          </a:prstGeom>
          <a:noFill/>
          <a:ln w="9525">
            <a:noFill/>
            <a:miter lim="800000"/>
            <a:headEnd/>
            <a:tailEnd/>
          </a:ln>
        </p:spPr>
      </p:pic>
      <p:sp>
        <p:nvSpPr>
          <p:cNvPr id="6" name="Rectangle 5"/>
          <p:cNvSpPr/>
          <p:nvPr/>
        </p:nvSpPr>
        <p:spPr>
          <a:xfrm>
            <a:off x="357158" y="3857628"/>
            <a:ext cx="8568952" cy="2308324"/>
          </a:xfrm>
          <a:prstGeom prst="rect">
            <a:avLst/>
          </a:prstGeom>
        </p:spPr>
        <p:txBody>
          <a:bodyPr wrap="square">
            <a:spAutoFit/>
          </a:bodyPr>
          <a:lstStyle/>
          <a:p>
            <a:r>
              <a:rPr lang="fr-FR" sz="2400" b="1" dirty="0" smtClean="0">
                <a:solidFill>
                  <a:srgbClr val="FF0000"/>
                </a:solidFill>
              </a:rPr>
              <a:t>Les sirops </a:t>
            </a:r>
            <a:r>
              <a:rPr lang="fr-FR" sz="2400" dirty="0" smtClean="0"/>
              <a:t>: forme liquide, aqueuse, contenant une forte quantité de sucre (flacon </a:t>
            </a:r>
            <a:r>
              <a:rPr lang="fr-FR" sz="2400" dirty="0" err="1" smtClean="0"/>
              <a:t>multidose</a:t>
            </a:r>
            <a:r>
              <a:rPr lang="fr-FR" sz="2400" dirty="0" smtClean="0"/>
              <a:t>)</a:t>
            </a:r>
          </a:p>
          <a:p>
            <a:r>
              <a:rPr lang="fr-FR" sz="2400" dirty="0" smtClean="0"/>
              <a:t>- administration facile et saveur agréable / enfants</a:t>
            </a:r>
          </a:p>
          <a:p>
            <a:r>
              <a:rPr lang="fr-FR" sz="2400" dirty="0" smtClean="0"/>
              <a:t>- mais dosage imprécis: c. à café = 5 ml, c. à soupe = 15 ml</a:t>
            </a:r>
          </a:p>
          <a:p>
            <a:r>
              <a:rPr lang="fr-FR" sz="2400" dirty="0" smtClean="0"/>
              <a:t>En pratique  bien refermer le flacon après utilisation</a:t>
            </a:r>
          </a:p>
          <a:p>
            <a:r>
              <a:rPr lang="fr-FR" sz="2400" dirty="0" smtClean="0"/>
              <a:t> conservation limitée après ouverture…</a:t>
            </a:r>
            <a:endParaRPr lang="fr-FR" sz="2400" dirty="0"/>
          </a:p>
        </p:txBody>
      </p:sp>
      <p:sp>
        <p:nvSpPr>
          <p:cNvPr id="7" name="Espace réservé du numéro de diapositive 6"/>
          <p:cNvSpPr>
            <a:spLocks noGrp="1"/>
          </p:cNvSpPr>
          <p:nvPr>
            <p:ph type="sldNum" sz="quarter" idx="12"/>
          </p:nvPr>
        </p:nvSpPr>
        <p:spPr/>
        <p:txBody>
          <a:bodyPr/>
          <a:lstStyle/>
          <a:p>
            <a:fld id="{A7C9A1F7-440B-49A3-BFDF-704999814E67}" type="slidenum">
              <a:rPr lang="fr-FR" smtClean="0"/>
              <a:pPr/>
              <a:t>9</a:t>
            </a:fld>
            <a:endParaRPr lang="fr-F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endParaRPr lang="fr-FR"/>
          </a:p>
        </p:txBody>
      </p:sp>
      <p:sp>
        <p:nvSpPr>
          <p:cNvPr id="3" name="Espace réservé du numéro de diapositive 2"/>
          <p:cNvSpPr>
            <a:spLocks noGrp="1"/>
          </p:cNvSpPr>
          <p:nvPr>
            <p:ph type="sldNum" sz="quarter" idx="12"/>
          </p:nvPr>
        </p:nvSpPr>
        <p:spPr/>
        <p:txBody>
          <a:bodyPr/>
          <a:lstStyle/>
          <a:p>
            <a:fld id="{A7C9A1F7-440B-49A3-BFDF-704999814E67}" type="slidenum">
              <a:rPr lang="fr-FR" smtClean="0"/>
              <a:pPr/>
              <a:t>10</a:t>
            </a:fld>
            <a:endParaRPr lang="fr-FR"/>
          </a:p>
        </p:txBody>
      </p:sp>
      <p:sp>
        <p:nvSpPr>
          <p:cNvPr id="4" name="Titre 1"/>
          <p:cNvSpPr txBox="1">
            <a:spLocks/>
          </p:cNvSpPr>
          <p:nvPr/>
        </p:nvSpPr>
        <p:spPr>
          <a:xfrm>
            <a:off x="428596" y="142852"/>
            <a:ext cx="8229600" cy="1240096"/>
          </a:xfrm>
          <a:prstGeom prst="rect">
            <a:avLst/>
          </a:prstGeom>
        </p:spPr>
        <p:style>
          <a:lnRef idx="3">
            <a:schemeClr val="lt1"/>
          </a:lnRef>
          <a:fillRef idx="1">
            <a:schemeClr val="accent2"/>
          </a:fillRef>
          <a:effectRef idx="1">
            <a:schemeClr val="accent2"/>
          </a:effectRef>
          <a:fontRef idx="minor">
            <a:schemeClr val="lt1"/>
          </a:fontRef>
        </p:style>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4000" b="1" i="0" u="none" strike="noStrike" kern="1200" cap="none" spc="0" normalizeH="0" baseline="0" noProof="0" dirty="0" smtClean="0">
                <a:ln>
                  <a:noFill/>
                </a:ln>
                <a:solidFill>
                  <a:schemeClr val="lt1"/>
                </a:solidFill>
                <a:effectLst/>
                <a:uLnTx/>
                <a:uFillTx/>
                <a:latin typeface="+mn-lt"/>
                <a:ea typeface="+mn-ea"/>
                <a:cs typeface="+mn-cs"/>
              </a:rPr>
              <a:t>Administration par voie parentérale </a:t>
            </a:r>
          </a:p>
        </p:txBody>
      </p:sp>
      <p:sp>
        <p:nvSpPr>
          <p:cNvPr id="5" name="ZoneTexte 4"/>
          <p:cNvSpPr txBox="1"/>
          <p:nvPr/>
        </p:nvSpPr>
        <p:spPr>
          <a:xfrm>
            <a:off x="428596" y="1340768"/>
            <a:ext cx="8286808" cy="707886"/>
          </a:xfrm>
          <a:prstGeom prst="rect">
            <a:avLst/>
          </a:prstGeom>
          <a:noFill/>
        </p:spPr>
        <p:txBody>
          <a:bodyPr wrap="square" rtlCol="0">
            <a:spAutoFit/>
          </a:bodyPr>
          <a:lstStyle/>
          <a:p>
            <a:r>
              <a:rPr lang="fr-FR" sz="2000" b="1" dirty="0" smtClean="0"/>
              <a:t>Le site d’administration  du médicament  nécessite l’effraction de la barrière </a:t>
            </a:r>
            <a:r>
              <a:rPr lang="fr-FR" sz="2000" b="1" dirty="0" err="1" smtClean="0"/>
              <a:t>cutanéo</a:t>
            </a:r>
            <a:r>
              <a:rPr lang="fr-FR" sz="2000" b="1" dirty="0" smtClean="0"/>
              <a:t>-muqueuse  </a:t>
            </a:r>
            <a:endParaRPr lang="fr-FR" sz="2000" b="1" dirty="0"/>
          </a:p>
        </p:txBody>
      </p:sp>
      <p:sp>
        <p:nvSpPr>
          <p:cNvPr id="7" name="ZoneTexte 6"/>
          <p:cNvSpPr txBox="1"/>
          <p:nvPr/>
        </p:nvSpPr>
        <p:spPr>
          <a:xfrm>
            <a:off x="214282" y="1857364"/>
            <a:ext cx="9144000" cy="2308324"/>
          </a:xfrm>
          <a:prstGeom prst="rect">
            <a:avLst/>
          </a:prstGeom>
          <a:noFill/>
        </p:spPr>
        <p:txBody>
          <a:bodyPr wrap="square" rtlCol="0">
            <a:spAutoFit/>
          </a:bodyPr>
          <a:lstStyle/>
          <a:p>
            <a:r>
              <a:rPr lang="fr-FR" sz="2400" b="1" dirty="0" smtClean="0"/>
              <a:t>Voies le plus souvent utilisées :</a:t>
            </a:r>
          </a:p>
          <a:p>
            <a:r>
              <a:rPr lang="fr-FR" sz="2400" dirty="0" smtClean="0"/>
              <a:t> intra veineuse , intra musculaire , intra dermique et sous cutanée </a:t>
            </a:r>
          </a:p>
          <a:p>
            <a:r>
              <a:rPr lang="fr-FR" sz="2400" b="1" dirty="0" smtClean="0">
                <a:solidFill>
                  <a:srgbClr val="00B050"/>
                </a:solidFill>
              </a:rPr>
              <a:t>Avantages: </a:t>
            </a:r>
          </a:p>
          <a:p>
            <a:r>
              <a:rPr lang="fr-FR" sz="2400" dirty="0" smtClean="0"/>
              <a:t>--</a:t>
            </a:r>
            <a:r>
              <a:rPr lang="fr-FR" sz="2400" dirty="0" err="1" smtClean="0"/>
              <a:t>mdts</a:t>
            </a:r>
            <a:r>
              <a:rPr lang="fr-FR" sz="2400" dirty="0" smtClean="0"/>
              <a:t> détruits par le suc digestif (insuline)</a:t>
            </a:r>
          </a:p>
          <a:p>
            <a:r>
              <a:rPr lang="fr-FR" sz="2400" dirty="0"/>
              <a:t>-</a:t>
            </a:r>
            <a:r>
              <a:rPr lang="fr-FR" sz="2400" dirty="0" smtClean="0"/>
              <a:t>Traitement patient inconscient , coma </a:t>
            </a:r>
          </a:p>
          <a:p>
            <a:r>
              <a:rPr lang="fr-FR" sz="2400" dirty="0" smtClean="0"/>
              <a:t> </a:t>
            </a:r>
            <a:endParaRPr lang="fr-FR" sz="2400" dirty="0"/>
          </a:p>
        </p:txBody>
      </p:sp>
      <p:sp>
        <p:nvSpPr>
          <p:cNvPr id="9" name="Rectangle 8"/>
          <p:cNvSpPr/>
          <p:nvPr/>
        </p:nvSpPr>
        <p:spPr>
          <a:xfrm>
            <a:off x="285720" y="3571876"/>
            <a:ext cx="9173704" cy="2954655"/>
          </a:xfrm>
          <a:prstGeom prst="rect">
            <a:avLst/>
          </a:prstGeom>
        </p:spPr>
        <p:txBody>
          <a:bodyPr wrap="square">
            <a:spAutoFit/>
          </a:bodyPr>
          <a:lstStyle/>
          <a:p>
            <a:endParaRPr lang="fr-FR" dirty="0" smtClean="0"/>
          </a:p>
          <a:p>
            <a:r>
              <a:rPr lang="fr-FR" sz="2400" b="1" dirty="0" smtClean="0">
                <a:solidFill>
                  <a:srgbClr val="FF0000"/>
                </a:solidFill>
              </a:rPr>
              <a:t>Inconvénients :</a:t>
            </a:r>
          </a:p>
          <a:p>
            <a:r>
              <a:rPr lang="fr-FR" sz="2400" dirty="0" smtClean="0"/>
              <a:t>-Douleur </a:t>
            </a:r>
            <a:r>
              <a:rPr lang="fr-FR" sz="2400" dirty="0"/>
              <a:t>à </a:t>
            </a:r>
            <a:r>
              <a:rPr lang="fr-FR" sz="2400" dirty="0" smtClean="0"/>
              <a:t>l’injection</a:t>
            </a:r>
            <a:endParaRPr lang="fr-FR" sz="2400" dirty="0"/>
          </a:p>
          <a:p>
            <a:r>
              <a:rPr lang="fr-FR" sz="2400" dirty="0" smtClean="0"/>
              <a:t>- </a:t>
            </a:r>
            <a:r>
              <a:rPr lang="fr-FR" sz="2400" dirty="0"/>
              <a:t>Coût élevé de fabrication</a:t>
            </a:r>
          </a:p>
          <a:p>
            <a:pPr>
              <a:buClr>
                <a:srgbClr val="FF5050"/>
              </a:buClr>
            </a:pPr>
            <a:r>
              <a:rPr lang="fr-FR" sz="2400" dirty="0" smtClean="0"/>
              <a:t>-Pas </a:t>
            </a:r>
            <a:r>
              <a:rPr lang="fr-FR" sz="2400" dirty="0"/>
              <a:t>adapté à traitement </a:t>
            </a:r>
            <a:r>
              <a:rPr lang="fr-FR" sz="2400" dirty="0" smtClean="0"/>
              <a:t>ambulatoire </a:t>
            </a:r>
            <a:r>
              <a:rPr lang="fr-FR" sz="2400" dirty="0" smtClean="0">
                <a:solidFill>
                  <a:srgbClr val="FF0000"/>
                </a:solidFill>
              </a:rPr>
              <a:t>sauf insuline </a:t>
            </a:r>
          </a:p>
          <a:p>
            <a:pPr>
              <a:buClr>
                <a:srgbClr val="FF5050"/>
              </a:buClr>
            </a:pPr>
            <a:r>
              <a:rPr lang="fr-FR" sz="2400" dirty="0" smtClean="0"/>
              <a:t>- Accidents : (Extravasation, hématome, piqûre d’une artère,..)</a:t>
            </a:r>
          </a:p>
          <a:p>
            <a:pPr>
              <a:buClr>
                <a:srgbClr val="FF5050"/>
              </a:buClr>
            </a:pPr>
            <a:r>
              <a:rPr lang="fr-FR" sz="2400" dirty="0" smtClean="0"/>
              <a:t>-Risques infectieux</a:t>
            </a:r>
            <a:r>
              <a:rPr lang="fr-FR" sz="2400" b="1" dirty="0" smtClean="0"/>
              <a:t> : </a:t>
            </a:r>
            <a:r>
              <a:rPr lang="fr-FR" sz="2400" dirty="0" smtClean="0"/>
              <a:t>transmission virale : hépatite B, C, HIV. </a:t>
            </a:r>
          </a:p>
          <a:p>
            <a:endParaRPr lang="fr-FR" sz="2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endParaRPr lang="fr-FR"/>
          </a:p>
        </p:txBody>
      </p:sp>
      <p:sp>
        <p:nvSpPr>
          <p:cNvPr id="3" name="Espace réservé du numéro de diapositive 2"/>
          <p:cNvSpPr>
            <a:spLocks noGrp="1"/>
          </p:cNvSpPr>
          <p:nvPr>
            <p:ph type="sldNum" sz="quarter" idx="12"/>
          </p:nvPr>
        </p:nvSpPr>
        <p:spPr/>
        <p:txBody>
          <a:bodyPr/>
          <a:lstStyle/>
          <a:p>
            <a:fld id="{A7C9A1F7-440B-49A3-BFDF-704999814E67}" type="slidenum">
              <a:rPr lang="fr-FR" smtClean="0"/>
              <a:pPr/>
              <a:t>11</a:t>
            </a:fld>
            <a:endParaRPr lang="fr-FR"/>
          </a:p>
        </p:txBody>
      </p:sp>
      <p:sp>
        <p:nvSpPr>
          <p:cNvPr id="4" name="Titre 1"/>
          <p:cNvSpPr txBox="1">
            <a:spLocks/>
          </p:cNvSpPr>
          <p:nvPr/>
        </p:nvSpPr>
        <p:spPr>
          <a:xfrm>
            <a:off x="428596" y="142852"/>
            <a:ext cx="8229600" cy="1240096"/>
          </a:xfrm>
          <a:prstGeom prst="rect">
            <a:avLst/>
          </a:prstGeom>
        </p:spPr>
        <p:style>
          <a:lnRef idx="3">
            <a:schemeClr val="lt1"/>
          </a:lnRef>
          <a:fillRef idx="1">
            <a:schemeClr val="accent2"/>
          </a:fillRef>
          <a:effectRef idx="1">
            <a:schemeClr val="accent2"/>
          </a:effectRef>
          <a:fontRef idx="minor">
            <a:schemeClr val="lt1"/>
          </a:fontRef>
        </p:style>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4000" b="1" i="0" u="none" strike="noStrike" kern="1200" cap="none" spc="0" normalizeH="0" baseline="0" noProof="0" dirty="0" smtClean="0">
                <a:ln>
                  <a:noFill/>
                </a:ln>
                <a:solidFill>
                  <a:schemeClr val="lt1"/>
                </a:solidFill>
                <a:effectLst/>
                <a:uLnTx/>
                <a:uFillTx/>
                <a:latin typeface="+mn-lt"/>
                <a:ea typeface="+mn-ea"/>
                <a:cs typeface="+mn-cs"/>
              </a:rPr>
              <a:t>Administration par voie parentérale </a:t>
            </a:r>
          </a:p>
        </p:txBody>
      </p:sp>
      <p:sp>
        <p:nvSpPr>
          <p:cNvPr id="5" name="ZoneTexte 4"/>
          <p:cNvSpPr txBox="1"/>
          <p:nvPr/>
        </p:nvSpPr>
        <p:spPr>
          <a:xfrm>
            <a:off x="428596" y="1340768"/>
            <a:ext cx="8286808" cy="707886"/>
          </a:xfrm>
          <a:prstGeom prst="rect">
            <a:avLst/>
          </a:prstGeom>
          <a:noFill/>
        </p:spPr>
        <p:txBody>
          <a:bodyPr wrap="square" rtlCol="0">
            <a:spAutoFit/>
          </a:bodyPr>
          <a:lstStyle/>
          <a:p>
            <a:r>
              <a:rPr lang="fr-FR" sz="2000" b="1" dirty="0" smtClean="0"/>
              <a:t>Le site d’administration  du médicament  nécessite l’effraction de la barrière </a:t>
            </a:r>
            <a:r>
              <a:rPr lang="fr-FR" sz="2000" b="1" dirty="0" err="1" smtClean="0"/>
              <a:t>cutanéo</a:t>
            </a:r>
            <a:r>
              <a:rPr lang="fr-FR" sz="2000" b="1" dirty="0" smtClean="0"/>
              <a:t>-muqueuse  </a:t>
            </a:r>
            <a:endParaRPr lang="fr-FR" sz="2000" b="1" dirty="0"/>
          </a:p>
        </p:txBody>
      </p:sp>
      <p:pic>
        <p:nvPicPr>
          <p:cNvPr id="3074" name="Picture 2"/>
          <p:cNvPicPr>
            <a:picLocks noChangeAspect="1" noChangeArrowheads="1"/>
          </p:cNvPicPr>
          <p:nvPr/>
        </p:nvPicPr>
        <p:blipFill>
          <a:blip r:embed="rId2"/>
          <a:srcRect/>
          <a:stretch>
            <a:fillRect/>
          </a:stretch>
        </p:blipFill>
        <p:spPr bwMode="auto">
          <a:xfrm>
            <a:off x="3000332" y="2071678"/>
            <a:ext cx="6143668" cy="3929090"/>
          </a:xfrm>
          <a:prstGeom prst="rect">
            <a:avLst/>
          </a:prstGeom>
          <a:noFill/>
          <a:ln w="9525">
            <a:noFill/>
            <a:miter lim="800000"/>
            <a:headEnd/>
            <a:tailEnd/>
          </a:ln>
          <a:effectLst/>
        </p:spPr>
      </p:pic>
      <p:sp>
        <p:nvSpPr>
          <p:cNvPr id="10" name="Rectangle 9"/>
          <p:cNvSpPr/>
          <p:nvPr/>
        </p:nvSpPr>
        <p:spPr>
          <a:xfrm>
            <a:off x="-357222" y="2428868"/>
            <a:ext cx="3357586" cy="3416320"/>
          </a:xfrm>
          <a:prstGeom prst="rect">
            <a:avLst/>
          </a:prstGeom>
        </p:spPr>
        <p:txBody>
          <a:bodyPr wrap="square">
            <a:spAutoFit/>
          </a:bodyPr>
          <a:lstStyle/>
          <a:p>
            <a:pPr marL="742950" lvl="1" indent="-285750">
              <a:lnSpc>
                <a:spcPct val="80000"/>
              </a:lnSpc>
              <a:spcBef>
                <a:spcPct val="20000"/>
              </a:spcBef>
              <a:buFont typeface="Arial" pitchFamily="34" charset="0"/>
              <a:buChar char="–"/>
              <a:defRPr/>
            </a:pPr>
            <a:r>
              <a:rPr lang="fr-FR" sz="2000" dirty="0" smtClean="0"/>
              <a:t>voie sous-cutanée (SC): sous la peau : </a:t>
            </a:r>
            <a:r>
              <a:rPr lang="fr-FR" sz="2000" dirty="0" err="1" smtClean="0"/>
              <a:t>inj</a:t>
            </a:r>
            <a:r>
              <a:rPr lang="fr-FR" sz="2000" dirty="0" smtClean="0"/>
              <a:t> ou implant </a:t>
            </a:r>
          </a:p>
          <a:p>
            <a:pPr marL="742950" lvl="1" indent="-285750">
              <a:lnSpc>
                <a:spcPct val="80000"/>
              </a:lnSpc>
              <a:spcBef>
                <a:spcPct val="20000"/>
              </a:spcBef>
              <a:buFont typeface="Arial" pitchFamily="34" charset="0"/>
              <a:buChar char="–"/>
              <a:defRPr/>
            </a:pPr>
            <a:r>
              <a:rPr lang="fr-FR" sz="2000" dirty="0" smtClean="0"/>
              <a:t>voie intramusculaire (IM): dans le tissu musculaire profond (muscle fessier ou cuisse) </a:t>
            </a:r>
          </a:p>
          <a:p>
            <a:pPr marL="742950" lvl="1" indent="-285750">
              <a:lnSpc>
                <a:spcPct val="80000"/>
              </a:lnSpc>
              <a:spcBef>
                <a:spcPct val="20000"/>
              </a:spcBef>
              <a:buFont typeface="Arial" pitchFamily="34" charset="0"/>
              <a:buChar char="–"/>
              <a:defRPr/>
            </a:pPr>
            <a:r>
              <a:rPr lang="fr-FR" sz="2000" dirty="0" smtClean="0"/>
              <a:t>voie intradermique (ID): directement sous la surface de la peau (à la limite de l ’épiderme et du derme)</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A7C9A1F7-440B-49A3-BFDF-704999814E67}" type="slidenum">
              <a:rPr lang="fr-FR" smtClean="0"/>
              <a:pPr/>
              <a:t>12</a:t>
            </a:fld>
            <a:endParaRPr lang="fr-FR"/>
          </a:p>
        </p:txBody>
      </p:sp>
      <p:sp>
        <p:nvSpPr>
          <p:cNvPr id="4" name="Titre 1"/>
          <p:cNvSpPr txBox="1">
            <a:spLocks/>
          </p:cNvSpPr>
          <p:nvPr/>
        </p:nvSpPr>
        <p:spPr>
          <a:xfrm>
            <a:off x="395536" y="188640"/>
            <a:ext cx="8229600" cy="1240096"/>
          </a:xfrm>
          <a:prstGeom prst="rect">
            <a:avLst/>
          </a:prstGeom>
        </p:spPr>
        <p:style>
          <a:lnRef idx="3">
            <a:schemeClr val="lt1"/>
          </a:lnRef>
          <a:fillRef idx="1">
            <a:schemeClr val="accent2"/>
          </a:fillRef>
          <a:effectRef idx="1">
            <a:schemeClr val="accent2"/>
          </a:effectRef>
          <a:fontRef idx="minor">
            <a:schemeClr val="lt1"/>
          </a:fontRef>
        </p:style>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4000" b="1" i="0" u="none" strike="noStrike" kern="1200" cap="none" spc="0" normalizeH="0" baseline="0" noProof="0" dirty="0" smtClean="0">
                <a:ln>
                  <a:noFill/>
                </a:ln>
                <a:solidFill>
                  <a:schemeClr val="lt1"/>
                </a:solidFill>
                <a:effectLst/>
                <a:uLnTx/>
                <a:uFillTx/>
                <a:latin typeface="+mn-lt"/>
                <a:ea typeface="+mn-ea"/>
                <a:cs typeface="+mn-cs"/>
              </a:rPr>
              <a:t>Administration par voie parentérale </a:t>
            </a:r>
          </a:p>
        </p:txBody>
      </p:sp>
      <p:sp>
        <p:nvSpPr>
          <p:cNvPr id="5" name="Rectangle 3"/>
          <p:cNvSpPr txBox="1">
            <a:spLocks noChangeArrowheads="1"/>
          </p:cNvSpPr>
          <p:nvPr/>
        </p:nvSpPr>
        <p:spPr>
          <a:xfrm>
            <a:off x="500034" y="1214422"/>
            <a:ext cx="8153400" cy="4551362"/>
          </a:xfrm>
          <a:prstGeom prst="rect">
            <a:avLst/>
          </a:prstGeom>
        </p:spPr>
        <p:txBody>
          <a:bodyPr/>
          <a:lstStyle/>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endParaRPr kumimoji="0" lang="fr-FR"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r>
              <a:rPr kumimoji="0" lang="fr-FR" sz="22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r>
              <a:rPr kumimoji="0" lang="fr-FR" sz="2800" b="0" i="0" u="none" strike="noStrike" kern="1200" cap="none" spc="0" normalizeH="0" baseline="0" noProof="0" dirty="0" smtClean="0">
                <a:ln>
                  <a:noFill/>
                </a:ln>
                <a:solidFill>
                  <a:schemeClr val="tx1"/>
                </a:solidFill>
                <a:effectLst/>
                <a:uLnTx/>
                <a:uFillTx/>
                <a:latin typeface="+mn-lt"/>
                <a:ea typeface="+mn-ea"/>
                <a:cs typeface="+mn-cs"/>
              </a:rPr>
              <a:t>Administration du médicament par effraction à travers la peau (injection à l ’aide d ’une aiguille)</a:t>
            </a: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r>
              <a:rPr kumimoji="0" lang="fr-FR" sz="2800" b="0" i="0" u="none" strike="noStrike" kern="1200" cap="none" spc="0" normalizeH="0" baseline="0" noProof="0" dirty="0" smtClean="0">
                <a:ln>
                  <a:noFill/>
                </a:ln>
                <a:solidFill>
                  <a:schemeClr val="tx1"/>
                </a:solidFill>
                <a:effectLst/>
                <a:uLnTx/>
                <a:uFillTx/>
                <a:latin typeface="+mn-lt"/>
                <a:ea typeface="+mn-ea"/>
                <a:cs typeface="+mn-cs"/>
              </a:rPr>
              <a:t>	En fonction du site d ’injection, on parle de:</a:t>
            </a:r>
          </a:p>
          <a:p>
            <a:pPr marL="342900" marR="0" lvl="0" indent="-342900" algn="l" defTabSz="914400" rtl="0" eaLnBrk="1" fontAlgn="auto" latinLnBrk="0" hangingPunct="1">
              <a:lnSpc>
                <a:spcPct val="80000"/>
              </a:lnSpc>
              <a:spcBef>
                <a:spcPct val="20000"/>
              </a:spcBef>
              <a:spcAft>
                <a:spcPts val="0"/>
              </a:spcAft>
              <a:buClrTx/>
              <a:buSzTx/>
              <a:buFont typeface="Wingdings" pitchFamily="2" charset="2"/>
              <a:buNone/>
              <a:tabLst/>
              <a:defRPr/>
            </a:pPr>
            <a:endParaRPr kumimoji="0" lang="fr-FR" sz="2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fr-FR" sz="2800" b="0" i="0" u="none" strike="noStrike" kern="1200" cap="none" spc="0" normalizeH="0" baseline="0" noProof="0" dirty="0" smtClean="0">
                <a:ln>
                  <a:noFill/>
                </a:ln>
                <a:solidFill>
                  <a:schemeClr val="tx1"/>
                </a:solidFill>
                <a:effectLst/>
                <a:uLnTx/>
                <a:uFillTx/>
                <a:latin typeface="+mn-lt"/>
                <a:ea typeface="+mn-ea"/>
                <a:cs typeface="+mn-cs"/>
              </a:rPr>
              <a:t>voie intra-artérielle: dans une artère</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fr-FR" sz="2800" b="0" i="0" u="none" strike="noStrike" kern="1200" cap="none" spc="0" normalizeH="0" baseline="0" noProof="0" dirty="0" smtClean="0">
                <a:ln>
                  <a:noFill/>
                </a:ln>
                <a:solidFill>
                  <a:schemeClr val="tx1"/>
                </a:solidFill>
                <a:effectLst/>
                <a:uLnTx/>
                <a:uFillTx/>
                <a:latin typeface="+mn-lt"/>
                <a:ea typeface="+mn-ea"/>
                <a:cs typeface="+mn-cs"/>
              </a:rPr>
              <a:t>voie </a:t>
            </a:r>
            <a:r>
              <a:rPr kumimoji="0" lang="fr-FR" sz="2800" b="0" i="0" u="none" strike="noStrike" kern="1200" cap="none" spc="0" normalizeH="0" baseline="0" noProof="0" dirty="0" err="1" smtClean="0">
                <a:ln>
                  <a:noFill/>
                </a:ln>
                <a:solidFill>
                  <a:schemeClr val="tx1"/>
                </a:solidFill>
                <a:effectLst/>
                <a:uLnTx/>
                <a:uFillTx/>
                <a:latin typeface="+mn-lt"/>
                <a:ea typeface="+mn-ea"/>
                <a:cs typeface="+mn-cs"/>
              </a:rPr>
              <a:t>intra-rachidienne</a:t>
            </a:r>
            <a:r>
              <a:rPr kumimoji="0" lang="fr-FR" sz="2800" b="0" i="0" u="none" strike="noStrike" kern="1200" cap="none" spc="0" normalizeH="0" baseline="0" noProof="0" dirty="0" smtClean="0">
                <a:ln>
                  <a:noFill/>
                </a:ln>
                <a:solidFill>
                  <a:schemeClr val="tx1"/>
                </a:solidFill>
                <a:effectLst/>
                <a:uLnTx/>
                <a:uFillTx/>
                <a:latin typeface="+mn-lt"/>
                <a:ea typeface="+mn-ea"/>
                <a:cs typeface="+mn-cs"/>
              </a:rPr>
              <a:t> (IR) ou </a:t>
            </a:r>
            <a:r>
              <a:rPr kumimoji="0" lang="fr-FR" sz="2800" b="0" i="0" u="none" strike="noStrike" kern="1200" cap="none" spc="0" normalizeH="0" baseline="0" noProof="0" dirty="0" err="1" smtClean="0">
                <a:ln>
                  <a:noFill/>
                </a:ln>
                <a:solidFill>
                  <a:schemeClr val="tx1"/>
                </a:solidFill>
                <a:effectLst/>
                <a:uLnTx/>
                <a:uFillTx/>
                <a:latin typeface="+mn-lt"/>
                <a:ea typeface="+mn-ea"/>
                <a:cs typeface="+mn-cs"/>
              </a:rPr>
              <a:t>intrathécale</a:t>
            </a:r>
            <a:r>
              <a:rPr kumimoji="0" lang="fr-FR" sz="2800" b="0" i="0" u="none" strike="noStrike" kern="1200" cap="none" spc="0" normalizeH="0" baseline="0" noProof="0" dirty="0" smtClean="0">
                <a:ln>
                  <a:noFill/>
                </a:ln>
                <a:solidFill>
                  <a:schemeClr val="tx1"/>
                </a:solidFill>
                <a:effectLst/>
                <a:uLnTx/>
                <a:uFillTx/>
                <a:latin typeface="+mn-lt"/>
                <a:ea typeface="+mn-ea"/>
                <a:cs typeface="+mn-cs"/>
              </a:rPr>
              <a:t>: dans </a:t>
            </a:r>
          </a:p>
          <a:p>
            <a:pPr marL="742950" marR="0" lvl="1" indent="-285750" algn="l" defTabSz="914400" rtl="0" eaLnBrk="1" fontAlgn="auto" latinLnBrk="0" hangingPunct="1">
              <a:lnSpc>
                <a:spcPct val="80000"/>
              </a:lnSpc>
              <a:spcBef>
                <a:spcPct val="20000"/>
              </a:spcBef>
              <a:spcAft>
                <a:spcPts val="0"/>
              </a:spcAft>
              <a:buClrTx/>
              <a:buSzTx/>
              <a:buFontTx/>
              <a:buNone/>
              <a:tabLst/>
              <a:defRPr/>
            </a:pPr>
            <a:r>
              <a:rPr kumimoji="0" lang="fr-FR" sz="2800" b="0" i="0" u="none" strike="noStrike" kern="1200" cap="none" spc="0" normalizeH="0" baseline="0" noProof="0" dirty="0" smtClean="0">
                <a:ln>
                  <a:noFill/>
                </a:ln>
                <a:solidFill>
                  <a:schemeClr val="tx1"/>
                </a:solidFill>
                <a:effectLst/>
                <a:uLnTx/>
                <a:uFillTx/>
                <a:latin typeface="+mn-lt"/>
                <a:ea typeface="+mn-ea"/>
                <a:cs typeface="+mn-cs"/>
              </a:rPr>
              <a:t>	l ’espace sous-arachnoïdien où circule le LCR</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fr-FR" sz="2800" b="0" i="0" u="none" strike="noStrike" kern="1200" cap="none" spc="0" normalizeH="0" baseline="0" noProof="0" dirty="0" smtClean="0">
                <a:ln>
                  <a:noFill/>
                </a:ln>
                <a:solidFill>
                  <a:schemeClr val="tx1"/>
                </a:solidFill>
                <a:effectLst/>
                <a:uLnTx/>
                <a:uFillTx/>
                <a:latin typeface="+mn-lt"/>
                <a:ea typeface="+mn-ea"/>
                <a:cs typeface="+mn-cs"/>
              </a:rPr>
              <a:t>voies </a:t>
            </a:r>
            <a:r>
              <a:rPr kumimoji="0" lang="fr-FR" sz="2800" b="0" i="0" u="none" strike="noStrike" kern="1200" cap="none" spc="0" normalizeH="0" baseline="0" noProof="0" dirty="0" err="1" smtClean="0">
                <a:ln>
                  <a:noFill/>
                </a:ln>
                <a:solidFill>
                  <a:schemeClr val="tx1"/>
                </a:solidFill>
                <a:effectLst/>
                <a:uLnTx/>
                <a:uFillTx/>
                <a:latin typeface="+mn-lt"/>
                <a:ea typeface="+mn-ea"/>
                <a:cs typeface="+mn-cs"/>
              </a:rPr>
              <a:t>intra-cardiaque</a:t>
            </a:r>
            <a:r>
              <a:rPr kumimoji="0" lang="fr-FR" sz="2800" b="0" i="0" u="none" strike="noStrike" kern="1200" cap="none" spc="0" normalizeH="0" baseline="0" noProof="0" dirty="0" smtClean="0">
                <a:ln>
                  <a:noFill/>
                </a:ln>
                <a:solidFill>
                  <a:schemeClr val="tx1"/>
                </a:solidFill>
                <a:effectLst/>
                <a:uLnTx/>
                <a:uFillTx/>
                <a:latin typeface="+mn-lt"/>
                <a:ea typeface="+mn-ea"/>
                <a:cs typeface="+mn-cs"/>
              </a:rPr>
              <a:t>, intra-articulaire, épidurale   </a:t>
            </a:r>
          </a:p>
        </p:txBody>
      </p:sp>
      <p:sp>
        <p:nvSpPr>
          <p:cNvPr id="6" name="AutoShape 4"/>
          <p:cNvSpPr>
            <a:spLocks/>
          </p:cNvSpPr>
          <p:nvPr/>
        </p:nvSpPr>
        <p:spPr bwMode="auto">
          <a:xfrm>
            <a:off x="8215338" y="3643314"/>
            <a:ext cx="376237" cy="1571636"/>
          </a:xfrm>
          <a:prstGeom prst="rightBrace">
            <a:avLst>
              <a:gd name="adj1" fmla="val 27145"/>
              <a:gd name="adj2" fmla="val 50000"/>
            </a:avLst>
          </a:prstGeom>
          <a:noFill/>
          <a:ln w="9525">
            <a:solidFill>
              <a:schemeClr val="tx1"/>
            </a:solidFill>
            <a:round/>
            <a:headEnd/>
            <a:tailEnd/>
          </a:ln>
        </p:spPr>
        <p:txBody>
          <a:bodyPr wrap="none" anchor="ctr"/>
          <a:lstStyle/>
          <a:p>
            <a:endParaRPr lang="fr-FR"/>
          </a:p>
        </p:txBody>
      </p:sp>
      <p:sp>
        <p:nvSpPr>
          <p:cNvPr id="7" name="Text Box 5"/>
          <p:cNvSpPr txBox="1">
            <a:spLocks noChangeArrowheads="1"/>
          </p:cNvSpPr>
          <p:nvPr/>
        </p:nvSpPr>
        <p:spPr bwMode="auto">
          <a:xfrm>
            <a:off x="7343775" y="5286388"/>
            <a:ext cx="1800225" cy="822325"/>
          </a:xfrm>
          <a:prstGeom prst="rect">
            <a:avLst/>
          </a:prstGeom>
          <a:noFill/>
          <a:ln w="9525">
            <a:noFill/>
            <a:miter lim="800000"/>
            <a:headEnd/>
            <a:tailEnd/>
          </a:ln>
        </p:spPr>
        <p:txBody>
          <a:bodyPr>
            <a:spAutoFit/>
          </a:bodyPr>
          <a:lstStyle/>
          <a:p>
            <a:pPr>
              <a:spcBef>
                <a:spcPct val="50000"/>
              </a:spcBef>
            </a:pPr>
            <a:r>
              <a:rPr lang="fr-FR" sz="2400" dirty="0"/>
              <a:t>Actes médicaux</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
          <p:cNvSpPr txBox="1">
            <a:spLocks/>
          </p:cNvSpPr>
          <p:nvPr/>
        </p:nvSpPr>
        <p:spPr>
          <a:xfrm>
            <a:off x="395536" y="0"/>
            <a:ext cx="8229600" cy="1214422"/>
          </a:xfrm>
          <a:prstGeom prst="rect">
            <a:avLst/>
          </a:prstGeom>
        </p:spPr>
        <p:style>
          <a:lnRef idx="3">
            <a:schemeClr val="lt1"/>
          </a:lnRef>
          <a:fillRef idx="1">
            <a:schemeClr val="accent2"/>
          </a:fillRef>
          <a:effectRef idx="1">
            <a:schemeClr val="accent2"/>
          </a:effectRef>
          <a:fontRef idx="minor">
            <a:schemeClr val="lt1"/>
          </a:fontRef>
        </p:style>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4000" b="1" i="0" u="none" strike="noStrike" kern="1200" cap="none" spc="0" normalizeH="0" baseline="0" noProof="0" dirty="0" smtClean="0">
                <a:ln>
                  <a:noFill/>
                </a:ln>
                <a:solidFill>
                  <a:schemeClr val="lt1"/>
                </a:solidFill>
                <a:effectLst/>
                <a:uLnTx/>
                <a:uFillTx/>
                <a:latin typeface="+mn-lt"/>
                <a:ea typeface="+mn-ea"/>
                <a:cs typeface="+mn-cs"/>
              </a:rPr>
              <a:t>Administration par voie parentérale </a:t>
            </a:r>
          </a:p>
        </p:txBody>
      </p:sp>
      <p:pic>
        <p:nvPicPr>
          <p:cNvPr id="10" name="Picture 10" descr="IVD"/>
          <p:cNvPicPr>
            <a:picLocks noChangeAspect="1" noChangeArrowheads="1"/>
          </p:cNvPicPr>
          <p:nvPr/>
        </p:nvPicPr>
        <p:blipFill>
          <a:blip r:embed="rId2"/>
          <a:srcRect/>
          <a:stretch>
            <a:fillRect/>
          </a:stretch>
        </p:blipFill>
        <p:spPr bwMode="auto">
          <a:xfrm>
            <a:off x="1214414" y="1357298"/>
            <a:ext cx="1944687" cy="1930400"/>
          </a:xfrm>
          <a:prstGeom prst="rect">
            <a:avLst/>
          </a:prstGeom>
          <a:noFill/>
          <a:ln w="9525">
            <a:noFill/>
            <a:miter lim="800000"/>
            <a:headEnd/>
            <a:tailEnd/>
          </a:ln>
        </p:spPr>
      </p:pic>
      <p:pic>
        <p:nvPicPr>
          <p:cNvPr id="11" name="Picture 7" descr="perfusionIV"/>
          <p:cNvPicPr>
            <a:picLocks noChangeAspect="1" noChangeArrowheads="1"/>
          </p:cNvPicPr>
          <p:nvPr/>
        </p:nvPicPr>
        <p:blipFill>
          <a:blip r:embed="rId3"/>
          <a:srcRect r="43875"/>
          <a:stretch>
            <a:fillRect/>
          </a:stretch>
        </p:blipFill>
        <p:spPr bwMode="auto">
          <a:xfrm>
            <a:off x="6072198" y="1500174"/>
            <a:ext cx="1512887" cy="1857388"/>
          </a:xfrm>
          <a:prstGeom prst="rect">
            <a:avLst/>
          </a:prstGeom>
          <a:noFill/>
          <a:ln w="9525">
            <a:noFill/>
            <a:miter lim="800000"/>
            <a:headEnd/>
            <a:tailEnd/>
          </a:ln>
        </p:spPr>
      </p:pic>
      <p:pic>
        <p:nvPicPr>
          <p:cNvPr id="12" name="Picture 11" descr="seringue"/>
          <p:cNvPicPr>
            <a:picLocks noChangeAspect="1" noChangeArrowheads="1"/>
          </p:cNvPicPr>
          <p:nvPr/>
        </p:nvPicPr>
        <p:blipFill>
          <a:blip r:embed="rId4" cstate="print"/>
          <a:srcRect b="28583"/>
          <a:stretch>
            <a:fillRect/>
          </a:stretch>
        </p:blipFill>
        <p:spPr bwMode="auto">
          <a:xfrm>
            <a:off x="1285852" y="3286124"/>
            <a:ext cx="1655764" cy="714381"/>
          </a:xfrm>
          <a:prstGeom prst="rect">
            <a:avLst/>
          </a:prstGeom>
          <a:noFill/>
          <a:ln w="9525">
            <a:noFill/>
            <a:miter lim="800000"/>
            <a:headEnd/>
            <a:tailEnd/>
          </a:ln>
        </p:spPr>
      </p:pic>
      <p:sp>
        <p:nvSpPr>
          <p:cNvPr id="13" name="Rectangle 10"/>
          <p:cNvSpPr>
            <a:spLocks noChangeArrowheads="1"/>
          </p:cNvSpPr>
          <p:nvPr/>
        </p:nvSpPr>
        <p:spPr bwMode="auto">
          <a:xfrm>
            <a:off x="609600" y="3978275"/>
            <a:ext cx="3352800" cy="923330"/>
          </a:xfrm>
          <a:prstGeom prst="rect">
            <a:avLst/>
          </a:prstGeom>
          <a:noFill/>
          <a:ln>
            <a:noFill/>
          </a:ln>
          <a:effectLst/>
          <a:extLst>
            <a:ext uri="{91240B29-F687-4F45-9708-019B960494DF}"/>
            <a:ext uri="{AF507438-7753-43E0-B8FC-AC1667EBCBE1}"/>
          </a:extLst>
        </p:spPr>
        <p:txBody>
          <a:bodyPr>
            <a:spAutoFit/>
          </a:bodyPr>
          <a:lstStyle/>
          <a:p>
            <a:pPr algn="ctr">
              <a:defRPr/>
            </a:pPr>
            <a:r>
              <a:rPr lang="fr-FR" dirty="0" smtClean="0">
                <a:effectLst>
                  <a:outerShdw blurRad="38100" dist="38100" dir="2700000" algn="tl">
                    <a:srgbClr val="FFFFFF"/>
                  </a:outerShdw>
                </a:effectLst>
                <a:latin typeface="Arial" charset="0"/>
                <a:cs typeface="Arial" charset="0"/>
              </a:rPr>
              <a:t>IV </a:t>
            </a:r>
            <a:r>
              <a:rPr lang="fr-FR" dirty="0" err="1" smtClean="0">
                <a:effectLst>
                  <a:outerShdw blurRad="38100" dist="38100" dir="2700000" algn="tl">
                    <a:srgbClr val="FFFFFF"/>
                  </a:outerShdw>
                </a:effectLst>
                <a:latin typeface="Arial" charset="0"/>
                <a:cs typeface="Arial" charset="0"/>
              </a:rPr>
              <a:t>bolus</a:t>
            </a:r>
            <a:r>
              <a:rPr lang="fr-FR" dirty="0" smtClean="0">
                <a:effectLst>
                  <a:outerShdw blurRad="38100" dist="38100" dir="2700000" algn="tl">
                    <a:srgbClr val="FFFFFF"/>
                  </a:outerShdw>
                </a:effectLst>
                <a:latin typeface="Arial" charset="0"/>
                <a:cs typeface="Arial" charset="0"/>
              </a:rPr>
              <a:t>:</a:t>
            </a:r>
          </a:p>
          <a:p>
            <a:pPr algn="ctr">
              <a:defRPr/>
            </a:pPr>
            <a:r>
              <a:rPr lang="fr-FR" dirty="0" smtClean="0">
                <a:effectLst>
                  <a:outerShdw blurRad="38100" dist="38100" dir="2700000" algn="tl">
                    <a:srgbClr val="FFFFFF"/>
                  </a:outerShdw>
                </a:effectLst>
                <a:latin typeface="Arial" charset="0"/>
                <a:cs typeface="Arial" charset="0"/>
              </a:rPr>
              <a:t>Thérapeutique d’urgence</a:t>
            </a:r>
          </a:p>
          <a:p>
            <a:pPr algn="ctr">
              <a:defRPr/>
            </a:pPr>
            <a:r>
              <a:rPr lang="fr-FR" dirty="0" smtClean="0">
                <a:effectLst>
                  <a:outerShdw blurRad="38100" dist="38100" dir="2700000" algn="tl">
                    <a:srgbClr val="FFFFFF"/>
                  </a:outerShdw>
                </a:effectLst>
                <a:latin typeface="Arial" charset="0"/>
                <a:cs typeface="Arial" charset="0"/>
              </a:rPr>
              <a:t>Petit volume </a:t>
            </a:r>
            <a:r>
              <a:rPr lang="fr-FR" dirty="0" smtClean="0">
                <a:latin typeface="Arial" charset="0"/>
                <a:cs typeface="Arial" charset="0"/>
              </a:rPr>
              <a:t> </a:t>
            </a:r>
            <a:endParaRPr lang="fr-FR" dirty="0">
              <a:latin typeface="Arial" charset="0"/>
              <a:cs typeface="Arial" charset="0"/>
            </a:endParaRPr>
          </a:p>
        </p:txBody>
      </p:sp>
      <p:sp>
        <p:nvSpPr>
          <p:cNvPr id="14" name="ZoneTexte 13"/>
          <p:cNvSpPr txBox="1"/>
          <p:nvPr/>
        </p:nvSpPr>
        <p:spPr>
          <a:xfrm>
            <a:off x="3214678" y="1214422"/>
            <a:ext cx="3185167" cy="400110"/>
          </a:xfrm>
          <a:prstGeom prst="rect">
            <a:avLst/>
          </a:prstGeom>
          <a:noFill/>
        </p:spPr>
        <p:txBody>
          <a:bodyPr wrap="none" rtlCol="0">
            <a:spAutoFit/>
          </a:bodyPr>
          <a:lstStyle/>
          <a:p>
            <a:r>
              <a:rPr lang="fr-FR" sz="2000" b="1" dirty="0" smtClean="0">
                <a:solidFill>
                  <a:srgbClr val="FF0000"/>
                </a:solidFill>
              </a:rPr>
              <a:t>Voie IV </a:t>
            </a:r>
            <a:r>
              <a:rPr lang="fr-FR" dirty="0" smtClean="0"/>
              <a:t>: rapide , dose précise </a:t>
            </a:r>
            <a:endParaRPr lang="fr-FR" dirty="0"/>
          </a:p>
        </p:txBody>
      </p:sp>
      <p:sp>
        <p:nvSpPr>
          <p:cNvPr id="15" name="Rectangle 14"/>
          <p:cNvSpPr/>
          <p:nvPr/>
        </p:nvSpPr>
        <p:spPr>
          <a:xfrm>
            <a:off x="5786446" y="3714752"/>
            <a:ext cx="2462725" cy="1200329"/>
          </a:xfrm>
          <a:prstGeom prst="rect">
            <a:avLst/>
          </a:prstGeom>
        </p:spPr>
        <p:txBody>
          <a:bodyPr wrap="none">
            <a:spAutoFit/>
          </a:bodyPr>
          <a:lstStyle/>
          <a:p>
            <a:pPr>
              <a:buClr>
                <a:srgbClr val="FF5050"/>
              </a:buClr>
            </a:pPr>
            <a:r>
              <a:rPr lang="fr-FR" dirty="0" smtClean="0"/>
              <a:t>Perfusion:</a:t>
            </a:r>
          </a:p>
          <a:p>
            <a:pPr>
              <a:buClr>
                <a:srgbClr val="FF5050"/>
              </a:buClr>
            </a:pPr>
            <a:r>
              <a:rPr lang="fr-FR" dirty="0" smtClean="0"/>
              <a:t>Grand volume </a:t>
            </a:r>
          </a:p>
          <a:p>
            <a:pPr>
              <a:buClr>
                <a:srgbClr val="FF5050"/>
              </a:buClr>
            </a:pPr>
            <a:r>
              <a:rPr lang="fr-FR" dirty="0" smtClean="0"/>
              <a:t>alimentation parentérale</a:t>
            </a:r>
          </a:p>
          <a:p>
            <a:pPr>
              <a:buClr>
                <a:srgbClr val="FF5050"/>
              </a:buClr>
            </a:pPr>
            <a:r>
              <a:rPr lang="fr-FR" dirty="0" err="1" smtClean="0"/>
              <a:t>Trt</a:t>
            </a:r>
            <a:r>
              <a:rPr lang="fr-FR" dirty="0" smtClean="0"/>
              <a:t> anticancéreux  </a:t>
            </a:r>
            <a:endParaRPr lang="fr-FR" dirty="0"/>
          </a:p>
        </p:txBody>
      </p:sp>
      <p:sp>
        <p:nvSpPr>
          <p:cNvPr id="16" name="Rectangle 15"/>
          <p:cNvSpPr>
            <a:spLocks noChangeArrowheads="1"/>
          </p:cNvSpPr>
          <p:nvPr/>
        </p:nvSpPr>
        <p:spPr bwMode="auto">
          <a:xfrm>
            <a:off x="1371600" y="5257800"/>
            <a:ext cx="7086600" cy="369888"/>
          </a:xfrm>
          <a:prstGeom prst="rect">
            <a:avLst/>
          </a:prstGeom>
          <a:noFill/>
          <a:ln w="9525">
            <a:noFill/>
            <a:miter lim="800000"/>
            <a:headEnd/>
            <a:tailEnd/>
          </a:ln>
        </p:spPr>
        <p:txBody>
          <a:bodyPr>
            <a:spAutoFit/>
          </a:bodyPr>
          <a:lstStyle/>
          <a:p>
            <a:r>
              <a:rPr lang="fr-FR" b="1" dirty="0">
                <a:solidFill>
                  <a:srgbClr val="FF0000"/>
                </a:solidFill>
              </a:rPr>
              <a:t>IV: Jamais de suspensions ou solutions huileuses (embolie)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endParaRPr lang="fr-FR"/>
          </a:p>
        </p:txBody>
      </p:sp>
      <p:sp>
        <p:nvSpPr>
          <p:cNvPr id="3" name="Espace réservé du numéro de diapositive 2"/>
          <p:cNvSpPr>
            <a:spLocks noGrp="1"/>
          </p:cNvSpPr>
          <p:nvPr>
            <p:ph type="sldNum" sz="quarter" idx="12"/>
          </p:nvPr>
        </p:nvSpPr>
        <p:spPr/>
        <p:txBody>
          <a:bodyPr/>
          <a:lstStyle/>
          <a:p>
            <a:fld id="{A7C9A1F7-440B-49A3-BFDF-704999814E67}" type="slidenum">
              <a:rPr lang="fr-FR" smtClean="0"/>
              <a:pPr/>
              <a:t>14</a:t>
            </a:fld>
            <a:endParaRPr lang="fr-FR"/>
          </a:p>
        </p:txBody>
      </p:sp>
      <p:pic>
        <p:nvPicPr>
          <p:cNvPr id="4" name="Picture 3" descr="diffuseur"/>
          <p:cNvPicPr>
            <a:picLocks noChangeAspect="1" noChangeArrowheads="1"/>
          </p:cNvPicPr>
          <p:nvPr/>
        </p:nvPicPr>
        <p:blipFill>
          <a:blip r:embed="rId2"/>
          <a:srcRect/>
          <a:stretch>
            <a:fillRect/>
          </a:stretch>
        </p:blipFill>
        <p:spPr>
          <a:xfrm>
            <a:off x="2482850" y="3862388"/>
            <a:ext cx="1668463" cy="1871662"/>
          </a:xfrm>
          <a:prstGeom prst="rect">
            <a:avLst/>
          </a:prstGeom>
          <a:noFill/>
        </p:spPr>
      </p:pic>
      <p:pic>
        <p:nvPicPr>
          <p:cNvPr id="5" name="Picture 7" descr="perfusionIV"/>
          <p:cNvPicPr>
            <a:picLocks noChangeAspect="1" noChangeArrowheads="1"/>
          </p:cNvPicPr>
          <p:nvPr/>
        </p:nvPicPr>
        <p:blipFill>
          <a:blip r:embed="rId3"/>
          <a:srcRect r="43875"/>
          <a:stretch>
            <a:fillRect/>
          </a:stretch>
        </p:blipFill>
        <p:spPr bwMode="auto">
          <a:xfrm>
            <a:off x="7307263" y="2459038"/>
            <a:ext cx="1512887" cy="3562350"/>
          </a:xfrm>
          <a:prstGeom prst="rect">
            <a:avLst/>
          </a:prstGeom>
          <a:noFill/>
          <a:ln w="9525">
            <a:noFill/>
            <a:miter lim="800000"/>
            <a:headEnd/>
            <a:tailEnd/>
          </a:ln>
        </p:spPr>
      </p:pic>
      <p:pic>
        <p:nvPicPr>
          <p:cNvPr id="6" name="Picture 8" descr="pousse seringue"/>
          <p:cNvPicPr>
            <a:picLocks noChangeAspect="1" noChangeArrowheads="1"/>
          </p:cNvPicPr>
          <p:nvPr/>
        </p:nvPicPr>
        <p:blipFill>
          <a:blip r:embed="rId4"/>
          <a:srcRect/>
          <a:stretch>
            <a:fillRect/>
          </a:stretch>
        </p:blipFill>
        <p:spPr bwMode="auto">
          <a:xfrm>
            <a:off x="4427538" y="3860800"/>
            <a:ext cx="2881312" cy="1922463"/>
          </a:xfrm>
          <a:prstGeom prst="rect">
            <a:avLst/>
          </a:prstGeom>
          <a:noFill/>
          <a:ln w="9525">
            <a:noFill/>
            <a:miter lim="800000"/>
            <a:headEnd/>
            <a:tailEnd/>
          </a:ln>
        </p:spPr>
      </p:pic>
      <p:pic>
        <p:nvPicPr>
          <p:cNvPr id="7" name="Picture 10" descr="IVD"/>
          <p:cNvPicPr>
            <a:picLocks noChangeAspect="1" noChangeArrowheads="1"/>
          </p:cNvPicPr>
          <p:nvPr/>
        </p:nvPicPr>
        <p:blipFill>
          <a:blip r:embed="rId5"/>
          <a:srcRect/>
          <a:stretch>
            <a:fillRect/>
          </a:stretch>
        </p:blipFill>
        <p:spPr bwMode="auto">
          <a:xfrm>
            <a:off x="395288" y="3141663"/>
            <a:ext cx="1944687" cy="1930400"/>
          </a:xfrm>
          <a:prstGeom prst="rect">
            <a:avLst/>
          </a:prstGeom>
          <a:noFill/>
          <a:ln w="9525">
            <a:noFill/>
            <a:miter lim="800000"/>
            <a:headEnd/>
            <a:tailEnd/>
          </a:ln>
        </p:spPr>
      </p:pic>
      <p:pic>
        <p:nvPicPr>
          <p:cNvPr id="8" name="Picture 11" descr="seringue"/>
          <p:cNvPicPr>
            <a:picLocks noChangeAspect="1" noChangeArrowheads="1"/>
          </p:cNvPicPr>
          <p:nvPr/>
        </p:nvPicPr>
        <p:blipFill>
          <a:blip r:embed="rId6"/>
          <a:srcRect b="28583"/>
          <a:stretch>
            <a:fillRect/>
          </a:stretch>
        </p:blipFill>
        <p:spPr bwMode="auto">
          <a:xfrm>
            <a:off x="3275013" y="1916113"/>
            <a:ext cx="2809875" cy="1504950"/>
          </a:xfrm>
          <a:prstGeom prst="rect">
            <a:avLst/>
          </a:prstGeom>
          <a:noFill/>
          <a:ln w="9525">
            <a:noFill/>
            <a:miter lim="800000"/>
            <a:headEnd/>
            <a:tailEnd/>
          </a:ln>
        </p:spPr>
      </p:pic>
      <p:sp>
        <p:nvSpPr>
          <p:cNvPr id="9" name="Text Box 13"/>
          <p:cNvSpPr txBox="1">
            <a:spLocks noChangeArrowheads="1"/>
          </p:cNvSpPr>
          <p:nvPr/>
        </p:nvSpPr>
        <p:spPr bwMode="auto">
          <a:xfrm>
            <a:off x="395288" y="2060575"/>
            <a:ext cx="2160587" cy="457200"/>
          </a:xfrm>
          <a:prstGeom prst="rect">
            <a:avLst/>
          </a:prstGeom>
          <a:noFill/>
          <a:ln w="9525">
            <a:noFill/>
            <a:miter lim="800000"/>
            <a:headEnd/>
            <a:tailEnd/>
          </a:ln>
        </p:spPr>
        <p:txBody>
          <a:bodyPr>
            <a:spAutoFit/>
          </a:bodyPr>
          <a:lstStyle/>
          <a:p>
            <a:pPr>
              <a:spcBef>
                <a:spcPct val="50000"/>
              </a:spcBef>
            </a:pPr>
            <a:r>
              <a:rPr lang="fr-FR" sz="2400" b="1"/>
              <a:t>Intraveineuse</a:t>
            </a:r>
          </a:p>
        </p:txBody>
      </p:sp>
      <p:sp>
        <p:nvSpPr>
          <p:cNvPr id="10" name="Text Box 14"/>
          <p:cNvSpPr txBox="1">
            <a:spLocks noChangeArrowheads="1"/>
          </p:cNvSpPr>
          <p:nvPr/>
        </p:nvSpPr>
        <p:spPr bwMode="auto">
          <a:xfrm>
            <a:off x="2484438" y="3429000"/>
            <a:ext cx="4824412" cy="366713"/>
          </a:xfrm>
          <a:prstGeom prst="rect">
            <a:avLst/>
          </a:prstGeom>
          <a:noFill/>
          <a:ln w="9525">
            <a:noFill/>
            <a:miter lim="800000"/>
            <a:headEnd/>
            <a:tailEnd/>
          </a:ln>
        </p:spPr>
        <p:txBody>
          <a:bodyPr>
            <a:spAutoFit/>
          </a:bodyPr>
          <a:lstStyle/>
          <a:p>
            <a:pPr>
              <a:spcBef>
                <a:spcPct val="50000"/>
              </a:spcBef>
            </a:pPr>
            <a:r>
              <a:rPr lang="fr-FR"/>
              <a:t>Seringue + aiguille (cathéter court souvent)</a:t>
            </a:r>
          </a:p>
        </p:txBody>
      </p:sp>
      <p:sp>
        <p:nvSpPr>
          <p:cNvPr id="11" name="Text Box 15"/>
          <p:cNvSpPr txBox="1">
            <a:spLocks noChangeArrowheads="1"/>
          </p:cNvSpPr>
          <p:nvPr/>
        </p:nvSpPr>
        <p:spPr bwMode="auto">
          <a:xfrm>
            <a:off x="2628900" y="5805488"/>
            <a:ext cx="1366838" cy="366712"/>
          </a:xfrm>
          <a:prstGeom prst="rect">
            <a:avLst/>
          </a:prstGeom>
          <a:noFill/>
          <a:ln w="9525">
            <a:noFill/>
            <a:miter lim="800000"/>
            <a:headEnd/>
            <a:tailEnd/>
          </a:ln>
        </p:spPr>
        <p:txBody>
          <a:bodyPr>
            <a:spAutoFit/>
          </a:bodyPr>
          <a:lstStyle/>
          <a:p>
            <a:pPr>
              <a:spcBef>
                <a:spcPct val="50000"/>
              </a:spcBef>
            </a:pPr>
            <a:r>
              <a:rPr lang="fr-FR"/>
              <a:t>Diffuseurs</a:t>
            </a:r>
          </a:p>
        </p:txBody>
      </p:sp>
      <p:sp>
        <p:nvSpPr>
          <p:cNvPr id="12" name="Text Box 16"/>
          <p:cNvSpPr txBox="1">
            <a:spLocks noChangeArrowheads="1"/>
          </p:cNvSpPr>
          <p:nvPr/>
        </p:nvSpPr>
        <p:spPr bwMode="auto">
          <a:xfrm>
            <a:off x="4860925" y="5870575"/>
            <a:ext cx="2016125" cy="366713"/>
          </a:xfrm>
          <a:prstGeom prst="rect">
            <a:avLst/>
          </a:prstGeom>
          <a:noFill/>
          <a:ln w="9525">
            <a:noFill/>
            <a:miter lim="800000"/>
            <a:headEnd/>
            <a:tailEnd/>
          </a:ln>
        </p:spPr>
        <p:txBody>
          <a:bodyPr>
            <a:spAutoFit/>
          </a:bodyPr>
          <a:lstStyle/>
          <a:p>
            <a:pPr>
              <a:spcBef>
                <a:spcPct val="50000"/>
              </a:spcBef>
            </a:pPr>
            <a:r>
              <a:rPr lang="fr-FR"/>
              <a:t>Pousse seringue</a:t>
            </a:r>
          </a:p>
        </p:txBody>
      </p:sp>
      <p:sp>
        <p:nvSpPr>
          <p:cNvPr id="13" name="Text Box 17"/>
          <p:cNvSpPr txBox="1">
            <a:spLocks noChangeArrowheads="1"/>
          </p:cNvSpPr>
          <p:nvPr/>
        </p:nvSpPr>
        <p:spPr bwMode="auto">
          <a:xfrm>
            <a:off x="7380288" y="2133600"/>
            <a:ext cx="1439862" cy="366713"/>
          </a:xfrm>
          <a:prstGeom prst="rect">
            <a:avLst/>
          </a:prstGeom>
          <a:noFill/>
          <a:ln w="9525">
            <a:noFill/>
            <a:miter lim="800000"/>
            <a:headEnd/>
            <a:tailEnd/>
          </a:ln>
        </p:spPr>
        <p:txBody>
          <a:bodyPr>
            <a:spAutoFit/>
          </a:bodyPr>
          <a:lstStyle/>
          <a:p>
            <a:pPr>
              <a:spcBef>
                <a:spcPct val="50000"/>
              </a:spcBef>
            </a:pPr>
            <a:r>
              <a:rPr lang="fr-FR"/>
              <a:t>Perfusion</a:t>
            </a:r>
          </a:p>
        </p:txBody>
      </p:sp>
      <p:sp>
        <p:nvSpPr>
          <p:cNvPr id="14" name="Titre 1"/>
          <p:cNvSpPr txBox="1">
            <a:spLocks/>
          </p:cNvSpPr>
          <p:nvPr/>
        </p:nvSpPr>
        <p:spPr>
          <a:xfrm>
            <a:off x="395536" y="188640"/>
            <a:ext cx="8229600" cy="1382972"/>
          </a:xfrm>
          <a:prstGeom prst="rect">
            <a:avLst/>
          </a:prstGeom>
        </p:spPr>
        <p:style>
          <a:lnRef idx="3">
            <a:schemeClr val="lt1"/>
          </a:lnRef>
          <a:fillRef idx="1">
            <a:schemeClr val="accent2"/>
          </a:fillRef>
          <a:effectRef idx="1">
            <a:schemeClr val="accent2"/>
          </a:effectRef>
          <a:fontRef idx="minor">
            <a:schemeClr val="lt1"/>
          </a:fontRef>
        </p:style>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4000" b="1" i="0" u="none" strike="noStrike" kern="1200" cap="none" spc="0" normalizeH="0" baseline="0" noProof="0" dirty="0" smtClean="0">
                <a:ln>
                  <a:noFill/>
                </a:ln>
                <a:solidFill>
                  <a:schemeClr val="lt1"/>
                </a:solidFill>
                <a:effectLst/>
                <a:uLnTx/>
                <a:uFillTx/>
                <a:latin typeface="+mn-lt"/>
                <a:ea typeface="+mn-ea"/>
                <a:cs typeface="+mn-cs"/>
              </a:rPr>
              <a:t>Administration par voie parentérale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2"/>
          <a:srcRect/>
          <a:stretch>
            <a:fillRect/>
          </a:stretch>
        </p:blipFill>
        <p:spPr bwMode="auto">
          <a:xfrm>
            <a:off x="2071670" y="1285860"/>
            <a:ext cx="2476500" cy="3619500"/>
          </a:xfrm>
          <a:prstGeom prst="rect">
            <a:avLst/>
          </a:prstGeom>
          <a:noFill/>
          <a:ln w="9525">
            <a:noFill/>
            <a:miter lim="800000"/>
            <a:headEnd/>
            <a:tailEnd/>
          </a:ln>
          <a:effectLst/>
        </p:spPr>
      </p:pic>
      <p:sp>
        <p:nvSpPr>
          <p:cNvPr id="2" name="Espace réservé du pied de page 1"/>
          <p:cNvSpPr>
            <a:spLocks noGrp="1"/>
          </p:cNvSpPr>
          <p:nvPr>
            <p:ph type="ftr" sz="quarter" idx="11"/>
          </p:nvPr>
        </p:nvSpPr>
        <p:spPr/>
        <p:txBody>
          <a:bodyPr/>
          <a:lstStyle/>
          <a:p>
            <a:endParaRPr lang="fr-FR"/>
          </a:p>
        </p:txBody>
      </p:sp>
      <p:sp>
        <p:nvSpPr>
          <p:cNvPr id="3" name="Espace réservé du numéro de diapositive 2"/>
          <p:cNvSpPr>
            <a:spLocks noGrp="1"/>
          </p:cNvSpPr>
          <p:nvPr>
            <p:ph type="sldNum" sz="quarter" idx="12"/>
          </p:nvPr>
        </p:nvSpPr>
        <p:spPr/>
        <p:txBody>
          <a:bodyPr/>
          <a:lstStyle/>
          <a:p>
            <a:fld id="{A7C9A1F7-440B-49A3-BFDF-704999814E67}" type="slidenum">
              <a:rPr lang="fr-FR" smtClean="0"/>
              <a:pPr/>
              <a:t>15</a:t>
            </a:fld>
            <a:endParaRPr lang="fr-FR"/>
          </a:p>
        </p:txBody>
      </p:sp>
      <p:pic>
        <p:nvPicPr>
          <p:cNvPr id="4" name="Picture 7" descr="IM"/>
          <p:cNvPicPr>
            <a:picLocks noChangeAspect="1" noChangeArrowheads="1"/>
          </p:cNvPicPr>
          <p:nvPr/>
        </p:nvPicPr>
        <p:blipFill>
          <a:blip r:embed="rId3"/>
          <a:srcRect l="17639" r="16833"/>
          <a:stretch>
            <a:fillRect/>
          </a:stretch>
        </p:blipFill>
        <p:spPr bwMode="auto">
          <a:xfrm>
            <a:off x="4286248" y="1071546"/>
            <a:ext cx="2473323" cy="2665412"/>
          </a:xfrm>
          <a:prstGeom prst="rect">
            <a:avLst/>
          </a:prstGeom>
          <a:noFill/>
          <a:ln w="9525">
            <a:noFill/>
            <a:miter lim="800000"/>
            <a:headEnd/>
            <a:tailEnd/>
          </a:ln>
        </p:spPr>
      </p:pic>
      <p:pic>
        <p:nvPicPr>
          <p:cNvPr id="6" name="Picture 14" descr="SC"/>
          <p:cNvPicPr>
            <a:picLocks noChangeAspect="1" noChangeArrowheads="1"/>
          </p:cNvPicPr>
          <p:nvPr/>
        </p:nvPicPr>
        <p:blipFill>
          <a:blip r:embed="rId4"/>
          <a:srcRect l="17639" r="18083"/>
          <a:stretch>
            <a:fillRect/>
          </a:stretch>
        </p:blipFill>
        <p:spPr bwMode="auto">
          <a:xfrm>
            <a:off x="1" y="1357298"/>
            <a:ext cx="2143108" cy="2214578"/>
          </a:xfrm>
          <a:prstGeom prst="rect">
            <a:avLst/>
          </a:prstGeom>
          <a:noFill/>
          <a:ln w="9525">
            <a:noFill/>
            <a:miter lim="800000"/>
            <a:headEnd/>
            <a:tailEnd/>
          </a:ln>
        </p:spPr>
      </p:pic>
      <p:sp>
        <p:nvSpPr>
          <p:cNvPr id="7" name="Text Box 15"/>
          <p:cNvSpPr txBox="1">
            <a:spLocks noChangeArrowheads="1"/>
          </p:cNvSpPr>
          <p:nvPr/>
        </p:nvSpPr>
        <p:spPr bwMode="auto">
          <a:xfrm>
            <a:off x="642910" y="857232"/>
            <a:ext cx="7993063" cy="461665"/>
          </a:xfrm>
          <a:prstGeom prst="rect">
            <a:avLst/>
          </a:prstGeom>
          <a:noFill/>
          <a:ln w="9525">
            <a:noFill/>
            <a:miter lim="800000"/>
            <a:headEnd/>
            <a:tailEnd/>
          </a:ln>
        </p:spPr>
        <p:txBody>
          <a:bodyPr>
            <a:spAutoFit/>
          </a:bodyPr>
          <a:lstStyle/>
          <a:p>
            <a:pPr>
              <a:spcBef>
                <a:spcPct val="50000"/>
              </a:spcBef>
            </a:pPr>
            <a:r>
              <a:rPr lang="fr-FR" sz="2400" b="1" dirty="0" smtClean="0">
                <a:solidFill>
                  <a:srgbClr val="FF0000"/>
                </a:solidFill>
              </a:rPr>
              <a:t>Sous cutané                             Intramusculaire</a:t>
            </a:r>
            <a:endParaRPr lang="fr-FR" sz="2400" b="1" dirty="0">
              <a:solidFill>
                <a:srgbClr val="FF0000"/>
              </a:solidFill>
            </a:endParaRPr>
          </a:p>
        </p:txBody>
      </p:sp>
      <p:sp>
        <p:nvSpPr>
          <p:cNvPr id="8" name="Titre 1"/>
          <p:cNvSpPr txBox="1">
            <a:spLocks/>
          </p:cNvSpPr>
          <p:nvPr/>
        </p:nvSpPr>
        <p:spPr>
          <a:xfrm>
            <a:off x="395536" y="0"/>
            <a:ext cx="8229600" cy="928670"/>
          </a:xfrm>
          <a:prstGeom prst="rect">
            <a:avLst/>
          </a:prstGeom>
        </p:spPr>
        <p:style>
          <a:lnRef idx="3">
            <a:schemeClr val="lt1"/>
          </a:lnRef>
          <a:fillRef idx="1">
            <a:schemeClr val="accent2"/>
          </a:fillRef>
          <a:effectRef idx="1">
            <a:schemeClr val="accent2"/>
          </a:effectRef>
          <a:fontRef idx="minor">
            <a:schemeClr val="lt1"/>
          </a:fontRef>
        </p:style>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3600" b="1" i="0" u="none" strike="noStrike" kern="1200" cap="none" spc="0" normalizeH="0" baseline="0" noProof="0" dirty="0" smtClean="0">
                <a:ln>
                  <a:noFill/>
                </a:ln>
                <a:solidFill>
                  <a:schemeClr val="lt1"/>
                </a:solidFill>
                <a:effectLst/>
                <a:uLnTx/>
                <a:uFillTx/>
                <a:latin typeface="+mn-lt"/>
                <a:ea typeface="+mn-ea"/>
                <a:cs typeface="+mn-cs"/>
              </a:rPr>
              <a:t>Administration par voie parentérale </a:t>
            </a:r>
          </a:p>
        </p:txBody>
      </p:sp>
      <p:sp>
        <p:nvSpPr>
          <p:cNvPr id="9" name="Rectangle 8"/>
          <p:cNvSpPr/>
          <p:nvPr/>
        </p:nvSpPr>
        <p:spPr>
          <a:xfrm>
            <a:off x="4714876" y="4214818"/>
            <a:ext cx="4000496" cy="2308324"/>
          </a:xfrm>
          <a:prstGeom prst="rect">
            <a:avLst/>
          </a:prstGeom>
        </p:spPr>
        <p:txBody>
          <a:bodyPr wrap="square">
            <a:spAutoFit/>
          </a:bodyPr>
          <a:lstStyle/>
          <a:p>
            <a:pPr>
              <a:buFont typeface="Arial" pitchFamily="34" charset="0"/>
              <a:buChar char="•"/>
            </a:pPr>
            <a:r>
              <a:rPr lang="fr-FR" i="1" dirty="0" smtClean="0"/>
              <a:t>volumes plus importants de médicaments. </a:t>
            </a:r>
          </a:p>
          <a:p>
            <a:pPr algn="just">
              <a:buFont typeface="Arial" pitchFamily="34" charset="0"/>
              <a:buChar char="•"/>
            </a:pPr>
            <a:r>
              <a:rPr lang="fr-FR" i="1" dirty="0" smtClean="0"/>
              <a:t>aiguille plus longue pour atteindre les muscles situés sous la peau et la graisse.</a:t>
            </a:r>
          </a:p>
          <a:p>
            <a:pPr>
              <a:buFont typeface="Arial" pitchFamily="34" charset="0"/>
              <a:buChar char="•"/>
            </a:pPr>
            <a:r>
              <a:rPr lang="fr-FR" i="1" dirty="0" smtClean="0"/>
              <a:t>V d’absorption </a:t>
            </a:r>
            <a:r>
              <a:rPr lang="fr-FR" i="1" dirty="0" err="1" smtClean="0"/>
              <a:t>dep</a:t>
            </a:r>
            <a:r>
              <a:rPr lang="fr-FR" i="1" dirty="0" smtClean="0"/>
              <a:t> du débit sanguin au niveau du muscle ( fesse ou intérieur cuisse)</a:t>
            </a:r>
          </a:p>
          <a:p>
            <a:pPr>
              <a:buFont typeface="Arial" pitchFamily="34" charset="0"/>
              <a:buChar char="•"/>
            </a:pPr>
            <a:r>
              <a:rPr lang="fr-FR" i="1" dirty="0" smtClean="0"/>
              <a:t>Exclu si traitement anticoagulant </a:t>
            </a:r>
          </a:p>
          <a:p>
            <a:pPr>
              <a:buFont typeface="Arial" pitchFamily="34" charset="0"/>
              <a:buChar char="•"/>
            </a:pPr>
            <a:endParaRPr lang="fr-FR" i="1" dirty="0" smtClean="0"/>
          </a:p>
          <a:p>
            <a:pPr>
              <a:buFont typeface="Arial" pitchFamily="34" charset="0"/>
              <a:buChar char="•"/>
            </a:pPr>
            <a:endParaRPr lang="fr-FR" dirty="0"/>
          </a:p>
        </p:txBody>
      </p:sp>
      <p:pic>
        <p:nvPicPr>
          <p:cNvPr id="2051" name="Picture 3"/>
          <p:cNvPicPr>
            <a:picLocks noChangeAspect="1" noChangeArrowheads="1"/>
          </p:cNvPicPr>
          <p:nvPr/>
        </p:nvPicPr>
        <p:blipFill>
          <a:blip r:embed="rId5"/>
          <a:srcRect/>
          <a:stretch>
            <a:fillRect/>
          </a:stretch>
        </p:blipFill>
        <p:spPr bwMode="auto">
          <a:xfrm>
            <a:off x="6715141" y="1500173"/>
            <a:ext cx="2428860" cy="2214579"/>
          </a:xfrm>
          <a:prstGeom prst="rect">
            <a:avLst/>
          </a:prstGeom>
          <a:noFill/>
          <a:ln w="9525">
            <a:noFill/>
            <a:miter lim="800000"/>
            <a:headEnd/>
            <a:tailEnd/>
          </a:ln>
          <a:effectLst/>
        </p:spPr>
      </p:pic>
      <p:sp>
        <p:nvSpPr>
          <p:cNvPr id="13" name="Rectangle 12"/>
          <p:cNvSpPr/>
          <p:nvPr/>
        </p:nvSpPr>
        <p:spPr>
          <a:xfrm>
            <a:off x="0" y="4286256"/>
            <a:ext cx="4572000" cy="2086725"/>
          </a:xfrm>
          <a:prstGeom prst="rect">
            <a:avLst/>
          </a:prstGeom>
        </p:spPr>
        <p:txBody>
          <a:bodyPr>
            <a:spAutoFit/>
          </a:bodyPr>
          <a:lstStyle/>
          <a:p>
            <a:pPr>
              <a:lnSpc>
                <a:spcPct val="80000"/>
              </a:lnSpc>
              <a:buClr>
                <a:srgbClr val="FF00FF"/>
              </a:buClr>
            </a:pPr>
            <a:r>
              <a:rPr lang="fr-FR" b="1" dirty="0" smtClean="0">
                <a:solidFill>
                  <a:srgbClr val="FF0000"/>
                </a:solidFill>
              </a:rPr>
              <a:t>Avantages communs </a:t>
            </a:r>
          </a:p>
          <a:p>
            <a:pPr>
              <a:lnSpc>
                <a:spcPct val="80000"/>
              </a:lnSpc>
              <a:buClr>
                <a:srgbClr val="FF00FF"/>
              </a:buClr>
              <a:buFont typeface="Wingdings" pitchFamily="2" charset="2"/>
              <a:buChar char="q"/>
            </a:pPr>
            <a:r>
              <a:rPr lang="fr-FR" dirty="0" smtClean="0"/>
              <a:t>Possibilité d’administration de solutions   huileuses </a:t>
            </a:r>
          </a:p>
          <a:p>
            <a:pPr>
              <a:lnSpc>
                <a:spcPct val="80000"/>
              </a:lnSpc>
              <a:buClr>
                <a:srgbClr val="FF00FF"/>
              </a:buClr>
              <a:buFont typeface="Wingdings" pitchFamily="2" charset="2"/>
              <a:buChar char="q"/>
            </a:pPr>
            <a:r>
              <a:rPr lang="fr-FR" dirty="0" smtClean="0"/>
              <a:t>Effets retards</a:t>
            </a:r>
          </a:p>
          <a:p>
            <a:pPr>
              <a:lnSpc>
                <a:spcPct val="80000"/>
              </a:lnSpc>
            </a:pPr>
            <a:r>
              <a:rPr lang="fr-FR" dirty="0" smtClean="0"/>
              <a:t>     S/C : implants  </a:t>
            </a:r>
          </a:p>
          <a:p>
            <a:pPr>
              <a:lnSpc>
                <a:spcPct val="80000"/>
              </a:lnSpc>
            </a:pPr>
            <a:r>
              <a:rPr lang="fr-FR" dirty="0" smtClean="0"/>
              <a:t>      IM:  préparations retards (ATB)</a:t>
            </a:r>
          </a:p>
          <a:p>
            <a:pPr>
              <a:lnSpc>
                <a:spcPct val="80000"/>
              </a:lnSpc>
              <a:buFont typeface="Wingdings" pitchFamily="2" charset="2"/>
              <a:buChar char="q"/>
            </a:pPr>
            <a:endParaRPr lang="fr-FR" dirty="0" smtClean="0"/>
          </a:p>
          <a:p>
            <a:pPr>
              <a:lnSpc>
                <a:spcPct val="80000"/>
              </a:lnSpc>
              <a:buClr>
                <a:srgbClr val="FF00FF"/>
              </a:buClr>
              <a:buFont typeface="Wingdings" pitchFamily="2" charset="2"/>
              <a:buChar char="q"/>
            </a:pPr>
            <a:r>
              <a:rPr lang="fr-FR" dirty="0" smtClean="0"/>
              <a:t>N’abîme pas le capital veineux</a:t>
            </a:r>
          </a:p>
          <a:p>
            <a:pPr>
              <a:lnSpc>
                <a:spcPct val="80000"/>
              </a:lnSpc>
            </a:pPr>
            <a:endParaRPr lang="fr-FR"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2"/>
          <a:srcRect/>
          <a:stretch>
            <a:fillRect/>
          </a:stretch>
        </p:blipFill>
        <p:spPr bwMode="auto">
          <a:xfrm>
            <a:off x="2071670" y="1285860"/>
            <a:ext cx="2476500" cy="3619500"/>
          </a:xfrm>
          <a:prstGeom prst="rect">
            <a:avLst/>
          </a:prstGeom>
          <a:noFill/>
          <a:ln w="9525">
            <a:noFill/>
            <a:miter lim="800000"/>
            <a:headEnd/>
            <a:tailEnd/>
          </a:ln>
          <a:effectLst/>
        </p:spPr>
      </p:pic>
      <p:sp>
        <p:nvSpPr>
          <p:cNvPr id="2" name="Espace réservé du pied de page 1"/>
          <p:cNvSpPr>
            <a:spLocks noGrp="1"/>
          </p:cNvSpPr>
          <p:nvPr>
            <p:ph type="ftr" sz="quarter" idx="11"/>
          </p:nvPr>
        </p:nvSpPr>
        <p:spPr/>
        <p:txBody>
          <a:bodyPr/>
          <a:lstStyle/>
          <a:p>
            <a:endParaRPr lang="fr-FR"/>
          </a:p>
        </p:txBody>
      </p:sp>
      <p:sp>
        <p:nvSpPr>
          <p:cNvPr id="3" name="Espace réservé du numéro de diapositive 2"/>
          <p:cNvSpPr>
            <a:spLocks noGrp="1"/>
          </p:cNvSpPr>
          <p:nvPr>
            <p:ph type="sldNum" sz="quarter" idx="12"/>
          </p:nvPr>
        </p:nvSpPr>
        <p:spPr/>
        <p:txBody>
          <a:bodyPr/>
          <a:lstStyle/>
          <a:p>
            <a:fld id="{A7C9A1F7-440B-49A3-BFDF-704999814E67}" type="slidenum">
              <a:rPr lang="fr-FR" smtClean="0"/>
              <a:pPr/>
              <a:t>16</a:t>
            </a:fld>
            <a:endParaRPr lang="fr-FR"/>
          </a:p>
        </p:txBody>
      </p:sp>
      <p:sp>
        <p:nvSpPr>
          <p:cNvPr id="8" name="Titre 1"/>
          <p:cNvSpPr txBox="1">
            <a:spLocks/>
          </p:cNvSpPr>
          <p:nvPr/>
        </p:nvSpPr>
        <p:spPr>
          <a:xfrm>
            <a:off x="395536" y="0"/>
            <a:ext cx="8229600" cy="928670"/>
          </a:xfrm>
          <a:prstGeom prst="rect">
            <a:avLst/>
          </a:prstGeom>
        </p:spPr>
        <p:style>
          <a:lnRef idx="3">
            <a:schemeClr val="lt1"/>
          </a:lnRef>
          <a:fillRef idx="1">
            <a:schemeClr val="accent2"/>
          </a:fillRef>
          <a:effectRef idx="1">
            <a:schemeClr val="accent2"/>
          </a:effectRef>
          <a:fontRef idx="minor">
            <a:schemeClr val="lt1"/>
          </a:fontRef>
        </p:style>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3600" b="1" i="0" u="none" strike="noStrike" kern="1200" cap="none" spc="0" normalizeH="0" baseline="0" noProof="0" dirty="0" smtClean="0">
                <a:ln>
                  <a:noFill/>
                </a:ln>
                <a:solidFill>
                  <a:schemeClr val="lt1"/>
                </a:solidFill>
                <a:effectLst/>
                <a:uLnTx/>
                <a:uFillTx/>
                <a:latin typeface="+mn-lt"/>
                <a:ea typeface="+mn-ea"/>
                <a:cs typeface="+mn-cs"/>
              </a:rPr>
              <a:t>Administration par voie parentérale </a:t>
            </a:r>
          </a:p>
        </p:txBody>
      </p:sp>
      <p:pic>
        <p:nvPicPr>
          <p:cNvPr id="12" name="Picture 2"/>
          <p:cNvPicPr>
            <a:picLocks noChangeAspect="1" noChangeArrowheads="1"/>
          </p:cNvPicPr>
          <p:nvPr/>
        </p:nvPicPr>
        <p:blipFill>
          <a:blip r:embed="rId3"/>
          <a:srcRect/>
          <a:stretch>
            <a:fillRect/>
          </a:stretch>
        </p:blipFill>
        <p:spPr bwMode="auto">
          <a:xfrm>
            <a:off x="1285852" y="1428736"/>
            <a:ext cx="6572296" cy="464347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endParaRPr lang="fr-FR"/>
          </a:p>
        </p:txBody>
      </p:sp>
      <p:sp>
        <p:nvSpPr>
          <p:cNvPr id="3" name="Espace réservé du numéro de diapositive 2"/>
          <p:cNvSpPr>
            <a:spLocks noGrp="1"/>
          </p:cNvSpPr>
          <p:nvPr>
            <p:ph type="sldNum" sz="quarter" idx="12"/>
          </p:nvPr>
        </p:nvSpPr>
        <p:spPr/>
        <p:txBody>
          <a:bodyPr/>
          <a:lstStyle/>
          <a:p>
            <a:fld id="{A7C9A1F7-440B-49A3-BFDF-704999814E67}" type="slidenum">
              <a:rPr lang="fr-FR" smtClean="0"/>
              <a:pPr/>
              <a:t>17</a:t>
            </a:fld>
            <a:endParaRPr lang="fr-FR"/>
          </a:p>
        </p:txBody>
      </p:sp>
      <p:sp>
        <p:nvSpPr>
          <p:cNvPr id="4" name="Titre 1"/>
          <p:cNvSpPr txBox="1">
            <a:spLocks/>
          </p:cNvSpPr>
          <p:nvPr/>
        </p:nvSpPr>
        <p:spPr>
          <a:xfrm>
            <a:off x="395536" y="188640"/>
            <a:ext cx="8229600" cy="1168658"/>
          </a:xfrm>
          <a:prstGeom prst="rect">
            <a:avLst/>
          </a:prstGeom>
        </p:spPr>
        <p:style>
          <a:lnRef idx="3">
            <a:schemeClr val="lt1"/>
          </a:lnRef>
          <a:fillRef idx="1">
            <a:schemeClr val="accent2"/>
          </a:fillRef>
          <a:effectRef idx="1">
            <a:schemeClr val="accent2"/>
          </a:effectRef>
          <a:fontRef idx="minor">
            <a:schemeClr val="lt1"/>
          </a:fontRef>
        </p:style>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3600" b="1" i="0" u="none" strike="noStrike" kern="1200" cap="none" spc="0" normalizeH="0" baseline="0" noProof="0" dirty="0" smtClean="0">
                <a:ln>
                  <a:noFill/>
                </a:ln>
                <a:solidFill>
                  <a:schemeClr val="lt1"/>
                </a:solidFill>
                <a:effectLst/>
                <a:uLnTx/>
                <a:uFillTx/>
                <a:latin typeface="+mn-lt"/>
                <a:ea typeface="+mn-ea"/>
                <a:cs typeface="+mn-cs"/>
              </a:rPr>
              <a:t>Formes</a:t>
            </a:r>
            <a:r>
              <a:rPr kumimoji="0" lang="fr-FR" sz="3600" b="1" i="0" u="none" strike="noStrike" kern="1200" cap="none" spc="0" normalizeH="0" noProof="0" dirty="0" smtClean="0">
                <a:ln>
                  <a:noFill/>
                </a:ln>
                <a:solidFill>
                  <a:schemeClr val="lt1"/>
                </a:solidFill>
                <a:effectLst/>
                <a:uLnTx/>
                <a:uFillTx/>
                <a:latin typeface="+mn-lt"/>
                <a:ea typeface="+mn-ea"/>
                <a:cs typeface="+mn-cs"/>
              </a:rPr>
              <a:t> administrées </a:t>
            </a:r>
            <a:r>
              <a:rPr kumimoji="0" lang="fr-FR" sz="3600" b="1" i="0" u="none" strike="noStrike" kern="1200" cap="none" spc="0" normalizeH="0" baseline="0" noProof="0" dirty="0" smtClean="0">
                <a:ln>
                  <a:noFill/>
                </a:ln>
                <a:solidFill>
                  <a:schemeClr val="lt1"/>
                </a:solidFill>
                <a:effectLst/>
                <a:uLnTx/>
                <a:uFillTx/>
                <a:latin typeface="+mn-lt"/>
                <a:ea typeface="+mn-ea"/>
                <a:cs typeface="+mn-cs"/>
              </a:rPr>
              <a:t>par voie parentérale </a:t>
            </a:r>
          </a:p>
        </p:txBody>
      </p:sp>
      <p:sp>
        <p:nvSpPr>
          <p:cNvPr id="5" name="Rectangle 4"/>
          <p:cNvSpPr/>
          <p:nvPr/>
        </p:nvSpPr>
        <p:spPr>
          <a:xfrm>
            <a:off x="714348" y="1285860"/>
            <a:ext cx="7888390" cy="461665"/>
          </a:xfrm>
          <a:prstGeom prst="rect">
            <a:avLst/>
          </a:prstGeom>
        </p:spPr>
        <p:txBody>
          <a:bodyPr wrap="square">
            <a:spAutoFit/>
          </a:bodyPr>
          <a:lstStyle/>
          <a:p>
            <a:r>
              <a:rPr lang="fr-FR" sz="2400" b="1" dirty="0" smtClean="0">
                <a:solidFill>
                  <a:schemeClr val="tx2"/>
                </a:solidFill>
              </a:rPr>
              <a:t>Caractéristiques des formes galéniques injectables: </a:t>
            </a:r>
            <a:endParaRPr lang="fr-FR" sz="2400" b="1" dirty="0">
              <a:solidFill>
                <a:schemeClr val="tx2"/>
              </a:solidFill>
            </a:endParaRPr>
          </a:p>
        </p:txBody>
      </p:sp>
      <p:sp>
        <p:nvSpPr>
          <p:cNvPr id="6" name="Rectangle 5"/>
          <p:cNvSpPr/>
          <p:nvPr/>
        </p:nvSpPr>
        <p:spPr>
          <a:xfrm>
            <a:off x="251520" y="1628800"/>
            <a:ext cx="8640960" cy="4413516"/>
          </a:xfrm>
          <a:prstGeom prst="rect">
            <a:avLst/>
          </a:prstGeom>
        </p:spPr>
        <p:txBody>
          <a:bodyPr wrap="square">
            <a:spAutoFit/>
          </a:bodyPr>
          <a:lstStyle/>
          <a:p>
            <a:pPr>
              <a:lnSpc>
                <a:spcPct val="90000"/>
              </a:lnSpc>
            </a:pPr>
            <a:r>
              <a:rPr lang="fr-FR" sz="2400" dirty="0" smtClean="0"/>
              <a:t>-Stérilité; absence de germes</a:t>
            </a:r>
          </a:p>
          <a:p>
            <a:pPr>
              <a:lnSpc>
                <a:spcPct val="90000"/>
              </a:lnSpc>
            </a:pPr>
            <a:endParaRPr lang="fr-FR" sz="2400" dirty="0" smtClean="0"/>
          </a:p>
          <a:p>
            <a:pPr>
              <a:lnSpc>
                <a:spcPct val="90000"/>
              </a:lnSpc>
            </a:pPr>
            <a:r>
              <a:rPr lang="fr-FR" sz="2400" dirty="0" smtClean="0"/>
              <a:t>-Absences de substances pyrogènes (substances pouvant provoquer des poussées fébriles) :</a:t>
            </a:r>
            <a:r>
              <a:rPr lang="fr-FR" sz="2400" dirty="0" smtClean="0">
                <a:solidFill>
                  <a:srgbClr val="FF0000"/>
                </a:solidFill>
              </a:rPr>
              <a:t> apyrogènes </a:t>
            </a:r>
          </a:p>
          <a:p>
            <a:pPr>
              <a:lnSpc>
                <a:spcPct val="90000"/>
              </a:lnSpc>
            </a:pPr>
            <a:endParaRPr lang="fr-FR" sz="2400" dirty="0" smtClean="0"/>
          </a:p>
          <a:p>
            <a:pPr>
              <a:lnSpc>
                <a:spcPct val="90000"/>
              </a:lnSpc>
            </a:pPr>
            <a:r>
              <a:rPr lang="fr-FR" sz="2400" dirty="0" smtClean="0"/>
              <a:t>-Limpidité: absence de particules en suspension (sauf pour certaines émulsions ou suspensions);</a:t>
            </a:r>
          </a:p>
          <a:p>
            <a:pPr>
              <a:lnSpc>
                <a:spcPct val="90000"/>
              </a:lnSpc>
            </a:pPr>
            <a:endParaRPr lang="fr-FR" sz="2400" dirty="0" smtClean="0"/>
          </a:p>
          <a:p>
            <a:pPr>
              <a:lnSpc>
                <a:spcPct val="90000"/>
              </a:lnSpc>
            </a:pPr>
            <a:r>
              <a:rPr lang="fr-FR" sz="2400" dirty="0" smtClean="0"/>
              <a:t>-Isotonie: pression osmotique voisine de celle du sang, afin de ne pas détruire les globules rouges. L’injection de solution hypertonique est possible pour un volume limité et en injection très lente</a:t>
            </a:r>
          </a:p>
          <a:p>
            <a:pPr>
              <a:lnSpc>
                <a:spcPct val="90000"/>
              </a:lnSpc>
            </a:pPr>
            <a:endParaRPr lang="fr-FR" sz="2400" dirty="0" smtClean="0"/>
          </a:p>
          <a:p>
            <a:pPr>
              <a:lnSpc>
                <a:spcPct val="90000"/>
              </a:lnSpc>
            </a:pPr>
            <a:r>
              <a:rPr lang="fr-FR" sz="2400" dirty="0" smtClean="0"/>
              <a:t>-Neutralité: pH voisin de celui du sang.  </a:t>
            </a:r>
            <a:endParaRPr lang="fr-FR" sz="2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endParaRPr lang="fr-FR"/>
          </a:p>
        </p:txBody>
      </p:sp>
      <p:sp>
        <p:nvSpPr>
          <p:cNvPr id="3" name="Espace réservé du numéro de diapositive 2"/>
          <p:cNvSpPr>
            <a:spLocks noGrp="1"/>
          </p:cNvSpPr>
          <p:nvPr>
            <p:ph type="sldNum" sz="quarter" idx="12"/>
          </p:nvPr>
        </p:nvSpPr>
        <p:spPr/>
        <p:txBody>
          <a:bodyPr/>
          <a:lstStyle/>
          <a:p>
            <a:fld id="{A7C9A1F7-440B-49A3-BFDF-704999814E67}" type="slidenum">
              <a:rPr lang="fr-FR" smtClean="0"/>
              <a:pPr/>
              <a:t>18</a:t>
            </a:fld>
            <a:endParaRPr lang="fr-FR"/>
          </a:p>
        </p:txBody>
      </p:sp>
      <p:sp>
        <p:nvSpPr>
          <p:cNvPr id="4" name="Titre 1"/>
          <p:cNvSpPr txBox="1">
            <a:spLocks/>
          </p:cNvSpPr>
          <p:nvPr/>
        </p:nvSpPr>
        <p:spPr>
          <a:xfrm>
            <a:off x="395536" y="188640"/>
            <a:ext cx="8229600" cy="116865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3600" b="1" i="0" u="none" strike="noStrike" kern="1200" cap="none" spc="0" normalizeH="0" baseline="0" noProof="0" dirty="0" smtClean="0">
                <a:ln>
                  <a:noFill/>
                </a:ln>
                <a:solidFill>
                  <a:schemeClr val="lt1"/>
                </a:solidFill>
                <a:effectLst/>
                <a:uLnTx/>
                <a:uFillTx/>
                <a:latin typeface="+mn-lt"/>
                <a:ea typeface="+mn-ea"/>
                <a:cs typeface="+mn-cs"/>
              </a:rPr>
              <a:t>Administration par voie </a:t>
            </a:r>
            <a:r>
              <a:rPr kumimoji="0" lang="fr-FR" sz="3600" b="1" i="0" u="none" strike="noStrike" kern="1200" cap="none" spc="0" normalizeH="0" baseline="0" noProof="0" dirty="0" err="1" smtClean="0">
                <a:ln>
                  <a:noFill/>
                </a:ln>
                <a:solidFill>
                  <a:schemeClr val="lt1"/>
                </a:solidFill>
                <a:effectLst/>
                <a:uLnTx/>
                <a:uFillTx/>
                <a:latin typeface="+mn-lt"/>
                <a:ea typeface="+mn-ea"/>
                <a:cs typeface="+mn-cs"/>
              </a:rPr>
              <a:t>transmuqueuse</a:t>
            </a:r>
            <a:endParaRPr kumimoji="0" lang="fr-FR" sz="3600" b="1" i="0" u="none" strike="noStrike" kern="1200" cap="none" spc="0" normalizeH="0" baseline="0" noProof="0" dirty="0" smtClean="0">
              <a:ln>
                <a:noFill/>
              </a:ln>
              <a:solidFill>
                <a:schemeClr val="lt1"/>
              </a:solidFill>
              <a:effectLst/>
              <a:uLnTx/>
              <a:uFillTx/>
              <a:latin typeface="+mn-lt"/>
              <a:ea typeface="+mn-ea"/>
              <a:cs typeface="+mn-cs"/>
            </a:endParaRPr>
          </a:p>
        </p:txBody>
      </p:sp>
      <p:sp>
        <p:nvSpPr>
          <p:cNvPr id="5" name="ZoneTexte 4"/>
          <p:cNvSpPr txBox="1"/>
          <p:nvPr/>
        </p:nvSpPr>
        <p:spPr>
          <a:xfrm>
            <a:off x="357158" y="1285860"/>
            <a:ext cx="8310591" cy="338554"/>
          </a:xfrm>
          <a:prstGeom prst="rect">
            <a:avLst/>
          </a:prstGeom>
          <a:noFill/>
        </p:spPr>
        <p:txBody>
          <a:bodyPr wrap="square" rtlCol="0">
            <a:spAutoFit/>
          </a:bodyPr>
          <a:lstStyle/>
          <a:p>
            <a:r>
              <a:rPr lang="fr-FR" sz="1600" b="1" dirty="0" smtClean="0"/>
              <a:t>Le site d’administration  du médicament   est l’une des muqueuse de l’organisme </a:t>
            </a:r>
            <a:endParaRPr lang="fr-FR" sz="1600" b="1" dirty="0"/>
          </a:p>
        </p:txBody>
      </p:sp>
      <p:sp>
        <p:nvSpPr>
          <p:cNvPr id="6" name="Rectangle 5"/>
          <p:cNvSpPr/>
          <p:nvPr/>
        </p:nvSpPr>
        <p:spPr>
          <a:xfrm>
            <a:off x="467544" y="2420888"/>
            <a:ext cx="8496944" cy="1015663"/>
          </a:xfrm>
          <a:prstGeom prst="rect">
            <a:avLst/>
          </a:prstGeom>
        </p:spPr>
        <p:txBody>
          <a:bodyPr wrap="square">
            <a:spAutoFit/>
          </a:bodyPr>
          <a:lstStyle/>
          <a:p>
            <a:r>
              <a:rPr lang="fr-FR" b="1" dirty="0" smtClean="0"/>
              <a:t>-</a:t>
            </a:r>
            <a:r>
              <a:rPr lang="fr-FR" sz="2000" b="1" dirty="0" smtClean="0"/>
              <a:t>Voie sublinguale   </a:t>
            </a:r>
            <a:r>
              <a:rPr lang="fr-FR" sz="2000" dirty="0" smtClean="0"/>
              <a:t>: </a:t>
            </a:r>
            <a:r>
              <a:rPr lang="fr-FR" sz="2000" dirty="0" err="1" smtClean="0"/>
              <a:t>mdt</a:t>
            </a:r>
            <a:r>
              <a:rPr lang="fr-FR" sz="2000" dirty="0" smtClean="0"/>
              <a:t> mis sous la langue, en </a:t>
            </a:r>
            <a:r>
              <a:rPr lang="fr-FR" sz="2000" dirty="0" err="1" smtClean="0"/>
              <a:t>gle</a:t>
            </a:r>
            <a:r>
              <a:rPr lang="fr-FR" sz="2000" dirty="0" smtClean="0"/>
              <a:t> comprimé qui est sucé</a:t>
            </a:r>
            <a:r>
              <a:rPr lang="fr-FR" sz="2000" dirty="0"/>
              <a:t>, </a:t>
            </a:r>
            <a:r>
              <a:rPr lang="fr-FR" sz="2000" dirty="0" smtClean="0"/>
              <a:t>ou laissé fondre</a:t>
            </a:r>
            <a:r>
              <a:rPr lang="fr-FR" sz="2000" dirty="0"/>
              <a:t>, dissout au contact de la </a:t>
            </a:r>
            <a:r>
              <a:rPr lang="fr-FR" sz="2000" dirty="0" smtClean="0"/>
              <a:t>salive, liquide pour pulvérisation…, action  très rapide , c’est une voie d’urgence en </a:t>
            </a:r>
            <a:r>
              <a:rPr lang="fr-FR" sz="2000" dirty="0" err="1" smtClean="0"/>
              <a:t>gle</a:t>
            </a:r>
            <a:r>
              <a:rPr lang="fr-FR" sz="2000" dirty="0" smtClean="0"/>
              <a:t> </a:t>
            </a:r>
          </a:p>
        </p:txBody>
      </p:sp>
      <p:sp>
        <p:nvSpPr>
          <p:cNvPr id="7" name="Rectangle 6"/>
          <p:cNvSpPr/>
          <p:nvPr/>
        </p:nvSpPr>
        <p:spPr>
          <a:xfrm>
            <a:off x="251520" y="1772816"/>
            <a:ext cx="3240360" cy="36004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2000" b="1" dirty="0" smtClean="0"/>
              <a:t>Muqueuse sublinguale </a:t>
            </a:r>
            <a:endParaRPr lang="fr-FR" sz="2000" b="1" dirty="0"/>
          </a:p>
        </p:txBody>
      </p:sp>
      <p:sp>
        <p:nvSpPr>
          <p:cNvPr id="8" name="Rectangle 7"/>
          <p:cNvSpPr/>
          <p:nvPr/>
        </p:nvSpPr>
        <p:spPr>
          <a:xfrm>
            <a:off x="251520" y="3501008"/>
            <a:ext cx="3240360" cy="36004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2000" b="1" dirty="0" smtClean="0"/>
              <a:t>Muqueuse  rectale  </a:t>
            </a:r>
            <a:endParaRPr lang="fr-FR" sz="2000" b="1" dirty="0"/>
          </a:p>
        </p:txBody>
      </p:sp>
      <p:sp>
        <p:nvSpPr>
          <p:cNvPr id="9" name="Rectangle 8"/>
          <p:cNvSpPr/>
          <p:nvPr/>
        </p:nvSpPr>
        <p:spPr>
          <a:xfrm>
            <a:off x="395536" y="4005064"/>
            <a:ext cx="8496944" cy="707886"/>
          </a:xfrm>
          <a:prstGeom prst="rect">
            <a:avLst/>
          </a:prstGeom>
        </p:spPr>
        <p:txBody>
          <a:bodyPr wrap="square">
            <a:spAutoFit/>
          </a:bodyPr>
          <a:lstStyle/>
          <a:p>
            <a:r>
              <a:rPr lang="fr-FR" b="1" dirty="0" smtClean="0"/>
              <a:t>-</a:t>
            </a:r>
            <a:r>
              <a:rPr lang="fr-FR" sz="2000" b="1" dirty="0" smtClean="0"/>
              <a:t>Voie  rectale   </a:t>
            </a:r>
            <a:r>
              <a:rPr lang="fr-FR" sz="2000" dirty="0" smtClean="0"/>
              <a:t>: </a:t>
            </a:r>
            <a:r>
              <a:rPr lang="fr-FR" sz="2000" dirty="0" err="1" smtClean="0"/>
              <a:t>mdt</a:t>
            </a:r>
            <a:r>
              <a:rPr lang="fr-FR" sz="2000" dirty="0" smtClean="0"/>
              <a:t> mis au niveau du rectum, formes : suppositoire, Capsule rectale </a:t>
            </a:r>
          </a:p>
        </p:txBody>
      </p:sp>
      <p:sp>
        <p:nvSpPr>
          <p:cNvPr id="10" name="Rectangle 9"/>
          <p:cNvSpPr/>
          <p:nvPr/>
        </p:nvSpPr>
        <p:spPr>
          <a:xfrm>
            <a:off x="467544" y="4797152"/>
            <a:ext cx="7524328" cy="1015663"/>
          </a:xfrm>
          <a:prstGeom prst="rect">
            <a:avLst/>
          </a:prstGeom>
        </p:spPr>
        <p:txBody>
          <a:bodyPr wrap="square">
            <a:spAutoFit/>
          </a:bodyPr>
          <a:lstStyle/>
          <a:p>
            <a:r>
              <a:rPr lang="fr-FR" sz="2000" i="1" dirty="0" smtClean="0"/>
              <a:t>Suppositoire</a:t>
            </a:r>
            <a:r>
              <a:rPr lang="fr-FR" sz="2000" dirty="0" smtClean="0"/>
              <a:t>: préparation de forme solide sensible  </a:t>
            </a:r>
            <a:r>
              <a:rPr lang="fr-FR" sz="2000" dirty="0"/>
              <a:t>à la </a:t>
            </a:r>
            <a:r>
              <a:rPr lang="fr-FR" sz="2000" dirty="0" smtClean="0"/>
              <a:t>chaleur: </a:t>
            </a:r>
          </a:p>
          <a:p>
            <a:r>
              <a:rPr lang="fr-FR" sz="2000" dirty="0" smtClean="0"/>
              <a:t>- action </a:t>
            </a:r>
            <a:r>
              <a:rPr lang="fr-FR" sz="2000" dirty="0"/>
              <a:t>locale </a:t>
            </a:r>
            <a:r>
              <a:rPr lang="fr-FR" sz="2000" dirty="0" smtClean="0"/>
              <a:t>(laxatifs</a:t>
            </a:r>
            <a:r>
              <a:rPr lang="fr-FR" sz="2000" dirty="0"/>
              <a:t>) ou</a:t>
            </a:r>
          </a:p>
          <a:p>
            <a:r>
              <a:rPr lang="fr-FR" sz="2000" dirty="0"/>
              <a:t> </a:t>
            </a:r>
            <a:r>
              <a:rPr lang="fr-FR" sz="2000" dirty="0" smtClean="0"/>
              <a:t>- action </a:t>
            </a:r>
            <a:r>
              <a:rPr lang="fr-FR" sz="2000" dirty="0"/>
              <a:t>générale (</a:t>
            </a:r>
            <a:r>
              <a:rPr lang="fr-FR" sz="2000" dirty="0" smtClean="0"/>
              <a:t>antipyrétique, </a:t>
            </a:r>
            <a:r>
              <a:rPr lang="fr-FR" sz="2000" dirty="0"/>
              <a:t>antispasmodique)</a:t>
            </a:r>
          </a:p>
        </p:txBody>
      </p:sp>
      <p:grpSp>
        <p:nvGrpSpPr>
          <p:cNvPr id="12" name="Group 5"/>
          <p:cNvGrpSpPr>
            <a:grpSpLocks/>
          </p:cNvGrpSpPr>
          <p:nvPr/>
        </p:nvGrpSpPr>
        <p:grpSpPr bwMode="auto">
          <a:xfrm>
            <a:off x="6228184" y="5445224"/>
            <a:ext cx="1958529" cy="437704"/>
            <a:chOff x="3477" y="4275"/>
            <a:chExt cx="5358" cy="1653"/>
          </a:xfrm>
        </p:grpSpPr>
        <p:grpSp>
          <p:nvGrpSpPr>
            <p:cNvPr id="13" name="Group 6"/>
            <p:cNvGrpSpPr>
              <a:grpSpLocks/>
            </p:cNvGrpSpPr>
            <p:nvPr/>
          </p:nvGrpSpPr>
          <p:grpSpPr bwMode="auto">
            <a:xfrm>
              <a:off x="3477" y="4275"/>
              <a:ext cx="1425" cy="1653"/>
              <a:chOff x="6122" y="4507"/>
              <a:chExt cx="1174" cy="1136"/>
            </a:xfrm>
          </p:grpSpPr>
          <p:sp>
            <p:nvSpPr>
              <p:cNvPr id="19" name="Arc 7"/>
              <p:cNvSpPr>
                <a:spLocks/>
              </p:cNvSpPr>
              <p:nvPr/>
            </p:nvSpPr>
            <p:spPr bwMode="auto">
              <a:xfrm flipH="1">
                <a:off x="6122" y="4507"/>
                <a:ext cx="1174" cy="794"/>
              </a:xfrm>
              <a:custGeom>
                <a:avLst/>
                <a:gdLst>
                  <a:gd name="G0" fmla="+- 0 0 0"/>
                  <a:gd name="G1" fmla="+- 21486 0 0"/>
                  <a:gd name="G2" fmla="+- 21600 0 0"/>
                  <a:gd name="T0" fmla="*/ 2219 w 21183"/>
                  <a:gd name="T1" fmla="*/ 0 h 21486"/>
                  <a:gd name="T2" fmla="*/ 21183 w 21183"/>
                  <a:gd name="T3" fmla="*/ 17263 h 21486"/>
                  <a:gd name="T4" fmla="*/ 0 w 21183"/>
                  <a:gd name="T5" fmla="*/ 21486 h 21486"/>
                </a:gdLst>
                <a:ahLst/>
                <a:cxnLst>
                  <a:cxn ang="0">
                    <a:pos x="T0" y="T1"/>
                  </a:cxn>
                  <a:cxn ang="0">
                    <a:pos x="T2" y="T3"/>
                  </a:cxn>
                  <a:cxn ang="0">
                    <a:pos x="T4" y="T5"/>
                  </a:cxn>
                </a:cxnLst>
                <a:rect l="0" t="0" r="r" b="b"/>
                <a:pathLst>
                  <a:path w="21183" h="21486" fill="none" extrusionOk="0">
                    <a:moveTo>
                      <a:pt x="2218" y="0"/>
                    </a:moveTo>
                    <a:cubicBezTo>
                      <a:pt x="11641" y="973"/>
                      <a:pt x="19331" y="7972"/>
                      <a:pt x="21183" y="17262"/>
                    </a:cubicBezTo>
                  </a:path>
                  <a:path w="21183" h="21486" stroke="0" extrusionOk="0">
                    <a:moveTo>
                      <a:pt x="2218" y="0"/>
                    </a:moveTo>
                    <a:cubicBezTo>
                      <a:pt x="11641" y="973"/>
                      <a:pt x="19331" y="7972"/>
                      <a:pt x="21183" y="17262"/>
                    </a:cubicBezTo>
                    <a:lnTo>
                      <a:pt x="0" y="21486"/>
                    </a:lnTo>
                    <a:close/>
                  </a:path>
                </a:pathLst>
              </a:custGeom>
              <a:noFill/>
              <a:ln w="101600">
                <a:solidFill>
                  <a:srgbClr val="FF3300"/>
                </a:solidFill>
                <a:round/>
                <a:headEnd/>
                <a:tailEnd/>
              </a:ln>
            </p:spPr>
            <p:txBody>
              <a:bodyPr/>
              <a:lstStyle/>
              <a:p>
                <a:endParaRPr lang="fr-FR"/>
              </a:p>
            </p:txBody>
          </p:sp>
          <p:sp>
            <p:nvSpPr>
              <p:cNvPr id="20" name="Arc 8"/>
              <p:cNvSpPr>
                <a:spLocks/>
              </p:cNvSpPr>
              <p:nvPr/>
            </p:nvSpPr>
            <p:spPr bwMode="auto">
              <a:xfrm flipH="1" flipV="1">
                <a:off x="6141" y="4849"/>
                <a:ext cx="1131" cy="794"/>
              </a:xfrm>
              <a:custGeom>
                <a:avLst/>
                <a:gdLst>
                  <a:gd name="G0" fmla="+- 0 0 0"/>
                  <a:gd name="G1" fmla="+- 21486 0 0"/>
                  <a:gd name="G2" fmla="+- 21600 0 0"/>
                  <a:gd name="T0" fmla="*/ 2219 w 20408"/>
                  <a:gd name="T1" fmla="*/ 0 h 21486"/>
                  <a:gd name="T2" fmla="*/ 20408 w 20408"/>
                  <a:gd name="T3" fmla="*/ 14410 h 21486"/>
                  <a:gd name="T4" fmla="*/ 0 w 20408"/>
                  <a:gd name="T5" fmla="*/ 21486 h 21486"/>
                </a:gdLst>
                <a:ahLst/>
                <a:cxnLst>
                  <a:cxn ang="0">
                    <a:pos x="T0" y="T1"/>
                  </a:cxn>
                  <a:cxn ang="0">
                    <a:pos x="T2" y="T3"/>
                  </a:cxn>
                  <a:cxn ang="0">
                    <a:pos x="T4" y="T5"/>
                  </a:cxn>
                </a:cxnLst>
                <a:rect l="0" t="0" r="r" b="b"/>
                <a:pathLst>
                  <a:path w="20408" h="21486" fill="none" extrusionOk="0">
                    <a:moveTo>
                      <a:pt x="2218" y="0"/>
                    </a:moveTo>
                    <a:cubicBezTo>
                      <a:pt x="10566" y="862"/>
                      <a:pt x="17658" y="6481"/>
                      <a:pt x="20408" y="14409"/>
                    </a:cubicBezTo>
                  </a:path>
                  <a:path w="20408" h="21486" stroke="0" extrusionOk="0">
                    <a:moveTo>
                      <a:pt x="2218" y="0"/>
                    </a:moveTo>
                    <a:cubicBezTo>
                      <a:pt x="10566" y="862"/>
                      <a:pt x="17658" y="6481"/>
                      <a:pt x="20408" y="14409"/>
                    </a:cubicBezTo>
                    <a:lnTo>
                      <a:pt x="0" y="21486"/>
                    </a:lnTo>
                    <a:close/>
                  </a:path>
                </a:pathLst>
              </a:custGeom>
              <a:noFill/>
              <a:ln w="101600">
                <a:solidFill>
                  <a:srgbClr val="FF3300"/>
                </a:solidFill>
                <a:round/>
                <a:headEnd/>
                <a:tailEnd/>
              </a:ln>
            </p:spPr>
            <p:txBody>
              <a:bodyPr/>
              <a:lstStyle/>
              <a:p>
                <a:endParaRPr lang="fr-FR"/>
              </a:p>
            </p:txBody>
          </p:sp>
        </p:grpSp>
        <p:sp>
          <p:nvSpPr>
            <p:cNvPr id="14" name="Line 9"/>
            <p:cNvSpPr>
              <a:spLocks noChangeShapeType="1"/>
            </p:cNvSpPr>
            <p:nvPr/>
          </p:nvSpPr>
          <p:spPr bwMode="auto">
            <a:xfrm>
              <a:off x="4731" y="4275"/>
              <a:ext cx="3021" cy="342"/>
            </a:xfrm>
            <a:prstGeom prst="line">
              <a:avLst/>
            </a:prstGeom>
            <a:noFill/>
            <a:ln w="101600">
              <a:solidFill>
                <a:srgbClr val="FF3300"/>
              </a:solidFill>
              <a:round/>
              <a:headEnd/>
              <a:tailEnd/>
            </a:ln>
          </p:spPr>
          <p:txBody>
            <a:bodyPr/>
            <a:lstStyle/>
            <a:p>
              <a:endParaRPr lang="fr-FR"/>
            </a:p>
          </p:txBody>
        </p:sp>
        <p:sp>
          <p:nvSpPr>
            <p:cNvPr id="15" name="Arc 10"/>
            <p:cNvSpPr>
              <a:spLocks/>
            </p:cNvSpPr>
            <p:nvPr/>
          </p:nvSpPr>
          <p:spPr bwMode="auto">
            <a:xfrm flipV="1">
              <a:off x="7695" y="4446"/>
              <a:ext cx="1140" cy="17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01600">
              <a:solidFill>
                <a:srgbClr val="FF3300"/>
              </a:solidFill>
              <a:round/>
              <a:headEnd/>
              <a:tailEnd/>
            </a:ln>
          </p:spPr>
          <p:txBody>
            <a:bodyPr/>
            <a:lstStyle/>
            <a:p>
              <a:endParaRPr lang="fr-FR"/>
            </a:p>
          </p:txBody>
        </p:sp>
        <p:sp>
          <p:nvSpPr>
            <p:cNvPr id="16" name="Arc 11"/>
            <p:cNvSpPr>
              <a:spLocks/>
            </p:cNvSpPr>
            <p:nvPr/>
          </p:nvSpPr>
          <p:spPr bwMode="auto">
            <a:xfrm>
              <a:off x="7737" y="5586"/>
              <a:ext cx="1098" cy="171"/>
            </a:xfrm>
            <a:custGeom>
              <a:avLst/>
              <a:gdLst>
                <a:gd name="G0" fmla="+- 0 0 0"/>
                <a:gd name="G1" fmla="+- 21600 0 0"/>
                <a:gd name="G2" fmla="+- 21600 0 0"/>
                <a:gd name="T0" fmla="*/ 0 w 20806"/>
                <a:gd name="T1" fmla="*/ 0 h 21600"/>
                <a:gd name="T2" fmla="*/ 20806 w 20806"/>
                <a:gd name="T3" fmla="*/ 15797 h 21600"/>
                <a:gd name="T4" fmla="*/ 0 w 20806"/>
                <a:gd name="T5" fmla="*/ 21600 h 21600"/>
              </a:gdLst>
              <a:ahLst/>
              <a:cxnLst>
                <a:cxn ang="0">
                  <a:pos x="T0" y="T1"/>
                </a:cxn>
                <a:cxn ang="0">
                  <a:pos x="T2" y="T3"/>
                </a:cxn>
                <a:cxn ang="0">
                  <a:pos x="T4" y="T5"/>
                </a:cxn>
              </a:cxnLst>
              <a:rect l="0" t="0" r="r" b="b"/>
              <a:pathLst>
                <a:path w="20806" h="21600" fill="none" extrusionOk="0">
                  <a:moveTo>
                    <a:pt x="-1" y="0"/>
                  </a:moveTo>
                  <a:cubicBezTo>
                    <a:pt x="9694" y="0"/>
                    <a:pt x="18201" y="6458"/>
                    <a:pt x="20805" y="15797"/>
                  </a:cubicBezTo>
                </a:path>
                <a:path w="20806" h="21600" stroke="0" extrusionOk="0">
                  <a:moveTo>
                    <a:pt x="-1" y="0"/>
                  </a:moveTo>
                  <a:cubicBezTo>
                    <a:pt x="9694" y="0"/>
                    <a:pt x="18201" y="6458"/>
                    <a:pt x="20805" y="15797"/>
                  </a:cubicBezTo>
                  <a:lnTo>
                    <a:pt x="0" y="21600"/>
                  </a:lnTo>
                  <a:close/>
                </a:path>
              </a:pathLst>
            </a:custGeom>
            <a:noFill/>
            <a:ln w="101600">
              <a:solidFill>
                <a:srgbClr val="FF3300"/>
              </a:solidFill>
              <a:round/>
              <a:headEnd/>
              <a:tailEnd/>
            </a:ln>
          </p:spPr>
          <p:txBody>
            <a:bodyPr/>
            <a:lstStyle/>
            <a:p>
              <a:endParaRPr lang="fr-FR"/>
            </a:p>
          </p:txBody>
        </p:sp>
        <p:sp>
          <p:nvSpPr>
            <p:cNvPr id="17" name="Line 12"/>
            <p:cNvSpPr>
              <a:spLocks noChangeShapeType="1"/>
            </p:cNvSpPr>
            <p:nvPr/>
          </p:nvSpPr>
          <p:spPr bwMode="auto">
            <a:xfrm flipH="1">
              <a:off x="8835" y="4446"/>
              <a:ext cx="0" cy="1254"/>
            </a:xfrm>
            <a:prstGeom prst="line">
              <a:avLst/>
            </a:prstGeom>
            <a:noFill/>
            <a:ln w="101600">
              <a:solidFill>
                <a:srgbClr val="FF3300"/>
              </a:solidFill>
              <a:round/>
              <a:headEnd/>
              <a:tailEnd/>
            </a:ln>
          </p:spPr>
          <p:txBody>
            <a:bodyPr/>
            <a:lstStyle/>
            <a:p>
              <a:endParaRPr lang="fr-FR"/>
            </a:p>
          </p:txBody>
        </p:sp>
        <p:sp>
          <p:nvSpPr>
            <p:cNvPr id="18" name="Line 13"/>
            <p:cNvSpPr>
              <a:spLocks noChangeShapeType="1"/>
            </p:cNvSpPr>
            <p:nvPr/>
          </p:nvSpPr>
          <p:spPr bwMode="auto">
            <a:xfrm flipV="1">
              <a:off x="4731" y="5586"/>
              <a:ext cx="3021" cy="342"/>
            </a:xfrm>
            <a:prstGeom prst="line">
              <a:avLst/>
            </a:prstGeom>
            <a:noFill/>
            <a:ln w="101600">
              <a:solidFill>
                <a:srgbClr val="FF3300"/>
              </a:solidFill>
              <a:round/>
              <a:headEnd/>
              <a:tailEnd/>
            </a:ln>
          </p:spPr>
          <p:txBody>
            <a:bodyPr/>
            <a:lstStyle/>
            <a:p>
              <a:endParaRPr lang="fr-FR"/>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
          <p:cNvPicPr>
            <a:picLocks noChangeAspect="1" noChangeArrowheads="1"/>
          </p:cNvPicPr>
          <p:nvPr/>
        </p:nvPicPr>
        <p:blipFill>
          <a:blip r:embed="rId3" cstate="print"/>
          <a:srcRect/>
          <a:stretch>
            <a:fillRect/>
          </a:stretch>
        </p:blipFill>
        <p:spPr bwMode="auto">
          <a:xfrm>
            <a:off x="7115175" y="908720"/>
            <a:ext cx="2028825" cy="2505075"/>
          </a:xfrm>
          <a:prstGeom prst="rect">
            <a:avLst/>
          </a:prstGeom>
          <a:noFill/>
          <a:ln w="9525">
            <a:noFill/>
            <a:miter lim="800000"/>
            <a:headEnd/>
            <a:tailEnd/>
          </a:ln>
        </p:spPr>
      </p:pic>
      <p:sp>
        <p:nvSpPr>
          <p:cNvPr id="2" name="Espace réservé du pied de page 1"/>
          <p:cNvSpPr>
            <a:spLocks noGrp="1"/>
          </p:cNvSpPr>
          <p:nvPr>
            <p:ph type="ftr" sz="quarter" idx="11"/>
          </p:nvPr>
        </p:nvSpPr>
        <p:spPr/>
        <p:txBody>
          <a:bodyPr/>
          <a:lstStyle/>
          <a:p>
            <a:endParaRPr lang="fr-FR"/>
          </a:p>
        </p:txBody>
      </p:sp>
      <p:sp>
        <p:nvSpPr>
          <p:cNvPr id="3" name="Espace réservé du numéro de diapositive 2"/>
          <p:cNvSpPr>
            <a:spLocks noGrp="1"/>
          </p:cNvSpPr>
          <p:nvPr>
            <p:ph type="sldNum" sz="quarter" idx="12"/>
          </p:nvPr>
        </p:nvSpPr>
        <p:spPr/>
        <p:txBody>
          <a:bodyPr/>
          <a:lstStyle/>
          <a:p>
            <a:fld id="{A7C9A1F7-440B-49A3-BFDF-704999814E67}" type="slidenum">
              <a:rPr lang="fr-FR" smtClean="0"/>
              <a:pPr/>
              <a:t>19</a:t>
            </a:fld>
            <a:endParaRPr lang="fr-FR"/>
          </a:p>
        </p:txBody>
      </p:sp>
      <p:sp>
        <p:nvSpPr>
          <p:cNvPr id="4" name="Titre 1"/>
          <p:cNvSpPr txBox="1">
            <a:spLocks/>
          </p:cNvSpPr>
          <p:nvPr/>
        </p:nvSpPr>
        <p:spPr>
          <a:xfrm>
            <a:off x="395536" y="188640"/>
            <a:ext cx="8229600" cy="57606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3200" b="1" i="0" u="none" strike="noStrike" kern="1200" cap="none" spc="0" normalizeH="0" baseline="0" noProof="0" dirty="0" smtClean="0">
                <a:ln>
                  <a:noFill/>
                </a:ln>
                <a:solidFill>
                  <a:schemeClr val="lt1"/>
                </a:solidFill>
                <a:effectLst/>
                <a:uLnTx/>
                <a:uFillTx/>
                <a:latin typeface="+mn-lt"/>
                <a:ea typeface="+mn-ea"/>
                <a:cs typeface="+mn-cs"/>
              </a:rPr>
              <a:t>Administration par voie </a:t>
            </a:r>
            <a:r>
              <a:rPr kumimoji="0" lang="fr-FR" sz="3200" b="1" i="0" u="none" strike="noStrike" kern="1200" cap="none" spc="0" normalizeH="0" baseline="0" noProof="0" dirty="0" err="1" smtClean="0">
                <a:ln>
                  <a:noFill/>
                </a:ln>
                <a:solidFill>
                  <a:schemeClr val="lt1"/>
                </a:solidFill>
                <a:effectLst/>
                <a:uLnTx/>
                <a:uFillTx/>
                <a:latin typeface="+mn-lt"/>
                <a:ea typeface="+mn-ea"/>
                <a:cs typeface="+mn-cs"/>
              </a:rPr>
              <a:t>transmuqueuse</a:t>
            </a:r>
            <a:endParaRPr kumimoji="0" lang="fr-FR" sz="3200" b="1" i="0" u="none" strike="noStrike" kern="1200" cap="none" spc="0" normalizeH="0" baseline="0" noProof="0" dirty="0" smtClean="0">
              <a:ln>
                <a:noFill/>
              </a:ln>
              <a:solidFill>
                <a:schemeClr val="lt1"/>
              </a:solidFill>
              <a:effectLst/>
              <a:uLnTx/>
              <a:uFillTx/>
              <a:latin typeface="+mn-lt"/>
              <a:ea typeface="+mn-ea"/>
              <a:cs typeface="+mn-cs"/>
            </a:endParaRPr>
          </a:p>
        </p:txBody>
      </p:sp>
      <p:sp>
        <p:nvSpPr>
          <p:cNvPr id="5" name="Rectangle 4"/>
          <p:cNvSpPr/>
          <p:nvPr/>
        </p:nvSpPr>
        <p:spPr>
          <a:xfrm>
            <a:off x="251520" y="1052736"/>
            <a:ext cx="3240360" cy="36004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2000" b="1" dirty="0" smtClean="0"/>
              <a:t>Muqueuse ORL</a:t>
            </a:r>
            <a:endParaRPr lang="fr-FR" sz="2000" b="1" dirty="0"/>
          </a:p>
        </p:txBody>
      </p:sp>
      <p:sp>
        <p:nvSpPr>
          <p:cNvPr id="6" name="Rectangle 5"/>
          <p:cNvSpPr/>
          <p:nvPr/>
        </p:nvSpPr>
        <p:spPr>
          <a:xfrm>
            <a:off x="215008" y="1628800"/>
            <a:ext cx="8928992" cy="2677656"/>
          </a:xfrm>
          <a:prstGeom prst="rect">
            <a:avLst/>
          </a:prstGeom>
        </p:spPr>
        <p:txBody>
          <a:bodyPr wrap="square">
            <a:spAutoFit/>
          </a:bodyPr>
          <a:lstStyle/>
          <a:p>
            <a:r>
              <a:rPr lang="fr-FR" sz="2000" b="1" dirty="0" smtClean="0"/>
              <a:t>-</a:t>
            </a:r>
            <a:r>
              <a:rPr lang="fr-FR" sz="2400" b="1" dirty="0" smtClean="0"/>
              <a:t>Voie buco-pharyngée </a:t>
            </a:r>
            <a:r>
              <a:rPr lang="fr-FR" sz="2400" dirty="0" smtClean="0"/>
              <a:t>: action locale sur la muqueuse </a:t>
            </a:r>
          </a:p>
          <a:p>
            <a:r>
              <a:rPr lang="fr-FR" sz="2400" dirty="0" smtClean="0"/>
              <a:t>buccale et arrière gorge on retrouve:</a:t>
            </a:r>
          </a:p>
          <a:p>
            <a:endParaRPr lang="fr-FR" sz="2400" dirty="0" smtClean="0"/>
          </a:p>
          <a:p>
            <a:r>
              <a:rPr lang="fr-FR" sz="2400" b="1" dirty="0" smtClean="0">
                <a:solidFill>
                  <a:srgbClr val="FF0000"/>
                </a:solidFill>
              </a:rPr>
              <a:t>Bain de bouche : </a:t>
            </a:r>
            <a:r>
              <a:rPr lang="fr-FR" sz="2400" dirty="0" smtClean="0"/>
              <a:t>liquide pour lavage de la bouche et de la gorge </a:t>
            </a:r>
          </a:p>
          <a:p>
            <a:r>
              <a:rPr lang="fr-FR" sz="2400" b="1" dirty="0" smtClean="0">
                <a:solidFill>
                  <a:srgbClr val="FF0000"/>
                </a:solidFill>
              </a:rPr>
              <a:t>Collutoire : </a:t>
            </a:r>
            <a:r>
              <a:rPr lang="fr-FR" sz="2400" dirty="0" smtClean="0"/>
              <a:t>liquide pulvérisé  sur les muqueuse buccale et arrière gorge </a:t>
            </a:r>
          </a:p>
          <a:p>
            <a:r>
              <a:rPr lang="fr-FR" sz="2400" b="1" dirty="0" smtClean="0">
                <a:solidFill>
                  <a:srgbClr val="0070C0"/>
                </a:solidFill>
              </a:rPr>
              <a:t> </a:t>
            </a:r>
            <a:r>
              <a:rPr lang="fr-FR" sz="2400" b="1" dirty="0" err="1" smtClean="0">
                <a:solidFill>
                  <a:srgbClr val="0070C0"/>
                </a:solidFill>
              </a:rPr>
              <a:t>Hexaspray</a:t>
            </a:r>
            <a:r>
              <a:rPr lang="fr-FR" sz="2400" b="1" dirty="0" smtClean="0">
                <a:solidFill>
                  <a:srgbClr val="0070C0"/>
                </a:solidFill>
              </a:rPr>
              <a:t> </a:t>
            </a:r>
          </a:p>
        </p:txBody>
      </p:sp>
      <p:sp>
        <p:nvSpPr>
          <p:cNvPr id="8" name="ZoneTexte 7"/>
          <p:cNvSpPr txBox="1"/>
          <p:nvPr/>
        </p:nvSpPr>
        <p:spPr>
          <a:xfrm>
            <a:off x="179512" y="4509120"/>
            <a:ext cx="8305479" cy="1569660"/>
          </a:xfrm>
          <a:prstGeom prst="rect">
            <a:avLst/>
          </a:prstGeom>
          <a:noFill/>
        </p:spPr>
        <p:txBody>
          <a:bodyPr wrap="none" rtlCol="0">
            <a:spAutoFit/>
          </a:bodyPr>
          <a:lstStyle/>
          <a:p>
            <a:r>
              <a:rPr lang="fr-FR" sz="2000" b="1" dirty="0" smtClean="0"/>
              <a:t>-</a:t>
            </a:r>
            <a:r>
              <a:rPr lang="fr-FR" sz="2400" b="1" dirty="0" smtClean="0"/>
              <a:t>Voie nasale : </a:t>
            </a:r>
            <a:r>
              <a:rPr lang="fr-FR" sz="2400" dirty="0" smtClean="0"/>
              <a:t>action locale au niveau du nez :  goutte nasale ,</a:t>
            </a:r>
          </a:p>
          <a:p>
            <a:r>
              <a:rPr lang="fr-FR" sz="2400" dirty="0" smtClean="0"/>
              <a:t> vaporisateur,  pommade nasale  </a:t>
            </a:r>
          </a:p>
          <a:p>
            <a:r>
              <a:rPr lang="fr-FR" sz="2400" dirty="0" smtClean="0"/>
              <a:t>-</a:t>
            </a:r>
            <a:r>
              <a:rPr lang="fr-FR" sz="2400" b="1" dirty="0" smtClean="0"/>
              <a:t>voie auriculaire : </a:t>
            </a:r>
            <a:r>
              <a:rPr lang="fr-FR" sz="2400" dirty="0" smtClean="0"/>
              <a:t>action locale au niveau  de l’oreille : gouttes et </a:t>
            </a:r>
          </a:p>
          <a:p>
            <a:r>
              <a:rPr lang="fr-FR" sz="2400" dirty="0" smtClean="0"/>
              <a:t>pommades </a:t>
            </a:r>
            <a:r>
              <a:rPr lang="fr-FR" sz="2400" dirty="0"/>
              <a:t> </a:t>
            </a:r>
            <a:r>
              <a:rPr lang="fr-FR" sz="2400" dirty="0" smtClean="0"/>
              <a:t>auriculaires</a:t>
            </a:r>
            <a:endParaRPr lang="fr-FR" sz="2400" b="1"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A7C9A1F7-440B-49A3-BFDF-704999814E67}" type="slidenum">
              <a:rPr lang="fr-FR" smtClean="0"/>
              <a:pPr/>
              <a:t>20</a:t>
            </a:fld>
            <a:endParaRPr lang="fr-FR"/>
          </a:p>
        </p:txBody>
      </p:sp>
      <p:sp>
        <p:nvSpPr>
          <p:cNvPr id="4" name="Titre 1"/>
          <p:cNvSpPr txBox="1">
            <a:spLocks/>
          </p:cNvSpPr>
          <p:nvPr/>
        </p:nvSpPr>
        <p:spPr>
          <a:xfrm>
            <a:off x="395536" y="188640"/>
            <a:ext cx="8229600" cy="57606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3200" b="1" i="0" u="none" strike="noStrike" kern="1200" cap="none" spc="0" normalizeH="0" baseline="0" noProof="0" dirty="0" smtClean="0">
                <a:ln>
                  <a:noFill/>
                </a:ln>
                <a:solidFill>
                  <a:schemeClr val="lt1"/>
                </a:solidFill>
                <a:effectLst/>
                <a:uLnTx/>
                <a:uFillTx/>
                <a:latin typeface="+mn-lt"/>
                <a:ea typeface="+mn-ea"/>
                <a:cs typeface="+mn-cs"/>
              </a:rPr>
              <a:t>Administration par voie </a:t>
            </a:r>
            <a:r>
              <a:rPr kumimoji="0" lang="fr-FR" sz="3200" b="1" i="0" u="none" strike="noStrike" kern="1200" cap="none" spc="0" normalizeH="0" baseline="0" noProof="0" dirty="0" err="1" smtClean="0">
                <a:ln>
                  <a:noFill/>
                </a:ln>
                <a:solidFill>
                  <a:schemeClr val="lt1"/>
                </a:solidFill>
                <a:effectLst/>
                <a:uLnTx/>
                <a:uFillTx/>
                <a:latin typeface="+mn-lt"/>
                <a:ea typeface="+mn-ea"/>
                <a:cs typeface="+mn-cs"/>
              </a:rPr>
              <a:t>transmuqueuse</a:t>
            </a:r>
            <a:endParaRPr kumimoji="0" lang="fr-FR" sz="3200" b="1" i="0" u="none" strike="noStrike" kern="1200" cap="none" spc="0" normalizeH="0" baseline="0" noProof="0" dirty="0" smtClean="0">
              <a:ln>
                <a:noFill/>
              </a:ln>
              <a:solidFill>
                <a:schemeClr val="lt1"/>
              </a:solidFill>
              <a:effectLst/>
              <a:uLnTx/>
              <a:uFillTx/>
              <a:latin typeface="+mn-lt"/>
              <a:ea typeface="+mn-ea"/>
              <a:cs typeface="+mn-cs"/>
            </a:endParaRPr>
          </a:p>
        </p:txBody>
      </p:sp>
      <p:sp>
        <p:nvSpPr>
          <p:cNvPr id="5" name="Rectangle 4"/>
          <p:cNvSpPr/>
          <p:nvPr/>
        </p:nvSpPr>
        <p:spPr>
          <a:xfrm>
            <a:off x="785786" y="857232"/>
            <a:ext cx="3240360" cy="36004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2000" b="1" dirty="0" smtClean="0"/>
              <a:t>Muqueuse oculaire</a:t>
            </a:r>
            <a:endParaRPr lang="fr-FR" sz="2000" b="1" dirty="0"/>
          </a:p>
        </p:txBody>
      </p:sp>
      <p:sp>
        <p:nvSpPr>
          <p:cNvPr id="6" name="Rectangle 5"/>
          <p:cNvSpPr/>
          <p:nvPr/>
        </p:nvSpPr>
        <p:spPr>
          <a:xfrm>
            <a:off x="428596" y="1785926"/>
            <a:ext cx="8208912" cy="2308324"/>
          </a:xfrm>
          <a:prstGeom prst="rect">
            <a:avLst/>
          </a:prstGeom>
        </p:spPr>
        <p:txBody>
          <a:bodyPr wrap="square">
            <a:spAutoFit/>
          </a:bodyPr>
          <a:lstStyle/>
          <a:p>
            <a:r>
              <a:rPr lang="fr-FR" sz="2400" i="1" dirty="0" smtClean="0"/>
              <a:t>Collyres</a:t>
            </a:r>
            <a:r>
              <a:rPr lang="fr-FR" sz="2400" dirty="0" smtClean="0"/>
              <a:t> : solution ou suspension en </a:t>
            </a:r>
            <a:r>
              <a:rPr lang="fr-FR" sz="2400" dirty="0"/>
              <a:t>flacons </a:t>
            </a:r>
            <a:r>
              <a:rPr lang="fr-FR" sz="2400" dirty="0" err="1"/>
              <a:t>multidoses</a:t>
            </a:r>
            <a:r>
              <a:rPr lang="fr-FR" sz="2400" dirty="0"/>
              <a:t> ou en doses unitaires </a:t>
            </a:r>
          </a:p>
          <a:p>
            <a:r>
              <a:rPr lang="fr-FR" sz="2400" dirty="0"/>
              <a:t>Caractéristiques = </a:t>
            </a:r>
            <a:r>
              <a:rPr lang="fr-FR" sz="2400" b="1" dirty="0"/>
              <a:t>stérilité, </a:t>
            </a:r>
            <a:r>
              <a:rPr lang="fr-FR" sz="2400" b="1" dirty="0" err="1"/>
              <a:t>isotonicité</a:t>
            </a:r>
            <a:r>
              <a:rPr lang="fr-FR" sz="2400" b="1" dirty="0"/>
              <a:t> aux larmes et neutralité</a:t>
            </a:r>
          </a:p>
          <a:p>
            <a:r>
              <a:rPr lang="fr-FR" sz="2400" b="1" dirty="0"/>
              <a:t>En pratique :</a:t>
            </a:r>
          </a:p>
          <a:p>
            <a:r>
              <a:rPr lang="fr-FR" sz="2400" dirty="0"/>
              <a:t>- durée de vie </a:t>
            </a:r>
            <a:r>
              <a:rPr lang="fr-FR" sz="2400" dirty="0" smtClean="0"/>
              <a:t>limitée après  ouverture du flacon </a:t>
            </a:r>
            <a:endParaRPr lang="fr-FR" sz="2400" dirty="0"/>
          </a:p>
          <a:p>
            <a:r>
              <a:rPr lang="fr-FR" sz="2400" dirty="0"/>
              <a:t>- se laver les mains avant application</a:t>
            </a:r>
          </a:p>
        </p:txBody>
      </p:sp>
      <p:sp>
        <p:nvSpPr>
          <p:cNvPr id="7" name="ZoneTexte 6"/>
          <p:cNvSpPr txBox="1"/>
          <p:nvPr/>
        </p:nvSpPr>
        <p:spPr>
          <a:xfrm>
            <a:off x="428596" y="1142984"/>
            <a:ext cx="8715404" cy="830997"/>
          </a:xfrm>
          <a:prstGeom prst="rect">
            <a:avLst/>
          </a:prstGeom>
          <a:noFill/>
        </p:spPr>
        <p:txBody>
          <a:bodyPr wrap="square" rtlCol="0">
            <a:spAutoFit/>
          </a:bodyPr>
          <a:lstStyle/>
          <a:p>
            <a:r>
              <a:rPr lang="fr-FR" sz="2400" dirty="0" err="1" smtClean="0"/>
              <a:t>Mdt</a:t>
            </a:r>
            <a:r>
              <a:rPr lang="fr-FR" sz="2400" dirty="0" smtClean="0"/>
              <a:t> administré au niveau de l’œil: collyre , pommade ophtalmique , action locale </a:t>
            </a:r>
            <a:endParaRPr lang="fr-FR" sz="2400" dirty="0"/>
          </a:p>
        </p:txBody>
      </p:sp>
      <p:sp>
        <p:nvSpPr>
          <p:cNvPr id="8" name="Rectangle 7"/>
          <p:cNvSpPr/>
          <p:nvPr/>
        </p:nvSpPr>
        <p:spPr>
          <a:xfrm>
            <a:off x="571472" y="4357694"/>
            <a:ext cx="3240360" cy="36004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2000" b="1" dirty="0" smtClean="0"/>
              <a:t>Muqueuse vaginale</a:t>
            </a:r>
            <a:endParaRPr lang="fr-FR" sz="2000" b="1" dirty="0"/>
          </a:p>
        </p:txBody>
      </p:sp>
      <p:sp>
        <p:nvSpPr>
          <p:cNvPr id="9" name="Rectangle 8"/>
          <p:cNvSpPr/>
          <p:nvPr/>
        </p:nvSpPr>
        <p:spPr>
          <a:xfrm>
            <a:off x="500034" y="4786322"/>
            <a:ext cx="8244408" cy="830997"/>
          </a:xfrm>
          <a:prstGeom prst="rect">
            <a:avLst/>
          </a:prstGeom>
        </p:spPr>
        <p:txBody>
          <a:bodyPr wrap="square">
            <a:spAutoFit/>
          </a:bodyPr>
          <a:lstStyle/>
          <a:p>
            <a:r>
              <a:rPr lang="fr-FR" sz="2400" dirty="0" err="1" smtClean="0"/>
              <a:t>Mdt</a:t>
            </a:r>
            <a:r>
              <a:rPr lang="fr-FR" sz="2400" dirty="0" smtClean="0"/>
              <a:t> administré au niveau du vagin : capsule et ovule vaginale,  utilisées pour une action locale </a:t>
            </a:r>
            <a:endParaRPr lang="fr-FR" sz="2400" dirty="0"/>
          </a:p>
        </p:txBody>
      </p:sp>
      <p:sp>
        <p:nvSpPr>
          <p:cNvPr id="10" name="Rectangle 9"/>
          <p:cNvSpPr/>
          <p:nvPr/>
        </p:nvSpPr>
        <p:spPr>
          <a:xfrm>
            <a:off x="467544" y="5589240"/>
            <a:ext cx="7020272" cy="830997"/>
          </a:xfrm>
          <a:prstGeom prst="rect">
            <a:avLst/>
          </a:prstGeom>
        </p:spPr>
        <p:txBody>
          <a:bodyPr wrap="square">
            <a:spAutoFit/>
          </a:bodyPr>
          <a:lstStyle/>
          <a:p>
            <a:r>
              <a:rPr lang="fr-FR" sz="2400" i="1" dirty="0" smtClean="0"/>
              <a:t>Ovule</a:t>
            </a:r>
            <a:r>
              <a:rPr lang="fr-FR" sz="2400" dirty="0" smtClean="0"/>
              <a:t>: préparation solide </a:t>
            </a:r>
            <a:r>
              <a:rPr lang="fr-FR" sz="2400" dirty="0"/>
              <a:t>de forme ovoïde contenant </a:t>
            </a:r>
            <a:r>
              <a:rPr lang="fr-FR" sz="2400" dirty="0" smtClean="0"/>
              <a:t> une  unité de </a:t>
            </a:r>
            <a:r>
              <a:rPr lang="fr-FR" sz="2400" dirty="0"/>
              <a:t>prise de </a:t>
            </a:r>
            <a:r>
              <a:rPr lang="fr-FR" sz="2400" dirty="0" smtClean="0"/>
              <a:t>médicament </a:t>
            </a:r>
            <a:r>
              <a:rPr lang="fr-FR" sz="2400" b="1" dirty="0" smtClean="0">
                <a:solidFill>
                  <a:srgbClr val="002060"/>
                </a:solidFill>
              </a:rPr>
              <a:t>( ATB)</a:t>
            </a:r>
            <a:endParaRPr lang="fr-FR" sz="2400" b="1" dirty="0">
              <a:solidFill>
                <a:srgbClr val="002060"/>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endParaRPr lang="fr-FR"/>
          </a:p>
        </p:txBody>
      </p:sp>
      <p:sp>
        <p:nvSpPr>
          <p:cNvPr id="3" name="Espace réservé du numéro de diapositive 2"/>
          <p:cNvSpPr>
            <a:spLocks noGrp="1"/>
          </p:cNvSpPr>
          <p:nvPr>
            <p:ph type="sldNum" sz="quarter" idx="12"/>
          </p:nvPr>
        </p:nvSpPr>
        <p:spPr/>
        <p:txBody>
          <a:bodyPr/>
          <a:lstStyle/>
          <a:p>
            <a:fld id="{A7C9A1F7-440B-49A3-BFDF-704999814E67}" type="slidenum">
              <a:rPr lang="fr-FR" smtClean="0"/>
              <a:pPr/>
              <a:t>21</a:t>
            </a:fld>
            <a:endParaRPr lang="fr-FR"/>
          </a:p>
        </p:txBody>
      </p:sp>
      <p:sp>
        <p:nvSpPr>
          <p:cNvPr id="4" name="Titre 1"/>
          <p:cNvSpPr txBox="1">
            <a:spLocks/>
          </p:cNvSpPr>
          <p:nvPr/>
        </p:nvSpPr>
        <p:spPr>
          <a:xfrm>
            <a:off x="395536" y="188640"/>
            <a:ext cx="8229600" cy="57606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3200" b="1" i="0" u="none" strike="noStrike" kern="1200" cap="none" spc="0" normalizeH="0" baseline="0" noProof="0" dirty="0" smtClean="0">
                <a:ln>
                  <a:noFill/>
                </a:ln>
                <a:solidFill>
                  <a:schemeClr val="lt1"/>
                </a:solidFill>
                <a:effectLst/>
                <a:uLnTx/>
                <a:uFillTx/>
                <a:latin typeface="+mn-lt"/>
                <a:ea typeface="+mn-ea"/>
                <a:cs typeface="+mn-cs"/>
              </a:rPr>
              <a:t>Administration par voie </a:t>
            </a:r>
            <a:r>
              <a:rPr kumimoji="0" lang="fr-FR" sz="3200" b="1" i="0" u="none" strike="noStrike" kern="1200" cap="none" spc="0" normalizeH="0" baseline="0" noProof="0" dirty="0" err="1" smtClean="0">
                <a:ln>
                  <a:noFill/>
                </a:ln>
                <a:solidFill>
                  <a:schemeClr val="lt1"/>
                </a:solidFill>
                <a:effectLst/>
                <a:uLnTx/>
                <a:uFillTx/>
                <a:latin typeface="+mn-lt"/>
                <a:ea typeface="+mn-ea"/>
                <a:cs typeface="+mn-cs"/>
              </a:rPr>
              <a:t>transmuqueuse</a:t>
            </a:r>
            <a:endParaRPr kumimoji="0" lang="fr-FR" sz="3200" b="1" i="0" u="none" strike="noStrike" kern="1200" cap="none" spc="0" normalizeH="0" baseline="0" noProof="0" dirty="0" smtClean="0">
              <a:ln>
                <a:noFill/>
              </a:ln>
              <a:solidFill>
                <a:schemeClr val="lt1"/>
              </a:solidFill>
              <a:effectLst/>
              <a:uLnTx/>
              <a:uFillTx/>
              <a:latin typeface="+mn-lt"/>
              <a:ea typeface="+mn-ea"/>
              <a:cs typeface="+mn-cs"/>
            </a:endParaRPr>
          </a:p>
        </p:txBody>
      </p:sp>
      <p:sp>
        <p:nvSpPr>
          <p:cNvPr id="5" name="Rectangle 4"/>
          <p:cNvSpPr/>
          <p:nvPr/>
        </p:nvSpPr>
        <p:spPr>
          <a:xfrm>
            <a:off x="251520" y="1052736"/>
            <a:ext cx="3240360" cy="36004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2000" b="1" dirty="0" smtClean="0"/>
              <a:t>Muqueuse </a:t>
            </a:r>
            <a:r>
              <a:rPr lang="fr-FR" sz="2000" b="1" dirty="0"/>
              <a:t> </a:t>
            </a:r>
            <a:r>
              <a:rPr lang="fr-FR" sz="2000" b="1" dirty="0" smtClean="0"/>
              <a:t>pulmonaire</a:t>
            </a:r>
            <a:endParaRPr lang="fr-FR" sz="2000" b="1" dirty="0"/>
          </a:p>
        </p:txBody>
      </p:sp>
      <p:sp>
        <p:nvSpPr>
          <p:cNvPr id="6" name="Rectangle 5"/>
          <p:cNvSpPr/>
          <p:nvPr/>
        </p:nvSpPr>
        <p:spPr>
          <a:xfrm>
            <a:off x="323528" y="1859340"/>
            <a:ext cx="8424936" cy="4154984"/>
          </a:xfrm>
          <a:prstGeom prst="rect">
            <a:avLst/>
          </a:prstGeom>
        </p:spPr>
        <p:txBody>
          <a:bodyPr wrap="square">
            <a:spAutoFit/>
          </a:bodyPr>
          <a:lstStyle/>
          <a:p>
            <a:r>
              <a:rPr lang="fr-FR" sz="2400" i="1" dirty="0"/>
              <a:t>* A action générale (anesthésie)</a:t>
            </a:r>
          </a:p>
          <a:p>
            <a:r>
              <a:rPr lang="fr-FR" sz="2400" dirty="0" smtClean="0"/>
              <a:t>-Gaz </a:t>
            </a:r>
            <a:r>
              <a:rPr lang="fr-FR" sz="2400" dirty="0"/>
              <a:t>(protoxyde d’azote)</a:t>
            </a:r>
          </a:p>
          <a:p>
            <a:r>
              <a:rPr lang="fr-FR" sz="2400" dirty="0" smtClean="0"/>
              <a:t>-Liquides </a:t>
            </a:r>
            <a:r>
              <a:rPr lang="fr-FR" sz="2400" dirty="0"/>
              <a:t>volatils (</a:t>
            </a:r>
            <a:r>
              <a:rPr lang="fr-FR" sz="2400" b="1" dirty="0" smtClean="0">
                <a:solidFill>
                  <a:srgbClr val="002060"/>
                </a:solidFill>
              </a:rPr>
              <a:t>anesthésique halogéné: </a:t>
            </a:r>
            <a:r>
              <a:rPr lang="fr-FR" sz="2400" b="1" dirty="0" err="1" smtClean="0">
                <a:solidFill>
                  <a:srgbClr val="002060"/>
                </a:solidFill>
              </a:rPr>
              <a:t>sevoflurane</a:t>
            </a:r>
            <a:r>
              <a:rPr lang="fr-FR" sz="2400" dirty="0" smtClean="0"/>
              <a:t>) liquide </a:t>
            </a:r>
            <a:r>
              <a:rPr lang="fr-FR" sz="2400" dirty="0"/>
              <a:t>dans les conditions atmosphériques, ils s'évaporent cependant très facilement ce qui permet de les administrer par voie respiratoire</a:t>
            </a:r>
            <a:r>
              <a:rPr lang="fr-FR" sz="2400" dirty="0" smtClean="0"/>
              <a:t>.</a:t>
            </a:r>
          </a:p>
          <a:p>
            <a:endParaRPr lang="fr-FR" sz="2400" dirty="0"/>
          </a:p>
          <a:p>
            <a:r>
              <a:rPr lang="fr-FR" sz="2400" dirty="0"/>
              <a:t>* A action locale (</a:t>
            </a:r>
            <a:r>
              <a:rPr lang="fr-FR" sz="2400" dirty="0" smtClean="0"/>
              <a:t>asthme) Aérosols</a:t>
            </a:r>
            <a:r>
              <a:rPr lang="fr-FR" sz="2400" dirty="0"/>
              <a:t>, </a:t>
            </a:r>
          </a:p>
          <a:p>
            <a:r>
              <a:rPr lang="fr-FR" sz="2400" dirty="0"/>
              <a:t>solutions ou poudres pour inhalation (en suspension dans un gaz vecteur</a:t>
            </a:r>
            <a:r>
              <a:rPr lang="fr-FR" sz="2400" dirty="0" smtClean="0"/>
              <a:t>)</a:t>
            </a:r>
          </a:p>
          <a:p>
            <a:r>
              <a:rPr lang="fr-FR" sz="2400" dirty="0" smtClean="0"/>
              <a:t>Ex </a:t>
            </a:r>
            <a:r>
              <a:rPr lang="fr-FR" sz="2400" b="1" dirty="0" err="1" smtClean="0">
                <a:solidFill>
                  <a:srgbClr val="002060"/>
                </a:solidFill>
              </a:rPr>
              <a:t>salbutamol</a:t>
            </a:r>
            <a:r>
              <a:rPr lang="fr-FR" sz="2400" b="1" dirty="0" smtClean="0">
                <a:solidFill>
                  <a:srgbClr val="002060"/>
                </a:solidFill>
              </a:rPr>
              <a:t> et </a:t>
            </a:r>
            <a:r>
              <a:rPr lang="fr-FR" sz="2400" b="1" dirty="0" err="1" smtClean="0">
                <a:solidFill>
                  <a:srgbClr val="002060"/>
                </a:solidFill>
              </a:rPr>
              <a:t>trt</a:t>
            </a:r>
            <a:r>
              <a:rPr lang="fr-FR" sz="2400" b="1" dirty="0" smtClean="0">
                <a:solidFill>
                  <a:srgbClr val="002060"/>
                </a:solidFill>
              </a:rPr>
              <a:t> de l’asthme </a:t>
            </a:r>
            <a:endParaRPr lang="fr-FR" sz="2400" b="1" dirty="0">
              <a:solidFill>
                <a:srgbClr val="002060"/>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endParaRPr lang="fr-FR"/>
          </a:p>
        </p:txBody>
      </p:sp>
      <p:sp>
        <p:nvSpPr>
          <p:cNvPr id="3" name="Espace réservé du numéro de diapositive 2"/>
          <p:cNvSpPr>
            <a:spLocks noGrp="1"/>
          </p:cNvSpPr>
          <p:nvPr>
            <p:ph type="sldNum" sz="quarter" idx="12"/>
          </p:nvPr>
        </p:nvSpPr>
        <p:spPr/>
        <p:txBody>
          <a:bodyPr/>
          <a:lstStyle/>
          <a:p>
            <a:fld id="{A7C9A1F7-440B-49A3-BFDF-704999814E67}" type="slidenum">
              <a:rPr lang="fr-FR" smtClean="0"/>
              <a:pPr/>
              <a:t>22</a:t>
            </a:fld>
            <a:endParaRPr lang="fr-FR"/>
          </a:p>
        </p:txBody>
      </p:sp>
      <p:sp>
        <p:nvSpPr>
          <p:cNvPr id="4" name="Titre 1"/>
          <p:cNvSpPr txBox="1">
            <a:spLocks/>
          </p:cNvSpPr>
          <p:nvPr/>
        </p:nvSpPr>
        <p:spPr>
          <a:xfrm>
            <a:off x="395536" y="188640"/>
            <a:ext cx="8229600" cy="57606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3200" b="1" i="0" u="none" strike="noStrike" kern="1200" cap="none" spc="0" normalizeH="0" baseline="0" noProof="0" dirty="0" smtClean="0">
                <a:ln>
                  <a:noFill/>
                </a:ln>
                <a:solidFill>
                  <a:schemeClr val="lt1"/>
                </a:solidFill>
                <a:effectLst/>
                <a:uLnTx/>
                <a:uFillTx/>
                <a:latin typeface="+mn-lt"/>
                <a:ea typeface="+mn-ea"/>
                <a:cs typeface="+mn-cs"/>
              </a:rPr>
              <a:t>Administration par voie </a:t>
            </a:r>
            <a:r>
              <a:rPr kumimoji="0" lang="fr-FR" sz="3200" b="1" i="0" u="none" strike="noStrike" kern="1200" cap="none" spc="0" normalizeH="0" baseline="0" noProof="0" dirty="0" err="1" smtClean="0">
                <a:ln>
                  <a:noFill/>
                </a:ln>
                <a:solidFill>
                  <a:schemeClr val="lt1"/>
                </a:solidFill>
                <a:effectLst/>
                <a:uLnTx/>
                <a:uFillTx/>
                <a:latin typeface="+mn-lt"/>
                <a:ea typeface="+mn-ea"/>
                <a:cs typeface="+mn-cs"/>
              </a:rPr>
              <a:t>transmuqueuse</a:t>
            </a:r>
            <a:endParaRPr kumimoji="0" lang="fr-FR" sz="3200" b="1" i="0" u="none" strike="noStrike" kern="1200" cap="none" spc="0" normalizeH="0" baseline="0" noProof="0" dirty="0" smtClean="0">
              <a:ln>
                <a:noFill/>
              </a:ln>
              <a:solidFill>
                <a:schemeClr val="lt1"/>
              </a:solidFill>
              <a:effectLst/>
              <a:uLnTx/>
              <a:uFillTx/>
              <a:latin typeface="+mn-lt"/>
              <a:ea typeface="+mn-ea"/>
              <a:cs typeface="+mn-cs"/>
            </a:endParaRPr>
          </a:p>
        </p:txBody>
      </p:sp>
      <p:sp>
        <p:nvSpPr>
          <p:cNvPr id="5" name="Rectangle 4"/>
          <p:cNvSpPr/>
          <p:nvPr/>
        </p:nvSpPr>
        <p:spPr>
          <a:xfrm>
            <a:off x="251520" y="1052736"/>
            <a:ext cx="3240360" cy="36004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2000" b="1" dirty="0" smtClean="0"/>
              <a:t>Muqueuse </a:t>
            </a:r>
            <a:r>
              <a:rPr lang="fr-FR" sz="2000" b="1" dirty="0"/>
              <a:t> </a:t>
            </a:r>
            <a:r>
              <a:rPr lang="fr-FR" sz="2000" b="1" dirty="0" smtClean="0"/>
              <a:t>pulmonaire</a:t>
            </a:r>
            <a:endParaRPr lang="fr-FR" sz="2000" b="1" dirty="0"/>
          </a:p>
        </p:txBody>
      </p:sp>
      <p:pic>
        <p:nvPicPr>
          <p:cNvPr id="7" name="Picture 2"/>
          <p:cNvPicPr>
            <a:picLocks noChangeAspect="1" noChangeArrowheads="1"/>
          </p:cNvPicPr>
          <p:nvPr/>
        </p:nvPicPr>
        <p:blipFill>
          <a:blip r:embed="rId3"/>
          <a:srcRect/>
          <a:stretch>
            <a:fillRect/>
          </a:stretch>
        </p:blipFill>
        <p:spPr bwMode="auto">
          <a:xfrm>
            <a:off x="542925" y="1606550"/>
            <a:ext cx="4622800" cy="4930775"/>
          </a:xfrm>
          <a:prstGeom prst="rect">
            <a:avLst/>
          </a:prstGeom>
          <a:noFill/>
          <a:ln w="9525">
            <a:noFill/>
            <a:miter lim="800000"/>
            <a:headEnd/>
            <a:tailEnd/>
          </a:ln>
        </p:spPr>
      </p:pic>
      <p:grpSp>
        <p:nvGrpSpPr>
          <p:cNvPr id="8" name="Groupe 13"/>
          <p:cNvGrpSpPr>
            <a:grpSpLocks/>
          </p:cNvGrpSpPr>
          <p:nvPr/>
        </p:nvGrpSpPr>
        <p:grpSpPr bwMode="auto">
          <a:xfrm>
            <a:off x="4918075" y="1570038"/>
            <a:ext cx="3582988" cy="2051050"/>
            <a:chOff x="4917989" y="1569296"/>
            <a:chExt cx="3583460" cy="2051234"/>
          </a:xfrm>
        </p:grpSpPr>
        <p:sp>
          <p:nvSpPr>
            <p:cNvPr id="9" name="Légende encadrée 1 10"/>
            <p:cNvSpPr/>
            <p:nvPr/>
          </p:nvSpPr>
          <p:spPr>
            <a:xfrm>
              <a:off x="6140525" y="1569296"/>
              <a:ext cx="2360924" cy="1816263"/>
            </a:xfrm>
            <a:prstGeom prst="borderCallout1">
              <a:avLst>
                <a:gd name="adj1" fmla="val 49519"/>
                <a:gd name="adj2" fmla="val 364"/>
                <a:gd name="adj3" fmla="val 72364"/>
                <a:gd name="adj4" fmla="val -36239"/>
              </a:avLst>
            </a:prstGeom>
            <a:ln/>
          </p:spPr>
          <p:style>
            <a:lnRef idx="1">
              <a:schemeClr val="accent2"/>
            </a:lnRef>
            <a:fillRef idx="2">
              <a:schemeClr val="accent2"/>
            </a:fillRef>
            <a:effectRef idx="1">
              <a:schemeClr val="accent2"/>
            </a:effectRef>
            <a:fontRef idx="minor">
              <a:schemeClr val="dk1"/>
            </a:fontRef>
          </p:style>
          <p:txBody>
            <a:bodyPr anchor="ctr"/>
            <a:lstStyle/>
            <a:p>
              <a:pPr algn="ctr">
                <a:defRPr/>
              </a:pPr>
              <a:r>
                <a:rPr lang="fr-FR" dirty="0">
                  <a:solidFill>
                    <a:schemeClr val="tx1"/>
                  </a:solidFill>
                </a:rPr>
                <a:t>Aérosols avec une taille de particules    </a:t>
              </a:r>
              <a:r>
                <a:rPr lang="fr-FR" dirty="0">
                  <a:solidFill>
                    <a:schemeClr val="tx1"/>
                  </a:solidFill>
                  <a:sym typeface="Symbol"/>
                </a:rPr>
                <a:t> 3µ</a:t>
              </a:r>
            </a:p>
            <a:p>
              <a:pPr algn="ctr">
                <a:defRPr/>
              </a:pPr>
              <a:r>
                <a:rPr lang="fr-FR" dirty="0">
                  <a:solidFill>
                    <a:schemeClr val="tx1"/>
                  </a:solidFill>
                  <a:sym typeface="Wingdings"/>
                </a:rPr>
                <a:t></a:t>
              </a:r>
            </a:p>
            <a:p>
              <a:pPr algn="ctr">
                <a:defRPr/>
              </a:pPr>
              <a:r>
                <a:rPr lang="fr-FR" b="1" dirty="0">
                  <a:solidFill>
                    <a:srgbClr val="FF0000"/>
                  </a:solidFill>
                  <a:sym typeface="Wingdings"/>
                </a:rPr>
                <a:t>Action locale</a:t>
              </a:r>
            </a:p>
            <a:p>
              <a:pPr algn="ctr">
                <a:defRPr/>
              </a:pPr>
              <a:r>
                <a:rPr lang="fr-FR" dirty="0">
                  <a:solidFill>
                    <a:schemeClr val="tx2"/>
                  </a:solidFill>
                  <a:sym typeface="Wingdings"/>
                </a:rPr>
                <a:t>(bronchodilatateurs)</a:t>
              </a:r>
              <a:endParaRPr lang="fr-FR" dirty="0">
                <a:solidFill>
                  <a:schemeClr val="tx2"/>
                </a:solidFill>
              </a:endParaRPr>
            </a:p>
          </p:txBody>
        </p:sp>
        <p:sp>
          <p:nvSpPr>
            <p:cNvPr id="10" name="Accolade fermante 11"/>
            <p:cNvSpPr/>
            <p:nvPr/>
          </p:nvSpPr>
          <p:spPr>
            <a:xfrm>
              <a:off x="4917989" y="2124971"/>
              <a:ext cx="358822" cy="1495559"/>
            </a:xfrm>
            <a:prstGeom prst="rightBrace">
              <a:avLst/>
            </a:prstGeom>
            <a:ln/>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fr-FR"/>
            </a:p>
          </p:txBody>
        </p:sp>
      </p:grpSp>
      <p:sp>
        <p:nvSpPr>
          <p:cNvPr id="11" name="Légende encadrée 1 12"/>
          <p:cNvSpPr/>
          <p:nvPr/>
        </p:nvSpPr>
        <p:spPr>
          <a:xfrm>
            <a:off x="6121400" y="3970338"/>
            <a:ext cx="2836863" cy="1936750"/>
          </a:xfrm>
          <a:prstGeom prst="borderCallout1">
            <a:avLst>
              <a:gd name="adj1" fmla="val 49519"/>
              <a:gd name="adj2" fmla="val 364"/>
              <a:gd name="adj3" fmla="val 13306"/>
              <a:gd name="adj4" fmla="val -40620"/>
            </a:avLst>
          </a:prstGeom>
          <a:ln/>
        </p:spPr>
        <p:style>
          <a:lnRef idx="1">
            <a:schemeClr val="accent2"/>
          </a:lnRef>
          <a:fillRef idx="2">
            <a:schemeClr val="accent2"/>
          </a:fillRef>
          <a:effectRef idx="1">
            <a:schemeClr val="accent2"/>
          </a:effectRef>
          <a:fontRef idx="minor">
            <a:schemeClr val="dk1"/>
          </a:fontRef>
        </p:style>
        <p:txBody>
          <a:bodyPr anchor="ctr"/>
          <a:lstStyle/>
          <a:p>
            <a:pPr algn="ctr">
              <a:defRPr/>
            </a:pPr>
            <a:r>
              <a:rPr lang="fr-FR" dirty="0">
                <a:solidFill>
                  <a:schemeClr val="tx1"/>
                </a:solidFill>
                <a:sym typeface="Symbol"/>
              </a:rPr>
              <a:t>Gaz, liquides volatils et aérosol avec tailles de particules entre 0,2 et 2µ</a:t>
            </a:r>
          </a:p>
          <a:p>
            <a:pPr algn="ctr">
              <a:defRPr/>
            </a:pPr>
            <a:r>
              <a:rPr lang="fr-FR" dirty="0">
                <a:solidFill>
                  <a:schemeClr val="tx1"/>
                </a:solidFill>
                <a:sym typeface="Wingdings"/>
              </a:rPr>
              <a:t></a:t>
            </a:r>
          </a:p>
          <a:p>
            <a:pPr algn="ctr">
              <a:defRPr/>
            </a:pPr>
            <a:r>
              <a:rPr lang="fr-FR" b="1" dirty="0">
                <a:solidFill>
                  <a:srgbClr val="FF0000"/>
                </a:solidFill>
                <a:sym typeface="Wingdings"/>
              </a:rPr>
              <a:t>Action systémique</a:t>
            </a:r>
          </a:p>
          <a:p>
            <a:pPr algn="ctr">
              <a:defRPr/>
            </a:pPr>
            <a:r>
              <a:rPr lang="fr-FR" sz="1600" dirty="0">
                <a:solidFill>
                  <a:schemeClr val="tx2"/>
                </a:solidFill>
                <a:sym typeface="Wingdings"/>
              </a:rPr>
              <a:t>(anesthésiques généraux)</a:t>
            </a:r>
            <a:endParaRPr lang="fr-FR" sz="1600" dirty="0">
              <a:solidFill>
                <a:schemeClr val="tx2"/>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endParaRPr lang="fr-FR"/>
          </a:p>
        </p:txBody>
      </p:sp>
      <p:sp>
        <p:nvSpPr>
          <p:cNvPr id="3" name="Espace réservé du numéro de diapositive 2"/>
          <p:cNvSpPr>
            <a:spLocks noGrp="1"/>
          </p:cNvSpPr>
          <p:nvPr>
            <p:ph type="sldNum" sz="quarter" idx="12"/>
          </p:nvPr>
        </p:nvSpPr>
        <p:spPr/>
        <p:txBody>
          <a:bodyPr/>
          <a:lstStyle/>
          <a:p>
            <a:fld id="{A7C9A1F7-440B-49A3-BFDF-704999814E67}" type="slidenum">
              <a:rPr lang="fr-FR" smtClean="0"/>
              <a:pPr/>
              <a:t>23</a:t>
            </a:fld>
            <a:endParaRPr lang="fr-FR"/>
          </a:p>
        </p:txBody>
      </p:sp>
      <p:sp>
        <p:nvSpPr>
          <p:cNvPr id="4" name="Titre 1"/>
          <p:cNvSpPr txBox="1">
            <a:spLocks/>
          </p:cNvSpPr>
          <p:nvPr/>
        </p:nvSpPr>
        <p:spPr>
          <a:xfrm>
            <a:off x="395536" y="188640"/>
            <a:ext cx="8229600" cy="57606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3600" b="1" i="0" u="none" strike="noStrike" kern="1200" cap="none" spc="0" normalizeH="0" baseline="0" noProof="0" dirty="0" smtClean="0">
                <a:ln>
                  <a:noFill/>
                </a:ln>
                <a:solidFill>
                  <a:schemeClr val="lt1"/>
                </a:solidFill>
                <a:effectLst/>
                <a:uLnTx/>
                <a:uFillTx/>
                <a:latin typeface="+mn-lt"/>
                <a:ea typeface="+mn-ea"/>
                <a:cs typeface="+mn-cs"/>
              </a:rPr>
              <a:t>Administration par voie cutanée</a:t>
            </a:r>
          </a:p>
        </p:txBody>
      </p:sp>
      <p:sp>
        <p:nvSpPr>
          <p:cNvPr id="5" name="Rectangle 4"/>
          <p:cNvSpPr/>
          <p:nvPr/>
        </p:nvSpPr>
        <p:spPr>
          <a:xfrm>
            <a:off x="179512" y="1340768"/>
            <a:ext cx="6607066" cy="2677656"/>
          </a:xfrm>
          <a:prstGeom prst="rect">
            <a:avLst/>
          </a:prstGeom>
        </p:spPr>
        <p:txBody>
          <a:bodyPr wrap="square">
            <a:spAutoFit/>
          </a:bodyPr>
          <a:lstStyle/>
          <a:p>
            <a:r>
              <a:rPr lang="fr-FR" sz="2400" i="1" u="sng" dirty="0"/>
              <a:t>Préparations pour usage </a:t>
            </a:r>
            <a:r>
              <a:rPr lang="fr-FR" sz="2400" i="1" u="sng" dirty="0" smtClean="0"/>
              <a:t>local:</a:t>
            </a:r>
            <a:endParaRPr lang="fr-FR" sz="2400" i="1" u="sng" dirty="0"/>
          </a:p>
          <a:p>
            <a:pPr algn="just"/>
            <a:r>
              <a:rPr lang="fr-FR" sz="2400" dirty="0"/>
              <a:t>- pommades, crèmes, </a:t>
            </a:r>
            <a:r>
              <a:rPr lang="fr-FR" sz="2400" dirty="0" smtClean="0"/>
              <a:t>gels, lotion et huile médicinales </a:t>
            </a:r>
            <a:endParaRPr lang="fr-FR" sz="2400" dirty="0"/>
          </a:p>
          <a:p>
            <a:pPr algn="just"/>
            <a:r>
              <a:rPr lang="fr-FR" sz="2400" dirty="0"/>
              <a:t>- pâtes dermiques…</a:t>
            </a:r>
          </a:p>
          <a:p>
            <a:pPr algn="just"/>
            <a:r>
              <a:rPr lang="fr-FR" sz="2400" dirty="0"/>
              <a:t>A appliquer sur peau propre ou plaie nettoyée</a:t>
            </a:r>
          </a:p>
          <a:p>
            <a:pPr algn="just"/>
            <a:r>
              <a:rPr lang="fr-FR" sz="2400" dirty="0" smtClean="0"/>
              <a:t>Attention </a:t>
            </a:r>
            <a:r>
              <a:rPr lang="fr-FR" sz="2400" dirty="0"/>
              <a:t>: si peau altérée  risque de passage systémique du PA</a:t>
            </a:r>
          </a:p>
        </p:txBody>
      </p:sp>
      <p:sp>
        <p:nvSpPr>
          <p:cNvPr id="6" name="ZoneTexte 5"/>
          <p:cNvSpPr txBox="1"/>
          <p:nvPr/>
        </p:nvSpPr>
        <p:spPr>
          <a:xfrm>
            <a:off x="2699792" y="908720"/>
            <a:ext cx="3379451" cy="461665"/>
          </a:xfrm>
          <a:prstGeom prst="rect">
            <a:avLst/>
          </a:prstGeom>
          <a:noFill/>
        </p:spPr>
        <p:txBody>
          <a:bodyPr wrap="none" rtlCol="0">
            <a:spAutoFit/>
          </a:bodyPr>
          <a:lstStyle/>
          <a:p>
            <a:r>
              <a:rPr lang="fr-FR" sz="2400" dirty="0" err="1" smtClean="0"/>
              <a:t>Mdt</a:t>
            </a:r>
            <a:r>
              <a:rPr lang="fr-FR" sz="2400" dirty="0" smtClean="0"/>
              <a:t> appliqué sur la peau </a:t>
            </a:r>
            <a:endParaRPr lang="fr-FR" sz="2400" dirty="0"/>
          </a:p>
        </p:txBody>
      </p:sp>
      <p:sp>
        <p:nvSpPr>
          <p:cNvPr id="8" name="Rectangle 7"/>
          <p:cNvSpPr/>
          <p:nvPr/>
        </p:nvSpPr>
        <p:spPr>
          <a:xfrm>
            <a:off x="0" y="3857628"/>
            <a:ext cx="7105422" cy="2308324"/>
          </a:xfrm>
          <a:prstGeom prst="rect">
            <a:avLst/>
          </a:prstGeom>
        </p:spPr>
        <p:txBody>
          <a:bodyPr wrap="square">
            <a:spAutoFit/>
          </a:bodyPr>
          <a:lstStyle/>
          <a:p>
            <a:r>
              <a:rPr lang="fr-FR" sz="2400" i="1" u="sng" dirty="0" smtClean="0"/>
              <a:t>Préparations pour usage systémique: transcutanée</a:t>
            </a:r>
          </a:p>
          <a:p>
            <a:pPr algn="just"/>
            <a:r>
              <a:rPr lang="fr-FR" sz="2400" b="1" dirty="0"/>
              <a:t>-</a:t>
            </a:r>
            <a:r>
              <a:rPr lang="fr-FR" sz="2400" b="1" dirty="0" smtClean="0"/>
              <a:t>Systèmes transdermiques = patchs</a:t>
            </a:r>
          </a:p>
          <a:p>
            <a:pPr algn="just"/>
            <a:r>
              <a:rPr lang="fr-FR" sz="2400" dirty="0" smtClean="0"/>
              <a:t>Nombreuses applications :</a:t>
            </a:r>
          </a:p>
          <a:p>
            <a:pPr algn="just"/>
            <a:r>
              <a:rPr lang="fr-FR" sz="2400" dirty="0" smtClean="0"/>
              <a:t>- sevrage tabagique (</a:t>
            </a:r>
            <a:r>
              <a:rPr lang="fr-FR" sz="2400" dirty="0" err="1" smtClean="0"/>
              <a:t>nicopatch</a:t>
            </a:r>
            <a:r>
              <a:rPr lang="fr-FR" sz="2400" dirty="0" smtClean="0"/>
              <a:t>)</a:t>
            </a:r>
          </a:p>
          <a:p>
            <a:pPr algn="just">
              <a:buFontTx/>
              <a:buChar char="-"/>
            </a:pPr>
            <a:r>
              <a:rPr lang="fr-FR" sz="2400" dirty="0" smtClean="0"/>
              <a:t>antalgique (</a:t>
            </a:r>
            <a:r>
              <a:rPr lang="fr-FR" sz="2400" dirty="0" err="1" smtClean="0"/>
              <a:t>fentanyl</a:t>
            </a:r>
            <a:r>
              <a:rPr lang="fr-FR" sz="2400" dirty="0" smtClean="0"/>
              <a:t>)</a:t>
            </a:r>
          </a:p>
          <a:p>
            <a:pPr algn="just"/>
            <a:endParaRPr lang="fr-FR" sz="2400" dirty="0"/>
          </a:p>
        </p:txBody>
      </p:sp>
      <p:pic>
        <p:nvPicPr>
          <p:cNvPr id="9" name="Picture 2"/>
          <p:cNvPicPr>
            <a:picLocks noChangeAspect="1" noChangeArrowheads="1"/>
          </p:cNvPicPr>
          <p:nvPr/>
        </p:nvPicPr>
        <p:blipFill>
          <a:blip r:embed="rId2"/>
          <a:srcRect/>
          <a:stretch>
            <a:fillRect/>
          </a:stretch>
        </p:blipFill>
        <p:spPr bwMode="auto">
          <a:xfrm>
            <a:off x="6143636" y="3571876"/>
            <a:ext cx="2771775" cy="3286124"/>
          </a:xfrm>
          <a:prstGeom prst="rect">
            <a:avLst/>
          </a:prstGeom>
          <a:noFill/>
          <a:ln w="9525">
            <a:noFill/>
            <a:miter lim="800000"/>
            <a:headEnd/>
            <a:tailEnd/>
          </a:ln>
          <a:effectLst/>
        </p:spPr>
      </p:pic>
      <p:pic>
        <p:nvPicPr>
          <p:cNvPr id="10" name="Picture 2"/>
          <p:cNvPicPr>
            <a:picLocks noChangeAspect="1" noChangeArrowheads="1"/>
          </p:cNvPicPr>
          <p:nvPr/>
        </p:nvPicPr>
        <p:blipFill>
          <a:blip r:embed="rId3"/>
          <a:srcRect/>
          <a:stretch>
            <a:fillRect/>
          </a:stretch>
        </p:blipFill>
        <p:spPr bwMode="auto">
          <a:xfrm>
            <a:off x="6786578" y="1500174"/>
            <a:ext cx="2000252" cy="198120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e">
  <a:themeElements>
    <a:clrScheme name="Origine">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e">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e">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28855</TotalTime>
  <Words>1405</Words>
  <Application>Microsoft Office PowerPoint</Application>
  <PresentationFormat>Affichage à l'écran (4:3)</PresentationFormat>
  <Paragraphs>234</Paragraphs>
  <Slides>23</Slides>
  <Notes>6</Notes>
  <HiddenSlides>0</HiddenSlides>
  <MMClips>0</MMClips>
  <ScaleCrop>false</ScaleCrop>
  <HeadingPairs>
    <vt:vector size="4" baseType="variant">
      <vt:variant>
        <vt:lpstr>Thème</vt:lpstr>
      </vt:variant>
      <vt:variant>
        <vt:i4>1</vt:i4>
      </vt:variant>
      <vt:variant>
        <vt:lpstr>Titres des diapositives</vt:lpstr>
      </vt:variant>
      <vt:variant>
        <vt:i4>23</vt:i4>
      </vt:variant>
    </vt:vector>
  </HeadingPairs>
  <TitlesOfParts>
    <vt:vector size="24" baseType="lpstr">
      <vt:lpstr>Origine</vt:lpstr>
      <vt:lpstr>Diapositive 1</vt:lpstr>
      <vt:lpstr>Définition : </vt:lpstr>
      <vt:lpstr>Classification des  voies d’administration </vt:lpstr>
      <vt:lpstr>Administration par voie orale </vt:lpstr>
      <vt:lpstr> Les formes orales </vt:lpstr>
      <vt:lpstr>Diapositive 6</vt:lpstr>
      <vt:lpstr>Diapositive 7</vt:lpstr>
      <vt:lpstr>Diapositive 8</vt:lpstr>
      <vt:lpstr>Diapositive 9</vt:lpstr>
      <vt:lpstr>Diapositive 10</vt:lpstr>
      <vt:lpstr>Diapositive 11</vt:lpstr>
      <vt:lpstr>Diapositive 12</vt:lpstr>
      <vt:lpstr>Diapositive 13</vt:lpstr>
      <vt:lpstr>Diapositive 14</vt:lpstr>
      <vt:lpstr>Diapositive 15</vt:lpstr>
      <vt:lpstr>Diapositive 16</vt:lpstr>
      <vt:lpstr>Diapositive 17</vt:lpstr>
      <vt:lpstr>Diapositive 18</vt:lpstr>
      <vt:lpstr>Diapositive 19</vt:lpstr>
      <vt:lpstr>Diapositive 20</vt:lpstr>
      <vt:lpstr>Diapositive 21</vt:lpstr>
      <vt:lpstr>Diapositive 22</vt:lpstr>
      <vt:lpstr>Diapositive 23</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Voies d’administration des médicaments et formes pharmaceutiques</dc:title>
  <dc:creator>PROBOOK 4530s</dc:creator>
  <cp:lastModifiedBy>tassili</cp:lastModifiedBy>
  <cp:revision>32</cp:revision>
  <dcterms:created xsi:type="dcterms:W3CDTF">2015-04-24T09:20:26Z</dcterms:created>
  <dcterms:modified xsi:type="dcterms:W3CDTF">2024-10-12T21:38:03Z</dcterms:modified>
</cp:coreProperties>
</file>