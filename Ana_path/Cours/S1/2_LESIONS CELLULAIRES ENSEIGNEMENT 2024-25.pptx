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3" r:id="rId16"/>
    <p:sldId id="274" r:id="rId17"/>
    <p:sldId id="275" r:id="rId18"/>
    <p:sldId id="271" r:id="rId19"/>
    <p:sldId id="276" r:id="rId20"/>
    <p:sldId id="300" r:id="rId21"/>
    <p:sldId id="277" r:id="rId22"/>
    <p:sldId id="304" r:id="rId23"/>
    <p:sldId id="278" r:id="rId24"/>
    <p:sldId id="281" r:id="rId25"/>
    <p:sldId id="279" r:id="rId26"/>
    <p:sldId id="298" r:id="rId27"/>
    <p:sldId id="282" r:id="rId28"/>
    <p:sldId id="283" r:id="rId29"/>
    <p:sldId id="301" r:id="rId30"/>
    <p:sldId id="302" r:id="rId31"/>
    <p:sldId id="303" r:id="rId32"/>
    <p:sldId id="305" r:id="rId33"/>
    <p:sldId id="284" r:id="rId34"/>
    <p:sldId id="285" r:id="rId35"/>
    <p:sldId id="287" r:id="rId36"/>
    <p:sldId id="290" r:id="rId37"/>
    <p:sldId id="308" r:id="rId38"/>
    <p:sldId id="306" r:id="rId39"/>
    <p:sldId id="307" r:id="rId40"/>
    <p:sldId id="299" r:id="rId41"/>
    <p:sldId id="293" r:id="rId4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582"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BB9DFFAD-4FE8-4ECC-90CE-0C8A3707C394}" type="datetimeFigureOut">
              <a:rPr lang="fr-FR" smtClean="0"/>
              <a:pPr/>
              <a:t>21/10/2024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D34E37-5619-43DE-8A23-59FF6BCB6883}"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9DFFAD-4FE8-4ECC-90CE-0C8A3707C394}" type="datetimeFigureOut">
              <a:rPr lang="fr-FR" smtClean="0"/>
              <a:pPr/>
              <a:t>21/10/2024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D34E37-5619-43DE-8A23-59FF6BCB6883}"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1428728" y="2500306"/>
            <a:ext cx="6400800" cy="1752600"/>
          </a:xfrm>
        </p:spPr>
        <p:txBody>
          <a:bodyPr>
            <a:normAutofit fontScale="92500"/>
          </a:bodyPr>
          <a:lstStyle/>
          <a:p>
            <a:r>
              <a:rPr lang="fr-FR" b="1" dirty="0" smtClean="0">
                <a:solidFill>
                  <a:schemeClr val="tx1"/>
                </a:solidFill>
              </a:rPr>
              <a:t>LESIONS CELLULAIRES ET TISSULAIRES </a:t>
            </a:r>
          </a:p>
          <a:p>
            <a:r>
              <a:rPr lang="fr-FR" b="1" dirty="0" smtClean="0">
                <a:solidFill>
                  <a:schemeClr val="tx1"/>
                </a:solidFill>
              </a:rPr>
              <a:t>Pr A </a:t>
            </a:r>
            <a:r>
              <a:rPr lang="fr-FR" b="1" dirty="0" err="1" smtClean="0">
                <a:solidFill>
                  <a:schemeClr val="tx1"/>
                </a:solidFill>
              </a:rPr>
              <a:t>Belarbi</a:t>
            </a:r>
            <a:r>
              <a:rPr lang="fr-FR" b="1" dirty="0" smtClean="0">
                <a:solidFill>
                  <a:schemeClr val="tx1"/>
                </a:solidFill>
              </a:rPr>
              <a:t> </a:t>
            </a:r>
          </a:p>
          <a:p>
            <a:r>
              <a:rPr lang="fr-FR" b="1" dirty="0" smtClean="0">
                <a:solidFill>
                  <a:schemeClr val="tx1"/>
                </a:solidFill>
              </a:rPr>
              <a:t>2024 </a:t>
            </a:r>
            <a:r>
              <a:rPr lang="fr-FR" b="1" dirty="0" smtClean="0">
                <a:solidFill>
                  <a:schemeClr val="tx1"/>
                </a:solidFill>
              </a:rPr>
              <a:t>- </a:t>
            </a:r>
            <a:r>
              <a:rPr lang="fr-FR" b="1" dirty="0" smtClean="0">
                <a:solidFill>
                  <a:schemeClr val="tx1"/>
                </a:solidFill>
              </a:rPr>
              <a:t>2025 </a:t>
            </a:r>
            <a:endParaRPr lang="fr-FR"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928670"/>
            <a:ext cx="8229600" cy="5197493"/>
          </a:xfrm>
        </p:spPr>
        <p:txBody>
          <a:bodyPr>
            <a:normAutofit fontScale="92500" lnSpcReduction="20000"/>
          </a:bodyPr>
          <a:lstStyle/>
          <a:p>
            <a:pPr algn="just">
              <a:buNone/>
            </a:pPr>
            <a:r>
              <a:rPr lang="fr-FR" dirty="0" smtClean="0"/>
              <a:t>1-INTRODUCTION</a:t>
            </a:r>
          </a:p>
          <a:p>
            <a:pPr algn="just">
              <a:buNone/>
            </a:pPr>
            <a:endParaRPr lang="fr-FR" dirty="0"/>
          </a:p>
          <a:p>
            <a:pPr algn="just">
              <a:buNone/>
            </a:pPr>
            <a:r>
              <a:rPr lang="fr-FR" dirty="0" smtClean="0"/>
              <a:t>Lorsque </a:t>
            </a:r>
            <a:r>
              <a:rPr lang="fr-FR" dirty="0"/>
              <a:t>l'environnement d'une cellule ou d'un tissu </a:t>
            </a:r>
            <a:r>
              <a:rPr lang="fr-FR" dirty="0" smtClean="0"/>
              <a:t>est modifié </a:t>
            </a:r>
            <a:r>
              <a:rPr lang="fr-FR" dirty="0"/>
              <a:t>(exigences physiologiques plus </a:t>
            </a:r>
            <a:r>
              <a:rPr lang="fr-FR" dirty="0" smtClean="0"/>
              <a:t>importantes, circonstances </a:t>
            </a:r>
            <a:r>
              <a:rPr lang="fr-FR" dirty="0"/>
              <a:t>pathologiques), il existe des possibilités d'adaptation cellulaire et tissulaire, avec un </a:t>
            </a:r>
            <a:r>
              <a:rPr lang="fr-FR" dirty="0" smtClean="0"/>
              <a:t>nouvel équilibre</a:t>
            </a:r>
            <a:r>
              <a:rPr lang="fr-FR" dirty="0"/>
              <a:t>: atrophie, hypertrophie, hyperplasie…Ces phénomènes peuvent être réversibles lors du retour </a:t>
            </a:r>
            <a:r>
              <a:rPr lang="fr-FR" dirty="0" smtClean="0"/>
              <a:t>aux conditions </a:t>
            </a:r>
            <a:r>
              <a:rPr lang="fr-FR" dirty="0"/>
              <a:t>antérieures.</a:t>
            </a:r>
          </a:p>
          <a:p>
            <a:pPr algn="just">
              <a:buNone/>
            </a:pPr>
            <a:r>
              <a:rPr lang="fr-FR" dirty="0"/>
              <a:t>Si les limites de la réponse adaptative sont dépassées, ou que celle-ci est impossible, on observe alors </a:t>
            </a:r>
            <a:r>
              <a:rPr lang="fr-FR" dirty="0" smtClean="0"/>
              <a:t>des lésions </a:t>
            </a:r>
            <a:r>
              <a:rPr lang="fr-FR" dirty="0"/>
              <a:t>cellulaires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142984"/>
            <a:ext cx="8229600" cy="4983179"/>
          </a:xfrm>
        </p:spPr>
        <p:txBody>
          <a:bodyPr>
            <a:normAutofit fontScale="92500" lnSpcReduction="10000"/>
          </a:bodyPr>
          <a:lstStyle/>
          <a:p>
            <a:pPr algn="just">
              <a:buNone/>
            </a:pPr>
            <a:r>
              <a:rPr lang="fr-FR" dirty="0" smtClean="0"/>
              <a:t>2- ADAPATATION CELLULAIRE ET TISSULAIRE</a:t>
            </a:r>
          </a:p>
          <a:p>
            <a:pPr algn="just">
              <a:buNone/>
            </a:pPr>
            <a:endParaRPr lang="fr-FR" dirty="0" smtClean="0"/>
          </a:p>
          <a:p>
            <a:pPr algn="just">
              <a:buNone/>
            </a:pPr>
            <a:r>
              <a:rPr lang="fr-FR" dirty="0" smtClean="0"/>
              <a:t>Lors </a:t>
            </a:r>
            <a:r>
              <a:rPr lang="fr-FR" dirty="0"/>
              <a:t>de modifications durables de l'environnement, la cellule peut s'adapter, ce qui conduit à </a:t>
            </a:r>
            <a:r>
              <a:rPr lang="fr-FR" dirty="0" smtClean="0"/>
              <a:t>certaines transformations </a:t>
            </a:r>
            <a:r>
              <a:rPr lang="fr-FR" dirty="0"/>
              <a:t>structurales de la cellule ou de certains de ses constituants</a:t>
            </a:r>
          </a:p>
          <a:p>
            <a:pPr algn="just">
              <a:buNone/>
            </a:pPr>
            <a:r>
              <a:rPr lang="fr-FR" dirty="0"/>
              <a:t>Les principales réponses adaptatives d'une cellule et d'un tissu sont l'atrophie (ou hypotrophie),</a:t>
            </a:r>
          </a:p>
          <a:p>
            <a:pPr algn="just">
              <a:buNone/>
            </a:pPr>
            <a:r>
              <a:rPr lang="fr-FR" dirty="0"/>
              <a:t>l'hypertrophie, l'hypoplasie et l'aplasie, l'hyperplasie, la métaplasie, la dystrophie.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28604"/>
            <a:ext cx="8229600" cy="5697559"/>
          </a:xfrm>
        </p:spPr>
        <p:txBody>
          <a:bodyPr>
            <a:normAutofit fontScale="85000" lnSpcReduction="20000"/>
          </a:bodyPr>
          <a:lstStyle/>
          <a:p>
            <a:pPr>
              <a:buNone/>
            </a:pPr>
            <a:r>
              <a:rPr lang="fr-FR" dirty="0" smtClean="0"/>
              <a:t>a- Atrophie (hypotrophie)</a:t>
            </a:r>
          </a:p>
          <a:p>
            <a:pPr>
              <a:buNone/>
            </a:pPr>
            <a:endParaRPr lang="fr-FR" dirty="0" smtClean="0"/>
          </a:p>
          <a:p>
            <a:pPr algn="just">
              <a:buNone/>
            </a:pPr>
            <a:r>
              <a:rPr lang="fr-FR" b="1" dirty="0"/>
              <a:t>L'atrophie cellulaire est la diminution de la masse fonctionnelle d'une cellule habituellement liée à </a:t>
            </a:r>
            <a:r>
              <a:rPr lang="fr-FR" b="1" dirty="0" smtClean="0"/>
              <a:t>une </a:t>
            </a:r>
            <a:r>
              <a:rPr lang="fr-FR" dirty="0" smtClean="0"/>
              <a:t>diminution </a:t>
            </a:r>
            <a:r>
              <a:rPr lang="fr-FR" dirty="0"/>
              <a:t>de son activité. </a:t>
            </a:r>
            <a:endParaRPr lang="fr-FR" dirty="0" smtClean="0"/>
          </a:p>
          <a:p>
            <a:pPr algn="just">
              <a:buNone/>
            </a:pPr>
            <a:r>
              <a:rPr lang="fr-FR" dirty="0" smtClean="0"/>
              <a:t>Elle </a:t>
            </a:r>
            <a:r>
              <a:rPr lang="fr-FR" dirty="0"/>
              <a:t>se traduit par une diminution du volume cellulaire en rapport avec </a:t>
            </a:r>
            <a:r>
              <a:rPr lang="fr-FR" dirty="0" smtClean="0"/>
              <a:t>une diminution </a:t>
            </a:r>
            <a:r>
              <a:rPr lang="fr-FR" dirty="0"/>
              <a:t>de nombre et de taille de constituants normaux de la cellule (myofibrilles ..). La cellule </a:t>
            </a:r>
            <a:r>
              <a:rPr lang="fr-FR" dirty="0" smtClean="0"/>
              <a:t>atrophiée est </a:t>
            </a:r>
            <a:r>
              <a:rPr lang="fr-FR" dirty="0"/>
              <a:t>donc souvent une cellule dédifférenciée.</a:t>
            </a:r>
          </a:p>
          <a:p>
            <a:pPr algn="just">
              <a:buNone/>
            </a:pPr>
            <a:r>
              <a:rPr lang="fr-FR" b="1" dirty="0"/>
              <a:t>L'atrophie d'un tissu ou d'un organe est due à l'atrophie cellulaire et/ou à la diminution du nombre </a:t>
            </a:r>
            <a:r>
              <a:rPr lang="fr-FR" b="1" dirty="0" smtClean="0"/>
              <a:t>des </a:t>
            </a:r>
            <a:r>
              <a:rPr lang="fr-FR" dirty="0" smtClean="0"/>
              <a:t>cellules</a:t>
            </a:r>
            <a:r>
              <a:rPr lang="fr-FR" dirty="0"/>
              <a:t>. </a:t>
            </a:r>
            <a:endParaRPr lang="fr-FR" dirty="0" smtClean="0"/>
          </a:p>
          <a:p>
            <a:pPr algn="just">
              <a:buNone/>
            </a:pPr>
            <a:r>
              <a:rPr lang="fr-FR" dirty="0" smtClean="0"/>
              <a:t>Un </a:t>
            </a:r>
            <a:r>
              <a:rPr lang="fr-FR" dirty="0"/>
              <a:t>organe atrophique présente une diminution de son volume et de son poids.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28604"/>
            <a:ext cx="8229600" cy="5697559"/>
          </a:xfrm>
        </p:spPr>
        <p:txBody>
          <a:bodyPr>
            <a:normAutofit fontScale="92500" lnSpcReduction="20000"/>
          </a:bodyPr>
          <a:lstStyle/>
          <a:p>
            <a:pPr>
              <a:buNone/>
            </a:pPr>
            <a:r>
              <a:rPr lang="fr-FR" dirty="0" smtClean="0"/>
              <a:t>Conditions d’apparition et ex:</a:t>
            </a:r>
          </a:p>
          <a:p>
            <a:pPr>
              <a:buNone/>
            </a:pPr>
            <a:endParaRPr lang="fr-FR" dirty="0" smtClean="0"/>
          </a:p>
          <a:p>
            <a:pPr algn="just">
              <a:buNone/>
            </a:pPr>
            <a:r>
              <a:rPr lang="fr-FR" b="1" dirty="0"/>
              <a:t>Atrophie physiologique</a:t>
            </a:r>
          </a:p>
          <a:p>
            <a:pPr algn="just">
              <a:buNone/>
            </a:pPr>
            <a:r>
              <a:rPr lang="fr-FR" dirty="0"/>
              <a:t>Elle est liée le plus souvent à une involution hormonale: atrophie du thymus après la puberté, atrophie </a:t>
            </a:r>
            <a:r>
              <a:rPr lang="fr-FR" dirty="0" smtClean="0"/>
              <a:t>des ovaires </a:t>
            </a:r>
            <a:r>
              <a:rPr lang="fr-FR" dirty="0"/>
              <a:t>et de l'endomètre après la ménopause</a:t>
            </a:r>
            <a:r>
              <a:rPr lang="fr-FR" dirty="0" smtClean="0"/>
              <a:t>.</a:t>
            </a:r>
          </a:p>
          <a:p>
            <a:pPr algn="just">
              <a:buNone/>
            </a:pPr>
            <a:endParaRPr lang="fr-FR" dirty="0"/>
          </a:p>
          <a:p>
            <a:pPr algn="just">
              <a:buNone/>
            </a:pPr>
            <a:r>
              <a:rPr lang="fr-FR" b="1" dirty="0"/>
              <a:t>Atrophie pathologique</a:t>
            </a:r>
          </a:p>
          <a:p>
            <a:pPr algn="just">
              <a:buNone/>
            </a:pPr>
            <a:r>
              <a:rPr lang="fr-FR" dirty="0"/>
              <a:t>Atrophie musculaire par suppression de l'innervation</a:t>
            </a:r>
          </a:p>
          <a:p>
            <a:pPr algn="just">
              <a:buNone/>
            </a:pPr>
            <a:r>
              <a:rPr lang="fr-FR" dirty="0"/>
              <a:t>Atrophie des adipocytes lors des états de dénutrition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928670"/>
            <a:ext cx="8229600" cy="5197493"/>
          </a:xfrm>
        </p:spPr>
        <p:txBody>
          <a:bodyPr>
            <a:normAutofit fontScale="85000" lnSpcReduction="20000"/>
          </a:bodyPr>
          <a:lstStyle/>
          <a:p>
            <a:pPr>
              <a:buNone/>
            </a:pPr>
            <a:r>
              <a:rPr lang="fr-FR" dirty="0" smtClean="0"/>
              <a:t>b- Hypertrophie:</a:t>
            </a:r>
          </a:p>
          <a:p>
            <a:pPr algn="just">
              <a:buNone/>
            </a:pPr>
            <a:endParaRPr lang="fr-FR" dirty="0"/>
          </a:p>
          <a:p>
            <a:pPr algn="just">
              <a:buNone/>
            </a:pPr>
            <a:r>
              <a:rPr lang="fr-FR" b="1" dirty="0"/>
              <a:t>L'hypertrophie cellulaire est une augmentation réversible de la taille d'une cellule en rapport avec </a:t>
            </a:r>
            <a:r>
              <a:rPr lang="fr-FR" b="1" dirty="0" smtClean="0"/>
              <a:t>une </a:t>
            </a:r>
            <a:r>
              <a:rPr lang="fr-FR" dirty="0" smtClean="0"/>
              <a:t>augmentation </a:t>
            </a:r>
            <a:r>
              <a:rPr lang="fr-FR" dirty="0"/>
              <a:t>de la taille et du nombre de ses constituants. Cette hypertrophie va habituellement de pair </a:t>
            </a:r>
            <a:r>
              <a:rPr lang="fr-FR" dirty="0" smtClean="0"/>
              <a:t>avec une </a:t>
            </a:r>
            <a:r>
              <a:rPr lang="fr-FR" dirty="0"/>
              <a:t>augmentation des stimuli et de l'activité de la </a:t>
            </a:r>
            <a:r>
              <a:rPr lang="fr-FR" dirty="0" smtClean="0"/>
              <a:t>cellule</a:t>
            </a:r>
          </a:p>
          <a:p>
            <a:pPr algn="just">
              <a:buNone/>
            </a:pPr>
            <a:endParaRPr lang="fr-FR" dirty="0"/>
          </a:p>
          <a:p>
            <a:pPr algn="just">
              <a:buNone/>
            </a:pPr>
            <a:r>
              <a:rPr lang="fr-FR" b="1" dirty="0"/>
              <a:t>L'hypertrophie tissulaire est une augmentation du volume d'un tissu ou d'un organe liée, soit à </a:t>
            </a:r>
            <a:r>
              <a:rPr lang="fr-FR" b="1" dirty="0" smtClean="0"/>
              <a:t>une </a:t>
            </a:r>
            <a:r>
              <a:rPr lang="fr-FR" dirty="0" smtClean="0"/>
              <a:t>hypertrophie </a:t>
            </a:r>
            <a:r>
              <a:rPr lang="fr-FR" dirty="0"/>
              <a:t>cellulaire, soit à une hyperplasie, soit aux deux à la fois.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14356"/>
            <a:ext cx="8229600" cy="5857916"/>
          </a:xfrm>
        </p:spPr>
        <p:txBody>
          <a:bodyPr>
            <a:normAutofit fontScale="70000" lnSpcReduction="20000"/>
          </a:bodyPr>
          <a:lstStyle/>
          <a:p>
            <a:pPr algn="just">
              <a:buNone/>
            </a:pPr>
            <a:r>
              <a:rPr lang="fr-FR" dirty="0" smtClean="0"/>
              <a:t>Conditions  d’apparition et ex:</a:t>
            </a:r>
          </a:p>
          <a:p>
            <a:pPr algn="just">
              <a:buNone/>
            </a:pPr>
            <a:endParaRPr lang="fr-FR" dirty="0"/>
          </a:p>
          <a:p>
            <a:pPr algn="just">
              <a:buNone/>
            </a:pPr>
            <a:r>
              <a:rPr lang="fr-FR" dirty="0" smtClean="0"/>
              <a:t>L'hypertrophie </a:t>
            </a:r>
            <a:r>
              <a:rPr lang="fr-FR" dirty="0"/>
              <a:t>relève de deux mécanismes:</a:t>
            </a:r>
          </a:p>
          <a:p>
            <a:pPr algn="just">
              <a:buNone/>
            </a:pPr>
            <a:r>
              <a:rPr lang="fr-FR" dirty="0"/>
              <a:t>• augmentation de l'activité mécanique ou métabolique de la cellule: hypertrophie cardiaque, </a:t>
            </a:r>
            <a:r>
              <a:rPr lang="fr-FR" dirty="0" smtClean="0"/>
              <a:t>par hypertrophie </a:t>
            </a:r>
            <a:r>
              <a:rPr lang="fr-FR" dirty="0"/>
              <a:t>des cellules myocardiques (réponse à une surcharge de pression ou de volume) </a:t>
            </a:r>
            <a:r>
              <a:rPr lang="fr-FR" dirty="0" smtClean="0"/>
              <a:t>, hypertrophie </a:t>
            </a:r>
            <a:r>
              <a:rPr lang="fr-FR" dirty="0"/>
              <a:t>des muscles squelettiques du sportif , hypertrophie musculaire lisse du myomètre </a:t>
            </a:r>
            <a:r>
              <a:rPr lang="fr-FR" dirty="0" smtClean="0"/>
              <a:t>au cours </a:t>
            </a:r>
            <a:r>
              <a:rPr lang="fr-FR" dirty="0"/>
              <a:t>de la </a:t>
            </a:r>
            <a:r>
              <a:rPr lang="fr-FR" dirty="0" smtClean="0"/>
              <a:t>grossesse</a:t>
            </a:r>
          </a:p>
          <a:p>
            <a:pPr algn="just">
              <a:buNone/>
            </a:pPr>
            <a:endParaRPr lang="fr-FR" dirty="0"/>
          </a:p>
          <a:p>
            <a:pPr algn="just">
              <a:buNone/>
            </a:pPr>
            <a:r>
              <a:rPr lang="fr-FR" dirty="0"/>
              <a:t>• stimulation hormonale accrue: hypertrophie thyroïdienne par hypersécrétion d'hormone </a:t>
            </a:r>
            <a:r>
              <a:rPr lang="fr-FR" dirty="0" smtClean="0"/>
              <a:t>thyréotrope L'hypertrophie </a:t>
            </a:r>
            <a:r>
              <a:rPr lang="fr-FR" dirty="0"/>
              <a:t>est à distinguer d'autres causes d'augmentation de la taille d'une cellule ou d'un organe, liée </a:t>
            </a:r>
            <a:r>
              <a:rPr lang="fr-FR" dirty="0" smtClean="0"/>
              <a:t>à la </a:t>
            </a:r>
            <a:r>
              <a:rPr lang="fr-FR" dirty="0"/>
              <a:t>dilatation de cavités ou l'accumulation d'un tissu interstitiel fibreux, </a:t>
            </a:r>
            <a:r>
              <a:rPr lang="fr-FR" dirty="0" err="1"/>
              <a:t>lipomateux</a:t>
            </a:r>
            <a:r>
              <a:rPr lang="fr-FR" dirty="0"/>
              <a:t> ou d'une </a:t>
            </a:r>
            <a:r>
              <a:rPr lang="fr-FR" dirty="0" smtClean="0"/>
              <a:t>substance anormale </a:t>
            </a:r>
            <a:r>
              <a:rPr lang="fr-FR" dirty="0"/>
              <a:t>comme l'amylose (ex: </a:t>
            </a:r>
            <a:r>
              <a:rPr lang="fr-FR" dirty="0" err="1"/>
              <a:t>lipomatose</a:t>
            </a:r>
            <a:r>
              <a:rPr lang="fr-FR" dirty="0"/>
              <a:t> pancréatique, </a:t>
            </a:r>
            <a:r>
              <a:rPr lang="fr-FR" dirty="0" err="1"/>
              <a:t>gliose</a:t>
            </a:r>
            <a:r>
              <a:rPr lang="fr-FR" dirty="0"/>
              <a:t> cérébrale, amylose cardiaque). </a:t>
            </a:r>
            <a:r>
              <a:rPr lang="fr-FR" dirty="0" smtClean="0"/>
              <a:t>Ces modifications </a:t>
            </a:r>
            <a:r>
              <a:rPr lang="fr-FR" dirty="0"/>
              <a:t>du tissu interstitiel peuvent masquer une réelle atrophie (ex: </a:t>
            </a:r>
            <a:r>
              <a:rPr lang="fr-FR" dirty="0" err="1"/>
              <a:t>lipomatose</a:t>
            </a:r>
            <a:r>
              <a:rPr lang="fr-FR" dirty="0"/>
              <a:t> musculaire).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85794"/>
            <a:ext cx="8229600" cy="5340369"/>
          </a:xfrm>
        </p:spPr>
        <p:txBody>
          <a:bodyPr>
            <a:normAutofit fontScale="85000" lnSpcReduction="20000"/>
          </a:bodyPr>
          <a:lstStyle/>
          <a:p>
            <a:pPr>
              <a:buNone/>
            </a:pPr>
            <a:r>
              <a:rPr lang="fr-FR" dirty="0" smtClean="0"/>
              <a:t>c- Aplasie – hypoplasie:</a:t>
            </a:r>
          </a:p>
          <a:p>
            <a:pPr>
              <a:buNone/>
            </a:pPr>
            <a:endParaRPr lang="fr-FR" dirty="0" smtClean="0"/>
          </a:p>
          <a:p>
            <a:pPr algn="just">
              <a:buNone/>
            </a:pPr>
            <a:r>
              <a:rPr lang="fr-FR" b="1" dirty="0"/>
              <a:t>L'aplasie est l'absence d'un organe provoquée par l'absence de développement de son </a:t>
            </a:r>
            <a:r>
              <a:rPr lang="fr-FR" b="1" dirty="0" smtClean="0"/>
              <a:t>ébauche </a:t>
            </a:r>
            <a:r>
              <a:rPr lang="fr-FR" dirty="0" smtClean="0"/>
              <a:t>embryonnaire</a:t>
            </a:r>
            <a:r>
              <a:rPr lang="fr-FR" dirty="0"/>
              <a:t>, et par extension, l'arrêt transitoire ou définitif de la multiplication cellulaire dans un tissu </a:t>
            </a:r>
            <a:r>
              <a:rPr lang="fr-FR" dirty="0" smtClean="0"/>
              <a:t>qui devrait </a:t>
            </a:r>
            <a:r>
              <a:rPr lang="fr-FR" dirty="0"/>
              <a:t>normalement se renouveler en permanence</a:t>
            </a:r>
            <a:r>
              <a:rPr lang="fr-FR" dirty="0" smtClean="0"/>
              <a:t>.</a:t>
            </a:r>
          </a:p>
          <a:p>
            <a:pPr algn="just">
              <a:buNone/>
            </a:pPr>
            <a:endParaRPr lang="fr-FR" dirty="0"/>
          </a:p>
          <a:p>
            <a:pPr algn="just">
              <a:buNone/>
            </a:pPr>
            <a:r>
              <a:rPr lang="fr-FR" b="1" dirty="0"/>
              <a:t>L'hypoplasie est un développement embryologique anormal d'un viscère ou d'une partie d'un </a:t>
            </a:r>
            <a:r>
              <a:rPr lang="fr-FR" b="1" dirty="0" smtClean="0"/>
              <a:t>viscère </a:t>
            </a:r>
            <a:r>
              <a:rPr lang="fr-FR" dirty="0" smtClean="0"/>
              <a:t>aboutissant </a:t>
            </a:r>
            <a:r>
              <a:rPr lang="fr-FR" dirty="0"/>
              <a:t>à un organe fonctionnel mais trop petit, et par extension le développement insuffisant d'un </a:t>
            </a:r>
            <a:r>
              <a:rPr lang="fr-FR" dirty="0" smtClean="0"/>
              <a:t>tissu lorsque </a:t>
            </a:r>
            <a:r>
              <a:rPr lang="fr-FR" dirty="0"/>
              <a:t>les stimuli assurant sa </a:t>
            </a:r>
            <a:r>
              <a:rPr lang="fr-FR" dirty="0" err="1"/>
              <a:t>trophicité</a:t>
            </a:r>
            <a:r>
              <a:rPr lang="fr-FR" dirty="0"/>
              <a:t> normale diminuent ou cessent.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a:buNone/>
            </a:pPr>
            <a:r>
              <a:rPr lang="fr-FR" b="1" dirty="0"/>
              <a:t>Conditions d'apparition, exemples :</a:t>
            </a:r>
          </a:p>
          <a:p>
            <a:pPr algn="just">
              <a:buNone/>
            </a:pPr>
            <a:r>
              <a:rPr lang="fr-FR" dirty="0"/>
              <a:t>• Aplasie ou hypoplasie de la moelle hématopoïétique après action des radiations ionisantes</a:t>
            </a:r>
          </a:p>
          <a:p>
            <a:pPr algn="just">
              <a:buNone/>
            </a:pPr>
            <a:r>
              <a:rPr lang="fr-FR" dirty="0"/>
              <a:t>• Hypoplasie endométriale et testiculaire au cours de la sénescence (de pair avec une atrophie)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28604"/>
            <a:ext cx="8229600" cy="5697559"/>
          </a:xfrm>
        </p:spPr>
        <p:txBody>
          <a:bodyPr>
            <a:normAutofit fontScale="92500" lnSpcReduction="10000"/>
          </a:bodyPr>
          <a:lstStyle/>
          <a:p>
            <a:pPr algn="just">
              <a:buNone/>
            </a:pPr>
            <a:r>
              <a:rPr lang="fr-FR" dirty="0" smtClean="0"/>
              <a:t>d- l’hyperplasie:</a:t>
            </a:r>
          </a:p>
          <a:p>
            <a:pPr algn="just">
              <a:buNone/>
            </a:pPr>
            <a:endParaRPr lang="fr-FR" b="1" dirty="0"/>
          </a:p>
          <a:p>
            <a:pPr algn="just">
              <a:buNone/>
            </a:pPr>
            <a:r>
              <a:rPr lang="fr-FR" b="1" dirty="0" smtClean="0"/>
              <a:t>L'hyperplasie </a:t>
            </a:r>
            <a:r>
              <a:rPr lang="fr-FR" b="1" dirty="0"/>
              <a:t>est l'augmentation de la masse d'un tissu, d'un organe, ou d'une portion d'organe due à </a:t>
            </a:r>
            <a:r>
              <a:rPr lang="fr-FR" b="1" dirty="0" smtClean="0"/>
              <a:t>une </a:t>
            </a:r>
            <a:r>
              <a:rPr lang="fr-FR" dirty="0" smtClean="0"/>
              <a:t>augmentation </a:t>
            </a:r>
            <a:r>
              <a:rPr lang="fr-FR" dirty="0"/>
              <a:t>anormale du nombre de ses cellules, sans modification de l'architecture, </a:t>
            </a:r>
            <a:r>
              <a:rPr lang="fr-FR" dirty="0" smtClean="0"/>
              <a:t>habituellement témoin </a:t>
            </a:r>
            <a:r>
              <a:rPr lang="fr-FR" dirty="0"/>
              <a:t>d'une hyperactivité fonctionnelle. L'hyperplasie reste contrôlée par les mécanismes de régulation </a:t>
            </a:r>
            <a:r>
              <a:rPr lang="fr-FR" dirty="0" smtClean="0"/>
              <a:t>de la </a:t>
            </a:r>
            <a:r>
              <a:rPr lang="fr-FR" dirty="0"/>
              <a:t>prolifération cellulaire.</a:t>
            </a:r>
          </a:p>
          <a:p>
            <a:pPr algn="just">
              <a:buNone/>
            </a:pPr>
            <a:r>
              <a:rPr lang="fr-FR" dirty="0"/>
              <a:t>Elle est souvent associée à une hypertrophie cellulaire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71480"/>
            <a:ext cx="8229600" cy="5554683"/>
          </a:xfrm>
        </p:spPr>
        <p:txBody>
          <a:bodyPr>
            <a:normAutofit fontScale="70000" lnSpcReduction="20000"/>
          </a:bodyPr>
          <a:lstStyle/>
          <a:p>
            <a:pPr>
              <a:buNone/>
            </a:pPr>
            <a:r>
              <a:rPr lang="fr-FR" b="1" dirty="0"/>
              <a:t>Conditions d'apparition, exemples </a:t>
            </a:r>
            <a:r>
              <a:rPr lang="fr-FR" b="1" dirty="0" smtClean="0"/>
              <a:t>:</a:t>
            </a:r>
          </a:p>
          <a:p>
            <a:pPr algn="just">
              <a:buNone/>
            </a:pPr>
            <a:endParaRPr lang="fr-FR" b="1" dirty="0"/>
          </a:p>
          <a:p>
            <a:pPr algn="just">
              <a:buNone/>
            </a:pPr>
            <a:r>
              <a:rPr lang="fr-FR" dirty="0"/>
              <a:t>Elle survient surtout dans les tissus capables de renouvellement (épiderme, épithélium </a:t>
            </a:r>
            <a:r>
              <a:rPr lang="fr-FR" dirty="0" smtClean="0"/>
              <a:t>intestinal, parenchyme </a:t>
            </a:r>
            <a:r>
              <a:rPr lang="fr-FR" dirty="0"/>
              <a:t>hépatique..) et ne s'observe pas dans les tissus à renouvellement lent ou stables (</a:t>
            </a:r>
            <a:r>
              <a:rPr lang="fr-FR" dirty="0" smtClean="0"/>
              <a:t>myocarde, muscle </a:t>
            </a:r>
            <a:r>
              <a:rPr lang="fr-FR" dirty="0"/>
              <a:t>squelettique, tissu neuronal)</a:t>
            </a:r>
          </a:p>
          <a:p>
            <a:pPr algn="just">
              <a:buNone/>
            </a:pPr>
            <a:r>
              <a:rPr lang="fr-FR" b="1" dirty="0"/>
              <a:t>Hyperplasie physiologique, par exemple hyperplasie compensatrice d'un organe après </a:t>
            </a:r>
            <a:r>
              <a:rPr lang="fr-FR" b="1" dirty="0" smtClean="0"/>
              <a:t>chirurgie </a:t>
            </a:r>
            <a:r>
              <a:rPr lang="fr-FR" dirty="0" smtClean="0"/>
              <a:t>(hyperplasie </a:t>
            </a:r>
            <a:r>
              <a:rPr lang="fr-FR" dirty="0"/>
              <a:t>compensatrice du foie après hépatectomie partielle) ou hyperplasie mammaire par </a:t>
            </a:r>
            <a:r>
              <a:rPr lang="fr-FR" dirty="0" smtClean="0"/>
              <a:t>stimulation hormonale </a:t>
            </a:r>
            <a:r>
              <a:rPr lang="fr-FR" dirty="0"/>
              <a:t>au cours de la grossesse.</a:t>
            </a:r>
          </a:p>
          <a:p>
            <a:pPr algn="just">
              <a:buNone/>
            </a:pPr>
            <a:r>
              <a:rPr lang="fr-FR" b="1" dirty="0"/>
              <a:t>Hyperplasie pathologique, par exemple hyperplasie surrénalienne au cours d'un hypercorticisme</a:t>
            </a:r>
          </a:p>
          <a:p>
            <a:pPr algn="just">
              <a:buNone/>
            </a:pPr>
            <a:r>
              <a:rPr lang="fr-FR" dirty="0"/>
              <a:t>hypophysaire. L'hyperplasie peut n'intéresser qu'une région limitée d'un organe et former dans l'organe </a:t>
            </a:r>
            <a:r>
              <a:rPr lang="fr-FR" dirty="0" smtClean="0"/>
              <a:t>une masse </a:t>
            </a:r>
            <a:r>
              <a:rPr lang="fr-FR" dirty="0"/>
              <a:t>arrondie (nodule) (exemple: hyperplasie nodulaire du foie ; hyperplasie nodulaire de la prostate).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857232"/>
            <a:ext cx="8229600" cy="5268931"/>
          </a:xfrm>
        </p:spPr>
        <p:txBody>
          <a:bodyPr>
            <a:normAutofit fontScale="92500" lnSpcReduction="10000"/>
          </a:bodyPr>
          <a:lstStyle/>
          <a:p>
            <a:pPr>
              <a:buNone/>
            </a:pPr>
            <a:r>
              <a:rPr lang="fr-FR" dirty="0" smtClean="0"/>
              <a:t>e- Métaplasie:</a:t>
            </a:r>
          </a:p>
          <a:p>
            <a:pPr>
              <a:buNone/>
            </a:pPr>
            <a:endParaRPr lang="fr-FR" dirty="0"/>
          </a:p>
          <a:p>
            <a:pPr algn="just">
              <a:buNone/>
            </a:pPr>
            <a:r>
              <a:rPr lang="fr-FR" b="1" dirty="0"/>
              <a:t>La métaplasie est une anomalie acquise résultant de la transformation d'un tissu normal en un autre </a:t>
            </a:r>
            <a:r>
              <a:rPr lang="fr-FR" b="1" dirty="0" smtClean="0"/>
              <a:t>tissu </a:t>
            </a:r>
            <a:r>
              <a:rPr lang="fr-FR" dirty="0" smtClean="0"/>
              <a:t>normal</a:t>
            </a:r>
            <a:r>
              <a:rPr lang="fr-FR" dirty="0"/>
              <a:t>, de structure et de fonction différentes, normal quant à son architecture, mais anormal quant à </a:t>
            </a:r>
            <a:r>
              <a:rPr lang="fr-FR" dirty="0" smtClean="0"/>
              <a:t>sa localisation</a:t>
            </a:r>
            <a:r>
              <a:rPr lang="fr-FR" dirty="0"/>
              <a:t>. </a:t>
            </a:r>
            <a:endParaRPr lang="fr-FR" dirty="0" smtClean="0"/>
          </a:p>
          <a:p>
            <a:pPr algn="just">
              <a:buNone/>
            </a:pPr>
            <a:r>
              <a:rPr lang="fr-FR" dirty="0" smtClean="0"/>
              <a:t>Il </a:t>
            </a:r>
            <a:r>
              <a:rPr lang="fr-FR" dirty="0"/>
              <a:t>s'agit d'un changement dans la différenciation cellulaire en réponse à un agression </a:t>
            </a:r>
            <a:r>
              <a:rPr lang="fr-FR" dirty="0" smtClean="0"/>
              <a:t>chronique pour </a:t>
            </a:r>
            <a:r>
              <a:rPr lang="fr-FR" dirty="0"/>
              <a:t>aboutir à un tissu mieux adapté à l'agression que le tissu d'origine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88961"/>
            <a:ext cx="8229600" cy="5911873"/>
          </a:xfrm>
        </p:spPr>
        <p:txBody>
          <a:bodyPr>
            <a:normAutofit fontScale="85000" lnSpcReduction="20000"/>
          </a:bodyPr>
          <a:lstStyle/>
          <a:p>
            <a:pPr>
              <a:buNone/>
            </a:pPr>
            <a:r>
              <a:rPr lang="fr-FR" dirty="0"/>
              <a:t>Conditions d'apparition, exemples </a:t>
            </a:r>
            <a:r>
              <a:rPr lang="fr-FR" dirty="0" smtClean="0"/>
              <a:t>:</a:t>
            </a:r>
          </a:p>
          <a:p>
            <a:pPr>
              <a:buNone/>
            </a:pPr>
            <a:endParaRPr lang="fr-FR" dirty="0"/>
          </a:p>
          <a:p>
            <a:pPr algn="just"/>
            <a:r>
              <a:rPr lang="fr-FR" dirty="0"/>
              <a:t>Elle intéresse surtout les tissus épithéliaux, particulièrement les muqueuses, et s'observe aussi dans les </a:t>
            </a:r>
            <a:r>
              <a:rPr lang="fr-FR" dirty="0" smtClean="0"/>
              <a:t>tissus conjonctifs.</a:t>
            </a:r>
          </a:p>
          <a:p>
            <a:pPr algn="just">
              <a:buNone/>
            </a:pPr>
            <a:endParaRPr lang="fr-FR" dirty="0" smtClean="0"/>
          </a:p>
          <a:p>
            <a:pPr algn="just">
              <a:buNone/>
            </a:pPr>
            <a:endParaRPr lang="fr-FR" b="1" dirty="0"/>
          </a:p>
          <a:p>
            <a:pPr algn="just"/>
            <a:r>
              <a:rPr lang="fr-FR" b="1" dirty="0"/>
              <a:t>Pathologique, le plus souvent, secondaire à une cause toxique, chimique, hormonale ou inflammatoire. </a:t>
            </a:r>
            <a:endParaRPr lang="fr-FR" b="1" dirty="0" smtClean="0"/>
          </a:p>
          <a:p>
            <a:pPr algn="just">
              <a:buNone/>
            </a:pPr>
            <a:endParaRPr lang="fr-FR" b="1" dirty="0" smtClean="0"/>
          </a:p>
          <a:p>
            <a:pPr algn="just"/>
            <a:r>
              <a:rPr lang="fr-FR" b="1" dirty="0" smtClean="0"/>
              <a:t>La </a:t>
            </a:r>
            <a:r>
              <a:rPr lang="fr-FR" dirty="0" smtClean="0"/>
              <a:t>nouvelle </a:t>
            </a:r>
            <a:r>
              <a:rPr lang="fr-FR" dirty="0"/>
              <a:t>différenciation se fait le plus souvent par modification de la maturation des cellules souches</a:t>
            </a:r>
            <a:r>
              <a:rPr lang="fr-FR" dirty="0" smtClean="0"/>
              <a:t>.</a:t>
            </a:r>
          </a:p>
          <a:p>
            <a:pPr algn="just">
              <a:buNone/>
            </a:pPr>
            <a:endParaRPr lang="fr-FR" dirty="0"/>
          </a:p>
          <a:p>
            <a:pPr algn="just"/>
            <a:r>
              <a:rPr lang="fr-FR" dirty="0"/>
              <a:t>Métaplasie malpighienne d'un revêtement cylindrique dans les </a:t>
            </a:r>
            <a:r>
              <a:rPr lang="fr-FR" dirty="0" smtClean="0"/>
              <a:t>lésions des glandes salivaires</a:t>
            </a:r>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42918"/>
            <a:ext cx="8229600" cy="5483245"/>
          </a:xfrm>
        </p:spPr>
        <p:txBody>
          <a:bodyPr>
            <a:normAutofit fontScale="92500" lnSpcReduction="20000"/>
          </a:bodyPr>
          <a:lstStyle/>
          <a:p>
            <a:pPr>
              <a:buNone/>
            </a:pPr>
            <a:r>
              <a:rPr lang="fr-FR" dirty="0" smtClean="0"/>
              <a:t>f- Dystrophie:</a:t>
            </a:r>
          </a:p>
          <a:p>
            <a:pPr algn="just">
              <a:buNone/>
            </a:pPr>
            <a:endParaRPr lang="fr-FR" dirty="0" smtClean="0"/>
          </a:p>
          <a:p>
            <a:pPr algn="just">
              <a:buNone/>
            </a:pPr>
            <a:r>
              <a:rPr lang="fr-FR" b="1" dirty="0"/>
              <a:t>La dystrophie désigne toute altération cellulaire ou tissulaire acquise, liée à un "trouble </a:t>
            </a:r>
            <a:r>
              <a:rPr lang="fr-FR" b="1" dirty="0" smtClean="0"/>
              <a:t>nutritionnel" </a:t>
            </a:r>
            <a:r>
              <a:rPr lang="fr-FR" dirty="0" smtClean="0"/>
              <a:t>(</a:t>
            </a:r>
            <a:r>
              <a:rPr lang="fr-FR" dirty="0"/>
              <a:t>vasculaire, hormonal, nerveux, métabolique</a:t>
            </a:r>
            <a:r>
              <a:rPr lang="fr-FR" dirty="0" smtClean="0"/>
              <a:t>).</a:t>
            </a:r>
          </a:p>
          <a:p>
            <a:pPr algn="just">
              <a:buNone/>
            </a:pPr>
            <a:endParaRPr lang="fr-FR" dirty="0"/>
          </a:p>
          <a:p>
            <a:pPr algn="just">
              <a:buNone/>
            </a:pPr>
            <a:r>
              <a:rPr lang="fr-FR" b="1" dirty="0"/>
              <a:t>Conditions d'apparition, exemples :</a:t>
            </a:r>
          </a:p>
          <a:p>
            <a:pPr algn="just">
              <a:buNone/>
            </a:pPr>
            <a:r>
              <a:rPr lang="fr-FR" dirty="0" smtClean="0"/>
              <a:t>    La </a:t>
            </a:r>
            <a:r>
              <a:rPr lang="fr-FR" dirty="0"/>
              <a:t>dystrophie d'un organe peut combiner les lésions d'atrophie, d'hypertrophie de métaplasie. La </a:t>
            </a:r>
            <a:r>
              <a:rPr lang="fr-FR" dirty="0" smtClean="0"/>
              <a:t>dystrophie </a:t>
            </a:r>
            <a:r>
              <a:rPr lang="fr-FR" dirty="0" err="1" smtClean="0"/>
              <a:t>fibrokystique</a:t>
            </a:r>
            <a:r>
              <a:rPr lang="fr-FR" dirty="0" smtClean="0"/>
              <a:t> </a:t>
            </a:r>
            <a:r>
              <a:rPr lang="fr-FR" dirty="0"/>
              <a:t>du sein constitue un bon exemple de cette complexité. L'architecture de l'organe </a:t>
            </a:r>
            <a:r>
              <a:rPr lang="fr-FR" dirty="0" smtClean="0"/>
              <a:t>est globalement </a:t>
            </a:r>
            <a:r>
              <a:rPr lang="fr-FR" dirty="0"/>
              <a:t>préservée.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85794"/>
            <a:ext cx="8229600" cy="5340369"/>
          </a:xfrm>
        </p:spPr>
        <p:txBody>
          <a:bodyPr>
            <a:normAutofit fontScale="85000" lnSpcReduction="10000"/>
          </a:bodyPr>
          <a:lstStyle/>
          <a:p>
            <a:pPr>
              <a:buNone/>
            </a:pPr>
            <a:r>
              <a:rPr lang="fr-FR" dirty="0" smtClean="0"/>
              <a:t>2- MORT CELLULAIRE</a:t>
            </a:r>
          </a:p>
          <a:p>
            <a:endParaRPr lang="fr-FR" dirty="0"/>
          </a:p>
          <a:p>
            <a:pPr algn="just"/>
            <a:r>
              <a:rPr lang="fr-FR" dirty="0" smtClean="0"/>
              <a:t>La </a:t>
            </a:r>
            <a:r>
              <a:rPr lang="fr-FR" dirty="0"/>
              <a:t>réponse cellulaire à une agression dépend du type de l'agression, de sa durée et de sa sévérité. </a:t>
            </a:r>
            <a:r>
              <a:rPr lang="fr-FR" dirty="0" smtClean="0"/>
              <a:t>Les conséquences </a:t>
            </a:r>
            <a:r>
              <a:rPr lang="fr-FR" dirty="0"/>
              <a:t>sur la cellule dépendent de son type, de son état et de ses capacités d'adaptation</a:t>
            </a:r>
            <a:r>
              <a:rPr lang="fr-FR" dirty="0" smtClean="0"/>
              <a:t>.</a:t>
            </a:r>
          </a:p>
          <a:p>
            <a:pPr algn="just"/>
            <a:endParaRPr lang="fr-FR" dirty="0"/>
          </a:p>
          <a:p>
            <a:r>
              <a:rPr lang="fr-FR" dirty="0"/>
              <a:t>Dans la cellule quatre systèmes sont particulièrement vulnérables aux agressions et liés entre eux: le </a:t>
            </a:r>
            <a:r>
              <a:rPr lang="fr-FR" dirty="0" smtClean="0"/>
              <a:t>maintien de </a:t>
            </a:r>
            <a:r>
              <a:rPr lang="fr-FR" dirty="0"/>
              <a:t>l'intégrité des membranes cellulaires, la respiration aérobie, les synthèses protéiques et la préservation </a:t>
            </a:r>
            <a:r>
              <a:rPr lang="fr-FR" dirty="0" smtClean="0"/>
              <a:t>de l'intégrité </a:t>
            </a:r>
            <a:r>
              <a:rPr lang="fr-FR" dirty="0"/>
              <a:t>de l'appareil génétique.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214422"/>
            <a:ext cx="8229600" cy="4911741"/>
          </a:xfrm>
        </p:spPr>
        <p:txBody>
          <a:bodyPr>
            <a:normAutofit lnSpcReduction="10000"/>
          </a:bodyPr>
          <a:lstStyle/>
          <a:p>
            <a:pPr algn="just">
              <a:buNone/>
            </a:pPr>
            <a:r>
              <a:rPr lang="fr-FR" b="1" dirty="0"/>
              <a:t>La mort cellulaire est le terme ultime de la lésion cellulaire. </a:t>
            </a:r>
            <a:endParaRPr lang="fr-FR" b="1" dirty="0" smtClean="0"/>
          </a:p>
          <a:p>
            <a:pPr algn="just">
              <a:buNone/>
            </a:pPr>
            <a:r>
              <a:rPr lang="fr-FR" b="1" dirty="0" smtClean="0"/>
              <a:t>On </a:t>
            </a:r>
            <a:r>
              <a:rPr lang="fr-FR" b="1" dirty="0"/>
              <a:t>distingue deux types de mort cellulaire: la</a:t>
            </a:r>
          </a:p>
          <a:p>
            <a:pPr algn="just">
              <a:buNone/>
            </a:pPr>
            <a:r>
              <a:rPr lang="fr-FR" dirty="0"/>
              <a:t>nécrose et l'</a:t>
            </a:r>
            <a:r>
              <a:rPr lang="fr-FR" dirty="0" err="1"/>
              <a:t>apoptose</a:t>
            </a:r>
            <a:r>
              <a:rPr lang="fr-FR" dirty="0"/>
              <a:t>, qui s'opposent sur beaucoup de points.</a:t>
            </a:r>
          </a:p>
          <a:p>
            <a:pPr algn="just">
              <a:buNone/>
            </a:pPr>
            <a:r>
              <a:rPr lang="fr-FR" dirty="0"/>
              <a:t>Les différents types de mort cellulaire, nécrose ou </a:t>
            </a:r>
            <a:r>
              <a:rPr lang="fr-FR" dirty="0" err="1"/>
              <a:t>apoptose</a:t>
            </a:r>
            <a:r>
              <a:rPr lang="fr-FR" dirty="0"/>
              <a:t>, sont à distinguer de </a:t>
            </a:r>
            <a:r>
              <a:rPr lang="fr-FR" b="1" dirty="0"/>
              <a:t>l'autolyse qui est </a:t>
            </a:r>
            <a:r>
              <a:rPr lang="fr-FR" b="1" dirty="0" smtClean="0"/>
              <a:t>une </a:t>
            </a:r>
            <a:r>
              <a:rPr lang="fr-FR" dirty="0" smtClean="0"/>
              <a:t>autodestruction </a:t>
            </a:r>
            <a:r>
              <a:rPr lang="fr-FR" dirty="0"/>
              <a:t>cellulaire ou tissulaire qui survient après la mort ou par défaut de fixation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214422"/>
            <a:ext cx="8229600" cy="4911741"/>
          </a:xfrm>
        </p:spPr>
        <p:txBody>
          <a:bodyPr>
            <a:normAutofit fontScale="92500" lnSpcReduction="20000"/>
          </a:bodyPr>
          <a:lstStyle/>
          <a:p>
            <a:pPr algn="just">
              <a:buNone/>
            </a:pPr>
            <a:r>
              <a:rPr lang="fr-FR" dirty="0" smtClean="0"/>
              <a:t>a- Dégénérescence:</a:t>
            </a:r>
          </a:p>
          <a:p>
            <a:pPr algn="just">
              <a:buNone/>
            </a:pPr>
            <a:endParaRPr lang="fr-FR" dirty="0"/>
          </a:p>
          <a:p>
            <a:pPr algn="just">
              <a:buNone/>
            </a:pPr>
            <a:r>
              <a:rPr lang="fr-FR" dirty="0" smtClean="0"/>
              <a:t>La </a:t>
            </a:r>
            <a:r>
              <a:rPr lang="fr-FR" dirty="0"/>
              <a:t>nécrose peut être précédée de lésions réversibles, dites lésions dégénératives. Celles ci sont réversibles </a:t>
            </a:r>
            <a:r>
              <a:rPr lang="fr-FR" dirty="0" smtClean="0"/>
              <a:t>et peuvent </a:t>
            </a:r>
            <a:r>
              <a:rPr lang="fr-FR" dirty="0"/>
              <a:t>aussi conduire à un retour à la normale</a:t>
            </a:r>
            <a:r>
              <a:rPr lang="fr-FR" dirty="0" smtClean="0"/>
              <a:t>.</a:t>
            </a:r>
          </a:p>
          <a:p>
            <a:pPr algn="just">
              <a:buNone/>
            </a:pPr>
            <a:endParaRPr lang="fr-FR" dirty="0"/>
          </a:p>
          <a:p>
            <a:pPr algn="just">
              <a:buNone/>
            </a:pPr>
            <a:r>
              <a:rPr lang="fr-FR" dirty="0"/>
              <a:t>La </a:t>
            </a:r>
            <a:r>
              <a:rPr lang="fr-FR" b="1" dirty="0"/>
              <a:t>dégénérescence cellulaire est l'ensemble des lésions élémentaires cellulaires, réversibles, </a:t>
            </a:r>
            <a:r>
              <a:rPr lang="fr-FR" b="1" dirty="0" smtClean="0"/>
              <a:t>pouvant </a:t>
            </a:r>
            <a:r>
              <a:rPr lang="fr-FR" dirty="0" smtClean="0"/>
              <a:t>précéder </a:t>
            </a:r>
            <a:r>
              <a:rPr lang="fr-FR" dirty="0"/>
              <a:t>l'apparition de modifications cellulaires irréversibles correspondant à la nécrose.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42918"/>
            <a:ext cx="8229600" cy="5483245"/>
          </a:xfrm>
        </p:spPr>
        <p:txBody>
          <a:bodyPr>
            <a:normAutofit fontScale="85000" lnSpcReduction="10000"/>
          </a:bodyPr>
          <a:lstStyle/>
          <a:p>
            <a:pPr>
              <a:buNone/>
            </a:pPr>
            <a:r>
              <a:rPr lang="fr-FR" b="1" dirty="0"/>
              <a:t>Conditions d'apparition, exemples </a:t>
            </a:r>
            <a:r>
              <a:rPr lang="fr-FR" b="1" dirty="0" smtClean="0"/>
              <a:t>:</a:t>
            </a:r>
          </a:p>
          <a:p>
            <a:pPr>
              <a:buNone/>
            </a:pPr>
            <a:endParaRPr lang="fr-FR" b="1" dirty="0"/>
          </a:p>
          <a:p>
            <a:pPr algn="just">
              <a:buNone/>
            </a:pPr>
            <a:r>
              <a:rPr lang="fr-FR" dirty="0"/>
              <a:t>Les causes sont les mêmes que pour la nécrose, souvent d'origine toxique, métabolique, hypoxique</a:t>
            </a:r>
          </a:p>
          <a:p>
            <a:pPr algn="just">
              <a:buNone/>
            </a:pPr>
            <a:r>
              <a:rPr lang="fr-FR" dirty="0"/>
              <a:t>Les lésions sont cytoplasmiques, sans atteinte nucléaire, et s'observent d'abord en microscopie électronique:</a:t>
            </a:r>
          </a:p>
          <a:p>
            <a:pPr algn="just">
              <a:buNone/>
            </a:pPr>
            <a:r>
              <a:rPr lang="fr-FR" dirty="0"/>
              <a:t>dilatation des organites cellulaires, désagrégation des ribosomes, accumulation de lipides, protéines… </a:t>
            </a:r>
            <a:endParaRPr lang="fr-FR" dirty="0" smtClean="0"/>
          </a:p>
          <a:p>
            <a:pPr algn="just">
              <a:buNone/>
            </a:pPr>
            <a:r>
              <a:rPr lang="fr-FR" dirty="0" smtClean="0"/>
              <a:t>En microscopie </a:t>
            </a:r>
            <a:r>
              <a:rPr lang="fr-FR" dirty="0"/>
              <a:t>optique, les modifications sont plus tardives, parfois difficiles à détecter, et correspondent à </a:t>
            </a:r>
            <a:r>
              <a:rPr lang="fr-FR" dirty="0" smtClean="0"/>
              <a:t>des lésions </a:t>
            </a:r>
            <a:r>
              <a:rPr lang="fr-FR" dirty="0"/>
              <a:t>plus importantes.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14356"/>
            <a:ext cx="8229600" cy="5411807"/>
          </a:xfrm>
        </p:spPr>
        <p:txBody>
          <a:bodyPr>
            <a:normAutofit/>
          </a:bodyPr>
          <a:lstStyle/>
          <a:p>
            <a:pPr algn="just">
              <a:buNone/>
            </a:pPr>
            <a:r>
              <a:rPr lang="fr-FR" dirty="0"/>
              <a:t>On reconnaît différents types de lésions dégénératives</a:t>
            </a:r>
            <a:r>
              <a:rPr lang="fr-FR" dirty="0" smtClean="0"/>
              <a:t>:</a:t>
            </a:r>
          </a:p>
          <a:p>
            <a:pPr algn="just">
              <a:buNone/>
            </a:pPr>
            <a:endParaRPr lang="fr-FR" dirty="0"/>
          </a:p>
          <a:p>
            <a:pPr algn="just">
              <a:buNone/>
            </a:pPr>
            <a:r>
              <a:rPr lang="fr-FR" dirty="0"/>
              <a:t>• </a:t>
            </a:r>
            <a:r>
              <a:rPr lang="fr-FR" b="1" dirty="0"/>
              <a:t>Dégénérescence hydropique, par </a:t>
            </a:r>
            <a:r>
              <a:rPr lang="fr-FR" b="1" dirty="0" err="1"/>
              <a:t>oedème</a:t>
            </a:r>
            <a:r>
              <a:rPr lang="fr-FR" b="1" dirty="0"/>
              <a:t> intracellulaire, avec clarification et/ou </a:t>
            </a:r>
            <a:r>
              <a:rPr lang="fr-FR" b="1" dirty="0" smtClean="0"/>
              <a:t>vacuolisation </a:t>
            </a:r>
            <a:r>
              <a:rPr lang="fr-FR" dirty="0" smtClean="0"/>
              <a:t>cytoplasmique</a:t>
            </a:r>
          </a:p>
          <a:p>
            <a:pPr algn="just">
              <a:buNone/>
            </a:pPr>
            <a:endParaRPr lang="fr-FR" dirty="0"/>
          </a:p>
          <a:p>
            <a:pPr algn="just">
              <a:buNone/>
            </a:pPr>
            <a:r>
              <a:rPr lang="fr-FR" dirty="0"/>
              <a:t>• </a:t>
            </a:r>
            <a:r>
              <a:rPr lang="fr-FR" b="1" dirty="0"/>
              <a:t>Dégénérescence graisseuse, par impossibilité par la cellule d'utiliser les </a:t>
            </a:r>
            <a:r>
              <a:rPr lang="fr-FR" b="1" dirty="0" smtClean="0"/>
              <a:t>triglycérides.</a:t>
            </a:r>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5" descr="29953176"/>
          <p:cNvPicPr>
            <a:picLocks noChangeAspect="1" noChangeArrowheads="1"/>
          </p:cNvPicPr>
          <p:nvPr/>
        </p:nvPicPr>
        <p:blipFill>
          <a:blip r:embed="rId2">
            <a:extLst>
              <a:ext uri="{28A0092B-C50C-407E-A947-70E740481C1C}">
                <a14:useLocalDpi xmlns:a14="http://schemas.microsoft.com/office/drawing/2010/main" val="0"/>
              </a:ext>
            </a:extLst>
          </a:blip>
          <a:srcRect t="4506" r="51382" b="3625"/>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91776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857232"/>
            <a:ext cx="8229600" cy="5268931"/>
          </a:xfrm>
        </p:spPr>
        <p:txBody>
          <a:bodyPr>
            <a:normAutofit lnSpcReduction="10000"/>
          </a:bodyPr>
          <a:lstStyle/>
          <a:p>
            <a:pPr>
              <a:buNone/>
            </a:pPr>
            <a:r>
              <a:rPr lang="fr-FR" dirty="0" smtClean="0"/>
              <a:t>b- Nécrose </a:t>
            </a:r>
          </a:p>
          <a:p>
            <a:pPr>
              <a:buNone/>
            </a:pPr>
            <a:endParaRPr lang="fr-FR" dirty="0"/>
          </a:p>
          <a:p>
            <a:pPr algn="just">
              <a:buNone/>
            </a:pPr>
            <a:r>
              <a:rPr lang="fr-FR" b="1" dirty="0"/>
              <a:t>La nécrose cellulaire désigne les modifications morphologiques irréversibles coïncidant avec la </a:t>
            </a:r>
            <a:r>
              <a:rPr lang="fr-FR" b="1" dirty="0" smtClean="0"/>
              <a:t>mort </a:t>
            </a:r>
            <a:r>
              <a:rPr lang="fr-FR" dirty="0" smtClean="0"/>
              <a:t>cellulaire</a:t>
            </a:r>
            <a:r>
              <a:rPr lang="fr-FR" dirty="0"/>
              <a:t>. </a:t>
            </a:r>
            <a:endParaRPr lang="fr-FR" dirty="0" smtClean="0"/>
          </a:p>
          <a:p>
            <a:pPr algn="just">
              <a:buNone/>
            </a:pPr>
            <a:r>
              <a:rPr lang="fr-FR" dirty="0" smtClean="0"/>
              <a:t>Ces </a:t>
            </a:r>
            <a:r>
              <a:rPr lang="fr-FR" dirty="0"/>
              <a:t>modifications touchent aussi bien le noyau que le cytoplasme.</a:t>
            </a:r>
          </a:p>
          <a:p>
            <a:pPr algn="just">
              <a:buNone/>
            </a:pPr>
            <a:r>
              <a:rPr lang="fr-FR" dirty="0"/>
              <a:t>Elles sont observables lorsque la cellule morte reste dans un environnement vivant, et doit donc </a:t>
            </a:r>
            <a:r>
              <a:rPr lang="fr-FR" dirty="0" smtClean="0"/>
              <a:t>être distinguée </a:t>
            </a:r>
            <a:r>
              <a:rPr lang="fr-FR" dirty="0"/>
              <a:t>de l'autolyse.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algn="ctr" eaLnBrk="1" hangingPunct="1"/>
            <a:r>
              <a:rPr lang="fr-FR" sz="2400" b="0" smtClean="0">
                <a:latin typeface="Trebuchet MS" panose="020B0603020202020204" pitchFamily="34" charset="0"/>
              </a:rPr>
              <a:t>Lésions cellulaires élémentaires</a:t>
            </a:r>
            <a:r>
              <a:rPr lang="fr-FR" sz="4800" smtClean="0">
                <a:latin typeface="Trebuchet MS" panose="020B0603020202020204" pitchFamily="34" charset="0"/>
              </a:rPr>
              <a:t/>
            </a:r>
            <a:br>
              <a:rPr lang="fr-FR" sz="4800" smtClean="0">
                <a:latin typeface="Trebuchet MS" panose="020B0603020202020204" pitchFamily="34" charset="0"/>
              </a:rPr>
            </a:br>
            <a:r>
              <a:rPr lang="fr-FR" sz="4800" smtClean="0">
                <a:latin typeface="Trebuchet MS" panose="020B0603020202020204" pitchFamily="34" charset="0"/>
              </a:rPr>
              <a:t>La nécrose</a:t>
            </a:r>
          </a:p>
        </p:txBody>
      </p:sp>
      <p:sp>
        <p:nvSpPr>
          <p:cNvPr id="24579" name="Rectangle 3"/>
          <p:cNvSpPr>
            <a:spLocks noGrp="1" noChangeArrowheads="1"/>
          </p:cNvSpPr>
          <p:nvPr>
            <p:ph type="body" idx="1"/>
          </p:nvPr>
        </p:nvSpPr>
        <p:spPr/>
        <p:txBody>
          <a:bodyPr>
            <a:normAutofit lnSpcReduction="10000"/>
          </a:bodyPr>
          <a:lstStyle/>
          <a:p>
            <a:pPr eaLnBrk="1" hangingPunct="1"/>
            <a:r>
              <a:rPr lang="fr-FR" smtClean="0"/>
              <a:t>est une mort cellulaire dite "</a:t>
            </a:r>
            <a:r>
              <a:rPr lang="fr-FR" b="1" smtClean="0"/>
              <a:t>accidentelle</a:t>
            </a:r>
            <a:r>
              <a:rPr lang="fr-FR" smtClean="0"/>
              <a:t>" qui survient lors d'un dommage tissulaire et elle implique des </a:t>
            </a:r>
            <a:r>
              <a:rPr lang="fr-FR" b="1" smtClean="0"/>
              <a:t>groupes de cellules</a:t>
            </a:r>
            <a:r>
              <a:rPr lang="fr-FR" smtClean="0"/>
              <a:t>. Lors de la nécrose, la cellule devient enflée, puis la </a:t>
            </a:r>
            <a:r>
              <a:rPr lang="fr-FR" b="1" smtClean="0"/>
              <a:t>membrane cellulaire éclate</a:t>
            </a:r>
            <a:r>
              <a:rPr lang="fr-FR" smtClean="0"/>
              <a:t> déversant le contenu cellulaire dans le tissu environnant </a:t>
            </a:r>
          </a:p>
          <a:p>
            <a:pPr eaLnBrk="1" hangingPunct="1"/>
            <a:r>
              <a:rPr lang="fr-FR" smtClean="0"/>
              <a:t>provoquant </a:t>
            </a:r>
            <a:r>
              <a:rPr lang="fr-FR" b="1" smtClean="0">
                <a:solidFill>
                  <a:srgbClr val="6909F7"/>
                </a:solidFill>
              </a:rPr>
              <a:t>l‘inflammation</a:t>
            </a:r>
            <a:r>
              <a:rPr lang="fr-FR" b="1" smtClean="0"/>
              <a:t> </a:t>
            </a:r>
          </a:p>
          <a:p>
            <a:pPr eaLnBrk="1" hangingPunct="1"/>
            <a:r>
              <a:rPr lang="fr-FR" smtClean="0"/>
              <a:t>Les mitochondries et le noyau restent intacts tout au long de ce processus.</a:t>
            </a:r>
          </a:p>
        </p:txBody>
      </p:sp>
    </p:spTree>
    <p:extLst>
      <p:ext uri="{BB962C8B-B14F-4D97-AF65-F5344CB8AC3E}">
        <p14:creationId xmlns:p14="http://schemas.microsoft.com/office/powerpoint/2010/main" val="32860059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42918"/>
            <a:ext cx="8229600" cy="5483245"/>
          </a:xfrm>
        </p:spPr>
        <p:txBody>
          <a:bodyPr>
            <a:normAutofit lnSpcReduction="10000"/>
          </a:bodyPr>
          <a:lstStyle/>
          <a:p>
            <a:pPr>
              <a:buNone/>
            </a:pPr>
            <a:r>
              <a:rPr lang="fr-FR" dirty="0" smtClean="0"/>
              <a:t>Causes de la nécrose:</a:t>
            </a:r>
          </a:p>
          <a:p>
            <a:pPr>
              <a:buNone/>
            </a:pPr>
            <a:endParaRPr lang="fr-FR" dirty="0"/>
          </a:p>
          <a:p>
            <a:pPr>
              <a:buNone/>
            </a:pPr>
            <a:r>
              <a:rPr lang="fr-FR" dirty="0" smtClean="0"/>
              <a:t>• </a:t>
            </a:r>
            <a:r>
              <a:rPr lang="fr-FR" dirty="0"/>
              <a:t>Anoxie, en particulier ischémie</a:t>
            </a:r>
          </a:p>
          <a:p>
            <a:pPr>
              <a:buNone/>
            </a:pPr>
            <a:r>
              <a:rPr lang="fr-FR" dirty="0"/>
              <a:t>• Agents physiques, trauma mécanique, thermique, radiations</a:t>
            </a:r>
          </a:p>
          <a:p>
            <a:pPr>
              <a:buNone/>
            </a:pPr>
            <a:r>
              <a:rPr lang="fr-FR" dirty="0"/>
              <a:t>• Agents chimiques et médicamenteux</a:t>
            </a:r>
          </a:p>
          <a:p>
            <a:pPr>
              <a:buNone/>
            </a:pPr>
            <a:r>
              <a:rPr lang="fr-FR" dirty="0"/>
              <a:t>• Agents infectieux: virus, bactérie, champignon, parasite</a:t>
            </a:r>
          </a:p>
          <a:p>
            <a:pPr>
              <a:buNone/>
            </a:pPr>
            <a:r>
              <a:rPr lang="fr-FR" dirty="0"/>
              <a:t>• Réactions immunologiques</a:t>
            </a:r>
          </a:p>
          <a:p>
            <a:pPr>
              <a:buNone/>
            </a:pPr>
            <a:r>
              <a:rPr lang="fr-FR" dirty="0"/>
              <a:t>• Déséquilibres nutritionnels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85794"/>
            <a:ext cx="8229600" cy="5340369"/>
          </a:xfrm>
        </p:spPr>
        <p:txBody>
          <a:bodyPr/>
          <a:lstStyle/>
          <a:p>
            <a:pPr>
              <a:buNone/>
            </a:pPr>
            <a:r>
              <a:rPr lang="fr-FR" dirty="0" smtClean="0"/>
              <a:t>Aspects de la nécrose:</a:t>
            </a:r>
          </a:p>
          <a:p>
            <a:pPr>
              <a:buNone/>
            </a:pPr>
            <a:endParaRPr lang="fr-FR" dirty="0" smtClean="0"/>
          </a:p>
          <a:p>
            <a:pPr algn="just"/>
            <a:r>
              <a:rPr lang="fr-FR" dirty="0"/>
              <a:t>Les modifications observables en microscopie optique traduisent la dénaturation protéique et la digestion </a:t>
            </a:r>
            <a:r>
              <a:rPr lang="fr-FR" dirty="0" smtClean="0"/>
              <a:t>des organites </a:t>
            </a:r>
            <a:r>
              <a:rPr lang="fr-FR" dirty="0"/>
              <a:t>par les enzymes protéolytiques des lysosomes. </a:t>
            </a:r>
            <a:endParaRPr lang="fr-FR" dirty="0" smtClean="0"/>
          </a:p>
          <a:p>
            <a:pPr algn="just"/>
            <a:r>
              <a:rPr lang="fr-FR" dirty="0" smtClean="0"/>
              <a:t>La </a:t>
            </a:r>
            <a:r>
              <a:rPr lang="fr-FR" dirty="0"/>
              <a:t>nécrose n'est manifeste que plusieurs </a:t>
            </a:r>
            <a:r>
              <a:rPr lang="fr-FR" dirty="0" smtClean="0"/>
              <a:t>heures après </a:t>
            </a:r>
            <a:r>
              <a:rPr lang="fr-FR" dirty="0"/>
              <a:t>la mort cellulaire.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785794"/>
            <a:ext cx="8229600" cy="5340369"/>
          </a:xfrm>
        </p:spPr>
        <p:txBody>
          <a:bodyPr>
            <a:normAutofit fontScale="92500" lnSpcReduction="10000"/>
          </a:bodyPr>
          <a:lstStyle/>
          <a:p>
            <a:pPr algn="just">
              <a:buNone/>
            </a:pPr>
            <a:r>
              <a:rPr lang="fr-FR" b="1" dirty="0"/>
              <a:t>Nécrose </a:t>
            </a:r>
            <a:r>
              <a:rPr lang="fr-FR" b="1" dirty="0" smtClean="0"/>
              <a:t>cellulaire</a:t>
            </a:r>
          </a:p>
          <a:p>
            <a:pPr algn="just">
              <a:buNone/>
            </a:pPr>
            <a:endParaRPr lang="fr-FR" b="1" dirty="0"/>
          </a:p>
          <a:p>
            <a:pPr algn="just">
              <a:buNone/>
            </a:pPr>
            <a:r>
              <a:rPr lang="fr-FR" b="1" dirty="0"/>
              <a:t>Les lésions élémentaires:</a:t>
            </a:r>
          </a:p>
          <a:p>
            <a:pPr algn="just">
              <a:buNone/>
            </a:pPr>
            <a:r>
              <a:rPr lang="fr-FR" dirty="0"/>
              <a:t>• Le </a:t>
            </a:r>
            <a:r>
              <a:rPr lang="fr-FR" b="1" dirty="0"/>
              <a:t>cytoplasme de la cellule nécrosée est habituellement éosinophile, par diminution de </a:t>
            </a:r>
            <a:r>
              <a:rPr lang="fr-FR" b="1" dirty="0" smtClean="0"/>
              <a:t>l'ARN </a:t>
            </a:r>
            <a:r>
              <a:rPr lang="fr-FR" dirty="0" smtClean="0"/>
              <a:t>cytoplasmique </a:t>
            </a:r>
            <a:r>
              <a:rPr lang="fr-FR" dirty="0"/>
              <a:t>(responsable de la basophilie cytoplasmique) et par augmentation de la liaison </a:t>
            </a:r>
            <a:r>
              <a:rPr lang="fr-FR" dirty="0" smtClean="0"/>
              <a:t>de l'éosine </a:t>
            </a:r>
            <a:r>
              <a:rPr lang="fr-FR" dirty="0"/>
              <a:t>aux protéines cytoplasmiques dénaturées. Il peut être homogène ou vacuolaire (par </a:t>
            </a:r>
            <a:r>
              <a:rPr lang="fr-FR" dirty="0" smtClean="0"/>
              <a:t>digestion enzymatique </a:t>
            </a:r>
            <a:r>
              <a:rPr lang="fr-FR" dirty="0"/>
              <a:t>des organites).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557374" y="5786454"/>
            <a:ext cx="8229600" cy="339709"/>
          </a:xfrm>
        </p:spPr>
        <p:txBody>
          <a:bodyPr>
            <a:normAutofit fontScale="62500" lnSpcReduction="20000"/>
          </a:bodyPr>
          <a:lstStyle/>
          <a:p>
            <a:pPr>
              <a:buNone/>
            </a:pPr>
            <a:r>
              <a:rPr lang="fr-FR" dirty="0" smtClean="0"/>
              <a:t>Nécrose : cytoplasme intensément éosinophile</a:t>
            </a:r>
            <a:endParaRPr lang="fr-FR" dirty="0"/>
          </a:p>
        </p:txBody>
      </p:sp>
      <p:pic>
        <p:nvPicPr>
          <p:cNvPr id="1026" name="Picture 2" descr="C:\Users\pc\Pictures\nécrose  cellulaire.jpg"/>
          <p:cNvPicPr>
            <a:picLocks noChangeAspect="1" noChangeArrowheads="1"/>
          </p:cNvPicPr>
          <p:nvPr/>
        </p:nvPicPr>
        <p:blipFill>
          <a:blip r:embed="rId2"/>
          <a:srcRect/>
          <a:stretch>
            <a:fillRect/>
          </a:stretch>
        </p:blipFill>
        <p:spPr bwMode="auto">
          <a:xfrm>
            <a:off x="1079500" y="357166"/>
            <a:ext cx="6985000" cy="52197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00042"/>
            <a:ext cx="8229600" cy="5626121"/>
          </a:xfrm>
        </p:spPr>
        <p:txBody>
          <a:bodyPr/>
          <a:lstStyle/>
          <a:p>
            <a:pPr algn="just">
              <a:buNone/>
            </a:pPr>
            <a:r>
              <a:rPr lang="fr-FR" dirty="0"/>
              <a:t>• Les </a:t>
            </a:r>
            <a:r>
              <a:rPr lang="fr-FR" b="1" dirty="0"/>
              <a:t>modifications nucléaires sont constantes et prennent plusieurs formes</a:t>
            </a:r>
            <a:r>
              <a:rPr lang="fr-FR" b="1" dirty="0" smtClean="0"/>
              <a:t>:</a:t>
            </a:r>
          </a:p>
          <a:p>
            <a:pPr algn="just">
              <a:buNone/>
            </a:pPr>
            <a:endParaRPr lang="fr-FR" b="1" dirty="0"/>
          </a:p>
          <a:p>
            <a:pPr algn="just">
              <a:buNone/>
            </a:pPr>
            <a:r>
              <a:rPr lang="fr-FR" b="1" dirty="0"/>
              <a:t>-</a:t>
            </a:r>
            <a:r>
              <a:rPr lang="fr-FR" b="1" dirty="0" smtClean="0"/>
              <a:t>Pycnose : condensation avec rétraction du noyau et agglutination des amas chromatiniens </a:t>
            </a:r>
            <a:r>
              <a:rPr lang="fr-FR" dirty="0" smtClean="0"/>
              <a:t>contre la membrane nucléaire.</a:t>
            </a:r>
          </a:p>
          <a:p>
            <a:pPr algn="just">
              <a:buNone/>
            </a:pPr>
            <a:endParaRPr lang="fr-FR" dirty="0"/>
          </a:p>
          <a:p>
            <a:pPr algn="just">
              <a:buNone/>
            </a:pPr>
            <a:r>
              <a:rPr lang="fr-FR" b="1" dirty="0" smtClean="0"/>
              <a:t>-</a:t>
            </a:r>
            <a:r>
              <a:rPr lang="fr-FR" b="1" dirty="0" err="1" smtClean="0"/>
              <a:t>Caryolyse</a:t>
            </a:r>
            <a:r>
              <a:rPr lang="fr-FR" b="1" dirty="0" smtClean="0"/>
              <a:t> </a:t>
            </a:r>
            <a:r>
              <a:rPr lang="fr-FR" b="1" dirty="0"/>
              <a:t>: dissolution nucléaire avec perte des affinités tinctoriales</a:t>
            </a:r>
            <a:endParaRPr lang="fr-F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a:buNone/>
            </a:pPr>
            <a:r>
              <a:rPr lang="fr-FR" dirty="0" smtClean="0"/>
              <a:t>-</a:t>
            </a:r>
            <a:r>
              <a:rPr lang="fr-FR" b="1" dirty="0" err="1"/>
              <a:t>Caryorrhexis</a:t>
            </a:r>
            <a:r>
              <a:rPr lang="fr-FR" b="1" dirty="0"/>
              <a:t> : fragmentation de la masse nucléaire</a:t>
            </a:r>
            <a:endParaRPr lang="fr-F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68313" y="333375"/>
            <a:ext cx="6911975" cy="1084263"/>
          </a:xfrm>
        </p:spPr>
        <p:txBody>
          <a:bodyPr>
            <a:normAutofit fontScale="90000"/>
          </a:bodyPr>
          <a:lstStyle/>
          <a:p>
            <a:pPr algn="ctr" eaLnBrk="1" hangingPunct="1"/>
            <a:r>
              <a:rPr lang="fr-FR" sz="2000" b="0" dirty="0" smtClean="0">
                <a:latin typeface="Trebuchet MS" panose="020B0603020202020204" pitchFamily="34" charset="0"/>
              </a:rPr>
              <a:t>Les lésions élémentaires </a:t>
            </a:r>
            <a:br>
              <a:rPr lang="fr-FR" sz="2000" b="0" dirty="0" smtClean="0">
                <a:latin typeface="Trebuchet MS" panose="020B0603020202020204" pitchFamily="34" charset="0"/>
              </a:rPr>
            </a:br>
            <a:r>
              <a:rPr lang="fr-FR" sz="3200" b="0" dirty="0" smtClean="0">
                <a:latin typeface="Trebuchet MS" panose="020B0603020202020204" pitchFamily="34" charset="0"/>
              </a:rPr>
              <a:t>Les différentes formes de nécrose </a:t>
            </a:r>
            <a:br>
              <a:rPr lang="fr-FR" sz="3200" b="0" dirty="0" smtClean="0">
                <a:latin typeface="Trebuchet MS" panose="020B0603020202020204" pitchFamily="34" charset="0"/>
              </a:rPr>
            </a:br>
            <a:endParaRPr lang="fr-FR" sz="3200" b="0" dirty="0" smtClean="0">
              <a:latin typeface="Trebuchet MS" panose="020B0603020202020204" pitchFamily="34" charset="0"/>
            </a:endParaRPr>
          </a:p>
        </p:txBody>
      </p:sp>
      <p:sp>
        <p:nvSpPr>
          <p:cNvPr id="27651" name="Rectangle 3"/>
          <p:cNvSpPr>
            <a:spLocks noGrp="1" noChangeArrowheads="1"/>
          </p:cNvSpPr>
          <p:nvPr>
            <p:ph type="body" idx="1"/>
          </p:nvPr>
        </p:nvSpPr>
        <p:spPr>
          <a:xfrm>
            <a:off x="323528" y="1389074"/>
            <a:ext cx="8208962" cy="4967288"/>
          </a:xfrm>
        </p:spPr>
        <p:txBody>
          <a:bodyPr/>
          <a:lstStyle/>
          <a:p>
            <a:pPr eaLnBrk="1" hangingPunct="1"/>
            <a:r>
              <a:rPr lang="fr-FR" sz="2600" dirty="0" smtClean="0">
                <a:solidFill>
                  <a:srgbClr val="6909F7"/>
                </a:solidFill>
                <a:latin typeface="Trebuchet MS" panose="020B0603020202020204" pitchFamily="34" charset="0"/>
              </a:rPr>
              <a:t>Nécrose  de coagulation</a:t>
            </a:r>
            <a:r>
              <a:rPr lang="fr-FR" sz="2600" dirty="0" smtClean="0">
                <a:latin typeface="Trebuchet MS" panose="020B0603020202020204" pitchFamily="34" charset="0"/>
              </a:rPr>
              <a:t>, fréquente, lorsque la dénaturation protéique est l'événement essentiel, au cours de l'ischémie, L'architecture tissulaire est préservée, fantomatique, les cytoplasmes sont éosinophiles et les noyaux pycnotiques ou en </a:t>
            </a:r>
            <a:r>
              <a:rPr lang="fr-FR" sz="2600" dirty="0" err="1" smtClean="0">
                <a:latin typeface="Trebuchet MS" panose="020B0603020202020204" pitchFamily="34" charset="0"/>
              </a:rPr>
              <a:t>caryolyse</a:t>
            </a:r>
            <a:r>
              <a:rPr lang="fr-FR" sz="2600" dirty="0" smtClean="0">
                <a:latin typeface="Trebuchet MS" panose="020B0603020202020204" pitchFamily="34" charset="0"/>
              </a:rPr>
              <a:t/>
            </a:r>
            <a:br>
              <a:rPr lang="fr-FR" sz="2600" dirty="0" smtClean="0">
                <a:latin typeface="Trebuchet MS" panose="020B0603020202020204" pitchFamily="34" charset="0"/>
              </a:rPr>
            </a:br>
            <a:endParaRPr lang="fr-FR" sz="2600" dirty="0" smtClean="0">
              <a:latin typeface="Trebuchet MS" panose="020B0603020202020204" pitchFamily="34" charset="0"/>
            </a:endParaRPr>
          </a:p>
          <a:p>
            <a:pPr eaLnBrk="1" hangingPunct="1"/>
            <a:r>
              <a:rPr lang="fr-FR" sz="2600" dirty="0" smtClean="0">
                <a:solidFill>
                  <a:srgbClr val="6909F7"/>
                </a:solidFill>
                <a:latin typeface="Trebuchet MS" panose="020B0603020202020204" pitchFamily="34" charset="0"/>
              </a:rPr>
              <a:t>Nécrose  de liquéfaction</a:t>
            </a:r>
            <a:r>
              <a:rPr lang="fr-FR" sz="2600" dirty="0" smtClean="0">
                <a:latin typeface="Trebuchet MS" panose="020B0603020202020204" pitchFamily="34" charset="0"/>
              </a:rPr>
              <a:t> , lorsque la digestion enzymatique domine, comme dans les infections à pyogènes. Elle correspond à une perte totale de l'architecture tissulaire</a:t>
            </a:r>
            <a:br>
              <a:rPr lang="fr-FR" sz="2600" dirty="0" smtClean="0">
                <a:latin typeface="Trebuchet MS" panose="020B0603020202020204" pitchFamily="34" charset="0"/>
              </a:rPr>
            </a:br>
            <a:endParaRPr lang="fr-FR" sz="2600" dirty="0" smtClean="0">
              <a:latin typeface="Trebuchet MS" panose="020B0603020202020204" pitchFamily="34" charset="0"/>
            </a:endParaRPr>
          </a:p>
        </p:txBody>
      </p:sp>
    </p:spTree>
    <p:extLst>
      <p:ext uri="{BB962C8B-B14F-4D97-AF65-F5344CB8AC3E}">
        <p14:creationId xmlns:p14="http://schemas.microsoft.com/office/powerpoint/2010/main" val="30794711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50825" y="333375"/>
            <a:ext cx="7561263" cy="1084263"/>
          </a:xfrm>
        </p:spPr>
        <p:txBody>
          <a:bodyPr>
            <a:normAutofit fontScale="90000"/>
          </a:bodyPr>
          <a:lstStyle/>
          <a:p>
            <a:pPr algn="ctr" eaLnBrk="1" hangingPunct="1"/>
            <a:r>
              <a:rPr lang="fr-FR" sz="3500" b="0" dirty="0" smtClean="0"/>
              <a:t> </a:t>
            </a:r>
            <a:r>
              <a:rPr lang="fr-FR" sz="2000" b="0" dirty="0" smtClean="0">
                <a:latin typeface="Trebuchet MS" panose="020B0603020202020204" pitchFamily="34" charset="0"/>
              </a:rPr>
              <a:t>Les lésions élémentaires </a:t>
            </a:r>
            <a:br>
              <a:rPr lang="fr-FR" sz="2000" b="0" dirty="0" smtClean="0">
                <a:latin typeface="Trebuchet MS" panose="020B0603020202020204" pitchFamily="34" charset="0"/>
              </a:rPr>
            </a:br>
            <a:r>
              <a:rPr lang="fr-FR" sz="3200" b="0" dirty="0" smtClean="0">
                <a:latin typeface="Trebuchet MS" panose="020B0603020202020204" pitchFamily="34" charset="0"/>
              </a:rPr>
              <a:t>Autres  formes particulières de nécrose</a:t>
            </a:r>
            <a:br>
              <a:rPr lang="fr-FR" sz="3200" b="0" dirty="0" smtClean="0">
                <a:latin typeface="Trebuchet MS" panose="020B0603020202020204" pitchFamily="34" charset="0"/>
              </a:rPr>
            </a:br>
            <a:endParaRPr lang="fr-FR" sz="3200" b="0" dirty="0" smtClean="0">
              <a:latin typeface="Trebuchet MS" panose="020B0603020202020204" pitchFamily="34" charset="0"/>
            </a:endParaRPr>
          </a:p>
        </p:txBody>
      </p:sp>
      <p:sp>
        <p:nvSpPr>
          <p:cNvPr id="28675" name="Rectangle 3"/>
          <p:cNvSpPr>
            <a:spLocks noGrp="1" noChangeArrowheads="1"/>
          </p:cNvSpPr>
          <p:nvPr>
            <p:ph type="body" idx="1"/>
          </p:nvPr>
        </p:nvSpPr>
        <p:spPr>
          <a:xfrm>
            <a:off x="467544" y="1556792"/>
            <a:ext cx="8208962" cy="4967288"/>
          </a:xfrm>
        </p:spPr>
        <p:txBody>
          <a:bodyPr/>
          <a:lstStyle/>
          <a:p>
            <a:pPr eaLnBrk="1" hangingPunct="1">
              <a:lnSpc>
                <a:spcPct val="80000"/>
              </a:lnSpc>
              <a:buFont typeface="Wingdings" panose="05000000000000000000" pitchFamily="2" charset="2"/>
              <a:buNone/>
            </a:pPr>
            <a:endParaRPr lang="fr-FR" sz="1900" b="1" dirty="0" smtClean="0"/>
          </a:p>
          <a:p>
            <a:pPr eaLnBrk="1" hangingPunct="1">
              <a:lnSpc>
                <a:spcPct val="80000"/>
              </a:lnSpc>
            </a:pPr>
            <a:r>
              <a:rPr lang="fr-FR" sz="1900" b="1" dirty="0" smtClean="0">
                <a:solidFill>
                  <a:srgbClr val="32CECA"/>
                </a:solidFill>
              </a:rPr>
              <a:t>Nécrose  caséeuse</a:t>
            </a:r>
            <a:r>
              <a:rPr lang="fr-FR" sz="1900" b="1" dirty="0" smtClean="0"/>
              <a:t>: elle est caractéristique de la tuberculose. Macroscopiquement, elle rappelle le lait caillé, d'où son nom de caséum. Histologiquement on observe un matériel nécrotique grumeleux, éosinophile, sans architecture cellulaire ou tissulaire</a:t>
            </a:r>
          </a:p>
          <a:p>
            <a:pPr eaLnBrk="1" hangingPunct="1">
              <a:lnSpc>
                <a:spcPct val="80000"/>
              </a:lnSpc>
            </a:pPr>
            <a:endParaRPr lang="fr-FR" sz="1900" b="1" dirty="0" smtClean="0"/>
          </a:p>
          <a:p>
            <a:pPr eaLnBrk="1" hangingPunct="1">
              <a:lnSpc>
                <a:spcPct val="80000"/>
              </a:lnSpc>
            </a:pPr>
            <a:endParaRPr lang="fr-FR" sz="1900" b="1" dirty="0" smtClean="0"/>
          </a:p>
          <a:p>
            <a:pPr eaLnBrk="1" hangingPunct="1">
              <a:lnSpc>
                <a:spcPct val="80000"/>
              </a:lnSpc>
            </a:pPr>
            <a:r>
              <a:rPr lang="fr-FR" sz="1900" b="1" dirty="0" smtClean="0">
                <a:solidFill>
                  <a:srgbClr val="32CECA"/>
                </a:solidFill>
              </a:rPr>
              <a:t>Nécrose  gangréneuse</a:t>
            </a:r>
            <a:r>
              <a:rPr lang="fr-FR" sz="1900" b="1" dirty="0" smtClean="0"/>
              <a:t> : elle est liée aux effets combinés de l'ischémie et de germes anaérobies</a:t>
            </a:r>
            <a:br>
              <a:rPr lang="fr-FR" sz="1900" b="1" dirty="0" smtClean="0"/>
            </a:br>
            <a:endParaRPr lang="fr-FR" sz="1900" b="1" dirty="0" smtClean="0"/>
          </a:p>
          <a:p>
            <a:pPr eaLnBrk="1" hangingPunct="1">
              <a:lnSpc>
                <a:spcPct val="80000"/>
              </a:lnSpc>
            </a:pPr>
            <a:r>
              <a:rPr lang="fr-FR" sz="1900" b="1" dirty="0" err="1" smtClean="0">
                <a:solidFill>
                  <a:srgbClr val="32CECA"/>
                </a:solidFill>
              </a:rPr>
              <a:t>Stéato</a:t>
            </a:r>
            <a:r>
              <a:rPr lang="fr-FR" sz="1900" b="1" dirty="0" smtClean="0">
                <a:solidFill>
                  <a:srgbClr val="32CECA"/>
                </a:solidFill>
              </a:rPr>
              <a:t> -nécrose</a:t>
            </a:r>
            <a:r>
              <a:rPr lang="fr-FR" sz="1900" b="1" dirty="0" smtClean="0"/>
              <a:t>    : c'est la nécrose du tissu adipeux, qui est habituellement observée au cours de la pancréatite aiguë, par libération des enzymes pancréatiques lors de la nécrose du tissu exocrine (lipase). Macroscopiquement la </a:t>
            </a:r>
            <a:r>
              <a:rPr lang="fr-FR" sz="1900" b="1" dirty="0" err="1" smtClean="0"/>
              <a:t>stéatonécrose</a:t>
            </a:r>
            <a:r>
              <a:rPr lang="fr-FR" sz="1900" b="1" dirty="0" smtClean="0"/>
              <a:t> a un aspect caractéristique crayeux, blanchâtre </a:t>
            </a:r>
          </a:p>
          <a:p>
            <a:pPr eaLnBrk="1" hangingPunct="1">
              <a:lnSpc>
                <a:spcPct val="80000"/>
              </a:lnSpc>
            </a:pPr>
            <a:endParaRPr lang="fr-FR" sz="1900" b="1" dirty="0" smtClean="0"/>
          </a:p>
          <a:p>
            <a:pPr eaLnBrk="1" hangingPunct="1">
              <a:lnSpc>
                <a:spcPct val="80000"/>
              </a:lnSpc>
            </a:pPr>
            <a:r>
              <a:rPr lang="fr-FR" sz="1900" b="1" dirty="0" smtClean="0">
                <a:solidFill>
                  <a:srgbClr val="32CECA"/>
                </a:solidFill>
              </a:rPr>
              <a:t>Nécrose  </a:t>
            </a:r>
            <a:r>
              <a:rPr lang="fr-FR" sz="1900" b="1" dirty="0" err="1" smtClean="0">
                <a:solidFill>
                  <a:srgbClr val="32CECA"/>
                </a:solidFill>
              </a:rPr>
              <a:t>fibrinoïde</a:t>
            </a:r>
            <a:r>
              <a:rPr lang="fr-FR" sz="1900" b="1" dirty="0" smtClean="0"/>
              <a:t> : homogène, très éosinophile et prend les mêmes colorations que la fibrine (exemple </a:t>
            </a:r>
            <a:r>
              <a:rPr lang="fr-FR" sz="1900" b="1" dirty="0" err="1" smtClean="0"/>
              <a:t>périartérite</a:t>
            </a:r>
            <a:r>
              <a:rPr lang="fr-FR" sz="1900" b="1" dirty="0" smtClean="0"/>
              <a:t> noueuse)</a:t>
            </a:r>
            <a:r>
              <a:rPr lang="fr-FR" sz="1900" dirty="0" smtClean="0"/>
              <a:t> </a:t>
            </a:r>
          </a:p>
        </p:txBody>
      </p:sp>
    </p:spTree>
    <p:extLst>
      <p:ext uri="{BB962C8B-B14F-4D97-AF65-F5344CB8AC3E}">
        <p14:creationId xmlns:p14="http://schemas.microsoft.com/office/powerpoint/2010/main" val="40636971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5" descr="fig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050925"/>
            <a:ext cx="6840537" cy="5133975"/>
          </a:xfrm>
          <a:prstGeom prst="rect">
            <a:avLst/>
          </a:prstGeom>
          <a:noFill/>
          <a:ln w="38100">
            <a:solidFill>
              <a:srgbClr val="6909F7"/>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0348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ctr" eaLnBrk="1" hangingPunct="1"/>
            <a:r>
              <a:rPr lang="fr-FR" b="0" smtClean="0">
                <a:latin typeface="Trebuchet MS" panose="020B0603020202020204" pitchFamily="34" charset="0"/>
              </a:rPr>
              <a:t>Evolution de la nécrose</a:t>
            </a:r>
          </a:p>
        </p:txBody>
      </p:sp>
      <p:sp>
        <p:nvSpPr>
          <p:cNvPr id="35843" name="Rectangle 3"/>
          <p:cNvSpPr>
            <a:spLocks noGrp="1" noChangeArrowheads="1"/>
          </p:cNvSpPr>
          <p:nvPr>
            <p:ph type="body" idx="1"/>
          </p:nvPr>
        </p:nvSpPr>
        <p:spPr/>
        <p:txBody>
          <a:bodyPr>
            <a:normAutofit lnSpcReduction="10000"/>
          </a:bodyPr>
          <a:lstStyle/>
          <a:p>
            <a:pPr eaLnBrk="1" hangingPunct="1">
              <a:lnSpc>
                <a:spcPct val="90000"/>
              </a:lnSpc>
            </a:pPr>
            <a:endParaRPr lang="fr-FR" smtClean="0"/>
          </a:p>
          <a:p>
            <a:pPr eaLnBrk="1" hangingPunct="1">
              <a:lnSpc>
                <a:spcPct val="90000"/>
              </a:lnSpc>
            </a:pPr>
            <a:r>
              <a:rPr lang="fr-FR" smtClean="0">
                <a:latin typeface="Trebuchet MS" panose="020B0603020202020204" pitchFamily="34" charset="0"/>
              </a:rPr>
              <a:t>Habituellement la nécrose, quelle qu'elle soit, induit une réaction inflammatoire commune autour des cellules nécrosées, et selon la localisation, l'étendue, et la cause on aboutit</a:t>
            </a:r>
          </a:p>
          <a:p>
            <a:pPr lvl="1" eaLnBrk="1" hangingPunct="1">
              <a:lnSpc>
                <a:spcPct val="90000"/>
              </a:lnSpc>
            </a:pPr>
            <a:r>
              <a:rPr lang="fr-FR" smtClean="0">
                <a:latin typeface="Trebuchet MS" panose="020B0603020202020204" pitchFamily="34" charset="0"/>
              </a:rPr>
              <a:t>Soit  à une restitution ad integrum </a:t>
            </a:r>
          </a:p>
          <a:p>
            <a:pPr lvl="1" eaLnBrk="1" hangingPunct="1">
              <a:lnSpc>
                <a:spcPct val="90000"/>
              </a:lnSpc>
            </a:pPr>
            <a:r>
              <a:rPr lang="fr-FR" smtClean="0">
                <a:latin typeface="Trebuchet MS" panose="020B0603020202020204" pitchFamily="34" charset="0"/>
              </a:rPr>
              <a:t>Soit  à une cicatrice</a:t>
            </a:r>
            <a:br>
              <a:rPr lang="fr-FR" smtClean="0">
                <a:latin typeface="Trebuchet MS" panose="020B0603020202020204" pitchFamily="34" charset="0"/>
              </a:rPr>
            </a:br>
            <a:r>
              <a:rPr lang="fr-FR" smtClean="0"/>
              <a:t/>
            </a:r>
            <a:br>
              <a:rPr lang="fr-FR" smtClean="0"/>
            </a:br>
            <a:endParaRPr lang="fr-FR" smtClean="0"/>
          </a:p>
        </p:txBody>
      </p:sp>
    </p:spTree>
    <p:extLst>
      <p:ext uri="{BB962C8B-B14F-4D97-AF65-F5344CB8AC3E}">
        <p14:creationId xmlns:p14="http://schemas.microsoft.com/office/powerpoint/2010/main" val="5441180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857232"/>
            <a:ext cx="8229600" cy="5268931"/>
          </a:xfrm>
        </p:spPr>
        <p:txBody>
          <a:bodyPr>
            <a:normAutofit/>
          </a:bodyPr>
          <a:lstStyle/>
          <a:p>
            <a:pPr algn="just">
              <a:buNone/>
            </a:pPr>
            <a:r>
              <a:rPr lang="fr-FR" dirty="0" smtClean="0"/>
              <a:t>c-L’apoptose:</a:t>
            </a:r>
          </a:p>
          <a:p>
            <a:pPr algn="just"/>
            <a:r>
              <a:rPr lang="fr-FR" b="1" dirty="0"/>
              <a:t>L'</a:t>
            </a:r>
            <a:r>
              <a:rPr lang="fr-FR" b="1" dirty="0" err="1"/>
              <a:t>apoptose</a:t>
            </a:r>
            <a:r>
              <a:rPr lang="fr-FR" b="1" dirty="0"/>
              <a:t> est la mort cellulaire programmée. Nommée ainsi d'après le terme grec "tombé" elle </a:t>
            </a:r>
            <a:r>
              <a:rPr lang="fr-FR" b="1" dirty="0" smtClean="0"/>
              <a:t>fut </a:t>
            </a:r>
            <a:r>
              <a:rPr lang="fr-FR" dirty="0" smtClean="0"/>
              <a:t>individualisée </a:t>
            </a:r>
            <a:r>
              <a:rPr lang="fr-FR" dirty="0"/>
              <a:t>en 1972 pour qualifier la mort cellulaire destinée à éliminer des cellules indésirables. </a:t>
            </a:r>
            <a:endParaRPr lang="fr-FR" dirty="0" smtClean="0"/>
          </a:p>
          <a:p>
            <a:pPr algn="just"/>
            <a:r>
              <a:rPr lang="fr-FR" dirty="0" smtClean="0"/>
              <a:t>Elle concerne </a:t>
            </a:r>
            <a:r>
              <a:rPr lang="fr-FR" dirty="0"/>
              <a:t>des cellules isolées, et non pas des groupes de cellules comme dans la nécrose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928670"/>
            <a:ext cx="8229600" cy="5197493"/>
          </a:xfrm>
        </p:spPr>
        <p:txBody>
          <a:bodyPr>
            <a:normAutofit lnSpcReduction="10000"/>
          </a:bodyPr>
          <a:lstStyle/>
          <a:p>
            <a:pPr algn="just">
              <a:buNone/>
            </a:pPr>
            <a:r>
              <a:rPr lang="fr-FR" b="1" dirty="0"/>
              <a:t>Physiologique</a:t>
            </a:r>
          </a:p>
          <a:p>
            <a:pPr algn="just"/>
            <a:r>
              <a:rPr lang="fr-FR" dirty="0"/>
              <a:t>Au cours de l’organogénèse (neurones) et de la croissance (involution thymique)</a:t>
            </a:r>
          </a:p>
          <a:p>
            <a:pPr algn="just"/>
            <a:r>
              <a:rPr lang="fr-FR" dirty="0"/>
              <a:t>Au cours du développement de l’immunité (destruction des lymphocytes T </a:t>
            </a:r>
            <a:r>
              <a:rPr lang="fr-FR" dirty="0" err="1"/>
              <a:t>autoréactifs</a:t>
            </a:r>
            <a:r>
              <a:rPr lang="fr-FR" dirty="0"/>
              <a:t>)</a:t>
            </a:r>
          </a:p>
          <a:p>
            <a:pPr algn="just">
              <a:buNone/>
            </a:pPr>
            <a:r>
              <a:rPr lang="fr-FR" dirty="0" smtClean="0"/>
              <a:t>   Comme </a:t>
            </a:r>
            <a:r>
              <a:rPr lang="fr-FR" dirty="0"/>
              <a:t>mécanisme d'homéostasie dans des tissus où le renouvellement cellulaire est permanent comme </a:t>
            </a:r>
            <a:r>
              <a:rPr lang="fr-FR" dirty="0" smtClean="0"/>
              <a:t>les cellules </a:t>
            </a:r>
            <a:r>
              <a:rPr lang="fr-FR" dirty="0"/>
              <a:t>de </a:t>
            </a:r>
            <a:r>
              <a:rPr lang="fr-FR" dirty="0" smtClean="0"/>
              <a:t>l'épiderme et </a:t>
            </a:r>
            <a:r>
              <a:rPr lang="fr-FR" dirty="0"/>
              <a:t>les centres germinatifs des </a:t>
            </a:r>
            <a:r>
              <a:rPr lang="fr-FR" dirty="0" smtClean="0"/>
              <a:t>ganglions . </a:t>
            </a:r>
          </a:p>
          <a:p>
            <a:pPr algn="just"/>
            <a:r>
              <a:rPr lang="fr-FR" dirty="0" smtClean="0"/>
              <a:t>Au </a:t>
            </a:r>
            <a:r>
              <a:rPr lang="fr-FR" dirty="0"/>
              <a:t>cours du vieillissement</a:t>
            </a:r>
          </a:p>
          <a:p>
            <a:pPr algn="just">
              <a:buNone/>
            </a:pPr>
            <a:endParaRPr lang="fr-F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00034" y="714356"/>
            <a:ext cx="8229600" cy="5411807"/>
          </a:xfrm>
        </p:spPr>
        <p:txBody>
          <a:bodyPr>
            <a:normAutofit lnSpcReduction="10000"/>
          </a:bodyPr>
          <a:lstStyle/>
          <a:p>
            <a:pPr algn="just">
              <a:buNone/>
            </a:pPr>
            <a:r>
              <a:rPr lang="fr-FR" b="1" dirty="0"/>
              <a:t>Processus pathologiques</a:t>
            </a:r>
          </a:p>
          <a:p>
            <a:pPr algn="just"/>
            <a:r>
              <a:rPr lang="fr-FR" dirty="0"/>
              <a:t>Elle intéresse alors des cellules lésées ou des cellules reconnues comme étrangères ou tumorales par </a:t>
            </a:r>
            <a:r>
              <a:rPr lang="fr-FR" dirty="0" smtClean="0"/>
              <a:t>les lymphocytes </a:t>
            </a:r>
            <a:r>
              <a:rPr lang="fr-FR" dirty="0"/>
              <a:t>T cytotoxiques ou NK, comme au cours du rejet de greffe, des </a:t>
            </a:r>
            <a:r>
              <a:rPr lang="fr-FR" dirty="0" err="1" smtClean="0"/>
              <a:t>lesions</a:t>
            </a:r>
            <a:r>
              <a:rPr lang="fr-FR" dirty="0" smtClean="0"/>
              <a:t> </a:t>
            </a:r>
            <a:r>
              <a:rPr lang="fr-FR" dirty="0"/>
              <a:t>virales ..</a:t>
            </a:r>
          </a:p>
          <a:p>
            <a:pPr algn="just"/>
            <a:r>
              <a:rPr lang="fr-FR" dirty="0"/>
              <a:t>Elle peut être induite par des stimulus </a:t>
            </a:r>
            <a:r>
              <a:rPr lang="fr-FR" dirty="0" smtClean="0"/>
              <a:t>entraînant </a:t>
            </a:r>
            <a:r>
              <a:rPr lang="fr-FR" dirty="0"/>
              <a:t>une apoptose, alors </a:t>
            </a:r>
            <a:r>
              <a:rPr lang="fr-FR" dirty="0" smtClean="0"/>
              <a:t>s’ils sont importants , ils induisent </a:t>
            </a:r>
            <a:r>
              <a:rPr lang="fr-FR" dirty="0"/>
              <a:t>une </a:t>
            </a:r>
            <a:r>
              <a:rPr lang="fr-FR" dirty="0" smtClean="0"/>
              <a:t>nécrose telle que la </a:t>
            </a:r>
            <a:r>
              <a:rPr lang="fr-FR" dirty="0"/>
              <a:t>chaleur, </a:t>
            </a:r>
            <a:r>
              <a:rPr lang="fr-FR" dirty="0" smtClean="0"/>
              <a:t>les irradiations et les  </a:t>
            </a:r>
            <a:r>
              <a:rPr lang="fr-FR" dirty="0"/>
              <a:t>chimiothérapies anticancéreuses</a:t>
            </a:r>
            <a:r>
              <a:rPr lang="fr-FR" dirty="0" smtClean="0"/>
              <a:t>.</a:t>
            </a:r>
            <a:endParaRPr lang="fr-F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857232"/>
            <a:ext cx="8229600" cy="5268931"/>
          </a:xfrm>
        </p:spPr>
        <p:txBody>
          <a:bodyPr>
            <a:normAutofit/>
          </a:bodyPr>
          <a:lstStyle/>
          <a:p>
            <a:pPr algn="just">
              <a:buNone/>
            </a:pPr>
            <a:r>
              <a:rPr lang="fr-FR" dirty="0" smtClean="0"/>
              <a:t>La cellule </a:t>
            </a:r>
            <a:r>
              <a:rPr lang="fr-FR" dirty="0" err="1" smtClean="0"/>
              <a:t>apoptotique</a:t>
            </a:r>
            <a:r>
              <a:rPr lang="fr-FR" dirty="0" smtClean="0"/>
              <a:t> apparaît en </a:t>
            </a:r>
            <a:r>
              <a:rPr lang="fr-FR" b="1" dirty="0" smtClean="0"/>
              <a:t>microscopie photonique comme une cellule isolée des autres, rétractée </a:t>
            </a:r>
            <a:r>
              <a:rPr lang="fr-FR" dirty="0" smtClean="0"/>
              <a:t>avec un cytoplasme éosinophile, comportant des fragments de chromatine nucléaire dense.</a:t>
            </a:r>
          </a:p>
          <a:p>
            <a:pPr algn="just">
              <a:buNone/>
            </a:pPr>
            <a:r>
              <a:rPr lang="fr-FR" dirty="0" smtClean="0"/>
              <a:t>A un stade débutant, la chromatine est condensée en périphérie du noyau. Elle est quelquefois difficile à identifier car elle concerne des </a:t>
            </a:r>
            <a:r>
              <a:rPr lang="fr-FR" u="sng" dirty="0" smtClean="0"/>
              <a:t>cellules isolées et n'induit pas de réaction inflammatoire</a:t>
            </a:r>
            <a:r>
              <a:rPr lang="fr-FR" dirty="0" smtClean="0"/>
              <a:t>.</a:t>
            </a:r>
            <a:endParaRPr lang="fr-F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lgn="ctr" eaLnBrk="1" hangingPunct="1"/>
            <a:r>
              <a:rPr lang="fr-FR" sz="2400" b="0" smtClean="0">
                <a:latin typeface="Trebuchet MS" panose="020B0603020202020204" pitchFamily="34" charset="0"/>
              </a:rPr>
              <a:t>Apoptose </a:t>
            </a:r>
            <a:r>
              <a:rPr lang="fr-FR" smtClean="0"/>
              <a:t/>
            </a:r>
            <a:br>
              <a:rPr lang="fr-FR" smtClean="0"/>
            </a:br>
            <a:r>
              <a:rPr lang="fr-FR" b="0" smtClean="0">
                <a:latin typeface="Trebuchet MS" panose="020B0603020202020204" pitchFamily="34" charset="0"/>
              </a:rPr>
              <a:t>Aspects morphologiques</a:t>
            </a:r>
          </a:p>
        </p:txBody>
      </p:sp>
      <p:sp>
        <p:nvSpPr>
          <p:cNvPr id="39939" name="Rectangle 3"/>
          <p:cNvSpPr>
            <a:spLocks noGrp="1" noChangeArrowheads="1"/>
          </p:cNvSpPr>
          <p:nvPr>
            <p:ph type="body" idx="1"/>
          </p:nvPr>
        </p:nvSpPr>
        <p:spPr/>
        <p:txBody>
          <a:bodyPr/>
          <a:lstStyle/>
          <a:p>
            <a:pPr eaLnBrk="1" hangingPunct="1"/>
            <a:endParaRPr lang="fr-FR" sz="2400" smtClean="0">
              <a:latin typeface="Trebuchet MS" panose="020B0603020202020204" pitchFamily="34" charset="0"/>
            </a:endParaRPr>
          </a:p>
          <a:p>
            <a:pPr eaLnBrk="1" hangingPunct="1"/>
            <a:r>
              <a:rPr lang="fr-FR" sz="2400" smtClean="0">
                <a:latin typeface="Trebuchet MS" panose="020B0603020202020204" pitchFamily="34" charset="0"/>
              </a:rPr>
              <a:t>Les premières manifestations morphologiques se caractérisent par:</a:t>
            </a:r>
          </a:p>
          <a:p>
            <a:pPr lvl="1" eaLnBrk="1" hangingPunct="1"/>
            <a:r>
              <a:rPr lang="fr-FR" sz="2000" smtClean="0">
                <a:latin typeface="Trebuchet MS" panose="020B0603020202020204" pitchFamily="34" charset="0"/>
              </a:rPr>
              <a:t>Densification et margination de la chromatine nucléaire</a:t>
            </a:r>
          </a:p>
          <a:p>
            <a:pPr lvl="1" eaLnBrk="1" hangingPunct="1"/>
            <a:r>
              <a:rPr lang="fr-FR" sz="2000" smtClean="0">
                <a:latin typeface="Trebuchet MS" panose="020B0603020202020204" pitchFamily="34" charset="0"/>
              </a:rPr>
              <a:t>Convolution des mb nucléaires et cytoplasmique</a:t>
            </a:r>
          </a:p>
          <a:p>
            <a:pPr lvl="1" eaLnBrk="1" hangingPunct="1"/>
            <a:r>
              <a:rPr lang="fr-FR" sz="2000" smtClean="0">
                <a:latin typeface="Trebuchet MS" panose="020B0603020202020204" pitchFamily="34" charset="0"/>
              </a:rPr>
              <a:t> fragmentation du noyau </a:t>
            </a:r>
            <a:r>
              <a:rPr lang="fr-FR" sz="2000" smtClean="0">
                <a:latin typeface="Trebuchet MS" panose="020B0603020202020204" pitchFamily="34" charset="0"/>
                <a:sym typeface="Wingdings" panose="05000000000000000000" pitchFamily="2" charset="2"/>
              </a:rPr>
              <a:t> chaque  fragment est entouré d’une double enveloppe</a:t>
            </a:r>
          </a:p>
          <a:p>
            <a:pPr lvl="1" eaLnBrk="1" hangingPunct="1"/>
            <a:r>
              <a:rPr lang="fr-FR" sz="2000" smtClean="0">
                <a:latin typeface="Trebuchet MS" panose="020B0603020202020204" pitchFamily="34" charset="0"/>
                <a:sym typeface="Wingdings" panose="05000000000000000000" pitchFamily="2" charset="2"/>
              </a:rPr>
              <a:t>Corps apoptotiques ( éléments cytoplasmiques et nucléaires) sont ensuite relargués, et vont être phagocytés par les cellulezs voisines , sans réaction inflammatoire</a:t>
            </a:r>
          </a:p>
          <a:p>
            <a:pPr eaLnBrk="1" hangingPunct="1">
              <a:buFont typeface="Wingdings" panose="05000000000000000000" pitchFamily="2" charset="2"/>
              <a:buNone/>
            </a:pPr>
            <a:endParaRPr lang="fr-FR" sz="2400" smtClean="0">
              <a:latin typeface="Trebuchet MS" panose="020B0603020202020204" pitchFamily="34" charset="0"/>
            </a:endParaRPr>
          </a:p>
        </p:txBody>
      </p:sp>
    </p:spTree>
    <p:extLst>
      <p:ext uri="{BB962C8B-B14F-4D97-AF65-F5344CB8AC3E}">
        <p14:creationId xmlns:p14="http://schemas.microsoft.com/office/powerpoint/2010/main" val="3917200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122238"/>
            <a:ext cx="7543800" cy="714375"/>
          </a:xfrm>
        </p:spPr>
        <p:txBody>
          <a:bodyPr/>
          <a:lstStyle/>
          <a:p>
            <a:pPr algn="ctr" eaLnBrk="1" hangingPunct="1"/>
            <a:r>
              <a:rPr lang="fr-FR" sz="2800" b="0" smtClean="0">
                <a:latin typeface="Trebuchet MS" panose="020B0603020202020204" pitchFamily="34" charset="0"/>
              </a:rPr>
              <a:t>Aspects morphologiques de l’apoptose</a:t>
            </a:r>
          </a:p>
        </p:txBody>
      </p:sp>
      <p:pic>
        <p:nvPicPr>
          <p:cNvPr id="40963" name="Picture 3" descr="apoptos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974725"/>
            <a:ext cx="583247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114523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descr="fig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889000"/>
            <a:ext cx="6769100" cy="5080000"/>
          </a:xfrm>
          <a:prstGeom prst="rect">
            <a:avLst/>
          </a:prstGeom>
          <a:noFill/>
          <a:ln w="38100">
            <a:solidFill>
              <a:srgbClr val="6909F7"/>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071800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stretch>
            <a:fillRect/>
          </a:stretch>
        </p:blipFill>
        <p:spPr>
          <a:xfrm>
            <a:off x="611560" y="548680"/>
            <a:ext cx="7931224" cy="5948419"/>
          </a:xfrm>
          <a:prstGeom prst="rect">
            <a:avLst/>
          </a:prstGeom>
        </p:spPr>
      </p:pic>
    </p:spTree>
    <p:extLst>
      <p:ext uri="{BB962C8B-B14F-4D97-AF65-F5344CB8AC3E}">
        <p14:creationId xmlns:p14="http://schemas.microsoft.com/office/powerpoint/2010/main" val="1797547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142984"/>
            <a:ext cx="8229600" cy="4983179"/>
          </a:xfrm>
        </p:spPr>
        <p:txBody>
          <a:bodyPr>
            <a:normAutofit lnSpcReduction="10000"/>
          </a:bodyPr>
          <a:lstStyle/>
          <a:p>
            <a:pPr algn="just">
              <a:buNone/>
            </a:pPr>
            <a:r>
              <a:rPr lang="fr-FR" i="1" dirty="0" smtClean="0"/>
              <a:t>Evolution</a:t>
            </a:r>
          </a:p>
          <a:p>
            <a:pPr algn="just"/>
            <a:r>
              <a:rPr lang="fr-FR" dirty="0" smtClean="0"/>
              <a:t>Les cellules </a:t>
            </a:r>
            <a:r>
              <a:rPr lang="fr-FR" dirty="0" err="1" smtClean="0"/>
              <a:t>apoptotiques</a:t>
            </a:r>
            <a:r>
              <a:rPr lang="fr-FR" dirty="0" smtClean="0"/>
              <a:t> ainsi que les corps </a:t>
            </a:r>
            <a:r>
              <a:rPr lang="fr-FR" dirty="0" err="1" smtClean="0"/>
              <a:t>apoptotiques</a:t>
            </a:r>
            <a:r>
              <a:rPr lang="fr-FR" dirty="0" smtClean="0"/>
              <a:t> sont phagocytés par des macrophages ou par des cellules vivantes voisines. La cellule en </a:t>
            </a:r>
            <a:r>
              <a:rPr lang="fr-FR" dirty="0" err="1" smtClean="0"/>
              <a:t>apoptose</a:t>
            </a:r>
            <a:r>
              <a:rPr lang="fr-FR" dirty="0" smtClean="0"/>
              <a:t> est alors progressivement dégradée. </a:t>
            </a:r>
          </a:p>
          <a:p>
            <a:pPr algn="just"/>
            <a:r>
              <a:rPr lang="fr-FR" dirty="0" smtClean="0"/>
              <a:t>Lorsque les cellules apoptotiques siègent dans un épithélium bordant une lumière elles peuvent aussi être éliminées dans la lumière (épithélium </a:t>
            </a:r>
            <a:r>
              <a:rPr lang="fr-FR" dirty="0" err="1" smtClean="0"/>
              <a:t>canalaire</a:t>
            </a:r>
            <a:r>
              <a:rPr lang="fr-FR" dirty="0" smtClean="0"/>
              <a:t> …)</a:t>
            </a:r>
            <a:endParaRPr lang="fr-FR" dirty="0"/>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627</TotalTime>
  <Words>2121</Words>
  <Application>Microsoft Office PowerPoint</Application>
  <PresentationFormat>Affichage à l'écran (4:3)</PresentationFormat>
  <Paragraphs>173</Paragraphs>
  <Slides>41</Slides>
  <Notes>0</Notes>
  <HiddenSlides>0</HiddenSlides>
  <MMClips>0</MMClips>
  <ScaleCrop>false</ScaleCrop>
  <HeadingPairs>
    <vt:vector size="4" baseType="variant">
      <vt:variant>
        <vt:lpstr>Thème</vt:lpstr>
      </vt:variant>
      <vt:variant>
        <vt:i4>1</vt:i4>
      </vt:variant>
      <vt:variant>
        <vt:lpstr>Titres des diapositives</vt:lpstr>
      </vt:variant>
      <vt:variant>
        <vt:i4>41</vt:i4>
      </vt:variant>
    </vt:vector>
  </HeadingPairs>
  <TitlesOfParts>
    <vt:vector size="42"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Lésions cellulaires élémentaires La nécrose</vt:lpstr>
      <vt:lpstr>Présentation PowerPoint</vt:lpstr>
      <vt:lpstr>Présentation PowerPoint</vt:lpstr>
      <vt:lpstr>Présentation PowerPoint</vt:lpstr>
      <vt:lpstr>Présentation PowerPoint</vt:lpstr>
      <vt:lpstr>Présentation PowerPoint</vt:lpstr>
      <vt:lpstr>Présentation PowerPoint</vt:lpstr>
      <vt:lpstr>Les lésions élémentaires  Les différentes formes de nécrose  </vt:lpstr>
      <vt:lpstr> Les lésions élémentaires  Autres  formes particulières de nécrose </vt:lpstr>
      <vt:lpstr>Présentation PowerPoint</vt:lpstr>
      <vt:lpstr>Evolution de la nécrose</vt:lpstr>
      <vt:lpstr>Présentation PowerPoint</vt:lpstr>
      <vt:lpstr>Présentation PowerPoint</vt:lpstr>
      <vt:lpstr>Présentation PowerPoint</vt:lpstr>
      <vt:lpstr>Présentation PowerPoint</vt:lpstr>
      <vt:lpstr>Apoptose  Aspects morphologiques</vt:lpstr>
      <vt:lpstr>Aspects morphologiques de l’apoptose</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pc</dc:creator>
  <cp:lastModifiedBy>USER</cp:lastModifiedBy>
  <cp:revision>178</cp:revision>
  <dcterms:created xsi:type="dcterms:W3CDTF">2013-10-08T08:04:29Z</dcterms:created>
  <dcterms:modified xsi:type="dcterms:W3CDTF">2024-10-21T19:04:51Z</dcterms:modified>
</cp:coreProperties>
</file>