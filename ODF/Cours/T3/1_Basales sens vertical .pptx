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1.jpg" ContentType="image/jpg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sldIdLst>
    <p:sldId id="256" r:id="rId2"/>
    <p:sldId id="269" r:id="rId3"/>
    <p:sldId id="267" r:id="rId4"/>
    <p:sldId id="270" r:id="rId5"/>
    <p:sldId id="271" r:id="rId6"/>
    <p:sldId id="272" r:id="rId7"/>
    <p:sldId id="259" r:id="rId8"/>
    <p:sldId id="274" r:id="rId9"/>
    <p:sldId id="273" r:id="rId10"/>
    <p:sldId id="260" r:id="rId11"/>
    <p:sldId id="275" r:id="rId12"/>
    <p:sldId id="261" r:id="rId13"/>
    <p:sldId id="276" r:id="rId14"/>
    <p:sldId id="262" r:id="rId15"/>
    <p:sldId id="277" r:id="rId16"/>
    <p:sldId id="263" r:id="rId17"/>
    <p:sldId id="264" r:id="rId18"/>
    <p:sldId id="265" r:id="rId19"/>
    <p:sldId id="278" r:id="rId20"/>
  </p:sldIdLst>
  <p:sldSz cx="14257338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0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870" y="66"/>
      </p:cViewPr>
      <p:guideLst>
        <p:guide orient="horz" pos="2880"/>
        <p:guide pos="40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6345" y="1250993"/>
            <a:ext cx="8760397" cy="3962750"/>
          </a:xfrm>
        </p:spPr>
        <p:txBody>
          <a:bodyPr bIns="0" anchor="b">
            <a:normAutofit/>
          </a:bodyPr>
          <a:lstStyle>
            <a:lvl1pPr algn="l">
              <a:defRPr sz="842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6345" y="5506065"/>
            <a:ext cx="8760397" cy="152436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495" b="0" cap="all" baseline="0">
                <a:solidFill>
                  <a:schemeClr val="tx1"/>
                </a:solidFill>
              </a:defRPr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6344" y="513477"/>
            <a:ext cx="4812151" cy="482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36992" y="1245806"/>
            <a:ext cx="1250487" cy="785209"/>
          </a:xfrm>
        </p:spPr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736345" y="5501912"/>
            <a:ext cx="876039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99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33" name="Straight Connector 32"/>
          <p:cNvCxnSpPr/>
          <p:nvPr/>
        </p:nvCxnSpPr>
        <p:spPr>
          <a:xfrm>
            <a:off x="2250694" y="2880089"/>
            <a:ext cx="102460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4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693" y="2738262"/>
            <a:ext cx="8758038" cy="2943804"/>
          </a:xfrm>
        </p:spPr>
        <p:txBody>
          <a:bodyPr anchor="b">
            <a:normAutofit/>
          </a:bodyPr>
          <a:lstStyle>
            <a:lvl1pPr algn="l">
              <a:defRPr sz="49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0695" y="5934847"/>
            <a:ext cx="8758038" cy="1579419"/>
          </a:xfrm>
        </p:spPr>
        <p:txBody>
          <a:bodyPr tIns="91440">
            <a:normAutofit/>
          </a:bodyPr>
          <a:lstStyle>
            <a:lvl1pPr marL="0" indent="0" algn="l">
              <a:buNone/>
              <a:defRPr sz="2807">
                <a:solidFill>
                  <a:schemeClr val="tx1"/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250693" y="5932958"/>
            <a:ext cx="8758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376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694" y="1255033"/>
            <a:ext cx="10246047" cy="165173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0692" y="3140248"/>
            <a:ext cx="4873863" cy="536004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3220" y="3140249"/>
            <a:ext cx="4873521" cy="53600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33" name="Straight Connector 32"/>
          <p:cNvCxnSpPr/>
          <p:nvPr/>
        </p:nvCxnSpPr>
        <p:spPr>
          <a:xfrm>
            <a:off x="2250694" y="2880089"/>
            <a:ext cx="102460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6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2250694" y="2880089"/>
            <a:ext cx="102460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693" y="1253901"/>
            <a:ext cx="10246049" cy="16470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0693" y="3149003"/>
            <a:ext cx="4873699" cy="12504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430" b="0" cap="all" baseline="0">
                <a:solidFill>
                  <a:schemeClr val="accent1"/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50693" y="4403770"/>
            <a:ext cx="4873699" cy="41233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23220" y="3154389"/>
            <a:ext cx="4873521" cy="125089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430" b="0" cap="all" baseline="0">
                <a:solidFill>
                  <a:schemeClr val="accent1"/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23220" y="4399437"/>
            <a:ext cx="4873521" cy="4112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342035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2250694" y="2880089"/>
            <a:ext cx="102460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178458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391965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756" y="1245807"/>
            <a:ext cx="3782545" cy="3503838"/>
          </a:xfrm>
        </p:spPr>
        <p:txBody>
          <a:bodyPr anchor="b">
            <a:normAutofit/>
          </a:bodyPr>
          <a:lstStyle>
            <a:lvl1pPr algn="l">
              <a:defRPr sz="374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40" y="1245807"/>
            <a:ext cx="5968901" cy="7264318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3757" y="4998194"/>
            <a:ext cx="3784757" cy="3505497"/>
          </a:xfrm>
        </p:spPr>
        <p:txBody>
          <a:bodyPr>
            <a:normAutofit/>
          </a:bodyPr>
          <a:lstStyle>
            <a:lvl1pPr marL="0" indent="0" algn="l">
              <a:buNone/>
              <a:defRPr sz="2495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17" name="Straight Connector 16"/>
          <p:cNvCxnSpPr/>
          <p:nvPr/>
        </p:nvCxnSpPr>
        <p:spPr>
          <a:xfrm>
            <a:off x="2247976" y="4998192"/>
            <a:ext cx="37783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70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790552" y="751831"/>
            <a:ext cx="5474960" cy="8028783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1719" y="1761204"/>
            <a:ext cx="5059507" cy="2854355"/>
          </a:xfrm>
        </p:spPr>
        <p:txBody>
          <a:bodyPr anchor="b">
            <a:normAutofit/>
          </a:bodyPr>
          <a:lstStyle>
            <a:lvl1pPr>
              <a:defRPr sz="49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94096" y="1750336"/>
            <a:ext cx="3484812" cy="6028606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0695" y="4905417"/>
            <a:ext cx="5052259" cy="3124353"/>
          </a:xfrm>
        </p:spPr>
        <p:txBody>
          <a:bodyPr>
            <a:normAutofit/>
          </a:bodyPr>
          <a:lstStyle>
            <a:lvl1pPr marL="0" indent="0" algn="l">
              <a:buNone/>
              <a:defRPr sz="2807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40049" y="8528926"/>
            <a:ext cx="5071178" cy="49915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41400" y="496845"/>
            <a:ext cx="5069826" cy="50041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31" name="Straight Connector 30"/>
          <p:cNvCxnSpPr/>
          <p:nvPr/>
        </p:nvCxnSpPr>
        <p:spPr>
          <a:xfrm>
            <a:off x="2247247" y="4901695"/>
            <a:ext cx="505495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66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2250694" y="2880089"/>
            <a:ext cx="1024604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397395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86600" y="1245808"/>
            <a:ext cx="1719841" cy="72659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0694" y="1245808"/>
            <a:ext cx="8265475" cy="72659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786599" y="1245808"/>
            <a:ext cx="0" cy="7265975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184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92785" y="1780911"/>
            <a:ext cx="1028374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40398" y="5988304"/>
            <a:ext cx="99885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1496978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227638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143052"/>
            <a:ext cx="14257338" cy="63610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9504081"/>
            <a:ext cx="14257340" cy="12080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9513239"/>
            <a:ext cx="14257338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0694" y="1254456"/>
            <a:ext cx="10246047" cy="16360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0694" y="3143051"/>
            <a:ext cx="10246047" cy="538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4097" y="515133"/>
            <a:ext cx="3692644" cy="482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0693" y="513477"/>
            <a:ext cx="6289825" cy="482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0462" y="1245806"/>
            <a:ext cx="1240728" cy="78520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366">
                <a:solidFill>
                  <a:schemeClr val="accent1"/>
                </a:solidFill>
              </a:defRPr>
            </a:lvl1pPr>
          </a:lstStyle>
          <a:p>
            <a:pPr marL="30480">
              <a:lnSpc>
                <a:spcPts val="1290"/>
              </a:lnSpc>
            </a:pPr>
            <a:fld id="{81D60167-4931-47E6-BA6A-407CBD079E47}" type="slidenum">
              <a:rPr lang="fr-FR" sz="1150" spc="-50" smtClean="0"/>
              <a:pPr marL="30480">
                <a:lnSpc>
                  <a:spcPts val="1290"/>
                </a:lnSpc>
              </a:pPr>
              <a:t>‹N°›</a:t>
            </a:fld>
            <a:endParaRPr lang="fr-FR" sz="1150"/>
          </a:p>
        </p:txBody>
      </p:sp>
    </p:spTree>
    <p:extLst>
      <p:ext uri="{BB962C8B-B14F-4D97-AF65-F5344CB8AC3E}">
        <p14:creationId xmlns:p14="http://schemas.microsoft.com/office/powerpoint/2010/main" val="25632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l" defTabSz="1069299" rtl="0" eaLnBrk="1" latinLnBrk="0" hangingPunct="1">
        <a:lnSpc>
          <a:spcPct val="90000"/>
        </a:lnSpc>
        <a:spcBef>
          <a:spcPct val="0"/>
        </a:spcBef>
        <a:buNone/>
        <a:defRPr sz="498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56433" indent="-356433" algn="l" defTabSz="1069299" rtl="0" eaLnBrk="1" latinLnBrk="0" hangingPunct="1">
        <a:lnSpc>
          <a:spcPct val="120000"/>
        </a:lnSpc>
        <a:spcBef>
          <a:spcPts val="155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11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69299" indent="-356433" algn="l" defTabSz="1069299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95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82166" indent="-356433" algn="l" defTabSz="1069299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9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95032" indent="-356433" algn="l" defTabSz="1069299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83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207898" indent="-356433" algn="l" defTabSz="1069299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1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1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1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1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120000"/>
        </a:lnSpc>
        <a:spcBef>
          <a:spcPts val="78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71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6615" y="416249"/>
            <a:ext cx="50304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1200" spc="-30" dirty="0">
                <a:latin typeface="Calibri"/>
                <a:cs typeface="Calibri"/>
              </a:rPr>
              <a:t>Diagnostic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des </a:t>
            </a:r>
            <a:r>
              <a:rPr sz="1200" spc="-30" dirty="0">
                <a:latin typeface="Calibri"/>
                <a:cs typeface="Calibri"/>
              </a:rPr>
              <a:t>anomalies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basales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du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sens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vertical-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ODF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cour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75" baseline="39215" dirty="0">
                <a:latin typeface="Calibri"/>
                <a:cs typeface="Calibri"/>
              </a:rPr>
              <a:t>e</a:t>
            </a:r>
            <a:r>
              <a:rPr sz="1275" spc="-15" baseline="392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année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lang="fr-FR" sz="1200" spc="-10" dirty="0">
                <a:latin typeface="Calibri"/>
                <a:cs typeface="Calibri"/>
              </a:rPr>
              <a:t>RAHAL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379975" y="1765300"/>
            <a:ext cx="10283749" cy="170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indent="-6350" algn="ctr">
              <a:lnSpc>
                <a:spcPct val="111600"/>
              </a:lnSpc>
              <a:spcBef>
                <a:spcPts val="125"/>
              </a:spcBef>
            </a:pPr>
            <a:r>
              <a:rPr sz="5000" spc="-25" dirty="0">
                <a:latin typeface="Calibri"/>
                <a:cs typeface="Calibri"/>
              </a:rPr>
              <a:t>Diagnostic</a:t>
            </a:r>
            <a:r>
              <a:rPr sz="5000" spc="-140" dirty="0">
                <a:latin typeface="Calibri"/>
                <a:cs typeface="Calibri"/>
              </a:rPr>
              <a:t> </a:t>
            </a:r>
            <a:r>
              <a:rPr sz="5000" spc="-25" dirty="0">
                <a:latin typeface="Calibri"/>
                <a:cs typeface="Calibri"/>
              </a:rPr>
              <a:t>des </a:t>
            </a:r>
            <a:r>
              <a:rPr sz="5000" spc="-50" dirty="0">
                <a:latin typeface="Calibri"/>
                <a:cs typeface="Calibri"/>
              </a:rPr>
              <a:t>anomalies</a:t>
            </a:r>
            <a:r>
              <a:rPr sz="5000" spc="-165" dirty="0">
                <a:latin typeface="Calibri"/>
                <a:cs typeface="Calibri"/>
              </a:rPr>
              <a:t> </a:t>
            </a:r>
            <a:r>
              <a:rPr sz="5000" spc="-10" dirty="0">
                <a:latin typeface="Calibri"/>
                <a:cs typeface="Calibri"/>
              </a:rPr>
              <a:t>basales</a:t>
            </a:r>
            <a:r>
              <a:rPr sz="5000" spc="-175" dirty="0">
                <a:latin typeface="Calibri"/>
                <a:cs typeface="Calibri"/>
              </a:rPr>
              <a:t> </a:t>
            </a:r>
            <a:r>
              <a:rPr sz="5000" spc="-25" dirty="0">
                <a:latin typeface="Calibri"/>
                <a:cs typeface="Calibri"/>
              </a:rPr>
              <a:t>du </a:t>
            </a:r>
            <a:r>
              <a:rPr sz="5050" spc="-30" dirty="0">
                <a:latin typeface="Calibri"/>
                <a:cs typeface="Calibri"/>
              </a:rPr>
              <a:t>sens</a:t>
            </a:r>
            <a:r>
              <a:rPr sz="5050" spc="-245" dirty="0">
                <a:latin typeface="Calibri"/>
                <a:cs typeface="Calibri"/>
              </a:rPr>
              <a:t> </a:t>
            </a:r>
            <a:r>
              <a:rPr sz="5050" spc="-10" dirty="0">
                <a:latin typeface="Calibri"/>
                <a:cs typeface="Calibri"/>
              </a:rPr>
              <a:t>vertical</a:t>
            </a:r>
            <a:endParaRPr sz="5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290"/>
              </a:lnSpc>
            </a:pPr>
            <a:fld id="{81D60167-4931-47E6-BA6A-407CBD079E47}" type="slidenum">
              <a:rPr sz="1150" spc="-50" dirty="0"/>
              <a:pPr marL="30480">
                <a:lnSpc>
                  <a:spcPts val="1290"/>
                </a:lnSpc>
              </a:pPr>
              <a:t>1</a:t>
            </a:fld>
            <a:endParaRPr sz="1150"/>
          </a:p>
        </p:txBody>
      </p:sp>
      <p:sp>
        <p:nvSpPr>
          <p:cNvPr id="4" name="object 4"/>
          <p:cNvSpPr txBox="1"/>
          <p:nvPr/>
        </p:nvSpPr>
        <p:spPr>
          <a:xfrm>
            <a:off x="5694930" y="4964445"/>
            <a:ext cx="2859405" cy="1069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8360" marR="5080" indent="-836294">
              <a:lnSpc>
                <a:spcPct val="1509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Cour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ODF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3ème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année </a:t>
            </a:r>
            <a:r>
              <a:rPr sz="2400" spc="55" dirty="0">
                <a:latin typeface="Calibri"/>
                <a:cs typeface="Calibri"/>
              </a:rPr>
              <a:t>Dr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RAHAL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329" y="9329739"/>
            <a:ext cx="2006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Année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 err="1">
                <a:latin typeface="Calibri"/>
                <a:cs typeface="Calibri"/>
              </a:rPr>
              <a:t>universitaire</a:t>
            </a:r>
            <a:r>
              <a:rPr sz="1200" spc="3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202</a:t>
            </a:r>
            <a:r>
              <a:rPr lang="fr-FR" sz="1200" spc="-10" dirty="0">
                <a:latin typeface="Calibri"/>
                <a:cs typeface="Calibri"/>
              </a:rPr>
              <a:t>4</a:t>
            </a:r>
            <a:r>
              <a:rPr sz="1200" spc="-10" dirty="0">
                <a:latin typeface="Calibri"/>
                <a:cs typeface="Calibri"/>
              </a:rPr>
              <a:t>/202</a:t>
            </a:r>
            <a:r>
              <a:rPr lang="fr-FR" sz="1200" spc="-1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1F4FD-A89C-CF4D-FD9E-8A535C60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INTRODUCTION</a:t>
            </a:r>
            <a:r>
              <a:rPr lang="fr-FR" sz="5400" b="1" u="heavy" spc="1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676D5-EF21-801E-B94C-EFC3AD81A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0330" marR="188595" indent="-1905">
              <a:lnSpc>
                <a:spcPct val="113100"/>
              </a:lnSpc>
              <a:spcBef>
                <a:spcPts val="1035"/>
              </a:spcBef>
              <a:defRPr/>
            </a:pPr>
            <a:r>
              <a:rPr lang="fr-FR" sz="3200" spc="-10" dirty="0">
                <a:latin typeface="Calibri"/>
                <a:cs typeface="Calibri"/>
              </a:rPr>
              <a:t>Les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anomalies</a:t>
            </a:r>
            <a:r>
              <a:rPr lang="fr-FR" sz="3200" spc="3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du</a:t>
            </a:r>
            <a:r>
              <a:rPr lang="fr-FR" sz="3200" spc="-25" dirty="0">
                <a:latin typeface="Calibri"/>
                <a:cs typeface="Calibri"/>
              </a:rPr>
              <a:t> sens</a:t>
            </a:r>
            <a:r>
              <a:rPr lang="fr-FR" sz="3200" spc="1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vertical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couramment</a:t>
            </a:r>
            <a:r>
              <a:rPr lang="fr-FR" sz="3200" spc="5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appelés</a:t>
            </a:r>
            <a:r>
              <a:rPr lang="fr-FR" sz="3200" spc="10" dirty="0">
                <a:latin typeface="Calibri"/>
                <a:cs typeface="Calibri"/>
              </a:rPr>
              <a:t> </a:t>
            </a:r>
            <a:r>
              <a:rPr lang="fr-FR" sz="3200" spc="-40" dirty="0">
                <a:latin typeface="Calibri"/>
                <a:cs typeface="Calibri"/>
              </a:rPr>
              <a:t>face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longue,</a:t>
            </a:r>
            <a:r>
              <a:rPr lang="fr-FR" sz="3200" spc="-1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face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courte,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40" dirty="0">
                <a:latin typeface="Calibri"/>
                <a:cs typeface="Calibri"/>
              </a:rPr>
              <a:t>correspondent</a:t>
            </a:r>
            <a:r>
              <a:rPr lang="fr-FR" sz="3200" spc="2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à</a:t>
            </a:r>
            <a:r>
              <a:rPr lang="fr-FR" sz="3200" spc="-6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une </a:t>
            </a:r>
            <a:r>
              <a:rPr lang="fr-FR" sz="3200" spc="-30" dirty="0">
                <a:latin typeface="Calibri"/>
                <a:cs typeface="Calibri"/>
              </a:rPr>
              <a:t>insuffisance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ou </a:t>
            </a:r>
            <a:r>
              <a:rPr lang="fr-FR" sz="3200" spc="-25" dirty="0">
                <a:latin typeface="Calibri"/>
                <a:cs typeface="Calibri"/>
              </a:rPr>
              <a:t>excès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du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40" dirty="0">
                <a:latin typeface="Calibri"/>
                <a:cs typeface="Calibri"/>
              </a:rPr>
              <a:t>développement</a:t>
            </a:r>
            <a:r>
              <a:rPr lang="fr-FR" sz="3200" spc="7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vertical</a:t>
            </a:r>
            <a:r>
              <a:rPr lang="fr-FR" sz="3200" spc="25" dirty="0">
                <a:latin typeface="Calibri"/>
                <a:cs typeface="Calibri"/>
              </a:rPr>
              <a:t> </a:t>
            </a:r>
            <a:r>
              <a:rPr lang="fr-FR" sz="3200" spc="-55" dirty="0">
                <a:latin typeface="Calibri"/>
                <a:cs typeface="Calibri"/>
              </a:rPr>
              <a:t>du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maxillaire</a:t>
            </a:r>
            <a:r>
              <a:rPr lang="fr-FR" sz="3200" spc="1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et</a:t>
            </a: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de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10" dirty="0">
                <a:solidFill>
                  <a:srgbClr val="0C0C0C"/>
                </a:solidFill>
                <a:latin typeface="Calibri"/>
                <a:cs typeface="Calibri"/>
              </a:rPr>
              <a:t>la</a:t>
            </a:r>
            <a:r>
              <a:rPr lang="fr-FR" sz="3200" spc="-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mandibule</a:t>
            </a:r>
            <a:r>
              <a:rPr lang="fr-FR" sz="3200" spc="3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qui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peut</a:t>
            </a:r>
            <a:r>
              <a:rPr lang="fr-FR" sz="3200" spc="21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siéger</a:t>
            </a: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au niveau</a:t>
            </a:r>
            <a:r>
              <a:rPr lang="fr-FR" sz="3200" spc="-20" dirty="0">
                <a:latin typeface="Calibri"/>
                <a:cs typeface="Calibri"/>
              </a:rPr>
              <a:t> des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bases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squelettiques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ou</a:t>
            </a: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alvéolaires.</a:t>
            </a:r>
            <a:endParaRPr lang="fr-FR" sz="3200" dirty="0">
              <a:latin typeface="Calibri"/>
              <a:cs typeface="Calibri"/>
            </a:endParaRPr>
          </a:p>
          <a:p>
            <a:pPr marL="102870" marR="332740" indent="-4445">
              <a:lnSpc>
                <a:spcPct val="111300"/>
              </a:lnSpc>
              <a:spcBef>
                <a:spcPts val="1005"/>
              </a:spcBef>
              <a:defRPr/>
            </a:pPr>
            <a:r>
              <a:rPr lang="fr-FR" sz="3200" spc="-20" dirty="0">
                <a:latin typeface="Calibri"/>
                <a:cs typeface="Calibri"/>
              </a:rPr>
              <a:t>Leur</a:t>
            </a:r>
            <a:r>
              <a:rPr lang="fr-FR" sz="3200" spc="-30" dirty="0">
                <a:latin typeface="Calibri"/>
                <a:cs typeface="Calibri"/>
              </a:rPr>
              <a:t> diagnostic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est</a:t>
            </a:r>
            <a:r>
              <a:rPr lang="fr-FR" sz="3200" spc="-4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basé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sur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un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examen</a:t>
            </a:r>
            <a:r>
              <a:rPr lang="fr-FR" sz="3200" spc="3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clinique</a:t>
            </a:r>
            <a:r>
              <a:rPr lang="fr-FR" sz="3200" spc="-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et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une</a:t>
            </a:r>
            <a:r>
              <a:rPr lang="fr-FR" sz="3200" spc="-30" dirty="0">
                <a:latin typeface="Calibri"/>
                <a:cs typeface="Calibri"/>
              </a:rPr>
              <a:t> analyse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céphalométrique</a:t>
            </a:r>
            <a:r>
              <a:rPr lang="fr-FR" sz="3200" spc="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architecturale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et </a:t>
            </a:r>
            <a:r>
              <a:rPr lang="fr-FR" sz="3200" spc="-40" dirty="0">
                <a:latin typeface="Calibri"/>
                <a:cs typeface="Calibri"/>
              </a:rPr>
              <a:t>typologique</a:t>
            </a:r>
            <a:r>
              <a:rPr lang="fr-FR" sz="3200" spc="7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de</a:t>
            </a: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la</a:t>
            </a:r>
            <a:r>
              <a:rPr lang="fr-FR" sz="3200" spc="-5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face.</a:t>
            </a:r>
            <a:endParaRPr lang="fr-FR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725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F31B7C-B04A-7CD1-3912-C4E5DB73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5400" b="1" dirty="0">
                <a:latin typeface="Calibri"/>
                <a:cs typeface="Calibri"/>
              </a:rPr>
              <a:t>1.</a:t>
            </a:r>
            <a:r>
              <a:rPr lang="fr-FR" sz="5400" b="1" spc="225" dirty="0">
                <a:latin typeface="Calibri"/>
                <a:cs typeface="Calibri"/>
              </a:rPr>
              <a:t> 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Terminologie</a:t>
            </a:r>
            <a:r>
              <a:rPr lang="fr-FR" sz="5400" b="1" spc="1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lang="fr-FR" sz="5400" b="1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troubles</a:t>
            </a:r>
            <a:r>
              <a:rPr lang="fr-FR" sz="5400" b="1" spc="1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verticaux</a:t>
            </a:r>
            <a:r>
              <a:rPr lang="fr-FR" sz="5400" b="1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lang="fr-FR" sz="5400" b="1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bases</a:t>
            </a:r>
            <a:r>
              <a:rPr lang="fr-FR" sz="5400" b="1" spc="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osseuses</a:t>
            </a:r>
            <a:br>
              <a:rPr lang="fr-FR" sz="54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FB1EF0-E1F5-139B-BF11-C416BA1B9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00965" marR="294005" indent="-1905">
              <a:lnSpc>
                <a:spcPct val="114799"/>
              </a:lnSpc>
              <a:spcBef>
                <a:spcPts val="960"/>
              </a:spcBef>
              <a:defRPr/>
            </a:pPr>
            <a:r>
              <a:rPr lang="fr-FR" sz="3200" spc="-10" dirty="0">
                <a:latin typeface="Calibri"/>
                <a:cs typeface="Calibri"/>
              </a:rPr>
              <a:t>Les</a:t>
            </a:r>
            <a:r>
              <a:rPr lang="fr-FR" sz="3200" spc="-4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termes</a:t>
            </a:r>
            <a:r>
              <a:rPr lang="fr-FR" sz="3200" spc="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utilisés</a:t>
            </a:r>
            <a:r>
              <a:rPr lang="fr-FR" sz="3200" spc="1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pour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définir</a:t>
            </a:r>
            <a:r>
              <a:rPr lang="fr-FR" sz="3200" spc="-2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les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troubles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squelettiques</a:t>
            </a:r>
            <a:r>
              <a:rPr lang="fr-FR" sz="3200" spc="4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verticaux</a:t>
            </a:r>
            <a:r>
              <a:rPr lang="fr-FR" sz="3200" spc="35" dirty="0">
                <a:latin typeface="Calibri"/>
                <a:cs typeface="Calibri"/>
              </a:rPr>
              <a:t> </a:t>
            </a:r>
            <a:r>
              <a:rPr lang="fr-FR" sz="3200" spc="-45" dirty="0">
                <a:latin typeface="Calibri"/>
                <a:cs typeface="Calibri"/>
              </a:rPr>
              <a:t>sont</a:t>
            </a:r>
            <a:r>
              <a:rPr lang="fr-FR" sz="3200" spc="-2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nombreux</a:t>
            </a:r>
            <a:r>
              <a:rPr lang="fr-FR" sz="3200" spc="-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et</a:t>
            </a:r>
            <a:r>
              <a:rPr lang="fr-FR" sz="3200" spc="-5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reposent</a:t>
            </a:r>
            <a:r>
              <a:rPr lang="fr-FR" sz="3200" spc="-25" dirty="0">
                <a:latin typeface="Calibri"/>
                <a:cs typeface="Calibri"/>
              </a:rPr>
              <a:t> sur </a:t>
            </a:r>
            <a:r>
              <a:rPr lang="fr-FR" sz="3200" dirty="0">
                <a:latin typeface="Calibri"/>
                <a:cs typeface="Calibri"/>
              </a:rPr>
              <a:t>un</a:t>
            </a:r>
            <a:r>
              <a:rPr lang="fr-FR" sz="3200" spc="-7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des</a:t>
            </a:r>
            <a:r>
              <a:rPr lang="fr-FR" sz="3200" spc="-3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signes </a:t>
            </a:r>
            <a:r>
              <a:rPr lang="fr-FR" sz="3200" spc="-30" dirty="0">
                <a:latin typeface="Calibri"/>
                <a:cs typeface="Calibri"/>
              </a:rPr>
              <a:t>de</a:t>
            </a:r>
            <a:r>
              <a:rPr lang="fr-FR" sz="3200" spc="-3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ces anomalies.</a:t>
            </a:r>
            <a:endParaRPr lang="fr-FR" sz="3200" dirty="0">
              <a:latin typeface="Calibri"/>
              <a:cs typeface="Calibri"/>
            </a:endParaRPr>
          </a:p>
          <a:p>
            <a:pPr marL="557530" marR="3460115">
              <a:lnSpc>
                <a:spcPct val="111300"/>
              </a:lnSpc>
              <a:spcBef>
                <a:spcPts val="1010"/>
              </a:spcBef>
              <a:tabLst>
                <a:tab pos="1161415" algn="l"/>
                <a:tab pos="1372870" algn="l"/>
              </a:tabLst>
              <a:defRPr/>
            </a:pPr>
            <a:r>
              <a:rPr lang="fr-FR" sz="3200" spc="-10" dirty="0" err="1">
                <a:latin typeface="Calibri"/>
                <a:cs typeface="Calibri"/>
              </a:rPr>
              <a:t>Shudy</a:t>
            </a:r>
            <a:r>
              <a:rPr lang="fr-FR" sz="3200" spc="-10" dirty="0">
                <a:latin typeface="Calibri"/>
                <a:cs typeface="Calibri"/>
              </a:rPr>
              <a:t>:</a:t>
            </a:r>
            <a:r>
              <a:rPr lang="fr-FR" sz="3200" dirty="0">
                <a:latin typeface="Calibri"/>
                <a:cs typeface="Calibri"/>
              </a:rPr>
              <a:t>	</a:t>
            </a:r>
            <a:r>
              <a:rPr lang="fr-FR" sz="3200" spc="-20" dirty="0">
                <a:latin typeface="Calibri"/>
                <a:cs typeface="Calibri"/>
              </a:rPr>
              <a:t>hyper</a:t>
            </a:r>
            <a:r>
              <a:rPr lang="fr-FR" sz="3200" spc="15" dirty="0">
                <a:latin typeface="Calibri"/>
                <a:cs typeface="Calibri"/>
              </a:rPr>
              <a:t> </a:t>
            </a:r>
            <a:r>
              <a:rPr lang="fr-FR" sz="3200" spc="-45" dirty="0">
                <a:latin typeface="Calibri"/>
                <a:cs typeface="Calibri"/>
              </a:rPr>
              <a:t>/hypo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divergence</a:t>
            </a:r>
          </a:p>
          <a:p>
            <a:pPr marL="557530" marR="3460115">
              <a:lnSpc>
                <a:spcPct val="111300"/>
              </a:lnSpc>
              <a:spcBef>
                <a:spcPts val="1010"/>
              </a:spcBef>
              <a:tabLst>
                <a:tab pos="1161415" algn="l"/>
                <a:tab pos="1372870" algn="l"/>
              </a:tabLst>
              <a:defRPr/>
            </a:pP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spc="-30" dirty="0" err="1">
                <a:latin typeface="Calibri"/>
                <a:cs typeface="Calibri"/>
              </a:rPr>
              <a:t>Sassouni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50" dirty="0">
                <a:latin typeface="Calibri"/>
                <a:cs typeface="Calibri"/>
              </a:rPr>
              <a:t>:</a:t>
            </a:r>
            <a:r>
              <a:rPr lang="fr-FR" sz="3200" spc="-45" dirty="0">
                <a:latin typeface="Calibri"/>
                <a:cs typeface="Calibri"/>
              </a:rPr>
              <a:t>open</a:t>
            </a:r>
            <a:r>
              <a:rPr lang="fr-FR" sz="3200" spc="-2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bite/</a:t>
            </a:r>
            <a:r>
              <a:rPr lang="fr-FR" sz="3200" spc="-35" dirty="0" err="1">
                <a:latin typeface="Calibri"/>
                <a:cs typeface="Calibri"/>
              </a:rPr>
              <a:t>deep</a:t>
            </a:r>
            <a:r>
              <a:rPr lang="fr-FR" sz="3200" spc="2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bite</a:t>
            </a:r>
            <a:endParaRPr lang="fr-FR" sz="3200" dirty="0">
              <a:latin typeface="Calibri"/>
              <a:cs typeface="Calibri"/>
            </a:endParaRPr>
          </a:p>
          <a:p>
            <a:pPr marL="556260" marR="2675890">
              <a:lnSpc>
                <a:spcPct val="111300"/>
              </a:lnSpc>
              <a:tabLst>
                <a:tab pos="1189990" algn="l"/>
                <a:tab pos="2172970" algn="l"/>
              </a:tabLst>
              <a:defRPr/>
            </a:pPr>
            <a:r>
              <a:rPr lang="fr-FR" sz="3200" spc="-25" dirty="0">
                <a:latin typeface="Calibri"/>
                <a:cs typeface="Calibri"/>
              </a:rPr>
              <a:t>Muller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50" dirty="0">
                <a:latin typeface="Calibri"/>
                <a:cs typeface="Calibri"/>
              </a:rPr>
              <a:t>:</a:t>
            </a:r>
            <a:r>
              <a:rPr lang="fr-FR" sz="3200" dirty="0">
                <a:latin typeface="Calibri"/>
                <a:cs typeface="Calibri"/>
              </a:rPr>
              <a:t>	excès</a:t>
            </a:r>
            <a:r>
              <a:rPr lang="fr-FR" sz="3200" spc="15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/insuffisance</a:t>
            </a:r>
            <a:r>
              <a:rPr lang="fr-FR" sz="3200" spc="6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vertical</a:t>
            </a:r>
            <a:r>
              <a:rPr lang="fr-FR" sz="3200" spc="-1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antérieur</a:t>
            </a:r>
          </a:p>
          <a:p>
            <a:pPr marL="556260" marR="2675890">
              <a:lnSpc>
                <a:spcPct val="111300"/>
              </a:lnSpc>
              <a:tabLst>
                <a:tab pos="1189990" algn="l"/>
                <a:tab pos="2172970" algn="l"/>
              </a:tabLst>
              <a:defRPr/>
            </a:pP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Ricketts</a:t>
            </a:r>
            <a:r>
              <a:rPr lang="fr-FR" sz="3200" spc="3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:</a:t>
            </a:r>
            <a:r>
              <a:rPr lang="fr-FR" sz="3200" spc="225" dirty="0">
                <a:latin typeface="Calibri"/>
                <a:cs typeface="Calibri"/>
              </a:rPr>
              <a:t> </a:t>
            </a:r>
            <a:r>
              <a:rPr lang="fr-FR" sz="3200" spc="-35" dirty="0" err="1">
                <a:latin typeface="Calibri"/>
                <a:cs typeface="Calibri"/>
              </a:rPr>
              <a:t>dolicho</a:t>
            </a:r>
            <a:r>
              <a:rPr lang="fr-FR" sz="3200" spc="4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-</a:t>
            </a:r>
            <a:r>
              <a:rPr lang="fr-FR" sz="3200" spc="15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méso-</a:t>
            </a:r>
            <a:r>
              <a:rPr lang="fr-FR" sz="3200" dirty="0">
                <a:latin typeface="Calibri"/>
                <a:cs typeface="Calibri"/>
              </a:rPr>
              <a:t>	</a:t>
            </a:r>
            <a:r>
              <a:rPr lang="fr-FR" sz="3200" spc="-20" dirty="0" err="1">
                <a:latin typeface="Calibri"/>
                <a:cs typeface="Calibri"/>
              </a:rPr>
              <a:t>brachy</a:t>
            </a:r>
            <a:r>
              <a:rPr lang="fr-FR" sz="3200" spc="190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faciale</a:t>
            </a:r>
            <a:r>
              <a:rPr lang="fr-FR" sz="3200" spc="500" dirty="0">
                <a:latin typeface="Calibri"/>
                <a:cs typeface="Calibri"/>
              </a:rPr>
              <a:t> </a:t>
            </a:r>
          </a:p>
          <a:p>
            <a:pPr marL="556260" marR="2675890">
              <a:lnSpc>
                <a:spcPct val="111300"/>
              </a:lnSpc>
              <a:tabLst>
                <a:tab pos="1189990" algn="l"/>
                <a:tab pos="2172970" algn="l"/>
              </a:tabLst>
              <a:defRPr/>
            </a:pPr>
            <a:r>
              <a:rPr lang="fr-FR" sz="3200" spc="-25" dirty="0" err="1">
                <a:latin typeface="Calibri"/>
                <a:cs typeface="Calibri"/>
              </a:rPr>
              <a:t>Bjork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: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rotation</a:t>
            </a:r>
            <a:r>
              <a:rPr lang="fr-FR" sz="3200" spc="4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antérieure</a:t>
            </a:r>
            <a:r>
              <a:rPr lang="fr-FR" sz="3200" spc="60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/postérieure</a:t>
            </a:r>
            <a:endParaRPr lang="fr-FR" sz="3200" dirty="0">
              <a:latin typeface="Calibri"/>
              <a:cs typeface="Calibri"/>
            </a:endParaRPr>
          </a:p>
          <a:p>
            <a:pPr marL="99060">
              <a:spcBef>
                <a:spcPts val="1165"/>
              </a:spcBef>
              <a:defRPr/>
            </a:pPr>
            <a:r>
              <a:rPr lang="fr-FR" sz="3200" b="1" u="sng" spc="-25" dirty="0">
                <a:latin typeface="Calibri"/>
                <a:cs typeface="Calibri"/>
              </a:rPr>
              <a:t>NB</a:t>
            </a:r>
            <a:endParaRPr lang="fr-FR" sz="3200" b="1" u="sng" dirty="0">
              <a:latin typeface="Calibri"/>
              <a:cs typeface="Calibri"/>
            </a:endParaRPr>
          </a:p>
          <a:p>
            <a:pPr marL="560070" marR="429895" indent="-235585">
              <a:lnSpc>
                <a:spcPct val="111300"/>
              </a:lnSpc>
              <a:spcBef>
                <a:spcPts val="1055"/>
              </a:spcBef>
              <a:tabLst>
                <a:tab pos="556260" algn="l"/>
              </a:tabLst>
              <a:defRPr/>
            </a:pPr>
            <a:r>
              <a:rPr lang="fr-FR" sz="3200" spc="-20" dirty="0">
                <a:latin typeface="Calibri"/>
                <a:cs typeface="Calibri"/>
              </a:rPr>
              <a:t>Les </a:t>
            </a:r>
            <a:r>
              <a:rPr lang="fr-FR" sz="3200" spc="-30" dirty="0">
                <a:latin typeface="Calibri"/>
                <a:cs typeface="Calibri"/>
              </a:rPr>
              <a:t>notions</a:t>
            </a:r>
            <a:r>
              <a:rPr lang="fr-FR" sz="3200" spc="1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de</a:t>
            </a:r>
            <a:r>
              <a:rPr lang="fr-FR" sz="3200" spc="-3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rotations</a:t>
            </a:r>
            <a:r>
              <a:rPr lang="fr-FR" sz="320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antérieure</a:t>
            </a:r>
            <a:r>
              <a:rPr lang="fr-FR" sz="3200" spc="45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ou</a:t>
            </a:r>
            <a:r>
              <a:rPr lang="fr-FR" sz="3200" spc="-15" dirty="0">
                <a:latin typeface="Calibri"/>
                <a:cs typeface="Calibri"/>
              </a:rPr>
              <a:t> </a:t>
            </a:r>
            <a:r>
              <a:rPr lang="fr-FR" sz="3200" spc="-40" dirty="0">
                <a:latin typeface="Calibri"/>
                <a:cs typeface="Calibri"/>
              </a:rPr>
              <a:t>postérieure</a:t>
            </a:r>
            <a:r>
              <a:rPr lang="fr-FR" sz="3200" spc="4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décrivent</a:t>
            </a:r>
            <a:r>
              <a:rPr lang="fr-FR" sz="3200" spc="30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l'évolution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de</a:t>
            </a:r>
            <a:r>
              <a:rPr lang="fr-FR" sz="3200" spc="-4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la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dimension </a:t>
            </a:r>
            <a:r>
              <a:rPr lang="fr-FR" sz="3200" spc="-35" dirty="0">
                <a:latin typeface="Calibri"/>
                <a:cs typeface="Calibri"/>
              </a:rPr>
              <a:t>verticale</a:t>
            </a:r>
            <a:r>
              <a:rPr lang="fr-FR" sz="3200" spc="45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entre</a:t>
            </a:r>
            <a:r>
              <a:rPr lang="fr-FR" sz="3200" spc="-25" dirty="0">
                <a:latin typeface="Calibri"/>
                <a:cs typeface="Calibri"/>
              </a:rPr>
              <a:t> deux</a:t>
            </a:r>
            <a:r>
              <a:rPr lang="fr-FR" sz="3200" spc="-20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instants.</a:t>
            </a:r>
            <a:endParaRPr lang="fr-FR" sz="3200" dirty="0">
              <a:latin typeface="Calibri"/>
              <a:cs typeface="Calibri"/>
            </a:endParaRPr>
          </a:p>
          <a:p>
            <a:pPr marL="556895" marR="737235" indent="-232410">
              <a:lnSpc>
                <a:spcPct val="111300"/>
              </a:lnSpc>
              <a:spcBef>
                <a:spcPts val="95"/>
              </a:spcBef>
              <a:tabLst>
                <a:tab pos="556260" algn="l"/>
              </a:tabLst>
              <a:defRPr/>
            </a:pPr>
            <a:r>
              <a:rPr lang="fr-FR" sz="3200" spc="-25" dirty="0">
                <a:latin typeface="Calibri"/>
                <a:cs typeface="Calibri"/>
              </a:rPr>
              <a:t>Elles</a:t>
            </a:r>
            <a:r>
              <a:rPr lang="fr-FR" sz="3200" spc="-35" dirty="0">
                <a:latin typeface="Calibri"/>
                <a:cs typeface="Calibri"/>
              </a:rPr>
              <a:t> </a:t>
            </a:r>
            <a:r>
              <a:rPr lang="fr-FR" sz="3200" spc="-10" dirty="0">
                <a:solidFill>
                  <a:srgbClr val="0C0C0C"/>
                </a:solidFill>
                <a:latin typeface="Calibri"/>
                <a:cs typeface="Calibri"/>
              </a:rPr>
              <a:t>ne</a:t>
            </a:r>
            <a:r>
              <a:rPr lang="fr-FR" sz="32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doivent</a:t>
            </a:r>
            <a:r>
              <a:rPr lang="fr-FR" sz="3200" spc="1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pas</a:t>
            </a:r>
            <a:r>
              <a:rPr lang="fr-FR" sz="3200" spc="-2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se</a:t>
            </a:r>
            <a:r>
              <a:rPr lang="fr-FR" sz="3200" spc="-4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substituer</a:t>
            </a:r>
            <a:r>
              <a:rPr lang="fr-FR" sz="3200" spc="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à</a:t>
            </a:r>
            <a:r>
              <a:rPr lang="fr-FR" sz="3200" spc="-3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celles</a:t>
            </a:r>
            <a:r>
              <a:rPr lang="fr-FR" sz="3200" spc="-20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d'hyper-</a:t>
            </a:r>
            <a:r>
              <a:rPr lang="fr-FR" sz="3200" spc="21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ou</a:t>
            </a:r>
            <a:r>
              <a:rPr lang="fr-FR" sz="3200" spc="-30" dirty="0">
                <a:latin typeface="Calibri"/>
                <a:cs typeface="Calibri"/>
              </a:rPr>
              <a:t> d'</a:t>
            </a:r>
            <a:r>
              <a:rPr lang="fr-FR" sz="3200" spc="-30" dirty="0" err="1">
                <a:latin typeface="Calibri"/>
                <a:cs typeface="Calibri"/>
              </a:rPr>
              <a:t>hypodivergence</a:t>
            </a:r>
            <a:r>
              <a:rPr lang="fr-FR" sz="3200" spc="-35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n‘étant</a:t>
            </a:r>
            <a:r>
              <a:rPr lang="fr-FR" sz="3200" spc="10" dirty="0">
                <a:latin typeface="Calibri"/>
                <a:cs typeface="Calibri"/>
              </a:rPr>
              <a:t> </a:t>
            </a:r>
            <a:r>
              <a:rPr lang="fr-FR" sz="3200" spc="-25" dirty="0">
                <a:latin typeface="Calibri"/>
                <a:cs typeface="Calibri"/>
              </a:rPr>
              <a:t>ni </a:t>
            </a:r>
            <a:r>
              <a:rPr lang="fr-FR" sz="3200" spc="-40" dirty="0">
                <a:latin typeface="Calibri"/>
                <a:cs typeface="Calibri"/>
              </a:rPr>
              <a:t>synonymes</a:t>
            </a:r>
            <a:r>
              <a:rPr lang="fr-FR" sz="3200" spc="6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ni</a:t>
            </a:r>
            <a:r>
              <a:rPr lang="fr-FR" sz="3200" spc="220" dirty="0">
                <a:latin typeface="Calibri"/>
                <a:cs typeface="Calibri"/>
              </a:rPr>
              <a:t> </a:t>
            </a:r>
            <a:r>
              <a:rPr lang="fr-FR" sz="3200" spc="-35" dirty="0">
                <a:latin typeface="Calibri"/>
                <a:cs typeface="Calibri"/>
              </a:rPr>
              <a:t>systématiquement</a:t>
            </a:r>
            <a:r>
              <a:rPr lang="fr-FR" sz="3200" spc="-5" dirty="0">
                <a:latin typeface="Calibri"/>
                <a:cs typeface="Calibri"/>
              </a:rPr>
              <a:t> </a:t>
            </a:r>
            <a:r>
              <a:rPr lang="fr-FR" sz="3200" spc="-30" dirty="0">
                <a:latin typeface="Calibri"/>
                <a:cs typeface="Calibri"/>
              </a:rPr>
              <a:t>cliniquement</a:t>
            </a:r>
            <a:r>
              <a:rPr lang="fr-FR" sz="3200" spc="85" dirty="0">
                <a:latin typeface="Calibri"/>
                <a:cs typeface="Calibri"/>
              </a:rPr>
              <a:t> </a:t>
            </a:r>
            <a:r>
              <a:rPr lang="fr-FR" sz="3200" spc="-10" dirty="0">
                <a:latin typeface="Calibri"/>
                <a:cs typeface="Calibri"/>
              </a:rPr>
              <a:t>associées.</a:t>
            </a:r>
            <a:endParaRPr lang="fr-FR" sz="3200" dirty="0">
              <a:latin typeface="Calibri"/>
              <a:cs typeface="Calibri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539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A09FC3-3FC4-AC10-2628-2FFB087E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RAPPEL</a:t>
            </a:r>
            <a:r>
              <a:rPr lang="fr-FR" sz="5400" b="1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SUR</a:t>
            </a:r>
            <a:r>
              <a:rPr lang="fr-FR" sz="5400" b="1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</a:t>
            </a:r>
            <a:r>
              <a:rPr lang="fr-FR" sz="5400" b="1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CROISSANCE</a:t>
            </a:r>
            <a:r>
              <a:rPr lang="fr-FR" sz="5400" b="1" spc="1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4314E5-D4AD-762F-9DCF-6AF5D30C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694" y="3143050"/>
            <a:ext cx="5944775" cy="5937449"/>
          </a:xfrm>
        </p:spPr>
        <p:txBody>
          <a:bodyPr>
            <a:normAutofit lnSpcReduction="10000"/>
          </a:bodyPr>
          <a:lstStyle/>
          <a:p>
            <a:pPr marL="12700">
              <a:spcBef>
                <a:spcPts val="1210"/>
              </a:spcBef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faciale</a:t>
            </a:r>
            <a:r>
              <a:rPr lang="fr-FR" sz="2400" spc="-30" dirty="0">
                <a:latin typeface="Calibri"/>
                <a:cs typeface="Calibri"/>
              </a:rPr>
              <a:t> est </a:t>
            </a:r>
            <a:r>
              <a:rPr lang="fr-FR" sz="2400" spc="-40" dirty="0">
                <a:latin typeface="Calibri"/>
                <a:cs typeface="Calibri"/>
              </a:rPr>
              <a:t>complexe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et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plusieurs</a:t>
            </a:r>
            <a:r>
              <a:rPr lang="fr-FR" sz="2400" spc="20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processus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entrent</a:t>
            </a:r>
            <a:r>
              <a:rPr lang="fr-FR" sz="2400" spc="-10" dirty="0">
                <a:latin typeface="Calibri"/>
                <a:cs typeface="Calibri"/>
              </a:rPr>
              <a:t> en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jeu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50" dirty="0">
                <a:latin typeface="Calibri"/>
                <a:cs typeface="Calibri"/>
              </a:rPr>
              <a:t>:</a:t>
            </a:r>
            <a:endParaRPr lang="fr-FR" sz="2400" dirty="0">
              <a:latin typeface="Calibri"/>
              <a:cs typeface="Calibri"/>
            </a:endParaRPr>
          </a:p>
          <a:p>
            <a:pPr marL="701675" lvl="1" indent="-230504">
              <a:spcBef>
                <a:spcPts val="1165"/>
              </a:spcBef>
              <a:buClr>
                <a:srgbClr val="1F1F1F"/>
              </a:buClr>
              <a:buChar char="-"/>
              <a:tabLst>
                <a:tab pos="701675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suturale;</a:t>
            </a:r>
            <a:endParaRPr lang="fr-FR" sz="2400" dirty="0">
              <a:latin typeface="Calibri"/>
              <a:cs typeface="Calibri"/>
            </a:endParaRPr>
          </a:p>
          <a:p>
            <a:pPr marL="701675" lvl="1" indent="-230504">
              <a:spcBef>
                <a:spcPts val="155"/>
              </a:spcBef>
              <a:buClr>
                <a:srgbClr val="1F1F1F"/>
              </a:buClr>
              <a:buChar char="-"/>
              <a:tabLst>
                <a:tab pos="701675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remodelante</a:t>
            </a:r>
            <a:r>
              <a:rPr lang="fr-FR" sz="2400" spc="-10" dirty="0">
                <a:latin typeface="Calibri"/>
                <a:cs typeface="Calibri"/>
              </a:rPr>
              <a:t>;</a:t>
            </a:r>
            <a:endParaRPr lang="fr-FR" sz="2400" dirty="0">
              <a:latin typeface="Calibri"/>
              <a:cs typeface="Calibri"/>
            </a:endParaRPr>
          </a:p>
          <a:p>
            <a:pPr marL="701675" lvl="1" indent="-230504">
              <a:spcBef>
                <a:spcPts val="160"/>
              </a:spcBef>
              <a:buClr>
                <a:srgbClr val="1F1F1F"/>
              </a:buClr>
              <a:buChar char="-"/>
              <a:tabLst>
                <a:tab pos="701675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cartilagineuse;</a:t>
            </a:r>
            <a:endParaRPr lang="fr-FR" sz="2400" dirty="0">
              <a:latin typeface="Calibri"/>
              <a:cs typeface="Calibri"/>
            </a:endParaRPr>
          </a:p>
          <a:p>
            <a:pPr marL="701675" lvl="1" indent="-230504">
              <a:spcBef>
                <a:spcPts val="155"/>
              </a:spcBef>
              <a:buClr>
                <a:srgbClr val="1F1F1F"/>
              </a:buClr>
              <a:buChar char="-"/>
              <a:tabLst>
                <a:tab pos="701675" algn="l"/>
              </a:tabLst>
            </a:pPr>
            <a:r>
              <a:rPr lang="fr-FR" sz="2400" spc="-35" dirty="0">
                <a:latin typeface="Calibri"/>
                <a:cs typeface="Calibri"/>
              </a:rPr>
              <a:t>L'évolution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du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système</a:t>
            </a:r>
            <a:r>
              <a:rPr lang="fr-FR" sz="2400" spc="-10" dirty="0">
                <a:latin typeface="Calibri"/>
                <a:cs typeface="Calibri"/>
              </a:rPr>
              <a:t> dentaire;</a:t>
            </a:r>
            <a:endParaRPr lang="fr-FR" sz="2400" dirty="0">
              <a:latin typeface="Calibri"/>
              <a:cs typeface="Calibri"/>
            </a:endParaRPr>
          </a:p>
          <a:p>
            <a:pPr marL="12700" marR="1095375" indent="30480">
              <a:lnSpc>
                <a:spcPct val="184400"/>
              </a:lnSpc>
            </a:pPr>
            <a:r>
              <a:rPr lang="fr-FR" sz="2600" spc="-25" dirty="0">
                <a:latin typeface="Calibri"/>
                <a:cs typeface="Calibri"/>
              </a:rPr>
              <a:t>Pendant</a:t>
            </a:r>
            <a:r>
              <a:rPr lang="fr-FR" sz="2600" spc="-15" dirty="0">
                <a:latin typeface="Calibri"/>
                <a:cs typeface="Calibri"/>
              </a:rPr>
              <a:t> </a:t>
            </a:r>
            <a:r>
              <a:rPr lang="fr-FR" sz="2600" spc="-10" dirty="0">
                <a:latin typeface="Calibri"/>
                <a:cs typeface="Calibri"/>
              </a:rPr>
              <a:t>sa</a:t>
            </a:r>
            <a:r>
              <a:rPr lang="fr-FR" sz="2600" spc="-40" dirty="0">
                <a:latin typeface="Calibri"/>
                <a:cs typeface="Calibri"/>
              </a:rPr>
              <a:t> </a:t>
            </a:r>
            <a:r>
              <a:rPr lang="fr-FR" sz="2600" spc="-35" dirty="0">
                <a:latin typeface="Calibri"/>
                <a:cs typeface="Calibri"/>
              </a:rPr>
              <a:t>croissance,</a:t>
            </a:r>
            <a:r>
              <a:rPr lang="fr-FR" sz="2600" spc="-10" dirty="0">
                <a:latin typeface="Calibri"/>
                <a:cs typeface="Calibri"/>
              </a:rPr>
              <a:t> </a:t>
            </a:r>
            <a:r>
              <a:rPr lang="fr-FR" sz="2600" dirty="0">
                <a:latin typeface="Calibri"/>
                <a:cs typeface="Calibri"/>
              </a:rPr>
              <a:t>la</a:t>
            </a:r>
            <a:r>
              <a:rPr lang="fr-FR" sz="2600" spc="-60" dirty="0">
                <a:latin typeface="Calibri"/>
                <a:cs typeface="Calibri"/>
              </a:rPr>
              <a:t> </a:t>
            </a:r>
            <a:r>
              <a:rPr lang="fr-FR" sz="2600" spc="-20" dirty="0">
                <a:latin typeface="Calibri"/>
                <a:cs typeface="Calibri"/>
              </a:rPr>
              <a:t>face</a:t>
            </a:r>
            <a:r>
              <a:rPr lang="fr-FR" sz="2600" spc="-40" dirty="0">
                <a:latin typeface="Calibri"/>
                <a:cs typeface="Calibri"/>
              </a:rPr>
              <a:t> </a:t>
            </a:r>
            <a:r>
              <a:rPr lang="fr-FR" sz="2600" dirty="0">
                <a:latin typeface="Calibri"/>
                <a:cs typeface="Calibri"/>
              </a:rPr>
              <a:t>se</a:t>
            </a:r>
            <a:r>
              <a:rPr lang="fr-FR" sz="2600" spc="-15" dirty="0">
                <a:latin typeface="Calibri"/>
                <a:cs typeface="Calibri"/>
              </a:rPr>
              <a:t> </a:t>
            </a:r>
            <a:r>
              <a:rPr lang="fr-FR" sz="2600" spc="-30" dirty="0">
                <a:latin typeface="Calibri"/>
                <a:cs typeface="Calibri"/>
              </a:rPr>
              <a:t>déplace</a:t>
            </a:r>
            <a:r>
              <a:rPr lang="fr-FR" sz="2600" spc="25" dirty="0">
                <a:latin typeface="Calibri"/>
                <a:cs typeface="Calibri"/>
              </a:rPr>
              <a:t> </a:t>
            </a:r>
            <a:r>
              <a:rPr lang="fr-FR" sz="2600" spc="-20" dirty="0">
                <a:latin typeface="Calibri"/>
                <a:cs typeface="Calibri"/>
              </a:rPr>
              <a:t>en</a:t>
            </a:r>
            <a:r>
              <a:rPr lang="fr-FR" sz="2600" spc="-15" dirty="0">
                <a:latin typeface="Calibri"/>
                <a:cs typeface="Calibri"/>
              </a:rPr>
              <a:t> </a:t>
            </a:r>
            <a:r>
              <a:rPr lang="fr-FR" sz="2600" spc="-35" dirty="0">
                <a:latin typeface="Calibri"/>
                <a:cs typeface="Calibri"/>
              </a:rPr>
              <a:t>bas</a:t>
            </a:r>
            <a:r>
              <a:rPr lang="fr-FR" sz="2600" spc="-30" dirty="0">
                <a:latin typeface="Calibri"/>
                <a:cs typeface="Calibri"/>
              </a:rPr>
              <a:t> </a:t>
            </a:r>
            <a:r>
              <a:rPr lang="fr-FR" sz="2600" dirty="0">
                <a:latin typeface="Calibri"/>
                <a:cs typeface="Calibri"/>
              </a:rPr>
              <a:t>et</a:t>
            </a:r>
            <a:r>
              <a:rPr lang="fr-FR" sz="2600" spc="-50" dirty="0">
                <a:latin typeface="Calibri"/>
                <a:cs typeface="Calibri"/>
              </a:rPr>
              <a:t> </a:t>
            </a:r>
            <a:r>
              <a:rPr lang="fr-FR" sz="2600" spc="-25" dirty="0">
                <a:latin typeface="Calibri"/>
                <a:cs typeface="Calibri"/>
              </a:rPr>
              <a:t>en </a:t>
            </a:r>
            <a:r>
              <a:rPr lang="fr-FR" sz="2600" spc="-30" dirty="0">
                <a:latin typeface="Calibri"/>
                <a:cs typeface="Calibri"/>
              </a:rPr>
              <a:t>avant</a:t>
            </a:r>
            <a:r>
              <a:rPr lang="fr-FR" sz="2600" spc="-40" dirty="0">
                <a:latin typeface="Calibri"/>
                <a:cs typeface="Calibri"/>
              </a:rPr>
              <a:t> </a:t>
            </a:r>
            <a:r>
              <a:rPr lang="fr-FR" sz="2600" spc="-25" dirty="0">
                <a:latin typeface="Calibri"/>
                <a:cs typeface="Calibri"/>
              </a:rPr>
              <a:t>suivant</a:t>
            </a:r>
            <a:r>
              <a:rPr lang="fr-FR" sz="2600" spc="-30" dirty="0">
                <a:latin typeface="Calibri"/>
                <a:cs typeface="Calibri"/>
              </a:rPr>
              <a:t> </a:t>
            </a:r>
            <a:r>
              <a:rPr lang="fr-FR" sz="2600" spc="-20" dirty="0">
                <a:latin typeface="Calibri"/>
                <a:cs typeface="Calibri"/>
              </a:rPr>
              <a:t>une</a:t>
            </a:r>
            <a:r>
              <a:rPr lang="fr-FR" sz="2600" spc="-35" dirty="0">
                <a:latin typeface="Calibri"/>
                <a:cs typeface="Calibri"/>
              </a:rPr>
              <a:t> </a:t>
            </a:r>
            <a:r>
              <a:rPr lang="fr-FR" sz="2600" spc="-25" dirty="0" err="1">
                <a:latin typeface="Calibri"/>
                <a:cs typeface="Calibri"/>
              </a:rPr>
              <a:t>Iigne</a:t>
            </a:r>
            <a:r>
              <a:rPr lang="fr-FR" sz="2600" spc="-30" dirty="0">
                <a:latin typeface="Calibri"/>
                <a:cs typeface="Calibri"/>
              </a:rPr>
              <a:t> </a:t>
            </a:r>
            <a:r>
              <a:rPr lang="fr-FR" sz="2600" spc="-20" dirty="0">
                <a:latin typeface="Calibri"/>
                <a:cs typeface="Calibri"/>
              </a:rPr>
              <a:t>allant </a:t>
            </a:r>
            <a:r>
              <a:rPr lang="fr-FR" sz="2600" spc="-10" dirty="0">
                <a:latin typeface="Calibri"/>
                <a:cs typeface="Calibri"/>
              </a:rPr>
              <a:t>du</a:t>
            </a:r>
            <a:r>
              <a:rPr lang="fr-FR" sz="2600" spc="-25" dirty="0">
                <a:latin typeface="Calibri"/>
                <a:cs typeface="Calibri"/>
              </a:rPr>
              <a:t> </a:t>
            </a:r>
            <a:r>
              <a:rPr lang="fr-FR" sz="2600" spc="-30" dirty="0">
                <a:latin typeface="Calibri"/>
                <a:cs typeface="Calibri"/>
              </a:rPr>
              <a:t>point</a:t>
            </a:r>
            <a:r>
              <a:rPr lang="fr-FR" sz="2600" spc="5" dirty="0">
                <a:latin typeface="Calibri"/>
                <a:cs typeface="Calibri"/>
              </a:rPr>
              <a:t> </a:t>
            </a:r>
            <a:r>
              <a:rPr lang="fr-FR" sz="2600" dirty="0">
                <a:latin typeface="Calibri"/>
                <a:cs typeface="Calibri"/>
              </a:rPr>
              <a:t>S</a:t>
            </a:r>
            <a:r>
              <a:rPr lang="fr-FR" sz="2600" spc="-60" dirty="0">
                <a:latin typeface="Calibri"/>
                <a:cs typeface="Calibri"/>
              </a:rPr>
              <a:t> </a:t>
            </a:r>
            <a:r>
              <a:rPr lang="fr-FR" sz="2600" dirty="0">
                <a:latin typeface="Calibri"/>
                <a:cs typeface="Calibri"/>
              </a:rPr>
              <a:t>au</a:t>
            </a:r>
            <a:r>
              <a:rPr lang="fr-FR" sz="2600" spc="-20" dirty="0">
                <a:latin typeface="Calibri"/>
                <a:cs typeface="Calibri"/>
              </a:rPr>
              <a:t> </a:t>
            </a:r>
            <a:r>
              <a:rPr lang="fr-FR" sz="2600" spc="-10" dirty="0">
                <a:latin typeface="Calibri"/>
                <a:cs typeface="Calibri"/>
              </a:rPr>
              <a:t>gnathion</a:t>
            </a:r>
            <a:endParaRPr lang="fr-FR" sz="2600" dirty="0">
              <a:latin typeface="Calibri"/>
              <a:cs typeface="Calibri"/>
            </a:endParaRPr>
          </a:p>
          <a:p>
            <a:endParaRPr lang="fr-FR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7CD1F376-807D-240B-AE94-94775653CB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5469" y="3517900"/>
            <a:ext cx="430127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9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179114-C269-69AC-F58F-CAE96331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CROISSANCE</a:t>
            </a:r>
            <a:r>
              <a:rPr lang="fr-FR" sz="5400" b="1" spc="1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VERTICALE</a:t>
            </a:r>
            <a:r>
              <a:rPr lang="fr-FR" sz="5400" b="1" spc="1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lang="fr-FR" sz="5400" b="1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MAXILLAIRE</a:t>
            </a:r>
            <a:r>
              <a:rPr lang="fr-FR" sz="5400" b="1" spc="2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SUPERIEUR</a:t>
            </a:r>
            <a:br>
              <a:rPr lang="fr-FR" sz="54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2A6E5F-4FF4-4668-8212-F3ED596C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069" y="2984500"/>
            <a:ext cx="12268201" cy="6470849"/>
          </a:xfrm>
        </p:spPr>
        <p:txBody>
          <a:bodyPr>
            <a:normAutofit fontScale="92500" lnSpcReduction="20000"/>
          </a:bodyPr>
          <a:lstStyle/>
          <a:p>
            <a:pPr marL="228600" marR="442595">
              <a:lnSpc>
                <a:spcPct val="114799"/>
              </a:lnSpc>
              <a:spcBef>
                <a:spcPts val="980"/>
              </a:spcBef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du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maxillaire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supérieure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se</a:t>
            </a:r>
            <a:r>
              <a:rPr lang="fr-FR" sz="2400" spc="-20" dirty="0">
                <a:latin typeface="Calibri"/>
                <a:cs typeface="Calibri"/>
              </a:rPr>
              <a:t> fait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grâce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50" dirty="0">
                <a:latin typeface="Calibri"/>
                <a:cs typeface="Calibri"/>
              </a:rPr>
              <a:t>à</a:t>
            </a:r>
            <a:r>
              <a:rPr lang="fr-FR" sz="2400" spc="-30" dirty="0">
                <a:latin typeface="Calibri"/>
                <a:cs typeface="Calibri"/>
              </a:rPr>
              <a:t> l'activité</a:t>
            </a:r>
          </a:p>
          <a:p>
            <a:pPr marL="0" marR="442595" indent="0">
              <a:lnSpc>
                <a:spcPct val="114799"/>
              </a:lnSpc>
              <a:spcBef>
                <a:spcPts val="980"/>
              </a:spcBef>
              <a:buNone/>
            </a:pP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-30" dirty="0">
                <a:latin typeface="Calibri"/>
                <a:cs typeface="Calibri"/>
              </a:rPr>
              <a:t> sutures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et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sera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complétée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par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la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remodelante</a:t>
            </a:r>
            <a:endParaRPr lang="fr-FR" sz="2400" dirty="0">
              <a:latin typeface="Calibri"/>
              <a:cs typeface="Calibri"/>
            </a:endParaRPr>
          </a:p>
          <a:p>
            <a:pPr marL="501015">
              <a:spcBef>
                <a:spcPts val="1215"/>
              </a:spcBef>
              <a:tabLst>
                <a:tab pos="716915" algn="l"/>
              </a:tabLst>
            </a:pPr>
            <a:r>
              <a:rPr lang="fr-FR" sz="2400" b="1" dirty="0">
                <a:latin typeface="Calibri"/>
                <a:cs typeface="Calibri"/>
              </a:rPr>
              <a:t>	La</a:t>
            </a:r>
            <a:r>
              <a:rPr lang="fr-FR" sz="2400" b="1" spc="-5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croissance</a:t>
            </a:r>
            <a:r>
              <a:rPr lang="fr-FR" sz="2400" b="1" spc="60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suturale</a:t>
            </a:r>
            <a:endParaRPr lang="fr-FR" sz="2400" b="1" dirty="0">
              <a:latin typeface="Calibri"/>
              <a:cs typeface="Calibri"/>
            </a:endParaRPr>
          </a:p>
          <a:p>
            <a:pPr marL="678180">
              <a:spcBef>
                <a:spcPts val="265"/>
              </a:spcBef>
              <a:tabLst>
                <a:tab pos="912494" algn="l"/>
              </a:tabLst>
            </a:pPr>
            <a:r>
              <a:rPr lang="fr-FR" sz="2400" spc="-50" dirty="0">
                <a:latin typeface="Calibri"/>
                <a:cs typeface="Calibri"/>
              </a:rPr>
              <a:t>«</a:t>
            </a:r>
            <a:r>
              <a:rPr lang="fr-FR" sz="2400" dirty="0">
                <a:latin typeface="Calibri"/>
                <a:cs typeface="Calibri"/>
              </a:rPr>
              <a:t>	</a:t>
            </a:r>
            <a:r>
              <a:rPr lang="fr-FR" sz="2400" spc="-10" dirty="0">
                <a:latin typeface="Calibri"/>
                <a:cs typeface="Calibri"/>
              </a:rPr>
              <a:t>Suture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fronto-maxilaire</a:t>
            </a:r>
            <a:endParaRPr lang="fr-FR" sz="2400" dirty="0">
              <a:latin typeface="Calibri"/>
              <a:cs typeface="Calibri"/>
            </a:endParaRPr>
          </a:p>
          <a:p>
            <a:pPr marL="678180">
              <a:spcBef>
                <a:spcPts val="265"/>
              </a:spcBef>
              <a:tabLst>
                <a:tab pos="912494" algn="l"/>
              </a:tabLst>
            </a:pPr>
            <a:r>
              <a:rPr lang="fr-FR" sz="2400" spc="-50" dirty="0">
                <a:latin typeface="Calibri"/>
                <a:cs typeface="Calibri"/>
              </a:rPr>
              <a:t>«</a:t>
            </a:r>
            <a:r>
              <a:rPr lang="fr-FR" sz="2400" dirty="0">
                <a:latin typeface="Calibri"/>
                <a:cs typeface="Calibri"/>
              </a:rPr>
              <a:t>	</a:t>
            </a:r>
            <a:r>
              <a:rPr lang="fr-FR" sz="2400" spc="-10" dirty="0">
                <a:latin typeface="Calibri"/>
                <a:cs typeface="Calibri"/>
              </a:rPr>
              <a:t>Suture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maxillo</a:t>
            </a:r>
            <a:r>
              <a:rPr lang="fr-FR" sz="2400" spc="-10" dirty="0">
                <a:latin typeface="Calibri"/>
                <a:cs typeface="Calibri"/>
              </a:rPr>
              <a:t>-malaire</a:t>
            </a:r>
            <a:endParaRPr lang="fr-FR" sz="2400" dirty="0">
              <a:latin typeface="Calibri"/>
              <a:cs typeface="Calibri"/>
            </a:endParaRPr>
          </a:p>
          <a:p>
            <a:pPr marL="678180">
              <a:spcBef>
                <a:spcPts val="310"/>
              </a:spcBef>
              <a:tabLst>
                <a:tab pos="912494" algn="l"/>
              </a:tabLst>
            </a:pPr>
            <a:r>
              <a:rPr lang="fr-FR" sz="2400" spc="-50" dirty="0">
                <a:latin typeface="Calibri"/>
                <a:cs typeface="Calibri"/>
              </a:rPr>
              <a:t>«</a:t>
            </a:r>
            <a:r>
              <a:rPr lang="fr-FR" sz="2400" dirty="0">
                <a:latin typeface="Calibri"/>
                <a:cs typeface="Calibri"/>
              </a:rPr>
              <a:t>	</a:t>
            </a:r>
            <a:r>
              <a:rPr lang="fr-FR" sz="2400" spc="-10" dirty="0">
                <a:latin typeface="Calibri"/>
                <a:cs typeface="Calibri"/>
              </a:rPr>
              <a:t>Suture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maxillo</a:t>
            </a:r>
            <a:r>
              <a:rPr lang="fr-FR" sz="2400" spc="-10" dirty="0">
                <a:latin typeface="Calibri"/>
                <a:cs typeface="Calibri"/>
              </a:rPr>
              <a:t>-palatine</a:t>
            </a:r>
            <a:endParaRPr lang="fr-FR" sz="2400" dirty="0">
              <a:latin typeface="Calibri"/>
              <a:cs typeface="Calibri"/>
            </a:endParaRPr>
          </a:p>
          <a:p>
            <a:pPr marL="678180">
              <a:spcBef>
                <a:spcPts val="265"/>
              </a:spcBef>
              <a:tabLst>
                <a:tab pos="912494" algn="l"/>
              </a:tabLst>
            </a:pPr>
            <a:r>
              <a:rPr lang="fr-FR" sz="2400" spc="-50" dirty="0">
                <a:latin typeface="Calibri"/>
                <a:cs typeface="Calibri"/>
              </a:rPr>
              <a:t>«</a:t>
            </a:r>
            <a:r>
              <a:rPr lang="fr-FR" sz="2400" dirty="0">
                <a:latin typeface="Calibri"/>
                <a:cs typeface="Calibri"/>
              </a:rPr>
              <a:t>	</a:t>
            </a:r>
            <a:r>
              <a:rPr lang="fr-FR" sz="2400" spc="-10" dirty="0">
                <a:latin typeface="Calibri"/>
                <a:cs typeface="Calibri"/>
              </a:rPr>
              <a:t>Suture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fronto</a:t>
            </a:r>
            <a:r>
              <a:rPr lang="fr-FR" sz="2400" spc="-10" dirty="0">
                <a:latin typeface="Calibri"/>
                <a:cs typeface="Calibri"/>
              </a:rPr>
              <a:t>-malaire.</a:t>
            </a:r>
            <a:endParaRPr lang="fr-FR" sz="2400" dirty="0">
              <a:latin typeface="Calibri"/>
              <a:cs typeface="Calibri"/>
            </a:endParaRPr>
          </a:p>
          <a:p>
            <a:pPr marL="678180">
              <a:spcBef>
                <a:spcPts val="265"/>
              </a:spcBef>
              <a:tabLst>
                <a:tab pos="912494" algn="l"/>
              </a:tabLst>
            </a:pPr>
            <a:r>
              <a:rPr lang="fr-FR" sz="2400" spc="-50" dirty="0">
                <a:latin typeface="Calibri"/>
                <a:cs typeface="Calibri"/>
              </a:rPr>
              <a:t>«</a:t>
            </a:r>
            <a:r>
              <a:rPr lang="fr-FR" sz="2400" dirty="0">
                <a:latin typeface="Calibri"/>
                <a:cs typeface="Calibri"/>
              </a:rPr>
              <a:t>	</a:t>
            </a:r>
            <a:r>
              <a:rPr lang="fr-FR" sz="2400" spc="-10" dirty="0">
                <a:latin typeface="Calibri"/>
                <a:cs typeface="Calibri"/>
              </a:rPr>
              <a:t>Suture</a:t>
            </a:r>
            <a:r>
              <a:rPr lang="fr-FR" sz="2400" spc="7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pterygo</a:t>
            </a:r>
            <a:r>
              <a:rPr lang="fr-FR" sz="2400" spc="-10" dirty="0">
                <a:latin typeface="Calibri"/>
                <a:cs typeface="Calibri"/>
              </a:rPr>
              <a:t>-palatine.</a:t>
            </a:r>
            <a:endParaRPr lang="fr-FR" sz="2400" dirty="0">
              <a:latin typeface="Calibri"/>
              <a:cs typeface="Calibri"/>
            </a:endParaRPr>
          </a:p>
          <a:p>
            <a:pPr marL="227965">
              <a:spcBef>
                <a:spcPts val="1175"/>
              </a:spcBef>
            </a:pPr>
            <a:r>
              <a:rPr lang="fr-FR" sz="2400" spc="-20" dirty="0">
                <a:latin typeface="Calibri"/>
                <a:cs typeface="Calibri"/>
              </a:rPr>
              <a:t>Ces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sutures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provoquent</a:t>
            </a:r>
            <a:r>
              <a:rPr lang="fr-FR" sz="2400" spc="8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un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déplacement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vertical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sensible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au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niveau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du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palais</a:t>
            </a:r>
            <a:r>
              <a:rPr lang="fr-FR" sz="2400" spc="-20" dirty="0">
                <a:latin typeface="Calibri"/>
                <a:cs typeface="Calibri"/>
              </a:rPr>
              <a:t> dur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de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l'orbite.</a:t>
            </a:r>
            <a:endParaRPr lang="fr-FR" sz="2400" dirty="0">
              <a:latin typeface="Calibri"/>
              <a:cs typeface="Calibri"/>
            </a:endParaRPr>
          </a:p>
          <a:p>
            <a:pPr marL="240665">
              <a:spcBef>
                <a:spcPts val="1160"/>
              </a:spcBef>
            </a:pPr>
            <a:r>
              <a:rPr lang="fr-FR" sz="2400" u="heavy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Scott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: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cette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est active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entre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5" dirty="0">
                <a:latin typeface="Calibri"/>
                <a:cs typeface="Calibri"/>
              </a:rPr>
              <a:t>2-</a:t>
            </a:r>
            <a:r>
              <a:rPr lang="fr-FR" sz="2400" dirty="0">
                <a:latin typeface="Calibri"/>
                <a:cs typeface="Calibri"/>
              </a:rPr>
              <a:t>3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ans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et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cesse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solidFill>
                  <a:srgbClr val="131313"/>
                </a:solidFill>
                <a:latin typeface="Calibri"/>
                <a:cs typeface="Calibri"/>
              </a:rPr>
              <a:t>à</a:t>
            </a:r>
            <a:r>
              <a:rPr lang="fr-FR" sz="2400" spc="-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partir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80" dirty="0">
                <a:latin typeface="Calibri"/>
                <a:cs typeface="Calibri"/>
              </a:rPr>
              <a:t>7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ans.</a:t>
            </a:r>
            <a:endParaRPr lang="fr-FR" sz="2400" dirty="0">
              <a:latin typeface="Calibri"/>
              <a:cs typeface="Calibri"/>
            </a:endParaRPr>
          </a:p>
          <a:p>
            <a:pPr marL="716280">
              <a:spcBef>
                <a:spcPts val="1165"/>
              </a:spcBef>
            </a:pPr>
            <a:r>
              <a:rPr lang="fr-FR" sz="2400" b="1" dirty="0">
                <a:latin typeface="Calibri"/>
                <a:cs typeface="Calibri"/>
              </a:rPr>
              <a:t>La</a:t>
            </a:r>
            <a:r>
              <a:rPr lang="fr-FR" sz="2400" b="1" spc="-40" dirty="0">
                <a:latin typeface="Calibri"/>
                <a:cs typeface="Calibri"/>
              </a:rPr>
              <a:t> </a:t>
            </a:r>
            <a:r>
              <a:rPr lang="fr-FR" sz="2400" b="1" spc="-35" dirty="0">
                <a:latin typeface="Calibri"/>
                <a:cs typeface="Calibri"/>
              </a:rPr>
              <a:t>croissance</a:t>
            </a:r>
            <a:r>
              <a:rPr lang="fr-FR" sz="2400" b="1" spc="15" dirty="0">
                <a:latin typeface="Calibri"/>
                <a:cs typeface="Calibri"/>
              </a:rPr>
              <a:t> </a:t>
            </a:r>
            <a:r>
              <a:rPr lang="fr-FR" sz="2400" b="1" spc="-10" dirty="0" err="1">
                <a:latin typeface="Calibri"/>
                <a:cs typeface="Calibri"/>
              </a:rPr>
              <a:t>remodelante</a:t>
            </a:r>
            <a:endParaRPr lang="fr-FR" sz="2400" b="1" dirty="0">
              <a:latin typeface="Calibri"/>
              <a:cs typeface="Calibri"/>
            </a:endParaRPr>
          </a:p>
          <a:p>
            <a:pPr marL="228600">
              <a:spcBef>
                <a:spcPts val="1260"/>
              </a:spcBef>
            </a:pPr>
            <a:r>
              <a:rPr lang="fr-FR" sz="2400" dirty="0">
                <a:latin typeface="Calibri"/>
                <a:cs typeface="Calibri"/>
              </a:rPr>
              <a:t>Elle</a:t>
            </a:r>
            <a:r>
              <a:rPr lang="fr-FR" sz="2400" spc="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est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organisée</a:t>
            </a:r>
            <a:r>
              <a:rPr lang="fr-FR" sz="2400" spc="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travers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phénomènes</a:t>
            </a:r>
            <a:r>
              <a:rPr lang="fr-FR" sz="2400" spc="1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d'apposition</a:t>
            </a:r>
            <a:r>
              <a:rPr lang="fr-FR" sz="2400" spc="2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résorption</a:t>
            </a:r>
            <a:r>
              <a:rPr lang="fr-FR" sz="2400" spc="10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périoste.</a:t>
            </a:r>
            <a:endParaRPr lang="fr-FR" sz="2400" dirty="0">
              <a:latin typeface="Calibri"/>
              <a:cs typeface="Calibri"/>
            </a:endParaRPr>
          </a:p>
          <a:p>
            <a:pPr marL="230504" marR="268605" indent="-1905">
              <a:lnSpc>
                <a:spcPct val="116399"/>
              </a:lnSpc>
              <a:spcBef>
                <a:spcPts val="1050"/>
              </a:spcBef>
            </a:pPr>
            <a:r>
              <a:rPr lang="fr-FR" sz="2400" dirty="0">
                <a:latin typeface="Calibri"/>
                <a:cs typeface="Calibri"/>
              </a:rPr>
              <a:t>Elle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aboutit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solidFill>
                  <a:srgbClr val="181818"/>
                </a:solidFill>
                <a:latin typeface="Calibri"/>
                <a:cs typeface="Calibri"/>
              </a:rPr>
              <a:t>à</a:t>
            </a:r>
            <a:r>
              <a:rPr lang="fr-FR" sz="2400" spc="-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abaissement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l'épine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nasale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antérieure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augmentation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volume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sinus maxillaire.</a:t>
            </a:r>
            <a:endParaRPr lang="fr-FR" sz="2400" dirty="0">
              <a:latin typeface="Calibri"/>
              <a:cs typeface="Calibri"/>
            </a:endParaRPr>
          </a:p>
          <a:p>
            <a:pPr marL="228600">
              <a:spcBef>
                <a:spcPts val="1220"/>
              </a:spcBef>
            </a:pPr>
            <a:r>
              <a:rPr lang="fr-FR" sz="2400" dirty="0">
                <a:latin typeface="Calibri"/>
                <a:cs typeface="Calibri"/>
              </a:rPr>
              <a:t>Grâce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ces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deux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phénomènes,</a:t>
            </a:r>
            <a:r>
              <a:rPr lang="fr-FR" sz="2400" spc="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maxillaire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effectue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déplacement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bas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avant.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E6D9219-2CED-E933-46F7-4E195CA020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7469" y="2755900"/>
            <a:ext cx="4523663" cy="34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33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291CC-72A9-80E9-1732-F175C3DD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CROISSANCE</a:t>
            </a:r>
            <a:r>
              <a:rPr lang="fr-FR" sz="5400" b="1" spc="1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VERTICALE</a:t>
            </a:r>
            <a:r>
              <a:rPr lang="fr-FR" sz="5400" b="1" spc="1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lang="fr-FR" sz="5400" b="1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</a:t>
            </a:r>
            <a:r>
              <a:rPr lang="fr-FR" sz="5400" b="1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MANDIBULE</a:t>
            </a:r>
            <a:r>
              <a:rPr lang="fr-FR" sz="5400" b="1" spc="1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br>
              <a:rPr lang="fr-FR" sz="54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2ACB5-4782-FC15-F372-395F67B7D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70" y="3143050"/>
            <a:ext cx="13182600" cy="6623249"/>
          </a:xfrm>
        </p:spPr>
        <p:txBody>
          <a:bodyPr>
            <a:noAutofit/>
          </a:bodyPr>
          <a:lstStyle/>
          <a:p>
            <a:pPr marL="501015">
              <a:spcBef>
                <a:spcPts val="200"/>
              </a:spcBef>
              <a:tabLst>
                <a:tab pos="716280" algn="l"/>
              </a:tabLst>
            </a:pPr>
            <a:r>
              <a:rPr lang="fr-FR" sz="2000" b="1" dirty="0">
                <a:latin typeface="Calibri"/>
                <a:cs typeface="Calibri"/>
              </a:rPr>
              <a:t>	</a:t>
            </a:r>
            <a:r>
              <a:rPr lang="fr-FR" sz="2000" b="1" spc="-35" dirty="0">
                <a:latin typeface="Calibri"/>
                <a:cs typeface="Calibri"/>
              </a:rPr>
              <a:t>croissance</a:t>
            </a:r>
            <a:r>
              <a:rPr lang="fr-FR" sz="2000" b="1" spc="20" dirty="0">
                <a:latin typeface="Calibri"/>
                <a:cs typeface="Calibri"/>
              </a:rPr>
              <a:t> </a:t>
            </a:r>
            <a:r>
              <a:rPr lang="fr-FR" sz="2000" b="1" spc="-10" dirty="0">
                <a:latin typeface="Calibri"/>
                <a:cs typeface="Calibri"/>
              </a:rPr>
              <a:t>condylienne</a:t>
            </a:r>
            <a:endParaRPr lang="fr-FR" sz="2000" b="1" dirty="0">
              <a:latin typeface="Calibri"/>
              <a:cs typeface="Calibri"/>
            </a:endParaRPr>
          </a:p>
          <a:p>
            <a:pPr marL="460375" indent="-230504">
              <a:spcBef>
                <a:spcPts val="160"/>
              </a:spcBef>
              <a:buClr>
                <a:srgbClr val="232323"/>
              </a:buClr>
              <a:buChar char="-"/>
              <a:tabLst>
                <a:tab pos="460375" algn="l"/>
              </a:tabLst>
            </a:pPr>
            <a:r>
              <a:rPr lang="fr-FR" sz="2000" spc="-35" dirty="0">
                <a:latin typeface="Calibri"/>
                <a:cs typeface="Calibri"/>
              </a:rPr>
              <a:t>Responsable</a:t>
            </a:r>
            <a:r>
              <a:rPr lang="fr-FR" sz="2000" spc="114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de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80ïde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l'édification</a:t>
            </a:r>
            <a:r>
              <a:rPr lang="fr-FR" sz="2000" spc="7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de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hauteur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du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20" dirty="0" err="1">
                <a:latin typeface="Calibri"/>
                <a:cs typeface="Calibri"/>
              </a:rPr>
              <a:t>ramus</a:t>
            </a:r>
            <a:endParaRPr lang="fr-FR" sz="2000" dirty="0">
              <a:latin typeface="Calibri"/>
              <a:cs typeface="Calibri"/>
            </a:endParaRPr>
          </a:p>
          <a:p>
            <a:pPr marL="460375" marR="938530" indent="-231140">
              <a:lnSpc>
                <a:spcPct val="111300"/>
              </a:lnSpc>
              <a:buClr>
                <a:srgbClr val="232323"/>
              </a:buClr>
              <a:buChar char="-"/>
              <a:tabLst>
                <a:tab pos="461645" algn="l"/>
              </a:tabLst>
            </a:pPr>
            <a:r>
              <a:rPr lang="fr-FR" sz="2000" spc="-30" dirty="0">
                <a:latin typeface="Calibri"/>
                <a:cs typeface="Calibri"/>
              </a:rPr>
              <a:t>Le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condyle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et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son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cartilage</a:t>
            </a:r>
            <a:r>
              <a:rPr lang="fr-FR" sz="2000" spc="-10" dirty="0">
                <a:latin typeface="Calibri"/>
                <a:cs typeface="Calibri"/>
              </a:rPr>
              <a:t> sont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considérés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40" dirty="0">
                <a:latin typeface="Calibri"/>
                <a:cs typeface="Calibri"/>
              </a:rPr>
              <a:t>comme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le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centre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croissance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primaire 	</a:t>
            </a:r>
          </a:p>
          <a:p>
            <a:pPr marL="229235" marR="938530" indent="0">
              <a:lnSpc>
                <a:spcPct val="111300"/>
              </a:lnSpc>
              <a:buClr>
                <a:srgbClr val="232323"/>
              </a:buClr>
              <a:buNone/>
              <a:tabLst>
                <a:tab pos="461645" algn="l"/>
              </a:tabLst>
            </a:pPr>
            <a:r>
              <a:rPr lang="fr-FR" sz="2000" spc="-40" dirty="0">
                <a:latin typeface="Calibri"/>
                <a:cs typeface="Calibri"/>
              </a:rPr>
              <a:t>prédéterminée</a:t>
            </a:r>
            <a:r>
              <a:rPr lang="fr-FR" sz="2000" spc="12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génétiquement</a:t>
            </a:r>
            <a:r>
              <a:rPr lang="fr-FR" sz="2000" spc="50" dirty="0">
                <a:latin typeface="Calibri"/>
                <a:cs typeface="Calibri"/>
              </a:rPr>
              <a:t> </a:t>
            </a:r>
            <a:r>
              <a:rPr lang="fr-FR" sz="2000" spc="-50" dirty="0">
                <a:latin typeface="Calibri"/>
                <a:cs typeface="Calibri"/>
              </a:rPr>
              <a:t>.</a:t>
            </a:r>
            <a:endParaRPr lang="fr-FR" sz="2000" dirty="0">
              <a:latin typeface="Calibri"/>
              <a:cs typeface="Calibri"/>
            </a:endParaRPr>
          </a:p>
          <a:p>
            <a:pPr marL="715645"/>
            <a:r>
              <a:rPr lang="fr-FR" sz="2000" b="1" spc="-35" dirty="0">
                <a:latin typeface="Calibri"/>
                <a:cs typeface="Calibri"/>
              </a:rPr>
              <a:t>Croissance</a:t>
            </a:r>
            <a:r>
              <a:rPr lang="fr-FR" sz="2000" b="1" spc="55" dirty="0">
                <a:latin typeface="Calibri"/>
                <a:cs typeface="Calibri"/>
              </a:rPr>
              <a:t> </a:t>
            </a:r>
            <a:r>
              <a:rPr lang="fr-FR" sz="2000" b="1" spc="-10" dirty="0" err="1">
                <a:latin typeface="Calibri"/>
                <a:cs typeface="Calibri"/>
              </a:rPr>
              <a:t>remodelante</a:t>
            </a:r>
            <a:endParaRPr lang="fr-FR" sz="2000" b="1" dirty="0">
              <a:latin typeface="Calibri"/>
              <a:cs typeface="Calibri"/>
            </a:endParaRPr>
          </a:p>
          <a:p>
            <a:pPr marL="228600" marR="2576195">
              <a:lnSpc>
                <a:spcPct val="184400"/>
              </a:lnSpc>
            </a:pPr>
            <a:r>
              <a:rPr lang="fr-FR" sz="2000" spc="-30" dirty="0">
                <a:latin typeface="Calibri"/>
                <a:cs typeface="Calibri"/>
              </a:rPr>
              <a:t>Essentiellement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au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niveau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du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bord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basilaire</a:t>
            </a:r>
            <a:r>
              <a:rPr lang="fr-FR" sz="200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de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mandibule.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croissance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mandibulaire</a:t>
            </a:r>
            <a:r>
              <a:rPr lang="fr-FR" sz="2000" spc="3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est</a:t>
            </a:r>
          </a:p>
          <a:p>
            <a:pPr marL="0" marR="2576195" indent="0">
              <a:lnSpc>
                <a:spcPct val="184400"/>
              </a:lnSpc>
              <a:buNone/>
            </a:pP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dirigée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en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bas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et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en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avant, </a:t>
            </a:r>
            <a:r>
              <a:rPr lang="fr-FR" sz="2000" spc="-35" dirty="0">
                <a:latin typeface="Calibri"/>
                <a:cs typeface="Calibri"/>
              </a:rPr>
              <a:t>s‘accompagne</a:t>
            </a:r>
            <a:r>
              <a:rPr lang="fr-FR" sz="2000" spc="4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d'une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rotation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plus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40" dirty="0">
                <a:latin typeface="Calibri"/>
                <a:cs typeface="Calibri"/>
              </a:rPr>
              <a:t>souvent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antérieure</a:t>
            </a:r>
            <a:endParaRPr lang="fr-FR" sz="2000" dirty="0">
              <a:latin typeface="Calibri"/>
              <a:cs typeface="Calibri"/>
            </a:endParaRPr>
          </a:p>
          <a:p>
            <a:pPr marL="414655">
              <a:spcBef>
                <a:spcPts val="1165"/>
              </a:spcBef>
              <a:tabLst>
                <a:tab pos="687705" algn="l"/>
              </a:tabLst>
            </a:pPr>
            <a:r>
              <a:rPr lang="fr-FR" sz="2000" b="1" i="1" spc="-35" dirty="0">
                <a:latin typeface="Calibri"/>
                <a:cs typeface="Calibri"/>
              </a:rPr>
              <a:t>Direction</a:t>
            </a:r>
            <a:r>
              <a:rPr lang="fr-FR" sz="2000" b="1" i="1" spc="25" dirty="0">
                <a:latin typeface="Calibri"/>
                <a:cs typeface="Calibri"/>
              </a:rPr>
              <a:t> </a:t>
            </a:r>
            <a:r>
              <a:rPr lang="fr-FR" sz="2000" b="1" i="1" spc="-30" dirty="0">
                <a:latin typeface="Calibri"/>
                <a:cs typeface="Calibri"/>
              </a:rPr>
              <a:t>de</a:t>
            </a:r>
            <a:r>
              <a:rPr lang="fr-FR" sz="2000" b="1" i="1" spc="-25" dirty="0">
                <a:latin typeface="Calibri"/>
                <a:cs typeface="Calibri"/>
              </a:rPr>
              <a:t> </a:t>
            </a:r>
            <a:r>
              <a:rPr lang="fr-FR" sz="2000" b="1" i="1" spc="-20" dirty="0">
                <a:latin typeface="Calibri"/>
                <a:cs typeface="Calibri"/>
              </a:rPr>
              <a:t>la</a:t>
            </a:r>
            <a:r>
              <a:rPr lang="fr-FR" sz="2000" b="1" i="1" spc="-40" dirty="0">
                <a:latin typeface="Calibri"/>
                <a:cs typeface="Calibri"/>
              </a:rPr>
              <a:t> </a:t>
            </a:r>
            <a:r>
              <a:rPr lang="fr-FR" sz="2000" b="1" i="1" spc="-35" dirty="0">
                <a:latin typeface="Calibri"/>
                <a:cs typeface="Calibri"/>
              </a:rPr>
              <a:t>croissance</a:t>
            </a:r>
            <a:r>
              <a:rPr lang="fr-FR" sz="2000" b="1" i="1" spc="25" dirty="0">
                <a:latin typeface="Calibri"/>
                <a:cs typeface="Calibri"/>
              </a:rPr>
              <a:t> </a:t>
            </a:r>
            <a:r>
              <a:rPr lang="fr-FR" sz="2000" b="1" i="1" spc="-10" dirty="0">
                <a:latin typeface="Calibri"/>
                <a:cs typeface="Calibri"/>
              </a:rPr>
              <a:t>mandibulaire</a:t>
            </a:r>
            <a:r>
              <a:rPr lang="fr-FR" sz="2000" spc="-10" dirty="0">
                <a:latin typeface="Calibri"/>
                <a:cs typeface="Calibri"/>
              </a:rPr>
              <a:t>:</a:t>
            </a:r>
            <a:endParaRPr lang="fr-FR" sz="2000" dirty="0">
              <a:latin typeface="Calibri"/>
              <a:cs typeface="Calibri"/>
            </a:endParaRPr>
          </a:p>
          <a:p>
            <a:pPr marL="229235" marR="412115" indent="127635">
              <a:lnSpc>
                <a:spcPct val="120000"/>
              </a:lnSpc>
              <a:spcBef>
                <a:spcPts val="900"/>
              </a:spcBef>
            </a:pPr>
            <a:r>
              <a:rPr lang="fr-FR" sz="3200" b="1" u="heavy" baseline="2525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</a:t>
            </a:r>
            <a:r>
              <a:rPr lang="fr-FR" sz="3200" b="1" u="heavy" baseline="-7575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lang="fr-FR" sz="3200" b="1" u="heavy" baseline="2525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ork</a:t>
            </a:r>
            <a:r>
              <a:rPr lang="fr-FR" sz="2000" spc="-75" baseline="25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différencie</a:t>
            </a:r>
            <a:r>
              <a:rPr lang="fr-FR" sz="2000" spc="22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03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types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direction</a:t>
            </a:r>
            <a:r>
              <a:rPr lang="fr-FR" sz="2000" spc="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croissance</a:t>
            </a:r>
            <a:r>
              <a:rPr lang="fr-FR" sz="2000" spc="4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mandibulaire,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selon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les</a:t>
            </a:r>
            <a:r>
              <a:rPr lang="fr-FR" sz="2000" spc="-10" dirty="0">
                <a:latin typeface="Calibri"/>
                <a:cs typeface="Calibri"/>
              </a:rPr>
              <a:t> formes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observables </a:t>
            </a:r>
            <a:r>
              <a:rPr lang="fr-FR" sz="2000" dirty="0">
                <a:latin typeface="Calibri"/>
                <a:cs typeface="Calibri"/>
              </a:rPr>
              <a:t>sur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TLR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profil:</a:t>
            </a:r>
            <a:endParaRPr lang="fr-FR" sz="2000" dirty="0">
              <a:latin typeface="Calibri"/>
              <a:cs typeface="Calibri"/>
            </a:endParaRPr>
          </a:p>
          <a:p>
            <a:pPr marL="452120" marR="3706495" indent="-65405">
              <a:lnSpc>
                <a:spcPts val="2540"/>
              </a:lnSpc>
              <a:spcBef>
                <a:spcPts val="245"/>
              </a:spcBef>
            </a:pPr>
            <a:r>
              <a:rPr lang="fr-FR" sz="2000" dirty="0">
                <a:latin typeface="Calibri"/>
                <a:cs typeface="Calibri"/>
              </a:rPr>
              <a:t>1/</a:t>
            </a:r>
            <a:r>
              <a:rPr lang="fr-FR" sz="2000" spc="-35" dirty="0">
                <a:latin typeface="Calibri"/>
                <a:cs typeface="Calibri"/>
              </a:rPr>
              <a:t> Rotation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mandibulaire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moyenne.</a:t>
            </a:r>
          </a:p>
          <a:p>
            <a:pPr marL="452120" marR="3706495" indent="-65405">
              <a:lnSpc>
                <a:spcPts val="2540"/>
              </a:lnSpc>
              <a:spcBef>
                <a:spcPts val="245"/>
              </a:spcBef>
            </a:pP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2/ </a:t>
            </a:r>
            <a:r>
              <a:rPr lang="fr-FR" sz="2000" spc="-35" dirty="0">
                <a:latin typeface="Calibri"/>
                <a:cs typeface="Calibri"/>
              </a:rPr>
              <a:t>Rotation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mandibulaire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antérieure.</a:t>
            </a:r>
            <a:endParaRPr lang="fr-FR" sz="2000" dirty="0">
              <a:latin typeface="Calibri"/>
              <a:cs typeface="Calibri"/>
            </a:endParaRPr>
          </a:p>
          <a:p>
            <a:pPr marL="452120" marR="3706495" indent="-65405">
              <a:lnSpc>
                <a:spcPts val="2540"/>
              </a:lnSpc>
              <a:spcBef>
                <a:spcPts val="245"/>
              </a:spcBef>
            </a:pPr>
            <a:r>
              <a:rPr lang="fr-FR" sz="2000" spc="-35" dirty="0">
                <a:solidFill>
                  <a:srgbClr val="161616"/>
                </a:solidFill>
                <a:latin typeface="Calibri"/>
                <a:cs typeface="Calibri"/>
              </a:rPr>
              <a:t>3/ </a:t>
            </a:r>
            <a:r>
              <a:rPr lang="fr-FR" sz="2000" spc="-30" dirty="0">
                <a:latin typeface="Calibri"/>
                <a:cs typeface="Calibri"/>
              </a:rPr>
              <a:t>Rotation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mandibulaire</a:t>
            </a:r>
            <a:r>
              <a:rPr lang="fr-FR" sz="2000" spc="6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postérieure.</a:t>
            </a:r>
            <a:endParaRPr lang="fr-FR" sz="2000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E5634576-4155-12C8-B446-0F2A9900F6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5669" y="3143050"/>
            <a:ext cx="38163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2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3194" y="6453197"/>
            <a:ext cx="2346020" cy="20177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7675" y="6165820"/>
            <a:ext cx="1833394" cy="21413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20564" y="8335564"/>
            <a:ext cx="2151638" cy="18484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4269" y="6327022"/>
            <a:ext cx="2180092" cy="18484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57674" y="9037250"/>
            <a:ext cx="1617772" cy="14414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65378" y="6120329"/>
            <a:ext cx="564596" cy="175601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477849" y="8620011"/>
            <a:ext cx="2346020" cy="1716029"/>
            <a:chOff x="384097" y="6205646"/>
            <a:chExt cx="256540" cy="36639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580" y="6412937"/>
              <a:ext cx="219484" cy="1585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097" y="6205646"/>
              <a:ext cx="256064" cy="20424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005097" y="250220"/>
            <a:ext cx="32595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10" dirty="0">
                <a:latin typeface="Calibri"/>
                <a:cs typeface="Calibri"/>
              </a:rPr>
              <a:t>Rotation</a:t>
            </a:r>
            <a:r>
              <a:rPr b="1" spc="204" dirty="0">
                <a:latin typeface="Calibri"/>
                <a:cs typeface="Calibri"/>
              </a:rPr>
              <a:t> </a:t>
            </a:r>
            <a:r>
              <a:rPr b="1" spc="10" dirty="0">
                <a:latin typeface="Calibri"/>
                <a:cs typeface="Calibri"/>
              </a:rPr>
              <a:t>mandibulaire</a:t>
            </a:r>
            <a:r>
              <a:rPr b="1" spc="2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antérieure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5232" y="1966249"/>
            <a:ext cx="489863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Col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du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condyle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orienté</a:t>
            </a:r>
            <a:r>
              <a:rPr spc="1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vers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haut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3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vers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l'avant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7069" y="1578452"/>
            <a:ext cx="443467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Le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canal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mandibulaire</a:t>
            </a:r>
            <a:r>
              <a:rPr spc="2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coudé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7069" y="1018277"/>
            <a:ext cx="398454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Angle</a:t>
            </a:r>
            <a:r>
              <a:rPr spc="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mandibulaire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fermé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68705" y="259369"/>
            <a:ext cx="371021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10" dirty="0">
                <a:latin typeface="Calibri"/>
                <a:cs typeface="Calibri"/>
              </a:rPr>
              <a:t>Rotation</a:t>
            </a:r>
            <a:r>
              <a:rPr b="1" spc="250" dirty="0">
                <a:latin typeface="Calibri"/>
                <a:cs typeface="Calibri"/>
              </a:rPr>
              <a:t> </a:t>
            </a:r>
            <a:r>
              <a:rPr b="1" spc="10" dirty="0">
                <a:latin typeface="Calibri"/>
                <a:cs typeface="Calibri"/>
              </a:rPr>
              <a:t>mandibulaire</a:t>
            </a:r>
            <a:r>
              <a:rPr b="1" spc="2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postérieure</a:t>
            </a:r>
            <a:endParaRPr b="1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66869" y="1949338"/>
            <a:ext cx="477242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Col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du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condyle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orienté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haut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vers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l'arrière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94155" y="1573419"/>
            <a:ext cx="415392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Le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canal</a:t>
            </a:r>
            <a:r>
              <a:rPr spc="1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mandibulaire</a:t>
            </a:r>
            <a:r>
              <a:rPr spc="4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droit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4155" y="1018277"/>
            <a:ext cx="32502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Angle</a:t>
            </a:r>
            <a:r>
              <a:rPr spc="11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mandibulaire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ouvert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05097" y="2517968"/>
            <a:ext cx="48187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Calibri"/>
                <a:cs typeface="Calibri"/>
              </a:rPr>
              <a:t>Bord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inférieure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mandibule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sans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échancrure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prégoniaque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94155" y="2548598"/>
            <a:ext cx="57625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0" dirty="0">
                <a:latin typeface="Calibri"/>
                <a:cs typeface="Calibri"/>
              </a:rPr>
              <a:t>Bord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inférieure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de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131313"/>
                </a:solidFill>
                <a:latin typeface="Calibri"/>
                <a:cs typeface="Calibri"/>
              </a:rPr>
              <a:t>la</a:t>
            </a:r>
            <a:r>
              <a:rPr spc="-5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mandibule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avec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échancrure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prégoniaque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8603" y="3208100"/>
            <a:ext cx="479526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5" dirty="0">
                <a:latin typeface="Calibri"/>
                <a:cs typeface="Calibri"/>
              </a:rPr>
              <a:t>Symphyse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mentonnière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épaisse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40" dirty="0">
                <a:latin typeface="Calibri"/>
                <a:cs typeface="Calibri"/>
              </a:rPr>
              <a:t>(en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bulbe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d'oignon)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5974" y="3876591"/>
            <a:ext cx="443818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Corticale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sous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symphysaire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épaisse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1562" y="4629793"/>
            <a:ext cx="453003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Angles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dentaire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postérieurs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ouverts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65237" y="5358524"/>
            <a:ext cx="453003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Hauteur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l'étage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inferieur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face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diminuée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66869" y="3208026"/>
            <a:ext cx="652214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libri"/>
                <a:cs typeface="Calibri"/>
              </a:rPr>
              <a:t>Symphyse</a:t>
            </a:r>
            <a:r>
              <a:rPr spc="210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mentonnière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fine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(en</a:t>
            </a:r>
            <a:r>
              <a:rPr spc="-35" dirty="0">
                <a:latin typeface="Calibri"/>
                <a:cs typeface="Calibri"/>
              </a:rPr>
              <a:t> goutte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d'eau)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66351" y="3876591"/>
            <a:ext cx="324842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Corticale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symphysaire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mince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66351" y="4570037"/>
            <a:ext cx="453003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Angles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dentaire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postérieurs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peu</a:t>
            </a:r>
            <a:r>
              <a:rPr spc="-10" dirty="0">
                <a:latin typeface="Calibri"/>
                <a:cs typeface="Calibri"/>
              </a:rPr>
              <a:t> ouvert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64699" y="5358524"/>
            <a:ext cx="514810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Hauteur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l'étage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inferieur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0E0E0E"/>
                </a:solidFill>
                <a:latin typeface="Calibri"/>
                <a:cs typeface="Calibri"/>
              </a:rPr>
              <a:t>la</a:t>
            </a:r>
            <a:r>
              <a:rPr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face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augmentée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/>
      <p:bldP spid="31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96BA3D-8E30-A3BE-C845-17E61272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5400" b="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LES</a:t>
            </a:r>
            <a:r>
              <a:rPr lang="fr-FR" sz="5400" b="1" spc="1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lang="fr-FR" sz="5400" b="1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ELEMENTS</a:t>
            </a:r>
            <a:r>
              <a:rPr lang="fr-FR" sz="5400" b="1" spc="1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1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</a:t>
            </a:r>
            <a:r>
              <a:rPr lang="fr-FR" sz="5400" b="1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DIAGNOSTIC</a:t>
            </a:r>
            <a:r>
              <a:rPr lang="fr-FR" sz="5400" b="1" spc="1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</a:t>
            </a:r>
            <a:r>
              <a:rPr lang="fr-FR" sz="5400" b="1" spc="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5400" b="1" spc="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DYSMORPHOSES</a:t>
            </a:r>
            <a:r>
              <a:rPr lang="fr-FR" sz="5400" b="1" spc="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lang="fr-FR" sz="5400" b="1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VERTICALES</a:t>
            </a:r>
            <a:r>
              <a:rPr lang="fr-FR" sz="5400" b="1" spc="1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br>
              <a:rPr lang="fr-FR" sz="54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90BDA1-080A-AA8C-7062-1F1C5D16884E}"/>
              </a:ext>
            </a:extLst>
          </p:cNvPr>
          <p:cNvSpPr txBox="1"/>
          <p:nvPr/>
        </p:nvSpPr>
        <p:spPr>
          <a:xfrm>
            <a:off x="2023270" y="3289301"/>
            <a:ext cx="10591800" cy="4549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0690" lvl="1" indent="-234950">
              <a:spcBef>
                <a:spcPts val="300"/>
              </a:spcBef>
              <a:buAutoNum type="arabicPeriod"/>
              <a:tabLst>
                <a:tab pos="440690" algn="l"/>
              </a:tabLst>
            </a:pPr>
            <a:r>
              <a:rPr lang="fr-FR" sz="2800" b="1" spc="-50" dirty="0">
                <a:latin typeface="Calibri"/>
                <a:cs typeface="Calibri"/>
              </a:rPr>
              <a:t>EXAMEN</a:t>
            </a:r>
            <a:r>
              <a:rPr lang="fr-FR" sz="2800" b="1" spc="25" dirty="0">
                <a:latin typeface="Calibri"/>
                <a:cs typeface="Calibri"/>
              </a:rPr>
              <a:t> </a:t>
            </a:r>
            <a:r>
              <a:rPr lang="fr-FR" sz="2800" b="1" spc="-30" dirty="0">
                <a:latin typeface="Calibri"/>
                <a:cs typeface="Calibri"/>
              </a:rPr>
              <a:t>CLINIQUE</a:t>
            </a:r>
            <a:r>
              <a:rPr lang="fr-FR" sz="2800" b="1" spc="15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:</a:t>
            </a:r>
            <a:endParaRPr lang="fr-FR" sz="2800" b="1" dirty="0">
              <a:latin typeface="Calibri"/>
              <a:cs typeface="Calibri"/>
            </a:endParaRPr>
          </a:p>
          <a:p>
            <a:pPr marL="214629" marR="295275" indent="1905">
              <a:lnSpc>
                <a:spcPct val="111300"/>
              </a:lnSpc>
              <a:spcBef>
                <a:spcPts val="1005"/>
              </a:spcBef>
            </a:pPr>
            <a:r>
              <a:rPr lang="fr-FR" sz="2800" spc="-25" dirty="0">
                <a:latin typeface="Calibri"/>
                <a:cs typeface="Calibri"/>
              </a:rPr>
              <a:t>Lors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l'examen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clinique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on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considère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les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éléments</a:t>
            </a:r>
            <a:r>
              <a:rPr lang="fr-FR" sz="2800" spc="4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du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visage</a:t>
            </a:r>
            <a:r>
              <a:rPr lang="fr-FR" sz="2800" spc="-20" dirty="0">
                <a:latin typeface="Calibri"/>
                <a:cs typeface="Calibri"/>
              </a:rPr>
              <a:t> dans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le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sens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vertical.</a:t>
            </a:r>
            <a:r>
              <a:rPr lang="fr-FR" sz="2800" spc="1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L'examen</a:t>
            </a:r>
            <a:r>
              <a:rPr lang="fr-FR" sz="280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du visage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en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ICM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permet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d'évaluer</a:t>
            </a:r>
            <a:r>
              <a:rPr lang="fr-FR" sz="2800" spc="-2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son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harmonie,</a:t>
            </a:r>
            <a:r>
              <a:rPr lang="fr-FR" sz="2800" spc="3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de</a:t>
            </a:r>
            <a:r>
              <a:rPr lang="fr-FR" sz="2800" spc="-2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face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et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profil:</a:t>
            </a:r>
            <a:endParaRPr lang="fr-FR" sz="2800" dirty="0">
              <a:latin typeface="Calibri"/>
              <a:cs typeface="Calibri"/>
            </a:endParaRPr>
          </a:p>
          <a:p>
            <a:pPr marL="667385" marR="331470" indent="-233679">
              <a:lnSpc>
                <a:spcPct val="111300"/>
              </a:lnSpc>
              <a:spcBef>
                <a:spcPts val="1105"/>
              </a:spcBef>
              <a:tabLst>
                <a:tab pos="668020" algn="l"/>
              </a:tabLst>
            </a:pPr>
            <a:r>
              <a:rPr lang="fr-FR" sz="2800" b="1" spc="-30" dirty="0">
                <a:latin typeface="Calibri"/>
                <a:cs typeface="Calibri"/>
              </a:rPr>
              <a:t>De</a:t>
            </a:r>
            <a:r>
              <a:rPr lang="fr-FR" sz="2800" b="1" spc="-40" dirty="0">
                <a:latin typeface="Calibri"/>
                <a:cs typeface="Calibri"/>
              </a:rPr>
              <a:t> </a:t>
            </a:r>
            <a:r>
              <a:rPr lang="fr-FR" sz="2800" b="1" spc="-25" dirty="0">
                <a:latin typeface="Calibri"/>
                <a:cs typeface="Calibri"/>
              </a:rPr>
              <a:t>face</a:t>
            </a:r>
            <a:r>
              <a:rPr lang="fr-FR" sz="2800" spc="-25" dirty="0">
                <a:latin typeface="Calibri"/>
                <a:cs typeface="Calibri"/>
              </a:rPr>
              <a:t>;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on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appréciera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hauteur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l'étage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dirty="0" err="1">
                <a:latin typeface="Calibri"/>
                <a:cs typeface="Calibri"/>
              </a:rPr>
              <a:t>inf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par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rapport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à </a:t>
            </a:r>
            <a:r>
              <a:rPr lang="fr-FR" sz="2800" spc="-35" dirty="0">
                <a:latin typeface="Calibri"/>
                <a:cs typeface="Calibri"/>
              </a:rPr>
              <a:t> l’étage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sup.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mesure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de </a:t>
            </a:r>
            <a:r>
              <a:rPr lang="fr-FR" sz="2800" spc="-35" dirty="0">
                <a:latin typeface="Calibri"/>
                <a:cs typeface="Calibri"/>
              </a:rPr>
              <a:t>ces étages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se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fait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directement</a:t>
            </a:r>
            <a:r>
              <a:rPr lang="fr-FR" sz="2800" spc="4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sur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le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sujet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50" dirty="0">
                <a:solidFill>
                  <a:srgbClr val="111111"/>
                </a:solidFill>
                <a:latin typeface="Calibri"/>
                <a:cs typeface="Calibri"/>
              </a:rPr>
              <a:t>à</a:t>
            </a:r>
            <a:r>
              <a:rPr lang="fr-FR" sz="2800" spc="-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l'aide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d'un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pied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coulisse.</a:t>
            </a:r>
            <a:endParaRPr lang="fr-FR" sz="2800" dirty="0">
              <a:latin typeface="Calibri"/>
              <a:cs typeface="Calibri"/>
            </a:endParaRPr>
          </a:p>
          <a:p>
            <a:pPr marL="429895">
              <a:spcBef>
                <a:spcPts val="204"/>
              </a:spcBef>
              <a:tabLst>
                <a:tab pos="668020" algn="l"/>
              </a:tabLst>
            </a:pPr>
            <a:r>
              <a:rPr lang="fr-FR" sz="2800" b="1" spc="-50" dirty="0">
                <a:latin typeface="Calibri"/>
                <a:cs typeface="Calibri"/>
              </a:rPr>
              <a:t>De</a:t>
            </a:r>
            <a:r>
              <a:rPr lang="fr-FR" sz="2800" b="1" spc="-20" dirty="0">
                <a:latin typeface="Calibri"/>
                <a:cs typeface="Calibri"/>
              </a:rPr>
              <a:t> profil</a:t>
            </a:r>
            <a:r>
              <a:rPr lang="fr-FR" sz="2800" b="1" spc="-4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: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on</a:t>
            </a:r>
            <a:r>
              <a:rPr lang="fr-FR" sz="2800" spc="-25" dirty="0">
                <a:latin typeface="Calibri"/>
                <a:cs typeface="Calibri"/>
              </a:rPr>
              <a:t> appréciera</a:t>
            </a:r>
            <a:r>
              <a:rPr lang="fr-FR" sz="2800" spc="30" dirty="0">
                <a:latin typeface="Calibri"/>
                <a:cs typeface="Calibri"/>
              </a:rPr>
              <a:t> </a:t>
            </a:r>
            <a:r>
              <a:rPr lang="fr-FR" sz="2800" spc="-45" dirty="0">
                <a:latin typeface="Calibri"/>
                <a:cs typeface="Calibri"/>
              </a:rPr>
              <a:t>le</a:t>
            </a:r>
            <a:r>
              <a:rPr lang="fr-FR" sz="2800" spc="-20" dirty="0">
                <a:latin typeface="Calibri"/>
                <a:cs typeface="Calibri"/>
              </a:rPr>
              <a:t> profil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cutané,</a:t>
            </a:r>
            <a:r>
              <a:rPr lang="fr-FR" sz="2800" spc="2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l'orientation</a:t>
            </a:r>
            <a:r>
              <a:rPr lang="fr-FR" sz="2800" spc="7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du </a:t>
            </a:r>
            <a:r>
              <a:rPr lang="fr-FR" sz="2800" spc="-25" dirty="0">
                <a:latin typeface="Calibri"/>
                <a:cs typeface="Calibri"/>
              </a:rPr>
              <a:t>bord</a:t>
            </a:r>
            <a:r>
              <a:rPr lang="fr-FR" sz="2800" spc="-20" dirty="0">
                <a:latin typeface="Calibri"/>
                <a:cs typeface="Calibri"/>
              </a:rPr>
              <a:t> </a:t>
            </a:r>
            <a:r>
              <a:rPr lang="fr-FR" sz="2800" spc="-10" dirty="0" err="1">
                <a:solidFill>
                  <a:srgbClr val="0E0E0E"/>
                </a:solidFill>
                <a:latin typeface="Calibri"/>
                <a:cs typeface="Calibri"/>
              </a:rPr>
              <a:t>inf</a:t>
            </a:r>
            <a:r>
              <a:rPr lang="fr-FR"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mandibule.</a:t>
            </a:r>
            <a:endParaRPr lang="fr-FR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994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7C19388-3782-13E0-0B5C-23ED7072387D}"/>
              </a:ext>
            </a:extLst>
          </p:cNvPr>
          <p:cNvSpPr txBox="1"/>
          <p:nvPr/>
        </p:nvSpPr>
        <p:spPr>
          <a:xfrm>
            <a:off x="461169" y="469900"/>
            <a:ext cx="13335000" cy="897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266" marR="3778885" lvl="1">
              <a:lnSpc>
                <a:spcPct val="184400"/>
              </a:lnSpc>
              <a:tabLst>
                <a:tab pos="473075" algn="l"/>
              </a:tabLst>
            </a:pPr>
            <a:r>
              <a:rPr lang="fr-FR" sz="2800" b="1" spc="-35" dirty="0">
                <a:latin typeface="Calibri"/>
                <a:cs typeface="Calibri"/>
              </a:rPr>
              <a:t>EXAMENS</a:t>
            </a:r>
            <a:r>
              <a:rPr lang="fr-FR" sz="2800" b="1" spc="45" dirty="0">
                <a:latin typeface="Calibri"/>
                <a:cs typeface="Calibri"/>
              </a:rPr>
              <a:t> </a:t>
            </a:r>
            <a:r>
              <a:rPr lang="fr-FR" sz="2800" b="1" spc="-40" dirty="0">
                <a:latin typeface="Calibri"/>
                <a:cs typeface="Calibri"/>
              </a:rPr>
              <a:t>FONCTIONNELS</a:t>
            </a:r>
            <a:r>
              <a:rPr lang="fr-FR" sz="2800" b="1" spc="65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: </a:t>
            </a:r>
          </a:p>
          <a:p>
            <a:pPr marL="215266" marR="3778885" lvl="1">
              <a:lnSpc>
                <a:spcPct val="184400"/>
              </a:lnSpc>
              <a:tabLst>
                <a:tab pos="473075" algn="l"/>
              </a:tabLst>
            </a:pPr>
            <a:r>
              <a:rPr lang="fr-FR" sz="2800" b="1" spc="-50" dirty="0">
                <a:latin typeface="Calibri"/>
                <a:cs typeface="Calibri"/>
              </a:rPr>
              <a:t>	</a:t>
            </a:r>
            <a:r>
              <a:rPr lang="fr-FR" sz="2800" b="1" spc="-40" dirty="0">
                <a:latin typeface="Calibri"/>
                <a:cs typeface="Calibri"/>
              </a:rPr>
              <a:t>EXAMEN</a:t>
            </a:r>
            <a:r>
              <a:rPr lang="fr-FR" sz="2800" b="1" spc="-25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DE</a:t>
            </a:r>
            <a:r>
              <a:rPr lang="fr-FR" sz="2800" b="1" spc="-15" dirty="0">
                <a:latin typeface="Calibri"/>
                <a:cs typeface="Calibri"/>
              </a:rPr>
              <a:t> </a:t>
            </a:r>
            <a:r>
              <a:rPr lang="fr-FR" sz="2800" b="1" dirty="0">
                <a:latin typeface="Calibri"/>
                <a:cs typeface="Calibri"/>
              </a:rPr>
              <a:t>LA</a:t>
            </a:r>
            <a:r>
              <a:rPr lang="fr-FR" sz="2800" b="1" spc="-30" dirty="0">
                <a:latin typeface="Calibri"/>
                <a:cs typeface="Calibri"/>
              </a:rPr>
              <a:t> </a:t>
            </a:r>
            <a:r>
              <a:rPr lang="fr-FR" sz="2800" b="1" spc="-35" dirty="0">
                <a:latin typeface="Calibri"/>
                <a:cs typeface="Calibri"/>
              </a:rPr>
              <a:t>VENTILATION</a:t>
            </a:r>
            <a:r>
              <a:rPr lang="fr-FR" sz="2800" b="1" spc="50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:</a:t>
            </a:r>
            <a:endParaRPr lang="fr-FR" sz="2800" b="1" dirty="0">
              <a:latin typeface="Calibri"/>
              <a:cs typeface="Calibri"/>
            </a:endParaRPr>
          </a:p>
          <a:p>
            <a:pPr marL="245110" marR="235585" indent="-3810">
              <a:lnSpc>
                <a:spcPct val="111300"/>
              </a:lnSpc>
              <a:spcBef>
                <a:spcPts val="1010"/>
              </a:spcBef>
            </a:pPr>
            <a:r>
              <a:rPr lang="fr-FR" sz="2800" spc="-30" dirty="0">
                <a:latin typeface="Calibri"/>
                <a:cs typeface="Calibri"/>
              </a:rPr>
              <a:t>L'examen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consiste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à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vérifier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le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spc="-40" dirty="0">
                <a:latin typeface="Calibri"/>
                <a:cs typeface="Calibri"/>
              </a:rPr>
              <a:t>type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de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ventilation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(nasal,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orale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ou </a:t>
            </a:r>
            <a:r>
              <a:rPr lang="fr-FR" sz="2800" spc="-30" dirty="0">
                <a:latin typeface="Calibri"/>
                <a:cs typeface="Calibri"/>
              </a:rPr>
              <a:t>mixte),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a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noter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présence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de </a:t>
            </a:r>
            <a:r>
              <a:rPr lang="fr-FR" sz="2800" spc="-40" dirty="0">
                <a:latin typeface="Calibri"/>
                <a:cs typeface="Calibri"/>
              </a:rPr>
              <a:t>végétations</a:t>
            </a:r>
            <a:r>
              <a:rPr lang="fr-FR" sz="280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adénoïdes</a:t>
            </a:r>
            <a:r>
              <a:rPr lang="fr-FR" sz="2800" spc="9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et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amygdales</a:t>
            </a:r>
            <a:r>
              <a:rPr lang="fr-FR" sz="2800" spc="3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hypertrophiées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et </a:t>
            </a:r>
            <a:r>
              <a:rPr lang="fr-FR" sz="2800" spc="-35" dirty="0">
                <a:latin typeface="Calibri"/>
                <a:cs typeface="Calibri"/>
              </a:rPr>
              <a:t>l'existence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de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déviation</a:t>
            </a:r>
            <a:r>
              <a:rPr lang="fr-FR" sz="2800" spc="5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30" dirty="0">
                <a:latin typeface="Calibri"/>
                <a:cs typeface="Calibri"/>
              </a:rPr>
              <a:t> cloison,</a:t>
            </a:r>
            <a:r>
              <a:rPr lang="fr-FR" sz="2800" spc="1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une </a:t>
            </a:r>
            <a:r>
              <a:rPr lang="fr-FR" sz="2800" spc="-35" dirty="0">
                <a:latin typeface="Calibri"/>
                <a:cs typeface="Calibri"/>
              </a:rPr>
              <a:t>étroitesse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des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fosses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nasales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ou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tout </a:t>
            </a:r>
            <a:r>
              <a:rPr lang="fr-FR" sz="2800" spc="-25" dirty="0">
                <a:latin typeface="Calibri"/>
                <a:cs typeface="Calibri"/>
              </a:rPr>
              <a:t>autre </a:t>
            </a:r>
            <a:r>
              <a:rPr lang="fr-FR" sz="2800" spc="-30" dirty="0">
                <a:latin typeface="Calibri"/>
                <a:cs typeface="Calibri"/>
              </a:rPr>
              <a:t>problème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obstructif</a:t>
            </a:r>
            <a:r>
              <a:rPr lang="fr-FR" sz="2800" spc="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ou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allergique.</a:t>
            </a:r>
            <a:endParaRPr lang="fr-FR" sz="2800" dirty="0">
              <a:latin typeface="Calibri"/>
              <a:cs typeface="Calibri"/>
            </a:endParaRPr>
          </a:p>
          <a:p>
            <a:pPr marL="473075" marR="888365" indent="-256540">
              <a:lnSpc>
                <a:spcPct val="184400"/>
              </a:lnSpc>
            </a:pPr>
            <a:r>
              <a:rPr lang="fr-FR" sz="2800" spc="-35" dirty="0">
                <a:latin typeface="Calibri"/>
                <a:cs typeface="Calibri"/>
              </a:rPr>
              <a:t>Pour mettre</a:t>
            </a:r>
            <a:r>
              <a:rPr lang="fr-FR" sz="2800" spc="2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en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évidence</a:t>
            </a:r>
            <a:r>
              <a:rPr lang="fr-FR" sz="2800" spc="50" dirty="0">
                <a:latin typeface="Calibri"/>
                <a:cs typeface="Calibri"/>
              </a:rPr>
              <a:t> </a:t>
            </a:r>
            <a:r>
              <a:rPr lang="fr-FR" sz="2800" spc="-40" dirty="0">
                <a:latin typeface="Calibri"/>
                <a:cs typeface="Calibri"/>
              </a:rPr>
              <a:t>une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pathologie</a:t>
            </a:r>
            <a:r>
              <a:rPr lang="fr-FR" sz="2800" spc="3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ventilation</a:t>
            </a:r>
            <a:r>
              <a:rPr lang="fr-FR" sz="280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orale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il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existe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plusieurs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tests </a:t>
            </a:r>
            <a:r>
              <a:rPr lang="fr-FR" sz="2800" b="1" spc="-40" dirty="0">
                <a:latin typeface="Calibri"/>
                <a:cs typeface="Calibri"/>
              </a:rPr>
              <a:t>EXAMEN</a:t>
            </a:r>
            <a:r>
              <a:rPr lang="fr-FR" sz="2800" b="1" spc="-30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DE</a:t>
            </a:r>
            <a:r>
              <a:rPr lang="fr-FR" sz="2800" b="1" spc="-15" dirty="0">
                <a:latin typeface="Calibri"/>
                <a:cs typeface="Calibri"/>
              </a:rPr>
              <a:t> </a:t>
            </a:r>
            <a:r>
              <a:rPr lang="fr-FR" sz="2800" b="1" spc="-20" dirty="0">
                <a:latin typeface="Calibri"/>
                <a:cs typeface="Calibri"/>
              </a:rPr>
              <a:t>LA</a:t>
            </a:r>
            <a:r>
              <a:rPr lang="fr-FR" sz="2800" b="1" spc="-45" dirty="0">
                <a:latin typeface="Calibri"/>
                <a:cs typeface="Calibri"/>
              </a:rPr>
              <a:t> </a:t>
            </a:r>
            <a:r>
              <a:rPr lang="fr-FR" sz="2800" b="1" spc="-40" dirty="0">
                <a:latin typeface="Calibri"/>
                <a:cs typeface="Calibri"/>
              </a:rPr>
              <a:t>DEGLUTITION</a:t>
            </a:r>
            <a:r>
              <a:rPr lang="fr-FR" sz="2800" b="1" spc="10" dirty="0">
                <a:latin typeface="Calibri"/>
                <a:cs typeface="Calibri"/>
              </a:rPr>
              <a:t> </a:t>
            </a:r>
            <a:r>
              <a:rPr lang="fr-FR" sz="2800" b="1" dirty="0">
                <a:latin typeface="Calibri"/>
                <a:cs typeface="Calibri"/>
              </a:rPr>
              <a:t>ET</a:t>
            </a:r>
            <a:r>
              <a:rPr lang="fr-FR" sz="2800" b="1" spc="-40" dirty="0">
                <a:latin typeface="Calibri"/>
                <a:cs typeface="Calibri"/>
              </a:rPr>
              <a:t> </a:t>
            </a:r>
            <a:r>
              <a:rPr lang="fr-FR" sz="2800" b="1" spc="-50" dirty="0">
                <a:latin typeface="Calibri"/>
                <a:cs typeface="Calibri"/>
              </a:rPr>
              <a:t>DE</a:t>
            </a:r>
            <a:r>
              <a:rPr lang="fr-FR" sz="2800" b="1" spc="-15" dirty="0">
                <a:latin typeface="Calibri"/>
                <a:cs typeface="Calibri"/>
              </a:rPr>
              <a:t> </a:t>
            </a:r>
            <a:r>
              <a:rPr lang="fr-FR" sz="2800" b="1" spc="-20" dirty="0">
                <a:latin typeface="Calibri"/>
                <a:cs typeface="Calibri"/>
              </a:rPr>
              <a:t>LA</a:t>
            </a:r>
            <a:r>
              <a:rPr lang="fr-FR" sz="2800" b="1" spc="-45" dirty="0">
                <a:latin typeface="Calibri"/>
                <a:cs typeface="Calibri"/>
              </a:rPr>
              <a:t> </a:t>
            </a:r>
            <a:r>
              <a:rPr lang="fr-FR" sz="2800" b="1" spc="-25" dirty="0">
                <a:latin typeface="Calibri"/>
                <a:cs typeface="Calibri"/>
              </a:rPr>
              <a:t>LANGUE</a:t>
            </a:r>
            <a:r>
              <a:rPr lang="fr-FR" sz="2800" b="1" dirty="0">
                <a:latin typeface="Calibri"/>
                <a:cs typeface="Calibri"/>
              </a:rPr>
              <a:t> :</a:t>
            </a:r>
          </a:p>
          <a:p>
            <a:pPr marL="473075" marR="888365" indent="-256540">
              <a:lnSpc>
                <a:spcPct val="184400"/>
              </a:lnSpc>
            </a:pP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Il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est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nécessaire</a:t>
            </a:r>
            <a:r>
              <a:rPr lang="fr-FR" sz="2800" spc="4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d'évaluer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50" dirty="0">
                <a:latin typeface="Calibri"/>
                <a:cs typeface="Calibri"/>
              </a:rPr>
              <a:t>:</a:t>
            </a:r>
            <a:endParaRPr lang="fr-FR" sz="2800" dirty="0">
              <a:latin typeface="Calibri"/>
              <a:cs typeface="Calibri"/>
            </a:endParaRPr>
          </a:p>
          <a:p>
            <a:pPr marL="440055">
              <a:spcBef>
                <a:spcPts val="250"/>
              </a:spcBef>
              <a:tabLst>
                <a:tab pos="675005" algn="l"/>
              </a:tabLst>
            </a:pPr>
            <a:r>
              <a:rPr lang="fr-FR" sz="2800" spc="-50" dirty="0">
                <a:latin typeface="Calibri"/>
                <a:cs typeface="Calibri"/>
              </a:rPr>
              <a:t>«</a:t>
            </a:r>
            <a:r>
              <a:rPr lang="fr-FR" sz="2800" dirty="0">
                <a:latin typeface="Calibri"/>
                <a:cs typeface="Calibri"/>
              </a:rPr>
              <a:t>	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position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35" dirty="0" err="1">
                <a:latin typeface="Calibri"/>
                <a:cs typeface="Calibri"/>
              </a:rPr>
              <a:t>Iangue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au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repos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et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55" dirty="0">
                <a:latin typeface="Calibri"/>
                <a:cs typeface="Calibri"/>
              </a:rPr>
              <a:t>en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fonction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(durant</a:t>
            </a:r>
            <a:r>
              <a:rPr lang="fr-FR" sz="2800" spc="3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la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déglutition).</a:t>
            </a:r>
            <a:endParaRPr lang="fr-FR" sz="2800" dirty="0">
              <a:latin typeface="Calibri"/>
              <a:cs typeface="Calibri"/>
            </a:endParaRPr>
          </a:p>
          <a:p>
            <a:pPr marL="673100" marR="231775" indent="-233679">
              <a:lnSpc>
                <a:spcPct val="111300"/>
              </a:lnSpc>
              <a:spcBef>
                <a:spcPts val="50"/>
              </a:spcBef>
              <a:tabLst>
                <a:tab pos="675005" algn="l"/>
              </a:tabLst>
            </a:pPr>
            <a:r>
              <a:rPr lang="fr-FR" sz="2800" spc="-50" dirty="0">
                <a:latin typeface="Calibri"/>
                <a:cs typeface="Calibri"/>
              </a:rPr>
              <a:t>«</a:t>
            </a:r>
            <a:r>
              <a:rPr lang="fr-FR" sz="2800" dirty="0">
                <a:latin typeface="Calibri"/>
                <a:cs typeface="Calibri"/>
              </a:rPr>
              <a:t>		</a:t>
            </a:r>
            <a:r>
              <a:rPr lang="fr-FR" sz="2800" spc="-20" dirty="0">
                <a:latin typeface="Calibri"/>
                <a:cs typeface="Calibri"/>
              </a:rPr>
              <a:t>le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volume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et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masse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 </a:t>
            </a:r>
            <a:r>
              <a:rPr lang="fr-FR" sz="2800" spc="-20" dirty="0">
                <a:solidFill>
                  <a:srgbClr val="0F0F0F"/>
                </a:solidFill>
                <a:latin typeface="Calibri"/>
                <a:cs typeface="Calibri"/>
              </a:rPr>
              <a:t>la</a:t>
            </a:r>
            <a:r>
              <a:rPr lang="fr-FR" sz="2800" spc="-4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fr-FR" sz="2800" spc="-25" dirty="0" err="1">
                <a:latin typeface="Calibri"/>
                <a:cs typeface="Calibri"/>
              </a:rPr>
              <a:t>Iangue</a:t>
            </a:r>
            <a:r>
              <a:rPr lang="fr-FR" sz="2800" spc="1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(normal,</a:t>
            </a:r>
            <a:r>
              <a:rPr lang="fr-FR" sz="2800" spc="2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micro </a:t>
            </a:r>
            <a:r>
              <a:rPr lang="fr-FR" sz="2800" spc="-35" dirty="0">
                <a:latin typeface="Calibri"/>
                <a:cs typeface="Calibri"/>
              </a:rPr>
              <a:t>ou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Macroglossie)</a:t>
            </a:r>
            <a:r>
              <a:rPr lang="fr-FR" sz="2800" spc="80" dirty="0">
                <a:latin typeface="Calibri"/>
                <a:cs typeface="Calibri"/>
              </a:rPr>
              <a:t> </a:t>
            </a:r>
            <a:r>
              <a:rPr lang="fr-FR" sz="2800" spc="-55" dirty="0">
                <a:latin typeface="Calibri"/>
                <a:cs typeface="Calibri"/>
              </a:rPr>
              <a:t>et</a:t>
            </a:r>
            <a:r>
              <a:rPr lang="fr-FR" sz="2800" spc="-2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présence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ou</a:t>
            </a:r>
            <a:r>
              <a:rPr lang="fr-FR" sz="2800" spc="-4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non </a:t>
            </a:r>
            <a:r>
              <a:rPr lang="fr-FR" sz="2800" spc="-35" dirty="0">
                <a:latin typeface="Calibri"/>
                <a:cs typeface="Calibri"/>
              </a:rPr>
              <a:t>d'empreinte</a:t>
            </a:r>
            <a:r>
              <a:rPr lang="fr-FR" sz="2800" spc="9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des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dents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sur</a:t>
            </a:r>
            <a:r>
              <a:rPr lang="fr-FR" sz="2800" spc="-4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35" dirty="0" err="1">
                <a:latin typeface="Calibri"/>
                <a:cs typeface="Calibri"/>
              </a:rPr>
              <a:t>Iangue</a:t>
            </a:r>
            <a:r>
              <a:rPr lang="fr-FR" sz="2800" spc="-35" dirty="0">
                <a:latin typeface="Calibri"/>
                <a:cs typeface="Calibri"/>
              </a:rPr>
              <a:t>,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qui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signifie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une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interposition</a:t>
            </a:r>
            <a:r>
              <a:rPr lang="fr-FR" sz="2800" spc="65" dirty="0">
                <a:latin typeface="Calibri"/>
                <a:cs typeface="Calibri"/>
              </a:rPr>
              <a:t> </a:t>
            </a:r>
            <a:r>
              <a:rPr lang="fr-FR" sz="2800" spc="-40" dirty="0">
                <a:latin typeface="Calibri"/>
                <a:cs typeface="Calibri"/>
              </a:rPr>
              <a:t>entre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les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arcades.</a:t>
            </a:r>
            <a:endParaRPr lang="fr-FR" sz="2800" dirty="0">
              <a:latin typeface="Calibri"/>
              <a:cs typeface="Calibri"/>
            </a:endParaRPr>
          </a:p>
          <a:p>
            <a:pPr marL="673735" marR="471805" indent="-234315">
              <a:lnSpc>
                <a:spcPct val="114799"/>
              </a:lnSpc>
              <a:tabLst>
                <a:tab pos="675005" algn="l"/>
              </a:tabLst>
            </a:pPr>
            <a:r>
              <a:rPr lang="fr-FR" sz="2800" spc="-50" dirty="0">
                <a:latin typeface="Calibri"/>
                <a:cs typeface="Calibri"/>
              </a:rPr>
              <a:t>«</a:t>
            </a:r>
            <a:r>
              <a:rPr lang="fr-FR" sz="2800" dirty="0">
                <a:latin typeface="Calibri"/>
                <a:cs typeface="Calibri"/>
              </a:rPr>
              <a:t>		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longueur </a:t>
            </a:r>
            <a:r>
              <a:rPr lang="fr-FR" sz="2800" dirty="0">
                <a:latin typeface="Calibri"/>
                <a:cs typeface="Calibri"/>
              </a:rPr>
              <a:t>du </a:t>
            </a:r>
            <a:r>
              <a:rPr lang="fr-FR" sz="2800" spc="-25" dirty="0">
                <a:latin typeface="Calibri"/>
                <a:cs typeface="Calibri"/>
              </a:rPr>
              <a:t>frein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lingual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(normal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ou</a:t>
            </a:r>
            <a:r>
              <a:rPr lang="fr-FR" sz="2800" spc="-30" dirty="0">
                <a:latin typeface="Calibri"/>
                <a:cs typeface="Calibri"/>
              </a:rPr>
              <a:t> court),</a:t>
            </a:r>
            <a:r>
              <a:rPr lang="fr-FR" sz="2800" spc="-10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pour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son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30" dirty="0">
                <a:latin typeface="Calibri"/>
                <a:cs typeface="Calibri"/>
              </a:rPr>
              <a:t>influence</a:t>
            </a:r>
            <a:r>
              <a:rPr lang="fr-FR" sz="2800" spc="2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sur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mobilité</a:t>
            </a:r>
            <a:r>
              <a:rPr lang="fr-FR" sz="2800" spc="15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la </a:t>
            </a:r>
            <a:r>
              <a:rPr lang="fr-FR" sz="2800" spc="-35" dirty="0" err="1">
                <a:latin typeface="Calibri"/>
                <a:cs typeface="Calibri"/>
              </a:rPr>
              <a:t>Iangue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80" dirty="0">
                <a:latin typeface="Calibri"/>
                <a:cs typeface="Calibri"/>
              </a:rPr>
              <a:t>: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un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frein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spc="-25" dirty="0">
                <a:latin typeface="Calibri"/>
                <a:cs typeface="Calibri"/>
              </a:rPr>
              <a:t>court</a:t>
            </a:r>
            <a:r>
              <a:rPr lang="fr-FR" sz="2800" spc="-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empêche</a:t>
            </a:r>
            <a:r>
              <a:rPr lang="fr-FR" sz="2800" spc="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la</a:t>
            </a:r>
            <a:r>
              <a:rPr lang="fr-FR" sz="2800" spc="-15" dirty="0">
                <a:latin typeface="Calibri"/>
                <a:cs typeface="Calibri"/>
              </a:rPr>
              <a:t> </a:t>
            </a:r>
            <a:r>
              <a:rPr lang="fr-FR" sz="2800" spc="-35" dirty="0">
                <a:latin typeface="Calibri"/>
                <a:cs typeface="Calibri"/>
              </a:rPr>
              <a:t>protraction</a:t>
            </a:r>
            <a:r>
              <a:rPr lang="fr-FR" sz="2800" spc="2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de</a:t>
            </a:r>
            <a:r>
              <a:rPr lang="fr-FR" sz="2800" spc="-3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35" dirty="0">
                <a:latin typeface="Calibri"/>
                <a:cs typeface="Calibri"/>
              </a:rPr>
              <a:t> </a:t>
            </a:r>
            <a:r>
              <a:rPr lang="fr-FR" sz="2800" spc="-10" dirty="0" err="1">
                <a:latin typeface="Calibri"/>
                <a:cs typeface="Calibri"/>
              </a:rPr>
              <a:t>Iangue</a:t>
            </a:r>
            <a:r>
              <a:rPr lang="fr-FR" sz="2800" spc="-10" dirty="0">
                <a:latin typeface="Calibri"/>
                <a:cs typeface="Calibri"/>
              </a:rPr>
              <a:t>.</a:t>
            </a:r>
            <a:endParaRPr lang="fr-FR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883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869" y="422600"/>
            <a:ext cx="13182600" cy="821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100"/>
              </a:spcBef>
            </a:pPr>
            <a:endParaRPr sz="2800" dirty="0">
              <a:latin typeface="Calibri"/>
              <a:cs typeface="Calibri"/>
            </a:endParaRPr>
          </a:p>
          <a:p>
            <a:pPr>
              <a:spcBef>
                <a:spcPts val="285"/>
              </a:spcBef>
            </a:pPr>
            <a:endParaRPr sz="2800" dirty="0">
              <a:latin typeface="Calibri"/>
              <a:cs typeface="Calibri"/>
            </a:endParaRPr>
          </a:p>
          <a:p>
            <a:pPr marL="473075"/>
            <a:r>
              <a:rPr sz="2800" b="1" spc="-10" dirty="0">
                <a:latin typeface="Calibri"/>
                <a:cs typeface="Calibri"/>
              </a:rPr>
              <a:t>PARAFONCTIONS</a:t>
            </a:r>
            <a:endParaRPr sz="2800" b="1" dirty="0">
              <a:latin typeface="Calibri"/>
              <a:cs typeface="Calibri"/>
            </a:endParaRPr>
          </a:p>
          <a:p>
            <a:pPr marL="217804" marR="532765" indent="-2540">
              <a:lnSpc>
                <a:spcPct val="111300"/>
              </a:lnSpc>
              <a:spcBef>
                <a:spcPts val="1010"/>
              </a:spcBef>
            </a:pPr>
            <a:r>
              <a:rPr sz="2800" spc="-3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doit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rechercher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pendent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l'examen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clinique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certaines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mauvaises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habitudes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tics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chez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les </a:t>
            </a:r>
            <a:r>
              <a:rPr sz="2800" spc="-30" dirty="0">
                <a:latin typeface="Calibri"/>
                <a:cs typeface="Calibri"/>
              </a:rPr>
              <a:t>patients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40055">
              <a:spcBef>
                <a:spcPts val="1215"/>
              </a:spcBef>
              <a:tabLst>
                <a:tab pos="673735" algn="l"/>
              </a:tabLst>
            </a:pPr>
            <a:r>
              <a:rPr sz="2800" spc="-50" dirty="0">
                <a:latin typeface="Calibri"/>
                <a:cs typeface="Calibri"/>
              </a:rPr>
              <a:t>«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La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succion de </a:t>
            </a:r>
            <a:r>
              <a:rPr sz="2800" spc="-10" dirty="0">
                <a:latin typeface="Calibri"/>
                <a:cs typeface="Calibri"/>
              </a:rPr>
              <a:t>pouce</a:t>
            </a:r>
            <a:endParaRPr sz="2800" dirty="0">
              <a:latin typeface="Calibri"/>
              <a:cs typeface="Calibri"/>
            </a:endParaRPr>
          </a:p>
          <a:p>
            <a:pPr marL="440055">
              <a:spcBef>
                <a:spcPts val="200"/>
              </a:spcBef>
              <a:tabLst>
                <a:tab pos="675005" algn="l"/>
              </a:tabLst>
            </a:pPr>
            <a:r>
              <a:rPr sz="2800" spc="-50" dirty="0">
                <a:latin typeface="Calibri"/>
                <a:cs typeface="Calibri"/>
              </a:rPr>
              <a:t>«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0" dirty="0">
                <a:latin typeface="Calibri"/>
                <a:cs typeface="Calibri"/>
              </a:rPr>
              <a:t>Succion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lèvre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inferieure</a:t>
            </a:r>
            <a:endParaRPr sz="2800" dirty="0">
              <a:latin typeface="Calibri"/>
              <a:cs typeface="Calibri"/>
            </a:endParaRPr>
          </a:p>
          <a:p>
            <a:pPr marL="440055">
              <a:spcBef>
                <a:spcPts val="254"/>
              </a:spcBef>
              <a:tabLst>
                <a:tab pos="673735" algn="l"/>
              </a:tabLst>
            </a:pPr>
            <a:r>
              <a:rPr sz="2800" spc="-50" dirty="0">
                <a:latin typeface="Calibri"/>
                <a:cs typeface="Calibri"/>
              </a:rPr>
              <a:t>«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0" dirty="0">
                <a:latin typeface="Calibri"/>
                <a:cs typeface="Calibri"/>
              </a:rPr>
              <a:t>Mordillement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d'objets....etc.</a:t>
            </a:r>
            <a:endParaRPr sz="2800" dirty="0">
              <a:latin typeface="Calibri"/>
              <a:cs typeface="Calibri"/>
            </a:endParaRPr>
          </a:p>
          <a:p>
            <a:pPr marL="215900">
              <a:spcBef>
                <a:spcPts val="1165"/>
              </a:spcBef>
            </a:pPr>
            <a:r>
              <a:rPr lang="fr-FR" sz="2800" b="1" spc="-45" dirty="0">
                <a:latin typeface="Calibri"/>
                <a:cs typeface="Calibri"/>
              </a:rPr>
              <a:t>2.</a:t>
            </a:r>
            <a:r>
              <a:rPr sz="2800" b="1" spc="-35" dirty="0">
                <a:latin typeface="Calibri"/>
                <a:cs typeface="Calibri"/>
              </a:rPr>
              <a:t>EXAMENS</a:t>
            </a:r>
            <a:r>
              <a:rPr sz="2800" b="1" spc="100" dirty="0">
                <a:latin typeface="Calibri"/>
                <a:cs typeface="Calibri"/>
              </a:rPr>
              <a:t> </a:t>
            </a:r>
            <a:r>
              <a:rPr sz="2800" b="1" spc="-45" dirty="0">
                <a:latin typeface="Calibri"/>
                <a:cs typeface="Calibri"/>
              </a:rPr>
              <a:t>COMPLEMENTAIRES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:</a:t>
            </a:r>
            <a:endParaRPr sz="2800" b="1" dirty="0">
              <a:latin typeface="Calibri"/>
              <a:cs typeface="Calibri"/>
            </a:endParaRPr>
          </a:p>
          <a:p>
            <a:pPr marL="474345">
              <a:spcBef>
                <a:spcPts val="1165"/>
              </a:spcBef>
            </a:pPr>
            <a:r>
              <a:rPr sz="2800" b="1" spc="-35" dirty="0">
                <a:latin typeface="Calibri"/>
                <a:cs typeface="Calibri"/>
              </a:rPr>
              <a:t>photos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:</a:t>
            </a:r>
            <a:endParaRPr sz="2800" b="1" dirty="0">
              <a:latin typeface="Calibri"/>
              <a:cs typeface="Calibri"/>
            </a:endParaRPr>
          </a:p>
          <a:p>
            <a:pPr marL="213360" marR="259079" indent="1270">
              <a:lnSpc>
                <a:spcPct val="111300"/>
              </a:lnSpc>
              <a:spcBef>
                <a:spcPts val="1005"/>
              </a:spcBef>
            </a:pPr>
            <a:r>
              <a:rPr sz="2800" spc="-20" dirty="0">
                <a:latin typeface="Calibri"/>
                <a:cs typeface="Calibri"/>
              </a:rPr>
              <a:t>•Sur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portrait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face,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observe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plus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particulièrement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trois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étages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face,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l'observation </a:t>
            </a:r>
            <a:r>
              <a:rPr sz="2800" spc="-3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sur</a:t>
            </a:r>
            <a:r>
              <a:rPr sz="2800" dirty="0">
                <a:latin typeface="Calibri"/>
                <a:cs typeface="Calibri"/>
              </a:rPr>
              <a:t> 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typologie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générale,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symétrie,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hauteur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étages</a:t>
            </a:r>
            <a:r>
              <a:rPr sz="2800" spc="-20" dirty="0">
                <a:latin typeface="Calibri"/>
                <a:cs typeface="Calibri"/>
              </a:rPr>
              <a:t> et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Ieurs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proportions </a:t>
            </a:r>
            <a:r>
              <a:rPr sz="2800" spc="-35" dirty="0">
                <a:latin typeface="Calibri"/>
                <a:cs typeface="Calibri"/>
              </a:rPr>
              <a:t>(augmentation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ou </a:t>
            </a:r>
            <a:r>
              <a:rPr sz="2800" spc="-30" dirty="0">
                <a:latin typeface="Calibri"/>
                <a:cs typeface="Calibri"/>
              </a:rPr>
              <a:t>diminution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 </a:t>
            </a:r>
            <a:r>
              <a:rPr sz="2800" spc="-25" dirty="0">
                <a:latin typeface="Calibri"/>
                <a:cs typeface="Calibri"/>
              </a:rPr>
              <a:t>l'étage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inférieur),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présence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d'un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sillon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labio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mentonnier </a:t>
            </a:r>
            <a:r>
              <a:rPr sz="2800" spc="-35" dirty="0">
                <a:latin typeface="Calibri"/>
                <a:cs typeface="Calibri"/>
              </a:rPr>
              <a:t>marqué, </a:t>
            </a:r>
            <a:r>
              <a:rPr sz="2800" spc="-30" dirty="0">
                <a:latin typeface="Calibri"/>
                <a:cs typeface="Calibri"/>
              </a:rPr>
              <a:t>normal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ou </a:t>
            </a:r>
            <a:r>
              <a:rPr sz="2800" spc="-25" dirty="0">
                <a:latin typeface="Calibri"/>
                <a:cs typeface="Calibri"/>
              </a:rPr>
              <a:t>effacé </a:t>
            </a:r>
            <a:r>
              <a:rPr sz="2800" spc="-10" dirty="0">
                <a:latin typeface="Calibri"/>
                <a:cs typeface="Calibri"/>
              </a:rPr>
              <a:t>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volume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menton)</a:t>
            </a:r>
            <a:endParaRPr sz="2800" dirty="0">
              <a:latin typeface="Calibri"/>
              <a:cs typeface="Calibri"/>
            </a:endParaRPr>
          </a:p>
          <a:p>
            <a:pPr marL="217804" marR="269875" indent="-3175">
              <a:lnSpc>
                <a:spcPct val="111300"/>
              </a:lnSpc>
              <a:spcBef>
                <a:spcPts val="1010"/>
              </a:spcBef>
            </a:pPr>
            <a:r>
              <a:rPr sz="2800" spc="-20" dirty="0">
                <a:latin typeface="Calibri"/>
                <a:cs typeface="Calibri"/>
              </a:rPr>
              <a:t>•Sur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portrait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profil,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observe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les</a:t>
            </a:r>
            <a:r>
              <a:rPr sz="2800" spc="-35" dirty="0">
                <a:latin typeface="Calibri"/>
                <a:cs typeface="Calibri"/>
              </a:rPr>
              <a:t> contours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 </a:t>
            </a:r>
            <a:r>
              <a:rPr sz="2800" spc="-25" dirty="0">
                <a:latin typeface="Calibri"/>
                <a:cs typeface="Calibri"/>
              </a:rPr>
              <a:t>profil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l'esthétique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globale,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convexité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et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position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menton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profil.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505CC6C-F0E3-6EB3-3380-F7CFF87E4B47}"/>
              </a:ext>
            </a:extLst>
          </p:cNvPr>
          <p:cNvSpPr txBox="1"/>
          <p:nvPr/>
        </p:nvSpPr>
        <p:spPr>
          <a:xfrm>
            <a:off x="270668" y="-48848"/>
            <a:ext cx="13986669" cy="97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941445" algn="ctr"/>
            <a:r>
              <a:rPr lang="fr-FR" sz="2400" b="1" u="sng" spc="-40" dirty="0">
                <a:latin typeface="Calibri"/>
                <a:cs typeface="Calibri"/>
              </a:rPr>
              <a:t>EXAMEN</a:t>
            </a:r>
            <a:r>
              <a:rPr lang="fr-FR" sz="2400" b="1" u="sng" dirty="0">
                <a:latin typeface="Calibri"/>
                <a:cs typeface="Calibri"/>
              </a:rPr>
              <a:t> </a:t>
            </a:r>
            <a:r>
              <a:rPr lang="fr-FR" sz="2400" b="1" u="sng" spc="-45" dirty="0">
                <a:latin typeface="Calibri"/>
                <a:cs typeface="Calibri"/>
              </a:rPr>
              <a:t>RADIOLOGIQUE</a:t>
            </a:r>
            <a:r>
              <a:rPr lang="fr-FR" sz="2400" b="1" u="sng" spc="35" dirty="0">
                <a:latin typeface="Calibri"/>
                <a:cs typeface="Calibri"/>
              </a:rPr>
              <a:t> </a:t>
            </a:r>
            <a:endParaRPr lang="fr-FR" sz="2400" b="1" u="sng" dirty="0">
              <a:latin typeface="Calibri"/>
              <a:cs typeface="Calibri"/>
            </a:endParaRPr>
          </a:p>
          <a:p>
            <a:pPr marL="139700" marR="226695">
              <a:lnSpc>
                <a:spcPct val="113100"/>
              </a:lnSpc>
              <a:spcBef>
                <a:spcPts val="985"/>
              </a:spcBef>
            </a:pPr>
            <a:r>
              <a:rPr lang="fr-FR" sz="2400" spc="-25" dirty="0">
                <a:latin typeface="Calibri"/>
                <a:cs typeface="Calibri"/>
              </a:rPr>
              <a:t>Grâce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aux </a:t>
            </a:r>
            <a:r>
              <a:rPr lang="fr-FR" sz="2400" spc="-35" dirty="0">
                <a:latin typeface="Calibri"/>
                <a:cs typeface="Calibri"/>
              </a:rPr>
              <a:t>tracés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céphalométriques,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les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mesures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linéaires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et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angulaires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aident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le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praticien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poser</a:t>
            </a:r>
            <a:r>
              <a:rPr lang="fr-FR" sz="2400" spc="-25" dirty="0">
                <a:latin typeface="Calibri"/>
                <a:cs typeface="Calibri"/>
              </a:rPr>
              <a:t> ou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confirmer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son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diagnostic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(seules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les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analyses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permettant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diagnostic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sens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vertical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seront illustrées)</a:t>
            </a:r>
          </a:p>
          <a:p>
            <a:pPr marL="139700" marR="226695">
              <a:lnSpc>
                <a:spcPct val="113100"/>
              </a:lnSpc>
              <a:spcBef>
                <a:spcPts val="985"/>
              </a:spcBef>
            </a:pPr>
            <a:r>
              <a:rPr lang="fr-FR" sz="2400" b="1" dirty="0">
                <a:latin typeface="Calibri"/>
                <a:cs typeface="Calibri"/>
              </a:rPr>
              <a:t>	</a:t>
            </a:r>
            <a:r>
              <a:rPr lang="fr-FR" sz="2400" b="1" spc="-30" dirty="0">
                <a:latin typeface="Calibri"/>
                <a:cs typeface="Calibri"/>
              </a:rPr>
              <a:t>Analyse</a:t>
            </a:r>
            <a:r>
              <a:rPr lang="fr-FR" sz="2400" b="1" dirty="0">
                <a:latin typeface="Calibri"/>
                <a:cs typeface="Calibri"/>
              </a:rPr>
              <a:t> </a:t>
            </a:r>
            <a:r>
              <a:rPr lang="fr-FR" sz="2400" b="1" spc="-30" dirty="0">
                <a:latin typeface="Calibri"/>
                <a:cs typeface="Calibri"/>
              </a:rPr>
              <a:t>de </a:t>
            </a:r>
            <a:r>
              <a:rPr lang="fr-FR" sz="2400" b="1" spc="-40" dirty="0">
                <a:latin typeface="Calibri"/>
                <a:cs typeface="Calibri"/>
              </a:rPr>
              <a:t>DOWNS</a:t>
            </a:r>
            <a:r>
              <a:rPr lang="fr-FR" sz="2400" b="1" spc="25" dirty="0">
                <a:latin typeface="Calibri"/>
                <a:cs typeface="Calibri"/>
              </a:rPr>
              <a:t> </a:t>
            </a:r>
            <a:r>
              <a:rPr lang="fr-FR" sz="2400" b="1" dirty="0">
                <a:latin typeface="Calibri"/>
                <a:cs typeface="Calibri"/>
              </a:rPr>
              <a:t>:</a:t>
            </a:r>
            <a:r>
              <a:rPr lang="fr-FR" sz="2400" b="1" spc="-20" dirty="0">
                <a:latin typeface="Calibri"/>
                <a:cs typeface="Calibri"/>
              </a:rPr>
              <a:t> </a:t>
            </a:r>
            <a:r>
              <a:rPr lang="fr-FR" sz="2400" b="1" spc="-50" dirty="0">
                <a:latin typeface="Calibri"/>
                <a:cs typeface="Calibri"/>
              </a:rPr>
              <a:t>Axe-Y</a:t>
            </a:r>
            <a:endParaRPr lang="fr-FR" sz="2400" b="1" dirty="0">
              <a:latin typeface="Calibri"/>
              <a:cs typeface="Calibri"/>
            </a:endParaRPr>
          </a:p>
          <a:p>
            <a:pPr marL="139700" marR="326390" indent="-635">
              <a:lnSpc>
                <a:spcPct val="111300"/>
              </a:lnSpc>
              <a:spcBef>
                <a:spcPts val="1010"/>
              </a:spcBef>
            </a:pPr>
            <a:r>
              <a:rPr lang="fr-FR" sz="2400" spc="-20" dirty="0">
                <a:latin typeface="Calibri"/>
                <a:cs typeface="Calibri"/>
              </a:rPr>
              <a:t>C'est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l'angle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40" dirty="0" err="1">
                <a:latin typeface="Calibri"/>
                <a:cs typeface="Calibri"/>
              </a:rPr>
              <a:t>antéro-inférieur</a:t>
            </a:r>
            <a:r>
              <a:rPr lang="fr-FR" sz="2400" spc="-40" dirty="0">
                <a:latin typeface="Calibri"/>
                <a:cs typeface="Calibri"/>
              </a:rPr>
              <a:t> formé par le plan de FRANCKFORT et CC-GN</a:t>
            </a:r>
            <a:r>
              <a:rPr lang="fr-FR" sz="2400" dirty="0">
                <a:latin typeface="Calibri"/>
                <a:cs typeface="Calibri"/>
              </a:rPr>
              <a:t>, 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sa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valeur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45" dirty="0">
                <a:latin typeface="Calibri"/>
                <a:cs typeface="Calibri"/>
              </a:rPr>
              <a:t>moyenne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est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45" dirty="0">
                <a:latin typeface="Calibri"/>
                <a:cs typeface="Calibri"/>
              </a:rPr>
              <a:t>de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20" dirty="0">
                <a:latin typeface="Calibri"/>
                <a:cs typeface="Calibri"/>
              </a:rPr>
              <a:t>59° , </a:t>
            </a:r>
            <a:r>
              <a:rPr lang="fr-FR" sz="2400" spc="-35" dirty="0">
                <a:latin typeface="Calibri"/>
                <a:cs typeface="Calibri"/>
              </a:rPr>
              <a:t>nous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permet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de</a:t>
            </a:r>
            <a:r>
              <a:rPr lang="fr-FR" sz="2400" spc="-30" dirty="0">
                <a:latin typeface="Calibri"/>
                <a:cs typeface="Calibri"/>
              </a:rPr>
              <a:t> diagnostiquer</a:t>
            </a:r>
            <a:r>
              <a:rPr lang="fr-FR" sz="2400" spc="8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la </a:t>
            </a:r>
            <a:r>
              <a:rPr lang="fr-FR" sz="2400" spc="-10" dirty="0">
                <a:latin typeface="Calibri"/>
                <a:cs typeface="Calibri"/>
              </a:rPr>
              <a:t>direction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croissance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faciale</a:t>
            </a:r>
            <a:endParaRPr lang="fr-FR" sz="2400" dirty="0">
              <a:latin typeface="Calibri"/>
              <a:cs typeface="Calibri"/>
            </a:endParaRPr>
          </a:p>
          <a:p>
            <a:pPr marL="598170" indent="-225425">
              <a:spcBef>
                <a:spcPts val="1165"/>
              </a:spcBef>
              <a:buClr>
                <a:srgbClr val="212121"/>
              </a:buClr>
              <a:buChar char="-"/>
              <a:tabLst>
                <a:tab pos="598170" algn="l"/>
              </a:tabLst>
            </a:pPr>
            <a:r>
              <a:rPr lang="fr-FR" sz="2400" spc="-30" dirty="0">
                <a:latin typeface="Calibri"/>
                <a:cs typeface="Calibri"/>
              </a:rPr>
              <a:t>Supérieure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35" dirty="0">
                <a:latin typeface="Calibri"/>
                <a:cs typeface="Calibri"/>
              </a:rPr>
              <a:t> 62° 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tendance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verticale</a:t>
            </a:r>
            <a:endParaRPr lang="fr-FR" sz="2400" dirty="0">
              <a:latin typeface="Calibri"/>
              <a:cs typeface="Calibri"/>
            </a:endParaRPr>
          </a:p>
          <a:p>
            <a:pPr marL="597535" indent="-224790">
              <a:spcBef>
                <a:spcPts val="155"/>
              </a:spcBef>
              <a:buClr>
                <a:srgbClr val="212121"/>
              </a:buClr>
              <a:buChar char="-"/>
              <a:tabLst>
                <a:tab pos="597535" algn="l"/>
              </a:tabLst>
            </a:pPr>
            <a:r>
              <a:rPr lang="fr-FR" sz="2400" spc="-25" dirty="0">
                <a:latin typeface="Calibri"/>
                <a:cs typeface="Calibri"/>
              </a:rPr>
              <a:t>Inferieure</a:t>
            </a:r>
            <a:r>
              <a:rPr lang="fr-FR" sz="2400" dirty="0">
                <a:latin typeface="Calibri"/>
                <a:cs typeface="Calibri"/>
              </a:rPr>
              <a:t> a</a:t>
            </a:r>
            <a:r>
              <a:rPr lang="fr-FR" sz="2400" spc="-35" dirty="0">
                <a:latin typeface="Calibri"/>
                <a:cs typeface="Calibri"/>
              </a:rPr>
              <a:t> 56°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70" dirty="0">
                <a:latin typeface="Calibri"/>
                <a:cs typeface="Calibri"/>
              </a:rPr>
              <a:t>   à tendance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horizontale</a:t>
            </a:r>
            <a:endParaRPr lang="fr-FR" sz="2400" dirty="0">
              <a:latin typeface="Calibri"/>
              <a:cs typeface="Calibri"/>
            </a:endParaRPr>
          </a:p>
          <a:p>
            <a:pPr>
              <a:spcBef>
                <a:spcPts val="335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65760">
              <a:tabLst>
                <a:tab pos="600710" algn="l"/>
              </a:tabLst>
            </a:pPr>
            <a:r>
              <a:rPr lang="fr-FR" sz="2400" b="1" spc="-30" dirty="0">
                <a:latin typeface="Calibri"/>
                <a:cs typeface="Calibri"/>
              </a:rPr>
              <a:t>Analyse</a:t>
            </a:r>
            <a:r>
              <a:rPr lang="fr-FR" sz="2400" b="1" spc="5" dirty="0">
                <a:latin typeface="Calibri"/>
                <a:cs typeface="Calibri"/>
              </a:rPr>
              <a:t> </a:t>
            </a:r>
            <a:r>
              <a:rPr lang="fr-FR" sz="2400" b="1" spc="-45" dirty="0">
                <a:latin typeface="Calibri"/>
                <a:cs typeface="Calibri"/>
              </a:rPr>
              <a:t>de</a:t>
            </a:r>
            <a:r>
              <a:rPr lang="fr-FR" sz="2400" b="1" spc="-20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TWEED:</a:t>
            </a:r>
            <a:endParaRPr lang="fr-FR" sz="2400" b="1" dirty="0">
              <a:latin typeface="Calibri"/>
              <a:cs typeface="Calibri"/>
            </a:endParaRPr>
          </a:p>
          <a:p>
            <a:pPr marL="140335">
              <a:spcBef>
                <a:spcPts val="1165"/>
              </a:spcBef>
            </a:pPr>
            <a:r>
              <a:rPr lang="fr-FR" sz="2400" spc="-20" dirty="0">
                <a:latin typeface="Calibri"/>
                <a:cs typeface="Calibri"/>
              </a:rPr>
              <a:t>L'Angle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40" dirty="0" err="1">
                <a:latin typeface="Calibri"/>
                <a:cs typeface="Calibri"/>
              </a:rPr>
              <a:t>FMA:valeur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moyenne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27+4°.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Qui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nous</a:t>
            </a:r>
          </a:p>
          <a:p>
            <a:pPr marL="140335">
              <a:spcBef>
                <a:spcPts val="1165"/>
              </a:spcBef>
            </a:pP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permet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de</a:t>
            </a:r>
            <a:r>
              <a:rPr lang="fr-FR" sz="2400" spc="-30" dirty="0">
                <a:latin typeface="Calibri"/>
                <a:cs typeface="Calibri"/>
              </a:rPr>
              <a:t> Connaître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la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direction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 </a:t>
            </a:r>
            <a:r>
              <a:rPr lang="fr-FR" sz="2400" spc="-10" dirty="0">
                <a:latin typeface="Calibri"/>
                <a:cs typeface="Calibri"/>
              </a:rPr>
              <a:t>croissance</a:t>
            </a:r>
          </a:p>
          <a:p>
            <a:pPr marL="140335">
              <a:spcBef>
                <a:spcPts val="1165"/>
              </a:spcBef>
            </a:pP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mandibulaire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spc="-50" dirty="0">
                <a:latin typeface="Calibri"/>
                <a:cs typeface="Calibri"/>
              </a:rPr>
              <a:t>:</a:t>
            </a:r>
            <a:endParaRPr lang="fr-FR" sz="2400" dirty="0">
              <a:latin typeface="Calibri"/>
              <a:cs typeface="Calibri"/>
            </a:endParaRPr>
          </a:p>
          <a:p>
            <a:pPr marL="598805">
              <a:spcBef>
                <a:spcPts val="1175"/>
              </a:spcBef>
            </a:pPr>
            <a:r>
              <a:rPr lang="fr-FR" sz="2400" spc="-35" dirty="0">
                <a:latin typeface="Calibri"/>
                <a:cs typeface="Calibri"/>
              </a:rPr>
              <a:t>-</a:t>
            </a:r>
            <a:r>
              <a:rPr lang="fr-FR" sz="2400" spc="-30" dirty="0">
                <a:latin typeface="Calibri"/>
                <a:cs typeface="Calibri"/>
              </a:rPr>
              <a:t>supérieure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55" dirty="0">
                <a:latin typeface="Calibri"/>
                <a:cs typeface="Calibri"/>
              </a:rPr>
              <a:t>31º,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tendance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verticale.</a:t>
            </a:r>
            <a:endParaRPr lang="fr-FR" sz="2400" dirty="0">
              <a:latin typeface="Calibri"/>
              <a:cs typeface="Calibri"/>
            </a:endParaRPr>
          </a:p>
          <a:p>
            <a:pPr marL="598805">
              <a:spcBef>
                <a:spcPts val="155"/>
              </a:spcBef>
            </a:pPr>
            <a:r>
              <a:rPr lang="fr-FR" sz="2400" spc="-35" dirty="0">
                <a:latin typeface="Calibri"/>
                <a:cs typeface="Calibri"/>
              </a:rPr>
              <a:t>-</a:t>
            </a:r>
            <a:r>
              <a:rPr lang="fr-FR" sz="2400" spc="-30" dirty="0">
                <a:latin typeface="Calibri"/>
                <a:cs typeface="Calibri"/>
              </a:rPr>
              <a:t>inferieure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23°,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tendance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horizontale.</a:t>
            </a:r>
            <a:endParaRPr lang="fr-FR" sz="2400" dirty="0">
              <a:latin typeface="Calibri"/>
              <a:cs typeface="Calibri"/>
            </a:endParaRPr>
          </a:p>
          <a:p>
            <a:pPr>
              <a:spcBef>
                <a:spcPts val="335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65760">
              <a:tabLst>
                <a:tab pos="600710" algn="l"/>
              </a:tabLst>
            </a:pPr>
            <a:r>
              <a:rPr lang="fr-FR" sz="2400" b="1" dirty="0">
                <a:latin typeface="Calibri"/>
                <a:cs typeface="Calibri"/>
              </a:rPr>
              <a:t>	</a:t>
            </a:r>
            <a:r>
              <a:rPr lang="fr-FR" sz="2400" b="1" spc="-30" dirty="0">
                <a:latin typeface="Calibri"/>
                <a:cs typeface="Calibri"/>
              </a:rPr>
              <a:t>Analyse</a:t>
            </a:r>
            <a:r>
              <a:rPr lang="fr-FR" sz="2400" b="1" spc="-20" dirty="0">
                <a:latin typeface="Calibri"/>
                <a:cs typeface="Calibri"/>
              </a:rPr>
              <a:t> de</a:t>
            </a:r>
            <a:r>
              <a:rPr lang="fr-FR" sz="2400" b="1" spc="-30" dirty="0">
                <a:latin typeface="Calibri"/>
                <a:cs typeface="Calibri"/>
              </a:rPr>
              <a:t> </a:t>
            </a:r>
            <a:r>
              <a:rPr lang="fr-FR" sz="2400" b="1" spc="-40" dirty="0">
                <a:latin typeface="Calibri"/>
                <a:cs typeface="Calibri"/>
              </a:rPr>
              <a:t>WENDELL</a:t>
            </a:r>
            <a:r>
              <a:rPr lang="fr-FR" sz="2400" b="1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WYLIE:</a:t>
            </a:r>
            <a:endParaRPr lang="fr-FR" sz="2400" b="1" dirty="0">
              <a:latin typeface="Calibri"/>
              <a:cs typeface="Calibri"/>
            </a:endParaRPr>
          </a:p>
          <a:p>
            <a:pPr marL="140335">
              <a:spcBef>
                <a:spcPts val="1165"/>
              </a:spcBef>
            </a:pPr>
            <a:r>
              <a:rPr lang="fr-FR" sz="2400" spc="-25" dirty="0">
                <a:latin typeface="Calibri"/>
                <a:cs typeface="Calibri"/>
              </a:rPr>
              <a:t>Etudie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l'équilibre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des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deux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étages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de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face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50" dirty="0">
                <a:latin typeface="Calibri"/>
                <a:cs typeface="Calibri"/>
              </a:rPr>
              <a:t>:</a:t>
            </a:r>
            <a:endParaRPr lang="fr-FR" sz="2400" dirty="0">
              <a:latin typeface="Calibri"/>
              <a:cs typeface="Calibri"/>
            </a:endParaRPr>
          </a:p>
          <a:p>
            <a:pPr marL="139700" marR="475615">
              <a:lnSpc>
                <a:spcPct val="111300"/>
              </a:lnSpc>
              <a:spcBef>
                <a:spcPts val="1010"/>
              </a:spcBef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proportion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idéale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étant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45,5+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2% </a:t>
            </a:r>
            <a:r>
              <a:rPr lang="fr-FR" sz="2400" spc="-35" dirty="0">
                <a:latin typeface="Calibri"/>
                <a:cs typeface="Calibri"/>
              </a:rPr>
              <a:t>Pour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supérieur,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et</a:t>
            </a:r>
            <a:r>
              <a:rPr lang="fr-FR" sz="2400" spc="-35" dirty="0">
                <a:latin typeface="Calibri"/>
                <a:cs typeface="Calibri"/>
              </a:rPr>
              <a:t> 54,5+2%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pour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L'étage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25" dirty="0" err="1">
                <a:latin typeface="Calibri"/>
                <a:cs typeface="Calibri"/>
              </a:rPr>
              <a:t>inférieur.Si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la </a:t>
            </a:r>
            <a:r>
              <a:rPr lang="fr-FR" sz="2400" spc="-35" dirty="0">
                <a:latin typeface="Calibri"/>
                <a:cs typeface="Calibri"/>
              </a:rPr>
              <a:t>proportion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l'étage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inférieur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dépasse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54,5+2P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spc="-35" dirty="0">
                <a:solidFill>
                  <a:srgbClr val="0C0C0C"/>
                </a:solidFill>
                <a:latin typeface="Calibri"/>
                <a:cs typeface="Calibri"/>
              </a:rPr>
              <a:t>on</a:t>
            </a:r>
            <a:r>
              <a:rPr lang="fr-FR" sz="2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aura</a:t>
            </a:r>
            <a:r>
              <a:rPr lang="fr-FR" sz="2400" spc="-10" dirty="0">
                <a:latin typeface="Calibri"/>
                <a:cs typeface="Calibri"/>
              </a:rPr>
              <a:t> un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type</a:t>
            </a:r>
            <a:r>
              <a:rPr lang="fr-FR" sz="2400" spc="-30" dirty="0">
                <a:latin typeface="Calibri"/>
                <a:cs typeface="Calibri"/>
              </a:rPr>
              <a:t> hyper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divergent,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dans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cas </a:t>
            </a:r>
            <a:r>
              <a:rPr lang="fr-FR" sz="2400" spc="-30" dirty="0">
                <a:latin typeface="Calibri"/>
                <a:cs typeface="Calibri"/>
              </a:rPr>
              <a:t>contraire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sa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sera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type</a:t>
            </a:r>
            <a:r>
              <a:rPr lang="fr-FR" sz="2400" spc="-30" dirty="0">
                <a:latin typeface="Calibri"/>
                <a:cs typeface="Calibri"/>
              </a:rPr>
              <a:t> hypo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divergent</a:t>
            </a:r>
            <a:r>
              <a:rPr lang="fr-FR" sz="2000" spc="-10" dirty="0">
                <a:latin typeface="Calibri"/>
                <a:cs typeface="Calibri"/>
              </a:rPr>
              <a:t>.</a:t>
            </a: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08A75C6-EE96-F843-C30E-DFF49513A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01" y="2984500"/>
            <a:ext cx="7442909" cy="47244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4065A1-D436-9A47-318D-67B2AD223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005" y="2468670"/>
            <a:ext cx="5629275" cy="575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1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6469" y="88900"/>
            <a:ext cx="12420600" cy="8325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815"/>
              </a:spcBef>
            </a:pPr>
            <a:endParaRPr sz="2400" dirty="0">
              <a:latin typeface="Calibri"/>
              <a:cs typeface="Calibri"/>
            </a:endParaRPr>
          </a:p>
          <a:p>
            <a:pPr marR="3941445" algn="r"/>
            <a:endParaRPr sz="2400" dirty="0">
              <a:latin typeface="Calibri"/>
              <a:cs typeface="Calibri"/>
            </a:endParaRPr>
          </a:p>
          <a:p>
            <a:pPr marL="248920" indent="-127000">
              <a:spcBef>
                <a:spcPts val="1165"/>
              </a:spcBef>
              <a:buAutoNum type="arabicPeriod" startAt="4"/>
              <a:tabLst>
                <a:tab pos="248920" algn="l"/>
              </a:tabLst>
            </a:pPr>
            <a:r>
              <a:rPr sz="2400"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FORMES</a:t>
            </a:r>
            <a:r>
              <a:rPr sz="240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CLINIQUES</a:t>
            </a:r>
            <a:r>
              <a:rPr sz="2400" b="1" u="heavy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lang="fr-FR" sz="2400" u="heavy" spc="-5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21920">
              <a:spcBef>
                <a:spcPts val="1165"/>
              </a:spcBef>
              <a:tabLst>
                <a:tab pos="248920" algn="l"/>
              </a:tabLst>
            </a:pPr>
            <a:endParaRPr sz="2400" dirty="0">
              <a:latin typeface="Calibri"/>
              <a:cs typeface="Calibri"/>
            </a:endParaRPr>
          </a:p>
          <a:p>
            <a:pPr marL="384175" lvl="1" indent="-241300">
              <a:spcBef>
                <a:spcPts val="1165"/>
              </a:spcBef>
              <a:buAutoNum type="arabicPeriod"/>
              <a:tabLst>
                <a:tab pos="384175" algn="l"/>
              </a:tabLst>
            </a:pPr>
            <a:r>
              <a:rPr sz="2400" b="1" u="sng" spc="-10" dirty="0">
                <a:latin typeface="Calibri"/>
                <a:cs typeface="Calibri"/>
              </a:rPr>
              <a:t>LES</a:t>
            </a:r>
            <a:r>
              <a:rPr sz="2400" b="1" u="sng" spc="-60" dirty="0">
                <a:latin typeface="Calibri"/>
                <a:cs typeface="Calibri"/>
              </a:rPr>
              <a:t> </a:t>
            </a:r>
            <a:r>
              <a:rPr sz="2400" b="1" u="sng" spc="-30" dirty="0">
                <a:latin typeface="Calibri"/>
                <a:cs typeface="Calibri"/>
              </a:rPr>
              <a:t>EXCES</a:t>
            </a:r>
            <a:r>
              <a:rPr sz="2400" b="1" u="sng" spc="-15" dirty="0">
                <a:latin typeface="Calibri"/>
                <a:cs typeface="Calibri"/>
              </a:rPr>
              <a:t> </a:t>
            </a:r>
            <a:r>
              <a:rPr sz="2400" b="1" u="sng" spc="-40" dirty="0">
                <a:latin typeface="Calibri"/>
                <a:cs typeface="Calibri"/>
              </a:rPr>
              <a:t>VERTICAUX</a:t>
            </a:r>
            <a:r>
              <a:rPr sz="2400" b="1" u="sng" spc="25" dirty="0">
                <a:latin typeface="Calibri"/>
                <a:cs typeface="Calibri"/>
              </a:rPr>
              <a:t> </a:t>
            </a:r>
            <a:r>
              <a:rPr sz="2400" u="sng" spc="-50" dirty="0">
                <a:latin typeface="Calibri"/>
                <a:cs typeface="Calibri"/>
              </a:rPr>
              <a:t>:</a:t>
            </a:r>
            <a:endParaRPr sz="2400" u="sng" dirty="0">
              <a:latin typeface="Calibri"/>
              <a:cs typeface="Calibri"/>
            </a:endParaRPr>
          </a:p>
          <a:p>
            <a:pPr marL="139700" marR="220345">
              <a:lnSpc>
                <a:spcPct val="111300"/>
              </a:lnSpc>
              <a:spcBef>
                <a:spcPts val="1005"/>
              </a:spcBef>
            </a:pPr>
            <a:r>
              <a:rPr sz="2400" spc="-30" dirty="0">
                <a:latin typeface="Calibri"/>
                <a:cs typeface="Calibri"/>
              </a:rPr>
              <a:t>L'excès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vertical </a:t>
            </a:r>
            <a:r>
              <a:rPr sz="2400" spc="-35" dirty="0">
                <a:latin typeface="Calibri"/>
                <a:cs typeface="Calibri"/>
              </a:rPr>
              <a:t>correspond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5" dirty="0">
                <a:latin typeface="Calibri"/>
                <a:cs typeface="Calibri"/>
              </a:rPr>
              <a:t> un </a:t>
            </a:r>
            <a:r>
              <a:rPr sz="2400" spc="-25" dirty="0">
                <a:latin typeface="Calibri"/>
                <a:cs typeface="Calibri"/>
              </a:rPr>
              <a:t>excès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développement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osseux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maxillaires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 </a:t>
            </a:r>
            <a:r>
              <a:rPr sz="2400" spc="-25" dirty="0">
                <a:latin typeface="Calibri"/>
                <a:cs typeface="Calibri"/>
              </a:rPr>
              <a:t>sens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vertical </a:t>
            </a:r>
            <a:r>
              <a:rPr sz="2400" spc="-20" dirty="0">
                <a:latin typeface="Calibri"/>
                <a:cs typeface="Calibri"/>
              </a:rPr>
              <a:t>avec une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croissance</a:t>
            </a:r>
            <a:r>
              <a:rPr sz="2400" dirty="0">
                <a:latin typeface="Calibri"/>
                <a:cs typeface="Calibri"/>
              </a:rPr>
              <a:t> à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tendance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verticale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qui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entraine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accentuation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longue.</a:t>
            </a:r>
            <a:endParaRPr sz="2400" dirty="0">
              <a:latin typeface="Calibri"/>
              <a:cs typeface="Calibri"/>
            </a:endParaRPr>
          </a:p>
          <a:p>
            <a:pPr marL="628015" lvl="2" indent="-258445">
              <a:spcBef>
                <a:spcPts val="1165"/>
              </a:spcBef>
              <a:buAutoNum type="alphaUcPeriod"/>
              <a:tabLst>
                <a:tab pos="628015" algn="l"/>
              </a:tabLst>
            </a:pPr>
            <a:r>
              <a:rPr sz="2400" b="1" spc="-25" dirty="0">
                <a:latin typeface="Calibri"/>
                <a:cs typeface="Calibri"/>
              </a:rPr>
              <a:t>Examen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clinique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1111"/>
                </a:solidFill>
                <a:latin typeface="Calibri"/>
                <a:cs typeface="Calibri"/>
              </a:rPr>
              <a:t>:</a:t>
            </a:r>
            <a:r>
              <a:rPr sz="2400" b="1" spc="18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endParaRPr lang="fr-FR" sz="2400" b="1" spc="180" dirty="0">
              <a:solidFill>
                <a:srgbClr val="111111"/>
              </a:solidFill>
              <a:latin typeface="Calibri"/>
              <a:cs typeface="Calibri"/>
            </a:endParaRPr>
          </a:p>
          <a:p>
            <a:pPr marL="369570" lvl="2">
              <a:spcBef>
                <a:spcPts val="1165"/>
              </a:spcBef>
              <a:tabLst>
                <a:tab pos="628015" algn="l"/>
              </a:tabLst>
            </a:pPr>
            <a:r>
              <a:rPr sz="2400" b="1" spc="-30" dirty="0">
                <a:latin typeface="Calibri"/>
                <a:cs typeface="Calibri"/>
              </a:rPr>
              <a:t>De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face</a:t>
            </a:r>
            <a:endParaRPr sz="2400" b="1" dirty="0">
              <a:latin typeface="Calibri"/>
              <a:cs typeface="Calibri"/>
            </a:endParaRPr>
          </a:p>
          <a:p>
            <a:pPr marL="601345" lvl="3" indent="-228600">
              <a:spcBef>
                <a:spcPts val="160"/>
              </a:spcBef>
              <a:buClr>
                <a:srgbClr val="1D1D1D"/>
              </a:buClr>
              <a:buChar char="-"/>
              <a:tabLst>
                <a:tab pos="601345" algn="l"/>
              </a:tabLst>
            </a:pPr>
            <a:r>
              <a:rPr sz="2400" spc="-25" dirty="0">
                <a:latin typeface="Calibri"/>
                <a:cs typeface="Calibri"/>
              </a:rPr>
              <a:t>Visage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allongé</a:t>
            </a:r>
            <a:endParaRPr sz="2400" dirty="0">
              <a:latin typeface="Calibri"/>
              <a:cs typeface="Calibri"/>
            </a:endParaRPr>
          </a:p>
          <a:p>
            <a:pPr marL="597535" lvl="3" indent="-224790">
              <a:spcBef>
                <a:spcPts val="200"/>
              </a:spcBef>
              <a:buClr>
                <a:srgbClr val="181818"/>
              </a:buClr>
              <a:buChar char="-"/>
              <a:tabLst>
                <a:tab pos="597535" algn="l"/>
              </a:tabLst>
            </a:pPr>
            <a:r>
              <a:rPr sz="2400" spc="-10" dirty="0">
                <a:latin typeface="Calibri"/>
                <a:cs typeface="Calibri"/>
              </a:rPr>
              <a:t>HFI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augmentée</a:t>
            </a:r>
            <a:endParaRPr sz="2400" dirty="0">
              <a:latin typeface="Calibri"/>
              <a:cs typeface="Calibri"/>
            </a:endParaRPr>
          </a:p>
          <a:p>
            <a:pPr marL="598170" lvl="3" indent="-225425">
              <a:spcBef>
                <a:spcPts val="160"/>
              </a:spcBef>
              <a:buClr>
                <a:srgbClr val="181818"/>
              </a:buClr>
              <a:buChar char="-"/>
              <a:tabLst>
                <a:tab pos="598170" algn="l"/>
              </a:tabLst>
            </a:pPr>
            <a:r>
              <a:rPr sz="2400" spc="-20" dirty="0">
                <a:latin typeface="Calibri"/>
                <a:cs typeface="Calibri"/>
              </a:rPr>
              <a:t>Seuil </a:t>
            </a:r>
            <a:r>
              <a:rPr sz="2400" spc="-25" dirty="0">
                <a:latin typeface="Calibri"/>
                <a:cs typeface="Calibri"/>
              </a:rPr>
              <a:t>narinaire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vertical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étroit</a:t>
            </a:r>
            <a:endParaRPr sz="2400" dirty="0">
              <a:latin typeface="Calibri"/>
              <a:cs typeface="Calibri"/>
            </a:endParaRPr>
          </a:p>
          <a:p>
            <a:pPr marL="597535" lvl="3" indent="-224790">
              <a:spcBef>
                <a:spcPts val="155"/>
              </a:spcBef>
              <a:buClr>
                <a:srgbClr val="181818"/>
              </a:buClr>
              <a:buChar char="-"/>
              <a:tabLst>
                <a:tab pos="597535" algn="l"/>
              </a:tabLst>
            </a:pPr>
            <a:r>
              <a:rPr sz="2400" spc="-30" dirty="0">
                <a:latin typeface="Calibri"/>
                <a:cs typeface="Calibri"/>
              </a:rPr>
              <a:t>Nez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souvent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petit,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narines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étroites</a:t>
            </a:r>
            <a:endParaRPr sz="2400" dirty="0">
              <a:latin typeface="Calibri"/>
              <a:cs typeface="Calibri"/>
            </a:endParaRPr>
          </a:p>
          <a:p>
            <a:pPr marL="597535" marR="383540" lvl="3" indent="-224790">
              <a:lnSpc>
                <a:spcPct val="111300"/>
              </a:lnSpc>
              <a:buClr>
                <a:srgbClr val="181818"/>
              </a:buClr>
              <a:buChar char="-"/>
              <a:tabLst>
                <a:tab pos="597535" algn="l"/>
              </a:tabLst>
            </a:pPr>
            <a:r>
              <a:rPr sz="2400" spc="-35" dirty="0">
                <a:latin typeface="Calibri"/>
                <a:cs typeface="Calibri"/>
              </a:rPr>
              <a:t>Souvent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inocclusion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labiale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position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repos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avec</a:t>
            </a:r>
            <a:r>
              <a:rPr sz="2400" spc="-35" dirty="0">
                <a:latin typeface="Calibri"/>
                <a:cs typeface="Calibri"/>
              </a:rPr>
              <a:t> hypotonicité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orbiculaires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et </a:t>
            </a:r>
            <a:r>
              <a:rPr sz="2400" spc="-40" dirty="0">
                <a:latin typeface="Calibri"/>
                <a:cs typeface="Calibri"/>
              </a:rPr>
              <a:t>interposition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linguale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l'occlusion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labiale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peut 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faire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grâce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contraction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exagérée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des </a:t>
            </a:r>
            <a:r>
              <a:rPr sz="2400" spc="-30" dirty="0">
                <a:latin typeface="Calibri"/>
                <a:cs typeface="Calibri"/>
              </a:rPr>
              <a:t>muscles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oro-</a:t>
            </a:r>
            <a:r>
              <a:rPr sz="2400" spc="-30" dirty="0">
                <a:latin typeface="Calibri"/>
                <a:cs typeface="Calibri"/>
              </a:rPr>
              <a:t>faciaux,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particulier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muscles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mentonniers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présentent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alors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cette </a:t>
            </a:r>
            <a:r>
              <a:rPr sz="2400" spc="-25" dirty="0">
                <a:latin typeface="Calibri"/>
                <a:cs typeface="Calibri"/>
              </a:rPr>
              <a:t>surface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caractéristique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dite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«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peau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d'orange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».</a:t>
            </a:r>
            <a:endParaRPr sz="2400" dirty="0">
              <a:latin typeface="Calibri"/>
              <a:cs typeface="Calibri"/>
            </a:endParaRPr>
          </a:p>
          <a:p>
            <a:pPr marL="597535" lvl="3" indent="-224790">
              <a:spcBef>
                <a:spcPts val="204"/>
              </a:spcBef>
              <a:buClr>
                <a:srgbClr val="1D1D1D"/>
              </a:buClr>
              <a:buChar char="-"/>
              <a:tabLst>
                <a:tab pos="597535" algn="l"/>
              </a:tabLst>
            </a:pPr>
            <a:r>
              <a:rPr sz="2400" spc="-25" dirty="0">
                <a:latin typeface="Calibri"/>
                <a:cs typeface="Calibri"/>
              </a:rPr>
              <a:t>Lèvre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supérieure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mince,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courte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peut</a:t>
            </a:r>
            <a:r>
              <a:rPr sz="2400" spc="-35" dirty="0">
                <a:latin typeface="Calibri"/>
                <a:cs typeface="Calibri"/>
              </a:rPr>
              <a:t> objectiver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-30" dirty="0">
                <a:latin typeface="Calibri"/>
                <a:cs typeface="Calibri"/>
              </a:rPr>
              <a:t> sourire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gingival</a:t>
            </a:r>
            <a:endParaRPr sz="2400" dirty="0">
              <a:latin typeface="Calibri"/>
              <a:cs typeface="Calibri"/>
            </a:endParaRPr>
          </a:p>
          <a:p>
            <a:pPr marL="597535" lvl="3" indent="-224790">
              <a:spcBef>
                <a:spcPts val="155"/>
              </a:spcBef>
              <a:buClr>
                <a:srgbClr val="1D1D1D"/>
              </a:buClr>
              <a:buChar char="-"/>
              <a:tabLst>
                <a:tab pos="597535" algn="l"/>
              </a:tabLst>
            </a:pPr>
            <a:r>
              <a:rPr sz="2400" spc="-25" dirty="0">
                <a:latin typeface="Calibri"/>
                <a:cs typeface="Calibri"/>
              </a:rPr>
              <a:t>Lèvre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inférieure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gonflée,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prédominante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BE273C5-2BDA-7196-A878-BBA943338E78}"/>
              </a:ext>
            </a:extLst>
          </p:cNvPr>
          <p:cNvSpPr txBox="1"/>
          <p:nvPr/>
        </p:nvSpPr>
        <p:spPr>
          <a:xfrm>
            <a:off x="727869" y="469900"/>
            <a:ext cx="13377069" cy="848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100"/>
            <a:r>
              <a:rPr lang="fr-FR" sz="2400" b="1" dirty="0">
                <a:latin typeface="Calibri"/>
                <a:cs typeface="Calibri"/>
              </a:rPr>
              <a:t>De</a:t>
            </a:r>
            <a:r>
              <a:rPr lang="fr-FR" sz="2400" b="1" spc="-50" dirty="0">
                <a:latin typeface="Calibri"/>
                <a:cs typeface="Calibri"/>
              </a:rPr>
              <a:t> </a:t>
            </a:r>
            <a:r>
              <a:rPr lang="fr-FR" sz="2400" b="1" spc="-25" dirty="0">
                <a:latin typeface="Calibri"/>
                <a:cs typeface="Calibri"/>
              </a:rPr>
              <a:t>profil</a:t>
            </a:r>
            <a:r>
              <a:rPr lang="fr-FR" sz="2400" b="1" spc="-15" dirty="0">
                <a:latin typeface="Calibri"/>
                <a:cs typeface="Calibri"/>
              </a:rPr>
              <a:t> </a:t>
            </a:r>
            <a:r>
              <a:rPr lang="fr-FR" sz="2400" b="1" spc="-50" dirty="0">
                <a:latin typeface="Calibri"/>
                <a:cs typeface="Calibri"/>
              </a:rPr>
              <a:t>:</a:t>
            </a:r>
            <a:endParaRPr lang="fr-FR" sz="2400" b="1" dirty="0">
              <a:latin typeface="Calibri"/>
              <a:cs typeface="Calibri"/>
            </a:endParaRPr>
          </a:p>
          <a:p>
            <a:pPr marL="622300">
              <a:spcBef>
                <a:spcPts val="1215"/>
              </a:spcBef>
            </a:pPr>
            <a:r>
              <a:rPr lang="fr-FR" sz="2400" dirty="0">
                <a:latin typeface="Calibri"/>
                <a:cs typeface="Calibri"/>
              </a:rPr>
              <a:t>Profil</a:t>
            </a:r>
            <a:r>
              <a:rPr lang="fr-FR" sz="2400" spc="-10" dirty="0">
                <a:latin typeface="Calibri"/>
                <a:cs typeface="Calibri"/>
              </a:rPr>
              <a:t> convexe</a:t>
            </a:r>
            <a:endParaRPr lang="fr-FR" sz="2400" dirty="0">
              <a:latin typeface="Calibri"/>
              <a:cs typeface="Calibri"/>
            </a:endParaRPr>
          </a:p>
          <a:p>
            <a:pPr marL="622300" indent="-224154">
              <a:spcBef>
                <a:spcPts val="265"/>
              </a:spcBef>
              <a:buClr>
                <a:srgbClr val="212121"/>
              </a:buClr>
              <a:buChar char="-"/>
              <a:tabLst>
                <a:tab pos="622300" algn="l"/>
              </a:tabLst>
            </a:pPr>
            <a:r>
              <a:rPr lang="fr-FR" sz="2400" dirty="0">
                <a:latin typeface="Calibri"/>
                <a:cs typeface="Calibri"/>
              </a:rPr>
              <a:t>Etage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inférieur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face</a:t>
            </a:r>
            <a:r>
              <a:rPr lang="fr-FR" sz="2400" spc="-10" dirty="0">
                <a:latin typeface="Calibri"/>
                <a:cs typeface="Calibri"/>
              </a:rPr>
              <a:t> augmentée</a:t>
            </a:r>
            <a:endParaRPr lang="fr-FR" sz="2400" dirty="0">
              <a:latin typeface="Calibri"/>
              <a:cs typeface="Calibri"/>
            </a:endParaRPr>
          </a:p>
          <a:p>
            <a:pPr marL="621665" marR="647065" indent="-224154">
              <a:lnSpc>
                <a:spcPct val="116399"/>
              </a:lnSpc>
              <a:buClr>
                <a:srgbClr val="212121"/>
              </a:buClr>
              <a:buChar char="-"/>
              <a:tabLst>
                <a:tab pos="621665" algn="l"/>
              </a:tabLst>
            </a:pPr>
            <a:r>
              <a:rPr lang="fr-FR" sz="2400" dirty="0" err="1">
                <a:latin typeface="Calibri"/>
                <a:cs typeface="Calibri"/>
              </a:rPr>
              <a:t>Iors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l'occlusion</a:t>
            </a:r>
            <a:r>
              <a:rPr lang="fr-FR" sz="2400" spc="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labiale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dirty="0">
                <a:solidFill>
                  <a:srgbClr val="242424"/>
                </a:solidFill>
                <a:latin typeface="Calibri"/>
                <a:cs typeface="Calibri"/>
              </a:rPr>
              <a:t>il</a:t>
            </a:r>
            <a:r>
              <a:rPr lang="fr-FR" sz="24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y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contraction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lèvre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supérieure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avec </a:t>
            </a:r>
            <a:r>
              <a:rPr lang="fr-FR" sz="2400" spc="-10" dirty="0">
                <a:latin typeface="Calibri"/>
                <a:cs typeface="Calibri"/>
              </a:rPr>
              <a:t>allongement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et </a:t>
            </a:r>
            <a:r>
              <a:rPr lang="fr-FR" sz="2400" dirty="0">
                <a:latin typeface="Calibri"/>
                <a:cs typeface="Calibri"/>
              </a:rPr>
              <a:t>effacement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philtrum,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10" dirty="0">
                <a:latin typeface="Calibri"/>
                <a:cs typeface="Calibri"/>
              </a:rPr>
              <a:t> ouverture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l'angle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nasolabial</a:t>
            </a:r>
            <a:endParaRPr lang="fr-FR" sz="2400" dirty="0">
              <a:latin typeface="Calibri"/>
              <a:cs typeface="Calibri"/>
            </a:endParaRPr>
          </a:p>
          <a:p>
            <a:pPr marL="622300" indent="-224154">
              <a:spcBef>
                <a:spcPts val="215"/>
              </a:spcBef>
              <a:buClr>
                <a:srgbClr val="212121"/>
              </a:buClr>
              <a:buChar char="-"/>
              <a:tabLst>
                <a:tab pos="622300" algn="l"/>
              </a:tabLst>
            </a:pPr>
            <a:r>
              <a:rPr lang="fr-FR" sz="2400" dirty="0">
                <a:latin typeface="Calibri"/>
                <a:cs typeface="Calibri"/>
              </a:rPr>
              <a:t>Espace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interlabial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augmenté en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position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repos</a:t>
            </a:r>
            <a:endParaRPr lang="fr-FR" sz="2400" dirty="0">
              <a:latin typeface="Calibri"/>
              <a:cs typeface="Calibri"/>
            </a:endParaRPr>
          </a:p>
          <a:p>
            <a:pPr marL="623570" indent="-225425">
              <a:spcBef>
                <a:spcPts val="215"/>
              </a:spcBef>
              <a:buClr>
                <a:srgbClr val="212121"/>
              </a:buClr>
              <a:buChar char="-"/>
              <a:tabLst>
                <a:tab pos="623570" algn="l"/>
              </a:tabLst>
            </a:pPr>
            <a:r>
              <a:rPr lang="fr-FR" sz="2400" dirty="0">
                <a:latin typeface="Calibri"/>
                <a:cs typeface="Calibri"/>
              </a:rPr>
              <a:t>Sillon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labio</a:t>
            </a:r>
            <a:r>
              <a:rPr lang="fr-FR" sz="2400" spc="-10" dirty="0">
                <a:latin typeface="Calibri"/>
                <a:cs typeface="Calibri"/>
              </a:rPr>
              <a:t>-</a:t>
            </a:r>
            <a:r>
              <a:rPr lang="fr-FR" sz="2400" dirty="0">
                <a:latin typeface="Calibri"/>
                <a:cs typeface="Calibri"/>
              </a:rPr>
              <a:t>mentonnier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absent</a:t>
            </a:r>
            <a:endParaRPr lang="fr-FR" sz="2400" dirty="0">
              <a:latin typeface="Calibri"/>
              <a:cs typeface="Calibri"/>
            </a:endParaRPr>
          </a:p>
          <a:p>
            <a:pPr marL="623570" indent="-225425">
              <a:spcBef>
                <a:spcPts val="215"/>
              </a:spcBef>
              <a:buClr>
                <a:srgbClr val="212121"/>
              </a:buClr>
              <a:buChar char="-"/>
              <a:tabLst>
                <a:tab pos="623570" algn="l"/>
              </a:tabLst>
            </a:pP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menton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est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contracté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remonté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Iors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l'occlusion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labiale,</a:t>
            </a:r>
            <a:endParaRPr lang="fr-FR" sz="2400" dirty="0">
              <a:latin typeface="Calibri"/>
              <a:cs typeface="Calibri"/>
            </a:endParaRPr>
          </a:p>
          <a:p>
            <a:pPr marL="623570" indent="-225425">
              <a:spcBef>
                <a:spcPts val="219"/>
              </a:spcBef>
              <a:buClr>
                <a:srgbClr val="212121"/>
              </a:buClr>
              <a:buChar char="-"/>
              <a:tabLst>
                <a:tab pos="623570" algn="l"/>
              </a:tabLst>
            </a:pPr>
            <a:r>
              <a:rPr lang="fr-FR" sz="2400" spc="-10" dirty="0">
                <a:latin typeface="Calibri"/>
                <a:cs typeface="Calibri"/>
              </a:rPr>
              <a:t>l'éminence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mentonnière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paraît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effacée.</a:t>
            </a:r>
            <a:endParaRPr lang="fr-FR" sz="2400" dirty="0">
              <a:latin typeface="Calibri"/>
              <a:cs typeface="Calibri"/>
            </a:endParaRPr>
          </a:p>
          <a:p>
            <a:pPr>
              <a:spcBef>
                <a:spcPts val="505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621665" indent="-224154">
              <a:buAutoNum type="alphaUcPeriod" startAt="2"/>
              <a:tabLst>
                <a:tab pos="621665" algn="l"/>
              </a:tabLst>
            </a:pPr>
            <a:r>
              <a:rPr lang="fr-FR" sz="2400" b="1" dirty="0">
                <a:latin typeface="Calibri"/>
                <a:cs typeface="Calibri"/>
              </a:rPr>
              <a:t>EXAMEN</a:t>
            </a:r>
            <a:r>
              <a:rPr lang="fr-FR" sz="2400" b="1" spc="130" dirty="0">
                <a:latin typeface="Calibri"/>
                <a:cs typeface="Calibri"/>
              </a:rPr>
              <a:t> </a:t>
            </a:r>
            <a:r>
              <a:rPr lang="fr-FR" sz="2400" b="1" dirty="0">
                <a:latin typeface="Calibri"/>
                <a:cs typeface="Calibri"/>
              </a:rPr>
              <a:t>ENDOBUCCAL</a:t>
            </a:r>
            <a:r>
              <a:rPr lang="fr-FR" sz="2400" b="1" spc="180" dirty="0">
                <a:latin typeface="Calibri"/>
                <a:cs typeface="Calibri"/>
              </a:rPr>
              <a:t> </a:t>
            </a:r>
            <a:r>
              <a:rPr lang="fr-FR" sz="2400" b="1" spc="-50" dirty="0">
                <a:latin typeface="Calibri"/>
                <a:cs typeface="Calibri"/>
              </a:rPr>
              <a:t>:</a:t>
            </a:r>
            <a:endParaRPr lang="fr-FR" sz="2400" b="1" dirty="0">
              <a:latin typeface="Calibri"/>
              <a:cs typeface="Calibri"/>
            </a:endParaRPr>
          </a:p>
          <a:p>
            <a:pPr marL="168910" marR="212090" indent="-4445">
              <a:lnSpc>
                <a:spcPct val="111300"/>
              </a:lnSpc>
              <a:spcBef>
                <a:spcPts val="1030"/>
              </a:spcBef>
            </a:pPr>
            <a:r>
              <a:rPr lang="fr-FR" sz="2400" spc="-20" dirty="0">
                <a:latin typeface="Calibri"/>
                <a:cs typeface="Calibri"/>
              </a:rPr>
              <a:t>Les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perturbations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entraînées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par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les</a:t>
            </a:r>
            <a:r>
              <a:rPr lang="fr-FR" sz="2400" spc="-30" dirty="0">
                <a:latin typeface="Calibri"/>
                <a:cs typeface="Calibri"/>
              </a:rPr>
              <a:t> Excès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Verticaux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sont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tellement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importantes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que </a:t>
            </a:r>
            <a:r>
              <a:rPr lang="fr-FR" sz="2400" dirty="0">
                <a:latin typeface="Calibri"/>
                <a:cs typeface="Calibri"/>
              </a:rPr>
              <a:t>les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arcades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sont </a:t>
            </a:r>
            <a:r>
              <a:rPr lang="fr-FR" sz="2400" spc="-25" dirty="0">
                <a:latin typeface="Calibri"/>
                <a:cs typeface="Calibri"/>
              </a:rPr>
              <a:t>très </a:t>
            </a:r>
            <a:r>
              <a:rPr lang="fr-FR" sz="2400" spc="-10" dirty="0">
                <a:latin typeface="Calibri"/>
                <a:cs typeface="Calibri"/>
              </a:rPr>
              <a:t>différentes.</a:t>
            </a:r>
            <a:endParaRPr lang="fr-FR" sz="2400" dirty="0">
              <a:latin typeface="Calibri"/>
              <a:cs typeface="Calibri"/>
            </a:endParaRPr>
          </a:p>
          <a:p>
            <a:pPr marL="653415">
              <a:spcBef>
                <a:spcPts val="1265"/>
              </a:spcBef>
            </a:pPr>
            <a:r>
              <a:rPr lang="fr-FR" sz="2400" b="1" dirty="0">
                <a:latin typeface="Calibri"/>
                <a:cs typeface="Calibri"/>
              </a:rPr>
              <a:t>INTRA-</a:t>
            </a:r>
            <a:r>
              <a:rPr lang="fr-FR" sz="2400" b="1" spc="-10" dirty="0">
                <a:latin typeface="Calibri"/>
                <a:cs typeface="Calibri"/>
              </a:rPr>
              <a:t>ARCADE:</a:t>
            </a:r>
            <a:endParaRPr lang="fr-FR" sz="2400" b="1" dirty="0">
              <a:latin typeface="Calibri"/>
              <a:cs typeface="Calibri"/>
            </a:endParaRPr>
          </a:p>
          <a:p>
            <a:pPr marL="622935" lvl="1" indent="-225425">
              <a:spcBef>
                <a:spcPts val="175"/>
              </a:spcBef>
              <a:buClr>
                <a:srgbClr val="1D1D1D"/>
              </a:buClr>
              <a:buChar char="-"/>
              <a:tabLst>
                <a:tab pos="622935" algn="l"/>
              </a:tabLst>
            </a:pPr>
            <a:r>
              <a:rPr lang="fr-FR" sz="2400" spc="-35" dirty="0">
                <a:latin typeface="Calibri"/>
                <a:cs typeface="Calibri"/>
              </a:rPr>
              <a:t>Souvent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palais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ogival</a:t>
            </a:r>
            <a:endParaRPr lang="fr-FR" sz="2400" dirty="0">
              <a:latin typeface="Calibri"/>
              <a:cs typeface="Calibri"/>
            </a:endParaRPr>
          </a:p>
          <a:p>
            <a:pPr marL="621030" lvl="1" indent="-223520">
              <a:spcBef>
                <a:spcPts val="155"/>
              </a:spcBef>
              <a:buClr>
                <a:srgbClr val="1D1D1D"/>
              </a:buClr>
              <a:buChar char="-"/>
              <a:tabLst>
                <a:tab pos="621030" algn="l"/>
              </a:tabLst>
            </a:pPr>
            <a:r>
              <a:rPr lang="fr-FR" sz="2400" spc="-25" dirty="0">
                <a:latin typeface="Calibri"/>
                <a:cs typeface="Calibri"/>
              </a:rPr>
              <a:t>Courbe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40" dirty="0" err="1">
                <a:latin typeface="Calibri"/>
                <a:cs typeface="Calibri"/>
              </a:rPr>
              <a:t>Spee</a:t>
            </a:r>
            <a:r>
              <a:rPr lang="fr-FR" sz="2400" spc="-30" dirty="0">
                <a:latin typeface="Calibri"/>
                <a:cs typeface="Calibri"/>
              </a:rPr>
              <a:t> accentuée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au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maxillaire</a:t>
            </a:r>
            <a:endParaRPr lang="fr-FR" sz="2400" dirty="0">
              <a:latin typeface="Calibri"/>
              <a:cs typeface="Calibri"/>
            </a:endParaRPr>
          </a:p>
          <a:p>
            <a:pPr marL="653415">
              <a:spcBef>
                <a:spcPts val="254"/>
              </a:spcBef>
            </a:pPr>
            <a:r>
              <a:rPr lang="fr-FR" sz="2400" b="1" dirty="0">
                <a:latin typeface="Calibri"/>
                <a:cs typeface="Calibri"/>
              </a:rPr>
              <a:t>INTER-ARCADE</a:t>
            </a:r>
            <a:r>
              <a:rPr lang="fr-FR" sz="2400" b="1" spc="185" dirty="0">
                <a:latin typeface="Calibri"/>
                <a:cs typeface="Calibri"/>
              </a:rPr>
              <a:t> </a:t>
            </a:r>
            <a:r>
              <a:rPr lang="fr-FR" sz="2400" b="1" spc="-50" dirty="0">
                <a:latin typeface="Calibri"/>
                <a:cs typeface="Calibri"/>
              </a:rPr>
              <a:t>:</a:t>
            </a:r>
            <a:endParaRPr lang="fr-FR" sz="2400" b="1" dirty="0">
              <a:latin typeface="Calibri"/>
              <a:cs typeface="Calibri"/>
            </a:endParaRPr>
          </a:p>
          <a:p>
            <a:pPr marL="621030" lvl="1" indent="-223520">
              <a:spcBef>
                <a:spcPts val="180"/>
              </a:spcBef>
              <a:buClr>
                <a:srgbClr val="1D1D1D"/>
              </a:buClr>
              <a:buChar char="-"/>
              <a:tabLst>
                <a:tab pos="621030" algn="l"/>
              </a:tabLst>
            </a:pPr>
            <a:r>
              <a:rPr lang="fr-FR" sz="2400" spc="-35" dirty="0">
                <a:latin typeface="Calibri"/>
                <a:cs typeface="Calibri"/>
              </a:rPr>
              <a:t>Transversal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: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souvent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endognathie</a:t>
            </a:r>
            <a:endParaRPr lang="fr-FR" sz="2400" dirty="0">
              <a:latin typeface="Calibri"/>
              <a:cs typeface="Calibri"/>
            </a:endParaRPr>
          </a:p>
          <a:p>
            <a:pPr marL="619760" lvl="1" indent="-222250">
              <a:spcBef>
                <a:spcPts val="204"/>
              </a:spcBef>
              <a:buClr>
                <a:srgbClr val="1D1D1D"/>
              </a:buClr>
              <a:buChar char="-"/>
              <a:tabLst>
                <a:tab pos="619760" algn="l"/>
              </a:tabLst>
            </a:pPr>
            <a:r>
              <a:rPr lang="fr-FR" sz="2400" spc="-25" dirty="0">
                <a:latin typeface="Calibri"/>
                <a:cs typeface="Calibri"/>
              </a:rPr>
              <a:t>Vertical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:</a:t>
            </a:r>
            <a:r>
              <a:rPr lang="fr-FR" sz="2400" spc="170" dirty="0">
                <a:latin typeface="Calibri"/>
                <a:cs typeface="Calibri"/>
              </a:rPr>
              <a:t> </a:t>
            </a:r>
            <a:r>
              <a:rPr lang="fr-FR" sz="2400" spc="-20" dirty="0" err="1">
                <a:latin typeface="Calibri"/>
                <a:cs typeface="Calibri"/>
              </a:rPr>
              <a:t>infraclusieü</a:t>
            </a:r>
            <a:r>
              <a:rPr lang="fr-FR" sz="2400" spc="21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bout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bout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incisif,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30" dirty="0" err="1">
                <a:latin typeface="Calibri"/>
                <a:cs typeface="Calibri"/>
              </a:rPr>
              <a:t>infraclusion</a:t>
            </a:r>
            <a:r>
              <a:rPr lang="fr-FR" sz="2400" spc="8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incisive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ou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béance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16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26.</a:t>
            </a:r>
            <a:endParaRPr lang="fr-FR" sz="2400" dirty="0">
              <a:latin typeface="Calibri"/>
              <a:cs typeface="Calibri"/>
            </a:endParaRPr>
          </a:p>
          <a:p>
            <a:pPr marL="625475" lvl="1" indent="-227965">
              <a:spcBef>
                <a:spcPts val="105"/>
              </a:spcBef>
              <a:buClr>
                <a:srgbClr val="1D1D1D"/>
              </a:buClr>
              <a:buChar char="-"/>
              <a:tabLst>
                <a:tab pos="625475" algn="l"/>
              </a:tabLst>
            </a:pPr>
            <a:r>
              <a:rPr lang="fr-FR" sz="2400" spc="-35" dirty="0">
                <a:latin typeface="Calibri"/>
                <a:cs typeface="Calibri"/>
              </a:rPr>
              <a:t>Antéropostérieur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: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selon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dysmorphose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associée</a:t>
            </a:r>
            <a:endParaRPr lang="fr-FR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099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0669" y="422600"/>
            <a:ext cx="13639799" cy="101552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815"/>
              </a:spcBef>
            </a:pPr>
            <a:endParaRPr sz="2400" dirty="0">
              <a:latin typeface="Calibri"/>
              <a:cs typeface="Calibri"/>
            </a:endParaRPr>
          </a:p>
          <a:p>
            <a:pPr>
              <a:spcBef>
                <a:spcPts val="434"/>
              </a:spcBef>
            </a:pPr>
            <a:endParaRPr sz="2400" dirty="0">
              <a:latin typeface="Calibri"/>
              <a:cs typeface="Calibri"/>
            </a:endParaRPr>
          </a:p>
          <a:p>
            <a:pPr marL="653415" indent="-257175">
              <a:buAutoNum type="alphaUcPeriod" startAt="3"/>
              <a:tabLst>
                <a:tab pos="653415" algn="l"/>
              </a:tabLst>
            </a:pPr>
            <a:r>
              <a:rPr sz="2400" b="1" dirty="0">
                <a:latin typeface="Calibri"/>
                <a:cs typeface="Calibri"/>
              </a:rPr>
              <a:t>EXAMEN</a:t>
            </a:r>
            <a:r>
              <a:rPr sz="2400" b="1" spc="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FONCTIONNEL</a:t>
            </a:r>
            <a:r>
              <a:rPr sz="2400" b="1" spc="23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 marL="664845">
              <a:spcBef>
                <a:spcPts val="180"/>
              </a:spcBef>
            </a:pPr>
            <a:r>
              <a:rPr sz="2400" b="1" spc="-30" dirty="0">
                <a:latin typeface="Calibri"/>
                <a:cs typeface="Calibri"/>
              </a:rPr>
              <a:t>Lèvres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 marL="854075" lvl="1" indent="-230504">
              <a:spcBef>
                <a:spcPts val="204"/>
              </a:spcBef>
              <a:buClr>
                <a:srgbClr val="111111"/>
              </a:buClr>
              <a:buChar char="-"/>
              <a:tabLst>
                <a:tab pos="854075" algn="l"/>
              </a:tabLst>
            </a:pPr>
            <a:r>
              <a:rPr sz="2400" dirty="0">
                <a:latin typeface="Calibri"/>
                <a:cs typeface="Calibri"/>
              </a:rPr>
              <a:t>sèches,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épaisse,</a:t>
            </a:r>
            <a:r>
              <a:rPr sz="2400" spc="-10" dirty="0">
                <a:latin typeface="Calibri"/>
                <a:cs typeface="Calibri"/>
              </a:rPr>
              <a:t> molle</a:t>
            </a:r>
            <a:r>
              <a:rPr lang="fr-FR" sz="2400" spc="-10" dirty="0">
                <a:latin typeface="Calibri"/>
                <a:cs typeface="Calibri"/>
              </a:rPr>
              <a:t>,</a:t>
            </a:r>
            <a:r>
              <a:rPr sz="2400" dirty="0" err="1">
                <a:latin typeface="Calibri"/>
                <a:cs typeface="Calibri"/>
              </a:rPr>
              <a:t>tonicité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faible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lang="fr-FR" sz="2400" spc="-10" dirty="0">
              <a:latin typeface="Calibri"/>
              <a:cs typeface="Calibri"/>
            </a:endParaRPr>
          </a:p>
          <a:p>
            <a:pPr marL="623571" lvl="1">
              <a:spcBef>
                <a:spcPts val="204"/>
              </a:spcBef>
              <a:buClr>
                <a:srgbClr val="111111"/>
              </a:buClr>
              <a:tabLst>
                <a:tab pos="854075" algn="l"/>
              </a:tabLst>
            </a:pPr>
            <a:endParaRPr sz="2400" dirty="0">
              <a:latin typeface="Calibri"/>
              <a:cs typeface="Calibri"/>
            </a:endParaRPr>
          </a:p>
          <a:p>
            <a:pPr marL="665480" marR="4435475">
              <a:lnSpc>
                <a:spcPts val="1540"/>
              </a:lnSpc>
            </a:pPr>
            <a:r>
              <a:rPr lang="fr-FR" sz="2400" b="1" dirty="0">
                <a:latin typeface="Calibri"/>
                <a:cs typeface="Calibri"/>
              </a:rPr>
              <a:t>Langue</a:t>
            </a:r>
            <a:r>
              <a:rPr lang="fr-FR" sz="2400" b="1" spc="120" dirty="0">
                <a:latin typeface="Calibri"/>
                <a:cs typeface="Calibri"/>
              </a:rPr>
              <a:t> </a:t>
            </a:r>
            <a:r>
              <a:rPr lang="fr-FR" sz="2400" b="1" spc="-50" dirty="0">
                <a:latin typeface="Calibri"/>
                <a:cs typeface="Calibri"/>
              </a:rPr>
              <a:t>:</a:t>
            </a:r>
            <a:endParaRPr lang="fr-FR" sz="2400" b="1" dirty="0">
              <a:latin typeface="Calibri"/>
              <a:cs typeface="Calibri"/>
            </a:endParaRPr>
          </a:p>
          <a:p>
            <a:pPr marL="936625" lvl="2" indent="-227329">
              <a:spcBef>
                <a:spcPts val="175"/>
              </a:spcBef>
              <a:buClr>
                <a:srgbClr val="1A1A1A"/>
              </a:buClr>
              <a:buChar char="-"/>
              <a:tabLst>
                <a:tab pos="936625" algn="l"/>
              </a:tabLst>
            </a:pPr>
            <a:r>
              <a:rPr sz="2400" spc="-10" dirty="0" err="1">
                <a:latin typeface="Calibri"/>
                <a:cs typeface="Calibri"/>
              </a:rPr>
              <a:t>volumineuse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34719">
              <a:spcBef>
                <a:spcPts val="325"/>
              </a:spcBef>
            </a:pPr>
            <a:r>
              <a:rPr sz="2400" dirty="0">
                <a:latin typeface="Calibri"/>
                <a:cs typeface="Calibri"/>
              </a:rPr>
              <a:t>-position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basse.</a:t>
            </a:r>
            <a:endParaRPr sz="2400" dirty="0">
              <a:latin typeface="Calibri"/>
              <a:cs typeface="Calibri"/>
            </a:endParaRPr>
          </a:p>
          <a:p>
            <a:pPr marL="664845" marR="2585085" lvl="2" indent="268605">
              <a:lnSpc>
                <a:spcPct val="111300"/>
              </a:lnSpc>
              <a:spcBef>
                <a:spcPts val="20"/>
              </a:spcBef>
              <a:buClr>
                <a:srgbClr val="111111"/>
              </a:buClr>
              <a:buChar char="-"/>
              <a:tabLst>
                <a:tab pos="933450" algn="l"/>
              </a:tabLst>
            </a:pPr>
            <a:r>
              <a:rPr sz="2400" spc="-30" dirty="0">
                <a:latin typeface="Calibri"/>
                <a:cs typeface="Calibri"/>
              </a:rPr>
              <a:t>souvent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interposé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entre 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arcades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repos. </a:t>
            </a:r>
            <a:r>
              <a:rPr sz="2400" spc="-35" dirty="0">
                <a:latin typeface="Calibri"/>
                <a:cs typeface="Calibri"/>
              </a:rPr>
              <a:t>Masséter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puissant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étroit.</a:t>
            </a:r>
            <a:endParaRPr sz="2400" dirty="0">
              <a:latin typeface="Calibri"/>
              <a:cs typeface="Calibri"/>
            </a:endParaRPr>
          </a:p>
          <a:p>
            <a:pPr marL="350520">
              <a:spcBef>
                <a:spcPts val="254"/>
              </a:spcBef>
            </a:pPr>
            <a:r>
              <a:rPr sz="2400" dirty="0">
                <a:latin typeface="Calibri"/>
                <a:cs typeface="Calibri"/>
              </a:rPr>
              <a:t>•</a:t>
            </a:r>
            <a:r>
              <a:rPr sz="2400" spc="170" dirty="0">
                <a:latin typeface="Calibri"/>
                <a:cs typeface="Calibri"/>
              </a:rPr>
              <a:t> 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fonction</a:t>
            </a:r>
            <a:r>
              <a:rPr sz="2400" u="heavy" spc="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 marL="622935" indent="-224790">
              <a:spcBef>
                <a:spcPts val="275"/>
              </a:spcBef>
              <a:buClr>
                <a:srgbClr val="1D1D1D"/>
              </a:buClr>
              <a:buChar char="-"/>
              <a:tabLst>
                <a:tab pos="622935" algn="l"/>
              </a:tabLst>
            </a:pPr>
            <a:r>
              <a:rPr sz="2400" dirty="0">
                <a:latin typeface="Calibri"/>
                <a:cs typeface="Calibri"/>
              </a:rPr>
              <a:t>Déglutition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atypique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avec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interposition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linguale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arcades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contraction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muscles</a:t>
            </a:r>
            <a:endParaRPr sz="2400" dirty="0">
              <a:latin typeface="Calibri"/>
              <a:cs typeface="Calibri"/>
            </a:endParaRPr>
          </a:p>
          <a:p>
            <a:pPr marL="622300">
              <a:spcBef>
                <a:spcPts val="225"/>
              </a:spcBef>
            </a:pPr>
            <a:r>
              <a:rPr sz="2400" spc="-10" dirty="0">
                <a:latin typeface="Calibri"/>
                <a:cs typeface="Calibri"/>
              </a:rPr>
              <a:t>oro-</a:t>
            </a:r>
            <a:r>
              <a:rPr sz="2400" dirty="0">
                <a:latin typeface="Calibri"/>
                <a:cs typeface="Calibri"/>
              </a:rPr>
              <a:t>faciaux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permettant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d'assurer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l'occlusion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labiale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lang="fr-FR" sz="2400" spc="-10" dirty="0">
              <a:latin typeface="Calibri"/>
              <a:cs typeface="Calibri"/>
            </a:endParaRPr>
          </a:p>
          <a:p>
            <a:pPr marL="622300">
              <a:spcBef>
                <a:spcPts val="225"/>
              </a:spcBef>
            </a:pPr>
            <a:endParaRPr sz="2400" dirty="0">
              <a:latin typeface="Calibri"/>
              <a:cs typeface="Calibri"/>
            </a:endParaRPr>
          </a:p>
          <a:p>
            <a:pPr marL="622935" marR="638810" indent="-224790">
              <a:lnSpc>
                <a:spcPts val="1580"/>
              </a:lnSpc>
              <a:spcBef>
                <a:spcPts val="55"/>
              </a:spcBef>
              <a:buClr>
                <a:srgbClr val="1D1D1D"/>
              </a:buClr>
              <a:buChar char="-"/>
              <a:tabLst>
                <a:tab pos="622935" algn="l"/>
              </a:tabLst>
            </a:pPr>
            <a:r>
              <a:rPr sz="2400" dirty="0">
                <a:latin typeface="Calibri"/>
                <a:cs typeface="Calibri"/>
              </a:rPr>
              <a:t>Respiration souvent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buccale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mixte</a:t>
            </a:r>
            <a:r>
              <a:rPr sz="2400" spc="-10" dirty="0">
                <a:latin typeface="Calibri"/>
                <a:cs typeface="Calibri"/>
              </a:rPr>
              <a:t> avec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obstruction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fréquente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voies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aériennes supérieures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moyennes</a:t>
            </a:r>
            <a:endParaRPr sz="2400" dirty="0">
              <a:latin typeface="Calibri"/>
              <a:cs typeface="Calibri"/>
            </a:endParaRPr>
          </a:p>
          <a:p>
            <a:pPr marL="622300" indent="-224154">
              <a:spcBef>
                <a:spcPts val="125"/>
              </a:spcBef>
              <a:buClr>
                <a:srgbClr val="212121"/>
              </a:buClr>
              <a:buChar char="-"/>
              <a:tabLst>
                <a:tab pos="622300" algn="l"/>
              </a:tabLst>
            </a:pPr>
            <a:r>
              <a:rPr sz="2400" dirty="0">
                <a:latin typeface="Calibri"/>
                <a:cs typeface="Calibri"/>
              </a:rPr>
              <a:t>Phonation </a:t>
            </a: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: </a:t>
            </a:r>
            <a:r>
              <a:rPr sz="2400" spc="-10" dirty="0">
                <a:latin typeface="Calibri"/>
                <a:cs typeface="Calibri"/>
              </a:rPr>
              <a:t>troubles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phonatoires</a:t>
            </a:r>
            <a:endParaRPr sz="2400" dirty="0">
              <a:latin typeface="Calibri"/>
              <a:cs typeface="Calibri"/>
            </a:endParaRPr>
          </a:p>
          <a:p>
            <a:pPr marL="622300" indent="-224154">
              <a:spcBef>
                <a:spcPts val="215"/>
              </a:spcBef>
              <a:buClr>
                <a:srgbClr val="212121"/>
              </a:buClr>
              <a:buChar char="-"/>
              <a:tabLst>
                <a:tab pos="622300" algn="l"/>
              </a:tabLst>
            </a:pPr>
            <a:r>
              <a:rPr sz="2400" dirty="0">
                <a:latin typeface="Calibri"/>
                <a:cs typeface="Calibri"/>
              </a:rPr>
              <a:t>Les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parafonctions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aggravatrices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seront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recherchées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pendent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l'examen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clinique.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59"/>
              </a:spcBef>
            </a:pPr>
            <a:endParaRPr sz="2400" dirty="0">
              <a:latin typeface="Calibri"/>
              <a:cs typeface="Calibri"/>
            </a:endParaRPr>
          </a:p>
          <a:p>
            <a:pPr marL="397510"/>
            <a:r>
              <a:rPr sz="2400" b="1" dirty="0">
                <a:latin typeface="Calibri"/>
                <a:cs typeface="Calibri"/>
              </a:rPr>
              <a:t>D.</a:t>
            </a:r>
            <a:r>
              <a:rPr sz="2400" b="1" spc="21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FORMES</a:t>
            </a:r>
            <a:r>
              <a:rPr sz="2400" b="1" spc="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CLINIQUES</a:t>
            </a:r>
            <a:r>
              <a:rPr sz="2400" b="1" spc="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ASSOCIEES</a:t>
            </a:r>
            <a:endParaRPr sz="2400" b="1" dirty="0">
              <a:latin typeface="Calibri"/>
              <a:cs typeface="Calibri"/>
            </a:endParaRPr>
          </a:p>
          <a:p>
            <a:pPr marL="426720">
              <a:spcBef>
                <a:spcPts val="1185"/>
              </a:spcBef>
            </a:pPr>
            <a:r>
              <a:rPr sz="2400" spc="-30" dirty="0">
                <a:latin typeface="Calibri"/>
                <a:cs typeface="Calibri"/>
              </a:rPr>
              <a:t>L'hyper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divergence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peut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être</a:t>
            </a:r>
            <a:r>
              <a:rPr sz="2400" spc="-30" dirty="0">
                <a:latin typeface="Calibri"/>
                <a:cs typeface="Calibri"/>
              </a:rPr>
              <a:t> associée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avec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23570">
              <a:spcBef>
                <a:spcPts val="1165"/>
              </a:spcBef>
              <a:tabLst>
                <a:tab pos="854710" algn="l"/>
              </a:tabLst>
            </a:pPr>
            <a:r>
              <a:rPr sz="2400" spc="-50" dirty="0">
                <a:solidFill>
                  <a:srgbClr val="161616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161616"/>
                </a:solidFill>
                <a:latin typeface="Calibri"/>
                <a:cs typeface="Calibri"/>
              </a:rPr>
              <a:t>	</a:t>
            </a:r>
            <a:r>
              <a:rPr sz="2400" spc="-30" dirty="0">
                <a:latin typeface="Calibri"/>
                <a:cs typeface="Calibri"/>
              </a:rPr>
              <a:t>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types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squelettiques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classe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C0C0C"/>
                </a:solidFill>
                <a:latin typeface="Calibri"/>
                <a:cs typeface="Calibri"/>
              </a:rPr>
              <a:t>II</a:t>
            </a:r>
            <a:r>
              <a:rPr sz="2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 </a:t>
            </a:r>
            <a:r>
              <a:rPr sz="2400" dirty="0">
                <a:latin typeface="Calibri"/>
                <a:cs typeface="Calibri"/>
              </a:rPr>
              <a:t>III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;</a:t>
            </a:r>
            <a:endParaRPr lang="fr-FR" sz="2400" spc="-50" dirty="0">
              <a:latin typeface="Calibri"/>
              <a:cs typeface="Calibri"/>
            </a:endParaRPr>
          </a:p>
          <a:p>
            <a:pPr marL="760730" marR="277495" indent="-230504">
              <a:lnSpc>
                <a:spcPct val="114799"/>
              </a:lnSpc>
              <a:buClr>
                <a:srgbClr val="131313"/>
              </a:buClr>
              <a:buChar char="-"/>
              <a:tabLst>
                <a:tab pos="762635" algn="l"/>
              </a:tabLst>
            </a:pPr>
            <a:r>
              <a:rPr lang="fr-FR" sz="2400" spc="-35" dirty="0">
                <a:latin typeface="Calibri"/>
                <a:cs typeface="Calibri"/>
              </a:rPr>
              <a:t>et </a:t>
            </a:r>
            <a:r>
              <a:rPr lang="fr-FR" sz="2400" spc="-25" dirty="0">
                <a:latin typeface="Calibri"/>
                <a:cs typeface="Calibri"/>
              </a:rPr>
              <a:t>toutes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les</a:t>
            </a:r>
            <a:r>
              <a:rPr lang="fr-FR" sz="2400" spc="-30" dirty="0">
                <a:latin typeface="Calibri"/>
                <a:cs typeface="Calibri"/>
              </a:rPr>
              <a:t> configurations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dentaires</a:t>
            </a:r>
            <a:r>
              <a:rPr lang="fr-FR" sz="2400" spc="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: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Classe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I,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II(</a:t>
            </a:r>
            <a:r>
              <a:rPr lang="fr-FR" sz="2400" spc="-30" dirty="0" err="1">
                <a:latin typeface="Calibri"/>
                <a:cs typeface="Calibri"/>
              </a:rPr>
              <a:t>Ie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plus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souvent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fait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la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rotation 	postérieure)</a:t>
            </a:r>
            <a:endParaRPr lang="fr-FR" sz="2400" dirty="0">
              <a:latin typeface="Calibri"/>
              <a:cs typeface="Calibri"/>
            </a:endParaRPr>
          </a:p>
          <a:p>
            <a:pPr marL="761365" indent="-230504">
              <a:spcBef>
                <a:spcPts val="155"/>
              </a:spcBef>
              <a:buClr>
                <a:srgbClr val="131313"/>
              </a:buClr>
              <a:buChar char="-"/>
              <a:tabLst>
                <a:tab pos="761365" algn="l"/>
              </a:tabLst>
            </a:pPr>
            <a:r>
              <a:rPr lang="fr-FR" sz="2400" spc="-30" dirty="0">
                <a:latin typeface="Calibri"/>
                <a:cs typeface="Calibri"/>
              </a:rPr>
              <a:t>Bi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protrusion (</a:t>
            </a:r>
            <a:r>
              <a:rPr lang="fr-FR" sz="2400" spc="-30" dirty="0" err="1">
                <a:latin typeface="Calibri"/>
                <a:cs typeface="Calibri"/>
              </a:rPr>
              <a:t>Iangue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protrusive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35" dirty="0">
                <a:latin typeface="Calibri"/>
                <a:cs typeface="Calibri"/>
              </a:rPr>
              <a:t> application</a:t>
            </a:r>
            <a:r>
              <a:rPr lang="fr-FR" sz="2400" spc="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au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niveau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55" dirty="0">
                <a:latin typeface="Calibri"/>
                <a:cs typeface="Calibri"/>
              </a:rPr>
              <a:t>du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bord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incisif)</a:t>
            </a:r>
            <a:endParaRPr lang="fr-FR" sz="2400" dirty="0">
              <a:latin typeface="Calibri"/>
              <a:cs typeface="Calibri"/>
            </a:endParaRPr>
          </a:p>
          <a:p>
            <a:pPr marL="761365" indent="-230504">
              <a:spcBef>
                <a:spcPts val="160"/>
              </a:spcBef>
              <a:buClr>
                <a:srgbClr val="131313"/>
              </a:buClr>
              <a:buChar char="-"/>
              <a:tabLst>
                <a:tab pos="761365" algn="l"/>
              </a:tabLst>
            </a:pPr>
            <a:r>
              <a:rPr lang="fr-FR" sz="2400" spc="-35" dirty="0" err="1">
                <a:latin typeface="Calibri"/>
                <a:cs typeface="Calibri"/>
              </a:rPr>
              <a:t>Endognathie</a:t>
            </a:r>
            <a:r>
              <a:rPr lang="fr-FR" sz="2400" spc="6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(aggrave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la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dysmorphose)</a:t>
            </a:r>
            <a:endParaRPr lang="fr-FR" sz="2400" dirty="0">
              <a:latin typeface="Calibri"/>
              <a:cs typeface="Calibri"/>
            </a:endParaRPr>
          </a:p>
          <a:p>
            <a:pPr marL="623570">
              <a:spcBef>
                <a:spcPts val="1165"/>
              </a:spcBef>
              <a:tabLst>
                <a:tab pos="8547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7F5437-2DBA-4924-E5E3-C66D0248A4DD}"/>
              </a:ext>
            </a:extLst>
          </p:cNvPr>
          <p:cNvSpPr txBox="1"/>
          <p:nvPr/>
        </p:nvSpPr>
        <p:spPr>
          <a:xfrm>
            <a:off x="804069" y="546100"/>
            <a:ext cx="13030200" cy="8250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5904" marR="3837940" indent="-255904" algn="r">
              <a:buAutoNum type="alphaUcPeriod" startAt="5"/>
              <a:tabLst>
                <a:tab pos="255904" algn="l"/>
              </a:tabLst>
            </a:pPr>
            <a:r>
              <a:rPr lang="fr-FR" sz="2000" b="1" spc="-35" dirty="0">
                <a:latin typeface="Calibri"/>
                <a:cs typeface="Calibri"/>
              </a:rPr>
              <a:t>DIAGNOSTIC</a:t>
            </a:r>
            <a:r>
              <a:rPr lang="fr-FR" sz="2000" b="1" spc="75" dirty="0">
                <a:latin typeface="Calibri"/>
                <a:cs typeface="Calibri"/>
              </a:rPr>
              <a:t> </a:t>
            </a:r>
            <a:r>
              <a:rPr lang="fr-FR" sz="2000" b="1" spc="-35" dirty="0">
                <a:latin typeface="Calibri"/>
                <a:cs typeface="Calibri"/>
              </a:rPr>
              <a:t>DIFFERENTIEL</a:t>
            </a:r>
            <a:r>
              <a:rPr lang="fr-FR" sz="2000" b="1" spc="35" dirty="0">
                <a:latin typeface="Calibri"/>
                <a:cs typeface="Calibri"/>
              </a:rPr>
              <a:t> </a:t>
            </a:r>
            <a:r>
              <a:rPr lang="fr-FR" sz="2000" b="1" spc="-50" dirty="0">
                <a:latin typeface="Calibri"/>
                <a:cs typeface="Calibri"/>
              </a:rPr>
              <a:t>:</a:t>
            </a:r>
            <a:endParaRPr lang="fr-FR" sz="2000" b="1" dirty="0">
              <a:latin typeface="Calibri"/>
              <a:cs typeface="Calibri"/>
            </a:endParaRPr>
          </a:p>
          <a:p>
            <a:pPr marL="297815">
              <a:spcBef>
                <a:spcPts val="254"/>
              </a:spcBef>
              <a:tabLst>
                <a:tab pos="53340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35" dirty="0">
                <a:latin typeface="Calibri"/>
                <a:cs typeface="Calibri"/>
              </a:rPr>
              <a:t>Augmentation</a:t>
            </a:r>
            <a:r>
              <a:rPr lang="fr-FR" sz="2000" spc="4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globale </a:t>
            </a:r>
            <a:r>
              <a:rPr lang="fr-FR" sz="2000" spc="-10" dirty="0">
                <a:latin typeface="Calibri"/>
                <a:cs typeface="Calibri"/>
              </a:rPr>
              <a:t>des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dimensions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verticales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04"/>
              </a:spcBef>
              <a:tabLst>
                <a:tab pos="52959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30" dirty="0">
                <a:latin typeface="Calibri"/>
                <a:cs typeface="Calibri"/>
              </a:rPr>
              <a:t>Dents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fortes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et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hautes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04"/>
              </a:spcBef>
              <a:tabLst>
                <a:tab pos="53340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35" dirty="0">
                <a:latin typeface="Calibri"/>
                <a:cs typeface="Calibri"/>
              </a:rPr>
              <a:t>Avec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IVP</a:t>
            </a:r>
            <a:r>
              <a:rPr lang="fr-FR" sz="2000" spc="-30" dirty="0">
                <a:latin typeface="Calibri"/>
                <a:cs typeface="Calibri"/>
              </a:rPr>
              <a:t> (insuffisance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vertical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postérieur)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50"/>
              </a:spcBef>
              <a:tabLst>
                <a:tab pos="52959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30" dirty="0">
                <a:latin typeface="Calibri"/>
                <a:cs typeface="Calibri"/>
              </a:rPr>
              <a:t>Hauteur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faciale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postérieure</a:t>
            </a:r>
            <a:r>
              <a:rPr lang="fr-FR" sz="2000" spc="6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réduite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04"/>
              </a:spcBef>
              <a:tabLst>
                <a:tab pos="52959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10" dirty="0">
                <a:latin typeface="Calibri"/>
                <a:cs typeface="Calibri"/>
              </a:rPr>
              <a:t>Un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Ramus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court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mais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hauteur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normale</a:t>
            </a:r>
            <a:r>
              <a:rPr lang="fr-FR" sz="2000" spc="-20" dirty="0">
                <a:latin typeface="Calibri"/>
                <a:cs typeface="Calibri"/>
              </a:rPr>
              <a:t> de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l'étage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10" dirty="0" err="1">
                <a:latin typeface="Calibri"/>
                <a:cs typeface="Calibri"/>
              </a:rPr>
              <a:t>interieur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04"/>
              </a:spcBef>
              <a:tabLst>
                <a:tab pos="52959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35" dirty="0">
                <a:latin typeface="Calibri"/>
                <a:cs typeface="Calibri"/>
              </a:rPr>
              <a:t>Béance </a:t>
            </a:r>
            <a:r>
              <a:rPr lang="fr-FR" sz="2000" spc="-25" dirty="0">
                <a:latin typeface="Calibri"/>
                <a:cs typeface="Calibri"/>
              </a:rPr>
              <a:t>antérieure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232323"/>
                </a:solidFill>
                <a:latin typeface="Calibri"/>
                <a:cs typeface="Calibri"/>
              </a:rPr>
              <a:t>(</a:t>
            </a:r>
            <a:r>
              <a:rPr lang="fr-FR" sz="20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avec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hauteur</a:t>
            </a:r>
            <a:r>
              <a:rPr lang="fr-FR" sz="2000" spc="2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l'étage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inférieur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normale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50" dirty="0">
                <a:latin typeface="Calibri"/>
                <a:cs typeface="Calibri"/>
              </a:rPr>
              <a:t>et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30" dirty="0" err="1">
                <a:latin typeface="Calibri"/>
                <a:cs typeface="Calibri"/>
              </a:rPr>
              <a:t>infraclusie</a:t>
            </a:r>
            <a:r>
              <a:rPr lang="fr-FR" sz="2000" spc="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incisive)</a:t>
            </a:r>
            <a:endParaRPr lang="fr-FR" sz="2000" dirty="0">
              <a:latin typeface="Calibri"/>
              <a:cs typeface="Calibri"/>
            </a:endParaRPr>
          </a:p>
          <a:p>
            <a:pPr marL="297815">
              <a:spcBef>
                <a:spcPts val="250"/>
              </a:spcBef>
              <a:tabLst>
                <a:tab pos="529590" algn="l"/>
              </a:tabLst>
            </a:pPr>
            <a:r>
              <a:rPr lang="fr-FR" sz="2000" spc="-50" dirty="0">
                <a:latin typeface="Calibri"/>
                <a:cs typeface="Calibri"/>
              </a:rPr>
              <a:t>»</a:t>
            </a:r>
            <a:r>
              <a:rPr lang="fr-FR" sz="2000" dirty="0">
                <a:latin typeface="Calibri"/>
                <a:cs typeface="Calibri"/>
              </a:rPr>
              <a:t>	</a:t>
            </a:r>
            <a:r>
              <a:rPr lang="fr-FR" sz="2000" spc="-10" dirty="0">
                <a:latin typeface="Calibri"/>
                <a:cs typeface="Calibri"/>
              </a:rPr>
              <a:t>supra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35" dirty="0" err="1">
                <a:latin typeface="Calibri"/>
                <a:cs typeface="Calibri"/>
              </a:rPr>
              <a:t>alvéolie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molaire.</a:t>
            </a:r>
            <a:endParaRPr lang="fr-FR" sz="2000" dirty="0">
              <a:latin typeface="Calibri"/>
              <a:cs typeface="Calibri"/>
            </a:endParaRPr>
          </a:p>
          <a:p>
            <a:pPr>
              <a:spcBef>
                <a:spcPts val="290"/>
              </a:spcBef>
            </a:pPr>
            <a:endParaRPr lang="fr-FR" sz="2000" dirty="0">
              <a:latin typeface="Calibri"/>
              <a:cs typeface="Calibri"/>
            </a:endParaRPr>
          </a:p>
          <a:p>
            <a:pPr marL="530225" indent="-226060" algn="ctr">
              <a:buAutoNum type="alphaUcPeriod" startAt="6"/>
              <a:tabLst>
                <a:tab pos="530225" algn="l"/>
              </a:tabLst>
            </a:pPr>
            <a:r>
              <a:rPr lang="fr-FR" sz="2000" b="1" spc="-10" dirty="0">
                <a:latin typeface="Calibri"/>
                <a:cs typeface="Calibri"/>
              </a:rPr>
              <a:t>Etiologies</a:t>
            </a:r>
            <a:endParaRPr lang="fr-FR" sz="2000" b="1" dirty="0">
              <a:latin typeface="Calibri"/>
              <a:cs typeface="Calibri"/>
            </a:endParaRPr>
          </a:p>
          <a:p>
            <a:pPr marL="572135">
              <a:spcBef>
                <a:spcPts val="155"/>
              </a:spcBef>
            </a:pPr>
            <a:r>
              <a:rPr lang="fr-FR" sz="2000" b="1" u="sng" spc="-30" dirty="0">
                <a:latin typeface="Calibri"/>
                <a:cs typeface="Calibri"/>
              </a:rPr>
              <a:t>Héréditaires</a:t>
            </a:r>
            <a:r>
              <a:rPr lang="fr-FR" sz="2000" b="1" u="sng" spc="60" dirty="0">
                <a:latin typeface="Calibri"/>
                <a:cs typeface="Calibri"/>
              </a:rPr>
              <a:t> </a:t>
            </a:r>
            <a:endParaRPr lang="fr-FR" sz="2000" b="1" u="sng" dirty="0">
              <a:latin typeface="Calibri"/>
              <a:cs typeface="Calibri"/>
            </a:endParaRPr>
          </a:p>
          <a:p>
            <a:pPr marL="758190" marR="189865" indent="4445">
              <a:lnSpc>
                <a:spcPct val="111300"/>
              </a:lnSpc>
            </a:pPr>
            <a:r>
              <a:rPr lang="fr-FR" sz="2000" spc="-30" dirty="0">
                <a:latin typeface="Calibri"/>
                <a:cs typeface="Calibri"/>
              </a:rPr>
              <a:t>-</a:t>
            </a:r>
            <a:r>
              <a:rPr lang="fr-FR" sz="2000" spc="-35" dirty="0">
                <a:latin typeface="Calibri"/>
                <a:cs typeface="Calibri"/>
              </a:rPr>
              <a:t>W. </a:t>
            </a:r>
            <a:r>
              <a:rPr lang="fr-FR" sz="2000" spc="-30" dirty="0">
                <a:latin typeface="Calibri"/>
                <a:cs typeface="Calibri"/>
              </a:rPr>
              <a:t>HUNTER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et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coll</a:t>
            </a:r>
            <a:r>
              <a:rPr lang="fr-FR" sz="2000" spc="-45" dirty="0">
                <a:latin typeface="Calibri"/>
                <a:cs typeface="Calibri"/>
              </a:rPr>
              <a:t> :</a:t>
            </a:r>
            <a:r>
              <a:rPr lang="fr-FR" sz="2000" spc="-45" dirty="0" err="1">
                <a:latin typeface="Calibri"/>
                <a:cs typeface="Calibri"/>
              </a:rPr>
              <a:t>Ie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sens</a:t>
            </a:r>
            <a:r>
              <a:rPr lang="fr-FR" sz="200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vertical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est plus</a:t>
            </a:r>
            <a:r>
              <a:rPr lang="fr-FR" sz="2000" spc="2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affecté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que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sens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sagittal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(augmentation</a:t>
            </a:r>
            <a:r>
              <a:rPr lang="fr-FR" sz="2000" spc="5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ou </a:t>
            </a:r>
            <a:r>
              <a:rPr lang="fr-FR" sz="2000" spc="-10" dirty="0">
                <a:latin typeface="Calibri"/>
                <a:cs typeface="Calibri"/>
              </a:rPr>
              <a:t>insuffisance)</a:t>
            </a:r>
            <a:endParaRPr lang="fr-FR" sz="2000" dirty="0">
              <a:latin typeface="Calibri"/>
              <a:cs typeface="Calibri"/>
            </a:endParaRPr>
          </a:p>
          <a:p>
            <a:pPr marL="760730" marR="469265" indent="1905">
              <a:lnSpc>
                <a:spcPts val="1580"/>
              </a:lnSpc>
              <a:spcBef>
                <a:spcPts val="45"/>
              </a:spcBef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20" dirty="0">
                <a:latin typeface="Calibri"/>
                <a:cs typeface="Calibri"/>
              </a:rPr>
              <a:t>La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transmission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est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plus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élevée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spc="-40" dirty="0">
                <a:latin typeface="Calibri"/>
                <a:cs typeface="Calibri"/>
              </a:rPr>
              <a:t>entre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6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père</a:t>
            </a:r>
            <a:r>
              <a:rPr lang="fr-FR" sz="2000" spc="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et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les </a:t>
            </a:r>
            <a:r>
              <a:rPr lang="fr-FR" sz="2000" spc="-25" dirty="0">
                <a:latin typeface="Calibri"/>
                <a:cs typeface="Calibri"/>
              </a:rPr>
              <a:t>enfants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particulièrement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pour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la </a:t>
            </a:r>
            <a:r>
              <a:rPr lang="fr-FR" sz="2000" spc="-35" dirty="0">
                <a:latin typeface="Calibri"/>
                <a:cs typeface="Calibri"/>
              </a:rPr>
              <a:t>dimension</a:t>
            </a:r>
            <a:r>
              <a:rPr lang="fr-FR" sz="2000" spc="4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mandibulaire.</a:t>
            </a:r>
            <a:endParaRPr lang="fr-FR" sz="2000" dirty="0">
              <a:latin typeface="Calibri"/>
              <a:cs typeface="Calibri"/>
            </a:endParaRPr>
          </a:p>
          <a:p>
            <a:pPr marL="762635">
              <a:spcBef>
                <a:spcPts val="70"/>
              </a:spcBef>
            </a:pPr>
            <a:r>
              <a:rPr lang="fr-FR" sz="2000" spc="-25" dirty="0">
                <a:latin typeface="Calibri"/>
                <a:cs typeface="Calibri"/>
              </a:rPr>
              <a:t>-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7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hauteur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faciale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qui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semble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être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plus</a:t>
            </a:r>
            <a:r>
              <a:rPr lang="fr-FR" sz="2000" spc="1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transmise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40" dirty="0">
                <a:latin typeface="Calibri"/>
                <a:cs typeface="Calibri"/>
              </a:rPr>
              <a:t>entre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40" dirty="0">
                <a:latin typeface="Calibri"/>
                <a:cs typeface="Calibri"/>
              </a:rPr>
              <a:t>mère</a:t>
            </a:r>
            <a:r>
              <a:rPr lang="fr-FR" sz="2000" spc="-10" dirty="0">
                <a:latin typeface="Calibri"/>
                <a:cs typeface="Calibri"/>
              </a:rPr>
              <a:t> et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les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enfants.</a:t>
            </a:r>
            <a:endParaRPr lang="fr-FR" sz="2000" dirty="0">
              <a:latin typeface="Calibri"/>
              <a:cs typeface="Calibri"/>
            </a:endParaRPr>
          </a:p>
          <a:p>
            <a:pPr marL="762635" marR="261620" indent="-635">
              <a:lnSpc>
                <a:spcPct val="111300"/>
              </a:lnSpc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30" dirty="0">
                <a:latin typeface="Calibri"/>
                <a:cs typeface="Calibri"/>
              </a:rPr>
              <a:t>L'influence</a:t>
            </a:r>
            <a:r>
              <a:rPr lang="fr-FR" sz="2000" spc="3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génétique</a:t>
            </a:r>
            <a:r>
              <a:rPr lang="fr-FR" sz="2000" spc="90" dirty="0"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lang="fr-FR" sz="2000" spc="-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été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prouvée</a:t>
            </a:r>
            <a:r>
              <a:rPr lang="fr-FR" sz="2000" spc="3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sur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tonicité</a:t>
            </a:r>
            <a:r>
              <a:rPr lang="fr-FR" sz="2000" spc="20" dirty="0">
                <a:latin typeface="Calibri"/>
                <a:cs typeface="Calibri"/>
              </a:rPr>
              <a:t> </a:t>
            </a:r>
            <a:r>
              <a:rPr lang="fr-FR" sz="2000" spc="-30" dirty="0" err="1">
                <a:latin typeface="Calibri"/>
                <a:cs typeface="Calibri"/>
              </a:rPr>
              <a:t>muscuIaire;une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hypotonicité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héritée </a:t>
            </a:r>
            <a:r>
              <a:rPr lang="fr-FR" sz="2000" spc="-30" dirty="0">
                <a:latin typeface="Calibri"/>
                <a:cs typeface="Calibri"/>
              </a:rPr>
              <a:t>peut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être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à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l'origine de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l'excès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vertical.</a:t>
            </a:r>
            <a:endParaRPr lang="fr-FR" sz="2000" dirty="0">
              <a:latin typeface="Calibri"/>
              <a:cs typeface="Calibri"/>
            </a:endParaRPr>
          </a:p>
          <a:p>
            <a:pPr marL="762635">
              <a:spcBef>
                <a:spcPts val="160"/>
              </a:spcBef>
            </a:pPr>
            <a:r>
              <a:rPr lang="fr-FR" sz="2000" spc="-40" dirty="0">
                <a:latin typeface="Calibri"/>
                <a:cs typeface="Calibri"/>
              </a:rPr>
              <a:t>-</a:t>
            </a:r>
            <a:r>
              <a:rPr lang="fr-FR" sz="2000" spc="-30" dirty="0">
                <a:latin typeface="Calibri"/>
                <a:cs typeface="Calibri"/>
              </a:rPr>
              <a:t>Le</a:t>
            </a:r>
            <a:r>
              <a:rPr lang="fr-FR" sz="2000" spc="-40" dirty="0">
                <a:latin typeface="Calibri"/>
                <a:cs typeface="Calibri"/>
              </a:rPr>
              <a:t> comportement</a:t>
            </a:r>
            <a:r>
              <a:rPr lang="fr-FR" sz="2000" spc="70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neuromusculaire</a:t>
            </a:r>
            <a:r>
              <a:rPr lang="fr-FR" sz="2000" spc="2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est</a:t>
            </a:r>
            <a:r>
              <a:rPr lang="fr-FR" sz="2000" spc="-1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génétiquement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prédéterminé.</a:t>
            </a:r>
            <a:endParaRPr lang="fr-FR" sz="2000" dirty="0">
              <a:latin typeface="Calibri"/>
              <a:cs typeface="Calibri"/>
            </a:endParaRPr>
          </a:p>
          <a:p>
            <a:pPr marL="572135">
              <a:spcBef>
                <a:spcPts val="1165"/>
              </a:spcBef>
            </a:pPr>
            <a:r>
              <a:rPr lang="fr-FR" sz="20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Facteurs </a:t>
            </a:r>
            <a:r>
              <a:rPr lang="fr-FR"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iatrogènes:</a:t>
            </a:r>
            <a:endParaRPr lang="fr-FR" sz="2000" b="1" dirty="0">
              <a:latin typeface="Calibri"/>
              <a:cs typeface="Calibri"/>
            </a:endParaRPr>
          </a:p>
          <a:p>
            <a:pPr marL="986155" marR="219710" lvl="1" indent="-224154">
              <a:lnSpc>
                <a:spcPct val="111300"/>
              </a:lnSpc>
              <a:spcBef>
                <a:spcPts val="1005"/>
              </a:spcBef>
              <a:buChar char="-"/>
              <a:tabLst>
                <a:tab pos="986155" algn="l"/>
                <a:tab pos="991869" algn="l"/>
              </a:tabLst>
            </a:pPr>
            <a:r>
              <a:rPr lang="fr-FR" sz="2000" dirty="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lang="fr-FR" sz="2000" spc="-40" dirty="0">
                <a:latin typeface="Calibri"/>
                <a:cs typeface="Calibri"/>
              </a:rPr>
              <a:t>Toute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thérapeutique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du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sens </a:t>
            </a:r>
            <a:r>
              <a:rPr lang="fr-FR" sz="2000" spc="-30" dirty="0">
                <a:latin typeface="Calibri"/>
                <a:cs typeface="Calibri"/>
              </a:rPr>
              <a:t>sagittale</a:t>
            </a:r>
            <a:r>
              <a:rPr lang="fr-FR" sz="2000" spc="35" dirty="0"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lang="fr-FR" sz="2000" spc="-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un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effet</a:t>
            </a:r>
            <a:r>
              <a:rPr lang="fr-FR" sz="2000" spc="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sur</a:t>
            </a:r>
            <a:r>
              <a:rPr lang="fr-FR" sz="2000" spc="1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la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croissance</a:t>
            </a:r>
            <a:r>
              <a:rPr lang="fr-FR" sz="2000" spc="40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verticale</a:t>
            </a:r>
            <a:r>
              <a:rPr lang="fr-FR" sz="2000" spc="5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de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face </a:t>
            </a:r>
            <a:r>
              <a:rPr lang="fr-FR" sz="2000" dirty="0">
                <a:latin typeface="Calibri"/>
                <a:cs typeface="Calibri"/>
              </a:rPr>
              <a:t>en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faisant</a:t>
            </a:r>
            <a:r>
              <a:rPr lang="fr-FR" sz="2000" spc="-10" dirty="0">
                <a:latin typeface="Calibri"/>
                <a:cs typeface="Calibri"/>
              </a:rPr>
              <a:t> augmenter.</a:t>
            </a:r>
            <a:endParaRPr lang="fr-FR" sz="2000" dirty="0">
              <a:latin typeface="Calibri"/>
              <a:cs typeface="Calibri"/>
            </a:endParaRPr>
          </a:p>
          <a:p>
            <a:pPr marL="986155" marR="629285" lvl="2" indent="73025">
              <a:lnSpc>
                <a:spcPct val="111300"/>
              </a:lnSpc>
              <a:buClr>
                <a:srgbClr val="111111"/>
              </a:buClr>
              <a:buChar char="-"/>
              <a:tabLst>
                <a:tab pos="1059180" algn="l"/>
              </a:tabLst>
            </a:pPr>
            <a:r>
              <a:rPr lang="fr-FR" sz="2000" spc="-25" dirty="0">
                <a:latin typeface="Calibri"/>
                <a:cs typeface="Calibri"/>
              </a:rPr>
              <a:t>Due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au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spc="-45" dirty="0">
                <a:latin typeface="Calibri"/>
                <a:cs typeface="Calibri"/>
              </a:rPr>
              <a:t>non-</a:t>
            </a:r>
            <a:r>
              <a:rPr lang="fr-FR" sz="2000" spc="-25" dirty="0">
                <a:latin typeface="Calibri"/>
                <a:cs typeface="Calibri"/>
              </a:rPr>
              <a:t>respect</a:t>
            </a:r>
            <a:r>
              <a:rPr lang="fr-FR" sz="2000" spc="35" dirty="0">
                <a:latin typeface="Calibri"/>
                <a:cs typeface="Calibri"/>
              </a:rPr>
              <a:t> </a:t>
            </a:r>
            <a:r>
              <a:rPr lang="fr-FR" sz="2000" spc="-35" dirty="0">
                <a:latin typeface="Calibri"/>
                <a:cs typeface="Calibri"/>
              </a:rPr>
              <a:t>des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contre-</a:t>
            </a:r>
            <a:r>
              <a:rPr lang="fr-FR" sz="2000" spc="-25" dirty="0">
                <a:latin typeface="Calibri"/>
                <a:cs typeface="Calibri"/>
              </a:rPr>
              <a:t>indications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ou </a:t>
            </a:r>
            <a:r>
              <a:rPr lang="fr-FR" sz="2000" dirty="0">
                <a:latin typeface="Calibri"/>
                <a:cs typeface="Calibri"/>
              </a:rPr>
              <a:t>un</a:t>
            </a:r>
            <a:r>
              <a:rPr lang="fr-FR" sz="2000" spc="190" dirty="0">
                <a:latin typeface="Calibri"/>
                <a:cs typeface="Calibri"/>
              </a:rPr>
              <a:t> </a:t>
            </a:r>
            <a:r>
              <a:rPr lang="fr-FR" sz="2000" spc="-30" dirty="0">
                <a:latin typeface="Calibri"/>
                <a:cs typeface="Calibri"/>
              </a:rPr>
              <a:t>mauvais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usage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 </a:t>
            </a:r>
            <a:r>
              <a:rPr lang="fr-FR" sz="2000" spc="-10" dirty="0">
                <a:latin typeface="Calibri"/>
                <a:cs typeface="Calibri"/>
              </a:rPr>
              <a:t>certains </a:t>
            </a:r>
            <a:r>
              <a:rPr lang="fr-FR" sz="2000" spc="-30" dirty="0">
                <a:latin typeface="Calibri"/>
                <a:cs typeface="Calibri"/>
              </a:rPr>
              <a:t>appareils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50" dirty="0">
                <a:latin typeface="Calibri"/>
                <a:cs typeface="Calibri"/>
              </a:rPr>
              <a:t>:</a:t>
            </a:r>
            <a:endParaRPr lang="fr-FR" sz="2000" dirty="0">
              <a:latin typeface="Calibri"/>
              <a:cs typeface="Calibri"/>
            </a:endParaRPr>
          </a:p>
          <a:p>
            <a:pPr marL="1902460" lvl="3" indent="-227965">
              <a:spcBef>
                <a:spcPts val="204"/>
              </a:spcBef>
              <a:buChar char="•"/>
              <a:tabLst>
                <a:tab pos="1902460" algn="l"/>
              </a:tabLst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10" dirty="0">
                <a:latin typeface="Calibri"/>
                <a:cs typeface="Calibri"/>
              </a:rPr>
              <a:t>Activateurs</a:t>
            </a:r>
            <a:endParaRPr lang="fr-FR" sz="2000" dirty="0">
              <a:latin typeface="Calibri"/>
              <a:cs typeface="Calibri"/>
            </a:endParaRPr>
          </a:p>
          <a:p>
            <a:pPr marL="1902460" lvl="3" indent="-227965">
              <a:spcBef>
                <a:spcPts val="155"/>
              </a:spcBef>
              <a:buChar char="•"/>
              <a:tabLst>
                <a:tab pos="1902460" algn="l"/>
              </a:tabLst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30" dirty="0">
                <a:latin typeface="Calibri"/>
                <a:cs typeface="Calibri"/>
              </a:rPr>
              <a:t>Forces</a:t>
            </a:r>
            <a:r>
              <a:rPr lang="fr-FR" sz="2000" spc="25" dirty="0">
                <a:latin typeface="Calibri"/>
                <a:cs typeface="Calibri"/>
              </a:rPr>
              <a:t> </a:t>
            </a:r>
            <a:r>
              <a:rPr lang="fr-FR" sz="2000" spc="-45" dirty="0">
                <a:latin typeface="Calibri"/>
                <a:cs typeface="Calibri"/>
              </a:rPr>
              <a:t>extra-</a:t>
            </a:r>
            <a:r>
              <a:rPr lang="fr-FR" sz="2000" spc="-10" dirty="0">
                <a:latin typeface="Calibri"/>
                <a:cs typeface="Calibri"/>
              </a:rPr>
              <a:t>orales</a:t>
            </a:r>
            <a:endParaRPr lang="fr-FR" sz="2000" dirty="0">
              <a:latin typeface="Calibri"/>
              <a:cs typeface="Calibri"/>
            </a:endParaRPr>
          </a:p>
          <a:p>
            <a:pPr marL="1902460" lvl="3" indent="-227965">
              <a:spcBef>
                <a:spcPts val="160"/>
              </a:spcBef>
              <a:buChar char="•"/>
              <a:tabLst>
                <a:tab pos="1902460" algn="l"/>
              </a:tabLst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30" dirty="0">
                <a:latin typeface="Calibri"/>
                <a:cs typeface="Calibri"/>
              </a:rPr>
              <a:t>élastiques</a:t>
            </a:r>
            <a:r>
              <a:rPr lang="fr-FR" sz="2000" spc="5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intermaxillaires</a:t>
            </a:r>
            <a:endParaRPr lang="fr-FR" sz="2000" dirty="0">
              <a:latin typeface="Calibri"/>
              <a:cs typeface="Calibri"/>
            </a:endParaRPr>
          </a:p>
          <a:p>
            <a:pPr marL="1902460" lvl="3" indent="-227965">
              <a:spcBef>
                <a:spcPts val="155"/>
              </a:spcBef>
              <a:buChar char="•"/>
              <a:tabLst>
                <a:tab pos="1902460" algn="l"/>
              </a:tabLst>
            </a:pPr>
            <a:r>
              <a:rPr lang="fr-FR" sz="2000" spc="-35" dirty="0">
                <a:latin typeface="Calibri"/>
                <a:cs typeface="Calibri"/>
              </a:rPr>
              <a:t>-</a:t>
            </a:r>
            <a:r>
              <a:rPr lang="fr-FR" sz="2000" spc="-25" dirty="0">
                <a:latin typeface="Calibri"/>
                <a:cs typeface="Calibri"/>
              </a:rPr>
              <a:t>plaque </a:t>
            </a:r>
            <a:r>
              <a:rPr lang="fr-FR" sz="2000" spc="-20" dirty="0">
                <a:latin typeface="Calibri"/>
                <a:cs typeface="Calibri"/>
              </a:rPr>
              <a:t>avec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surélévation</a:t>
            </a:r>
            <a:endParaRPr lang="fr-FR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83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869" y="-444500"/>
            <a:ext cx="13487400" cy="11197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610"/>
              </a:spcBef>
            </a:pPr>
            <a:endParaRPr sz="2400" dirty="0">
              <a:latin typeface="Calibri"/>
              <a:cs typeface="Calibri"/>
            </a:endParaRPr>
          </a:p>
          <a:p>
            <a:pPr>
              <a:spcBef>
                <a:spcPts val="285"/>
              </a:spcBef>
            </a:pPr>
            <a:endParaRPr sz="2400" dirty="0">
              <a:latin typeface="Calibri"/>
              <a:cs typeface="Calibri"/>
            </a:endParaRPr>
          </a:p>
          <a:p>
            <a:pPr marR="3776979" algn="r">
              <a:spcBef>
                <a:spcPts val="1165"/>
              </a:spcBef>
            </a:pPr>
            <a:r>
              <a:rPr sz="2400" b="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4.2.</a:t>
            </a:r>
            <a:r>
              <a:rPr sz="24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LES</a:t>
            </a:r>
            <a:r>
              <a:rPr sz="24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INSUFFISENCES</a:t>
            </a:r>
            <a:r>
              <a:rPr sz="2400" b="1" u="heavy" spc="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VERTICALES</a:t>
            </a:r>
            <a:r>
              <a:rPr sz="2400" b="1" u="heavy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3660" marR="609600" indent="-1905">
              <a:lnSpc>
                <a:spcPct val="111300"/>
              </a:lnSpc>
              <a:spcBef>
                <a:spcPts val="1005"/>
              </a:spcBef>
            </a:pPr>
            <a:r>
              <a:rPr sz="2400" dirty="0">
                <a:latin typeface="Calibri"/>
                <a:cs typeface="Calibri"/>
              </a:rPr>
              <a:t>Il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s'agit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d'une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insuffisance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croissance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niveau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squelettique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avec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direction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tendance </a:t>
            </a:r>
            <a:r>
              <a:rPr sz="2400" spc="-30" dirty="0">
                <a:latin typeface="Calibri"/>
                <a:cs typeface="Calibri"/>
              </a:rPr>
              <a:t>horizontale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correspondant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accentuation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type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face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coute.</a:t>
            </a:r>
            <a:endParaRPr sz="2400" dirty="0">
              <a:latin typeface="Calibri"/>
              <a:cs typeface="Calibri"/>
            </a:endParaRPr>
          </a:p>
          <a:p>
            <a:pPr marL="529590" indent="-227965">
              <a:spcBef>
                <a:spcPts val="1165"/>
              </a:spcBef>
              <a:buAutoNum type="alphaUcPeriod"/>
              <a:tabLst>
                <a:tab pos="529590" algn="l"/>
              </a:tabLst>
            </a:pPr>
            <a:r>
              <a:rPr sz="2400" b="1" spc="-50" dirty="0">
                <a:latin typeface="Calibri"/>
                <a:cs typeface="Calibri"/>
              </a:rPr>
              <a:t>EXAMEN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CLINIQUE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 marL="72390">
              <a:spcBef>
                <a:spcPts val="1165"/>
              </a:spcBef>
            </a:pPr>
            <a:r>
              <a:rPr sz="2400" b="1" spc="-30" dirty="0">
                <a:latin typeface="Calibri"/>
                <a:cs typeface="Calibri"/>
              </a:rPr>
              <a:t>De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face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 marL="528955" lvl="1" indent="-226695">
              <a:spcBef>
                <a:spcPts val="1165"/>
              </a:spcBef>
              <a:buChar char="•"/>
              <a:tabLst>
                <a:tab pos="528955" algn="l"/>
              </a:tabLst>
            </a:pPr>
            <a:r>
              <a:rPr sz="2400" spc="-30" dirty="0">
                <a:latin typeface="Calibri"/>
                <a:cs typeface="Calibri"/>
              </a:rPr>
              <a:t>diminution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hauteur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faciale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Inferieure.</a:t>
            </a:r>
            <a:endParaRPr sz="2400" dirty="0">
              <a:latin typeface="Calibri"/>
              <a:cs typeface="Calibri"/>
            </a:endParaRPr>
          </a:p>
          <a:p>
            <a:pPr marL="529590" lvl="1" indent="-227329">
              <a:spcBef>
                <a:spcPts val="155"/>
              </a:spcBef>
              <a:buChar char="•"/>
              <a:tabLst>
                <a:tab pos="529590" algn="l"/>
              </a:tabLst>
            </a:pPr>
            <a:r>
              <a:rPr sz="2400" spc="-30" dirty="0">
                <a:latin typeface="Calibri"/>
                <a:cs typeface="Calibri"/>
              </a:rPr>
              <a:t>Lèvres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contact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fines.</a:t>
            </a:r>
            <a:endParaRPr lang="fr-FR" sz="2400" dirty="0">
              <a:latin typeface="Calibri"/>
              <a:cs typeface="Calibri"/>
            </a:endParaRPr>
          </a:p>
          <a:p>
            <a:pPr marL="529590" lvl="1" indent="-227329">
              <a:spcBef>
                <a:spcPts val="155"/>
              </a:spcBef>
              <a:buChar char="•"/>
              <a:tabLst>
                <a:tab pos="529590" algn="l"/>
              </a:tabLst>
            </a:pPr>
            <a:r>
              <a:rPr lang="fr-FR" sz="2400" spc="-30" dirty="0">
                <a:latin typeface="Calibri"/>
                <a:cs typeface="Calibri"/>
              </a:rPr>
              <a:t>SLM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(sillon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30" dirty="0" err="1">
                <a:latin typeface="Calibri"/>
                <a:cs typeface="Calibri"/>
              </a:rPr>
              <a:t>labio</a:t>
            </a:r>
            <a:r>
              <a:rPr lang="fr-FR" sz="2400" spc="-30" dirty="0">
                <a:latin typeface="Calibri"/>
                <a:cs typeface="Calibri"/>
              </a:rPr>
              <a:t>-mentonnier)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marqué.</a:t>
            </a:r>
            <a:endParaRPr lang="fr-FR" sz="2400" dirty="0">
              <a:latin typeface="Calibri"/>
              <a:cs typeface="Calibri"/>
            </a:endParaRPr>
          </a:p>
          <a:p>
            <a:pPr marL="529590" lvl="1" indent="-227329">
              <a:spcBef>
                <a:spcPts val="155"/>
              </a:spcBef>
              <a:buChar char="•"/>
              <a:tabLst>
                <a:tab pos="529590" algn="l"/>
              </a:tabLst>
            </a:pPr>
            <a:r>
              <a:rPr lang="fr-FR" sz="2400" spc="-25" dirty="0">
                <a:latin typeface="Calibri"/>
                <a:cs typeface="Calibri"/>
              </a:rPr>
              <a:t>Largeur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face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normale</a:t>
            </a:r>
          </a:p>
          <a:p>
            <a:pPr marL="529590" lvl="1" indent="-227329">
              <a:spcBef>
                <a:spcPts val="155"/>
              </a:spcBef>
              <a:buChar char="•"/>
              <a:tabLst>
                <a:tab pos="529590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mandibule</a:t>
            </a:r>
            <a:r>
              <a:rPr lang="fr-FR" sz="2400" spc="7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est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carrée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dirty="0">
                <a:solidFill>
                  <a:srgbClr val="1C1C1C"/>
                </a:solidFill>
                <a:latin typeface="Calibri"/>
                <a:cs typeface="Calibri"/>
              </a:rPr>
              <a:t>;</a:t>
            </a:r>
            <a:r>
              <a:rPr lang="fr-FR" sz="240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distance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30" dirty="0" err="1">
                <a:latin typeface="Calibri"/>
                <a:cs typeface="Calibri"/>
              </a:rPr>
              <a:t>bigoniaque</a:t>
            </a:r>
            <a:r>
              <a:rPr lang="fr-FR" sz="2400" spc="5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est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importante.</a:t>
            </a:r>
            <a:endParaRPr lang="fr-FR" sz="2400" dirty="0">
              <a:latin typeface="Calibri"/>
              <a:cs typeface="Calibri"/>
            </a:endParaRPr>
          </a:p>
          <a:p>
            <a:pPr marL="165100">
              <a:spcBef>
                <a:spcPts val="1165"/>
              </a:spcBef>
            </a:pPr>
            <a:r>
              <a:rPr lang="fr-FR" sz="2400" b="1" dirty="0">
                <a:latin typeface="Calibri"/>
                <a:cs typeface="Calibri"/>
              </a:rPr>
              <a:t>De</a:t>
            </a:r>
            <a:r>
              <a:rPr lang="fr-FR" sz="2400" b="1" spc="-50" dirty="0">
                <a:latin typeface="Calibri"/>
                <a:cs typeface="Calibri"/>
              </a:rPr>
              <a:t> </a:t>
            </a:r>
            <a:r>
              <a:rPr lang="fr-FR" sz="2400" b="1" spc="-25" dirty="0">
                <a:latin typeface="Calibri"/>
                <a:cs typeface="Calibri"/>
              </a:rPr>
              <a:t>profil</a:t>
            </a:r>
            <a:r>
              <a:rPr lang="fr-FR" sz="2400" b="1" spc="-15" dirty="0">
                <a:latin typeface="Calibri"/>
                <a:cs typeface="Calibri"/>
              </a:rPr>
              <a:t> </a:t>
            </a:r>
            <a:r>
              <a:rPr lang="fr-FR" sz="2400" b="1" spc="-50" dirty="0">
                <a:solidFill>
                  <a:srgbClr val="0E0E0E"/>
                </a:solidFill>
                <a:latin typeface="Calibri"/>
                <a:cs typeface="Calibri"/>
              </a:rPr>
              <a:t>:</a:t>
            </a:r>
            <a:endParaRPr lang="fr-FR" sz="2400" b="1" dirty="0">
              <a:latin typeface="Calibri"/>
              <a:cs typeface="Calibri"/>
            </a:endParaRPr>
          </a:p>
          <a:p>
            <a:pPr marL="622935" indent="-227965">
              <a:spcBef>
                <a:spcPts val="1165"/>
              </a:spcBef>
              <a:buChar char="•"/>
              <a:tabLst>
                <a:tab pos="622935" algn="l"/>
              </a:tabLst>
            </a:pPr>
            <a:r>
              <a:rPr lang="fr-FR" sz="2400" spc="-20" dirty="0">
                <a:latin typeface="Calibri"/>
                <a:cs typeface="Calibri"/>
              </a:rPr>
              <a:t>Sillon</a:t>
            </a:r>
            <a:r>
              <a:rPr lang="fr-FR" sz="2400" spc="35" dirty="0">
                <a:latin typeface="Calibri"/>
                <a:cs typeface="Calibri"/>
              </a:rPr>
              <a:t> </a:t>
            </a:r>
            <a:r>
              <a:rPr lang="fr-FR" sz="2400" spc="-35" dirty="0" err="1">
                <a:latin typeface="Calibri"/>
                <a:cs typeface="Calibri"/>
              </a:rPr>
              <a:t>labio</a:t>
            </a:r>
            <a:r>
              <a:rPr lang="fr-FR" sz="2400" spc="-35" dirty="0">
                <a:latin typeface="Calibri"/>
                <a:cs typeface="Calibri"/>
              </a:rPr>
              <a:t>-</a:t>
            </a:r>
            <a:r>
              <a:rPr lang="fr-FR" sz="2400" spc="-30" dirty="0">
                <a:latin typeface="Calibri"/>
                <a:cs typeface="Calibri"/>
              </a:rPr>
              <a:t>mentonnier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marqué</a:t>
            </a:r>
            <a:endParaRPr lang="fr-FR" sz="2400" dirty="0">
              <a:latin typeface="Calibri"/>
              <a:cs typeface="Calibri"/>
            </a:endParaRPr>
          </a:p>
          <a:p>
            <a:pPr marL="622300" indent="-227329">
              <a:spcBef>
                <a:spcPts val="155"/>
              </a:spcBef>
              <a:buChar char="•"/>
              <a:tabLst>
                <a:tab pos="622300" algn="l"/>
              </a:tabLst>
            </a:pPr>
            <a:r>
              <a:rPr lang="fr-FR" sz="2400" spc="-10" dirty="0">
                <a:latin typeface="Calibri"/>
                <a:cs typeface="Calibri"/>
              </a:rPr>
              <a:t>Le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profil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cutané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est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concave</a:t>
            </a:r>
            <a:endParaRPr lang="fr-FR" sz="2400" dirty="0">
              <a:latin typeface="Calibri"/>
              <a:cs typeface="Calibri"/>
            </a:endParaRPr>
          </a:p>
          <a:p>
            <a:pPr marL="622300" indent="-227329">
              <a:spcBef>
                <a:spcPts val="155"/>
              </a:spcBef>
              <a:buChar char="•"/>
              <a:tabLst>
                <a:tab pos="622300" algn="l"/>
              </a:tabLst>
            </a:pPr>
            <a:r>
              <a:rPr lang="fr-FR" sz="2400" spc="-20" dirty="0">
                <a:latin typeface="Calibri"/>
                <a:cs typeface="Calibri"/>
              </a:rPr>
              <a:t>Les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lèvres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sont</a:t>
            </a:r>
            <a:r>
              <a:rPr lang="fr-FR" sz="2400" spc="-20" dirty="0">
                <a:latin typeface="Calibri"/>
                <a:cs typeface="Calibri"/>
              </a:rPr>
              <a:t> fines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18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la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lèvre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inférieure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est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éversée.</a:t>
            </a:r>
            <a:endParaRPr lang="fr-FR" sz="2400" dirty="0">
              <a:latin typeface="Calibri"/>
              <a:cs typeface="Calibri"/>
            </a:endParaRPr>
          </a:p>
          <a:p>
            <a:pPr marL="622300" indent="-226695">
              <a:spcBef>
                <a:spcPts val="209"/>
              </a:spcBef>
              <a:buChar char="•"/>
              <a:tabLst>
                <a:tab pos="622300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Progénie</a:t>
            </a:r>
            <a:endParaRPr lang="fr-FR" sz="2400" dirty="0">
              <a:latin typeface="Calibri"/>
              <a:cs typeface="Calibri"/>
            </a:endParaRPr>
          </a:p>
          <a:p>
            <a:pPr>
              <a:spcBef>
                <a:spcPts val="355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621665" indent="-225425">
              <a:spcBef>
                <a:spcPts val="5"/>
              </a:spcBef>
              <a:buAutoNum type="alphaUcPeriod" startAt="2"/>
              <a:tabLst>
                <a:tab pos="621665" algn="l"/>
              </a:tabLst>
            </a:pPr>
            <a:r>
              <a:rPr lang="fr-FR" sz="2400" b="1" spc="-40" dirty="0">
                <a:latin typeface="Calibri"/>
                <a:cs typeface="Calibri"/>
              </a:rPr>
              <a:t>EXAMEN</a:t>
            </a:r>
            <a:r>
              <a:rPr lang="fr-FR" sz="2400" b="1" spc="-25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ENDOBUCALE:</a:t>
            </a:r>
            <a:endParaRPr lang="fr-FR" sz="2400" b="1" dirty="0">
              <a:latin typeface="Calibri"/>
              <a:cs typeface="Calibri"/>
            </a:endParaRPr>
          </a:p>
          <a:p>
            <a:pPr marL="1080135" lvl="1" indent="-227965">
              <a:spcBef>
                <a:spcPts val="155"/>
              </a:spcBef>
              <a:buChar char="•"/>
              <a:tabLst>
                <a:tab pos="1080135" algn="l"/>
              </a:tabLst>
            </a:pPr>
            <a:r>
              <a:rPr lang="fr-FR" sz="2400" spc="-35" dirty="0" err="1">
                <a:latin typeface="Calibri"/>
                <a:cs typeface="Calibri"/>
              </a:rPr>
              <a:t>Supraclusie</a:t>
            </a:r>
            <a:r>
              <a:rPr lang="fr-FR" sz="2400" spc="114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constante</a:t>
            </a:r>
            <a:endParaRPr lang="fr-FR" sz="2400" dirty="0">
              <a:latin typeface="Calibri"/>
              <a:cs typeface="Calibri"/>
            </a:endParaRPr>
          </a:p>
          <a:p>
            <a:pPr marL="1079500" lvl="1" indent="-227329">
              <a:spcBef>
                <a:spcPts val="204"/>
              </a:spcBef>
              <a:buChar char="•"/>
              <a:tabLst>
                <a:tab pos="1079500" algn="l"/>
              </a:tabLst>
            </a:pPr>
            <a:r>
              <a:rPr lang="fr-FR" sz="2400" spc="-30" dirty="0">
                <a:latin typeface="Calibri"/>
                <a:cs typeface="Calibri"/>
              </a:rPr>
              <a:t>Petite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hauteur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40" dirty="0">
                <a:latin typeface="Calibri"/>
                <a:cs typeface="Calibri"/>
              </a:rPr>
              <a:t>couronnes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cliniques</a:t>
            </a:r>
            <a:endParaRPr lang="fr-FR" sz="2400" dirty="0">
              <a:latin typeface="Calibri"/>
              <a:cs typeface="Calibri"/>
            </a:endParaRPr>
          </a:p>
          <a:p>
            <a:pPr marL="1079500" lvl="1" indent="-227329">
              <a:spcBef>
                <a:spcPts val="155"/>
              </a:spcBef>
              <a:buChar char="•"/>
              <a:tabLst>
                <a:tab pos="1079500" algn="l"/>
              </a:tabLst>
            </a:pPr>
            <a:r>
              <a:rPr lang="fr-FR" sz="2400" spc="-35" dirty="0">
                <a:latin typeface="Calibri"/>
                <a:cs typeface="Calibri"/>
              </a:rPr>
              <a:t>Espace </a:t>
            </a:r>
            <a:r>
              <a:rPr lang="fr-FR" sz="2400" spc="-10" dirty="0">
                <a:latin typeface="Calibri"/>
                <a:cs typeface="Calibri"/>
              </a:rPr>
              <a:t>libre</a:t>
            </a:r>
            <a:r>
              <a:rPr lang="fr-FR" sz="2400" spc="-30" dirty="0">
                <a:latin typeface="Calibri"/>
                <a:cs typeface="Calibri"/>
              </a:rPr>
              <a:t> molaire</a:t>
            </a:r>
            <a:r>
              <a:rPr lang="fr-FR" sz="2400" spc="-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repos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augmenté</a:t>
            </a:r>
            <a:endParaRPr lang="fr-FR" sz="2400" dirty="0">
              <a:latin typeface="Calibri"/>
              <a:cs typeface="Calibri"/>
            </a:endParaRPr>
          </a:p>
          <a:p>
            <a:pPr marL="1079500" lvl="1" indent="-227329">
              <a:spcBef>
                <a:spcPts val="155"/>
              </a:spcBef>
              <a:buChar char="•"/>
              <a:tabLst>
                <a:tab pos="1079500" algn="l"/>
              </a:tabLst>
            </a:pPr>
            <a:r>
              <a:rPr lang="fr-FR" sz="2400" spc="-35" dirty="0">
                <a:latin typeface="Calibri"/>
                <a:cs typeface="Calibri"/>
              </a:rPr>
              <a:t>Interposition</a:t>
            </a:r>
            <a:r>
              <a:rPr lang="fr-FR" sz="2400" spc="8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linguale</a:t>
            </a:r>
            <a:r>
              <a:rPr lang="fr-FR" sz="2400" spc="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latérale</a:t>
            </a:r>
            <a:endParaRPr lang="fr-FR" sz="2400" dirty="0">
              <a:latin typeface="Calibri"/>
              <a:cs typeface="Calibri"/>
            </a:endParaRPr>
          </a:p>
          <a:p>
            <a:pPr marL="1078865" lvl="1" indent="-226695">
              <a:spcBef>
                <a:spcPts val="155"/>
              </a:spcBef>
              <a:buChar char="•"/>
              <a:tabLst>
                <a:tab pos="1078865" algn="l"/>
              </a:tabLst>
            </a:pPr>
            <a:r>
              <a:rPr lang="fr-FR" sz="2400" spc="-30" dirty="0">
                <a:latin typeface="Calibri"/>
                <a:cs typeface="Calibri"/>
              </a:rPr>
              <a:t>courbe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de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20" dirty="0" err="1">
                <a:latin typeface="Calibri"/>
                <a:cs typeface="Calibri"/>
              </a:rPr>
              <a:t>Spee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mandibulaire</a:t>
            </a:r>
            <a:r>
              <a:rPr lang="fr-FR" sz="2400" spc="95" dirty="0">
                <a:latin typeface="Calibri"/>
                <a:cs typeface="Calibri"/>
              </a:rPr>
              <a:t> </a:t>
            </a:r>
            <a:r>
              <a:rPr lang="fr-FR" sz="2400" spc="-35" dirty="0">
                <a:latin typeface="Calibri"/>
                <a:cs typeface="Calibri"/>
              </a:rPr>
              <a:t>augmentée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voire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inversé</a:t>
            </a:r>
            <a:r>
              <a:rPr lang="fr-FR" sz="2400" spc="40" dirty="0">
                <a:latin typeface="Calibri"/>
                <a:cs typeface="Calibri"/>
              </a:rPr>
              <a:t> </a:t>
            </a:r>
            <a:r>
              <a:rPr lang="fr-FR" sz="2400" spc="-50" dirty="0">
                <a:latin typeface="Calibri"/>
                <a:cs typeface="Calibri"/>
              </a:rPr>
              <a:t>au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maxillaire</a:t>
            </a:r>
            <a:endParaRPr lang="fr-FR" sz="2400" dirty="0">
              <a:latin typeface="Calibri"/>
              <a:cs typeface="Calibri"/>
            </a:endParaRPr>
          </a:p>
          <a:p>
            <a:pPr marL="1080770" lvl="1" indent="-228600">
              <a:spcBef>
                <a:spcPts val="160"/>
              </a:spcBef>
              <a:buChar char="•"/>
              <a:tabLst>
                <a:tab pos="1080770" algn="l"/>
              </a:tabLst>
            </a:pPr>
            <a:r>
              <a:rPr lang="fr-FR" sz="2400" spc="-35" dirty="0">
                <a:latin typeface="Calibri"/>
                <a:cs typeface="Calibri"/>
              </a:rPr>
              <a:t>relation</a:t>
            </a:r>
            <a:r>
              <a:rPr lang="fr-FR" sz="2400" spc="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classe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dirty="0">
                <a:solidFill>
                  <a:srgbClr val="131313"/>
                </a:solidFill>
                <a:latin typeface="Calibri"/>
                <a:cs typeface="Calibri"/>
              </a:rPr>
              <a:t>Il</a:t>
            </a:r>
            <a:r>
              <a:rPr lang="fr-FR" sz="2400" spc="-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fréquente</a:t>
            </a:r>
            <a:endParaRPr lang="fr-FR" sz="2400" dirty="0">
              <a:latin typeface="Calibri"/>
              <a:cs typeface="Calibri"/>
            </a:endParaRPr>
          </a:p>
          <a:p>
            <a:pPr marL="529590" lvl="1" indent="-227329">
              <a:spcBef>
                <a:spcPts val="155"/>
              </a:spcBef>
              <a:buChar char="•"/>
              <a:tabLst>
                <a:tab pos="52959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4967547" y="9890974"/>
            <a:ext cx="383391" cy="155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185"/>
              </a:lnSpc>
            </a:pPr>
            <a:fld id="{81D60167-4931-47E6-BA6A-407CBD079E47}" type="slidenum">
              <a:rPr spc="-25" dirty="0"/>
              <a:pPr marL="36195">
                <a:lnSpc>
                  <a:spcPts val="1185"/>
                </a:lnSpc>
              </a:pPr>
              <a:t>17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346869" y="422601"/>
            <a:ext cx="13411199" cy="953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>
              <a:spcBef>
                <a:spcPts val="285"/>
              </a:spcBef>
            </a:pPr>
            <a:endParaRPr sz="2400" dirty="0">
              <a:latin typeface="Calibri"/>
              <a:cs typeface="Calibri"/>
            </a:endParaRPr>
          </a:p>
          <a:p>
            <a:pPr marL="622300" indent="-226695">
              <a:buAutoNum type="alphaUcPeriod" startAt="2"/>
              <a:tabLst>
                <a:tab pos="622300" algn="l"/>
              </a:tabLst>
            </a:pPr>
            <a:r>
              <a:rPr sz="2400" b="1" spc="-40" dirty="0">
                <a:latin typeface="Calibri"/>
                <a:cs typeface="Calibri"/>
              </a:rPr>
              <a:t>EXAMEN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FONCTIONNEL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 b="1" dirty="0">
              <a:latin typeface="Calibri"/>
              <a:cs typeface="Calibri"/>
            </a:endParaRPr>
          </a:p>
          <a:p>
            <a:pPr marL="664845">
              <a:spcBef>
                <a:spcPts val="204"/>
              </a:spcBef>
            </a:pPr>
            <a:r>
              <a:rPr sz="2400" spc="-35" dirty="0">
                <a:latin typeface="Calibri"/>
                <a:cs typeface="Calibri"/>
              </a:rPr>
              <a:t>Musculature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repos</a:t>
            </a:r>
            <a:endParaRPr sz="2400" dirty="0">
              <a:latin typeface="Calibri"/>
              <a:cs typeface="Calibri"/>
            </a:endParaRPr>
          </a:p>
          <a:p>
            <a:pPr marL="1115695" lvl="1" indent="-233045">
              <a:spcBef>
                <a:spcPts val="155"/>
              </a:spcBef>
              <a:buChar char="•"/>
              <a:tabLst>
                <a:tab pos="1115695" algn="l"/>
              </a:tabLst>
            </a:pPr>
            <a:r>
              <a:rPr sz="2400" spc="-35" dirty="0">
                <a:latin typeface="Calibri"/>
                <a:cs typeface="Calibri"/>
              </a:rPr>
              <a:t>Musculature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très </a:t>
            </a:r>
            <a:r>
              <a:rPr sz="2400" spc="-35" dirty="0">
                <a:latin typeface="Calibri"/>
                <a:cs typeface="Calibri"/>
              </a:rPr>
              <a:t>forte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très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antérieure</a:t>
            </a:r>
            <a:endParaRPr sz="2400" dirty="0">
              <a:latin typeface="Calibri"/>
              <a:cs typeface="Calibri"/>
            </a:endParaRPr>
          </a:p>
          <a:p>
            <a:pPr marL="1115695" marR="352425" lvl="1" indent="-233045">
              <a:lnSpc>
                <a:spcPct val="111300"/>
              </a:lnSpc>
              <a:buChar char="•"/>
              <a:tabLst>
                <a:tab pos="1118870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ptérygo-masséterine: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une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insertion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plus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large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antérieure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bord 	</a:t>
            </a:r>
            <a:r>
              <a:rPr sz="2400" spc="-30" dirty="0">
                <a:latin typeface="Calibri"/>
                <a:cs typeface="Calibri"/>
              </a:rPr>
              <a:t>inférieur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branche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horizontale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1111"/>
                </a:solidFill>
                <a:latin typeface="Calibri"/>
                <a:cs typeface="Calibri"/>
              </a:rPr>
              <a:t>la</a:t>
            </a:r>
            <a:r>
              <a:rPr sz="2400" spc="-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mandibule</a:t>
            </a:r>
            <a:endParaRPr sz="2400" dirty="0">
              <a:latin typeface="Calibri"/>
              <a:cs typeface="Calibri"/>
            </a:endParaRPr>
          </a:p>
          <a:p>
            <a:pPr marL="664845" marR="710565" lvl="1" indent="454659">
              <a:lnSpc>
                <a:spcPct val="111300"/>
              </a:lnSpc>
              <a:buChar char="•"/>
              <a:tabLst>
                <a:tab pos="1119505" algn="l"/>
              </a:tabLst>
            </a:pPr>
            <a:r>
              <a:rPr sz="2400" spc="-35" dirty="0">
                <a:latin typeface="Calibri"/>
                <a:cs typeface="Calibri"/>
              </a:rPr>
              <a:t>Activité </a:t>
            </a:r>
            <a:r>
              <a:rPr sz="2400" spc="-30" dirty="0">
                <a:latin typeface="Calibri"/>
                <a:cs typeface="Calibri"/>
              </a:rPr>
              <a:t>importante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temporal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postérieur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ICM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(favorisant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1111"/>
                </a:solidFill>
                <a:latin typeface="Calibri"/>
                <a:cs typeface="Calibri"/>
              </a:rPr>
              <a:t>le</a:t>
            </a:r>
            <a:r>
              <a:rPr sz="2400" spc="-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bruxisme,)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fonction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115695" lvl="1" indent="-233045">
              <a:spcBef>
                <a:spcPts val="160"/>
              </a:spcBef>
              <a:buChar char="•"/>
              <a:tabLst>
                <a:tab pos="1115695" algn="l"/>
              </a:tabLst>
            </a:pPr>
            <a:r>
              <a:rPr sz="2400" spc="-30" dirty="0">
                <a:latin typeface="Calibri"/>
                <a:cs typeface="Calibri"/>
              </a:rPr>
              <a:t>Respiration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nasale</a:t>
            </a:r>
            <a:endParaRPr sz="2400" dirty="0">
              <a:latin typeface="Calibri"/>
              <a:cs typeface="Calibri"/>
            </a:endParaRPr>
          </a:p>
          <a:p>
            <a:pPr marL="1115695" lvl="1" indent="-233045">
              <a:spcBef>
                <a:spcPts val="204"/>
              </a:spcBef>
              <a:buChar char="•"/>
              <a:tabLst>
                <a:tab pos="1115695" algn="l"/>
              </a:tabLst>
            </a:pPr>
            <a:r>
              <a:rPr sz="2400" spc="-40" dirty="0">
                <a:latin typeface="Calibri"/>
                <a:cs typeface="Calibri"/>
              </a:rPr>
              <a:t>Phonation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perturbée: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troubles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d'articulation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1111"/>
                </a:solidFill>
                <a:latin typeface="Calibri"/>
                <a:cs typeface="Calibri"/>
              </a:rPr>
              <a:t>"S"</a:t>
            </a:r>
            <a:r>
              <a:rPr sz="2400" spc="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"D"</a:t>
            </a:r>
            <a:endParaRPr sz="2400" dirty="0">
              <a:latin typeface="Calibri"/>
              <a:cs typeface="Calibri"/>
            </a:endParaRPr>
          </a:p>
          <a:p>
            <a:pPr marL="1115695" marR="537845" lvl="1" indent="-233045">
              <a:lnSpc>
                <a:spcPct val="111300"/>
              </a:lnSpc>
              <a:buChar char="•"/>
              <a:tabLst>
                <a:tab pos="1115695" algn="l"/>
                <a:tab pos="1119505" algn="l"/>
              </a:tabLst>
            </a:pPr>
            <a:r>
              <a:rPr sz="2400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Anomalies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du </a:t>
            </a:r>
            <a:r>
              <a:rPr sz="2400" spc="-30" dirty="0">
                <a:latin typeface="Calibri"/>
                <a:cs typeface="Calibri"/>
              </a:rPr>
              <a:t>chemin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 Fermeture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fréquentes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avec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rétrusion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mandibulaire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et </a:t>
            </a:r>
            <a:r>
              <a:rPr sz="2400" spc="-35" dirty="0">
                <a:latin typeface="Calibri"/>
                <a:cs typeface="Calibri"/>
              </a:rPr>
              <a:t>compression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méniscale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(conséquence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classe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Il/2.)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285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621665" indent="-225425">
              <a:buAutoNum type="alphaUcPeriod" startAt="4"/>
              <a:tabLst>
                <a:tab pos="621665" algn="l"/>
              </a:tabLst>
            </a:pPr>
            <a:r>
              <a:rPr sz="2400" b="1" spc="-35" dirty="0">
                <a:latin typeface="Calibri"/>
                <a:cs typeface="Calibri"/>
              </a:rPr>
              <a:t>EXAMENS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RADIOLOGIQUES:</a:t>
            </a:r>
            <a:endParaRPr sz="2400" b="1" dirty="0">
              <a:latin typeface="Calibri"/>
              <a:cs typeface="Calibri"/>
            </a:endParaRPr>
          </a:p>
          <a:p>
            <a:pPr marL="1115695" marR="322580" lvl="1" indent="-233679">
              <a:lnSpc>
                <a:spcPct val="111300"/>
              </a:lnSpc>
              <a:buChar char="•"/>
              <a:tabLst>
                <a:tab pos="1116965" algn="l"/>
              </a:tabLst>
            </a:pPr>
            <a:r>
              <a:rPr sz="2400" b="1" spc="-30" dirty="0">
                <a:latin typeface="Calibri"/>
                <a:cs typeface="Calibri"/>
              </a:rPr>
              <a:t>Le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cliché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panoramique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nous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indique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racines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molaires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maxillaires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sont 	</a:t>
            </a:r>
            <a:r>
              <a:rPr sz="2400" spc="-40" dirty="0">
                <a:latin typeface="Calibri"/>
                <a:cs typeface="Calibri"/>
              </a:rPr>
              <a:t>proches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plancher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sinus</a:t>
            </a:r>
            <a:endParaRPr sz="2400" dirty="0">
              <a:latin typeface="Calibri"/>
              <a:cs typeface="Calibri"/>
            </a:endParaRPr>
          </a:p>
          <a:p>
            <a:pPr marL="1115695" lvl="1" indent="-233045">
              <a:spcBef>
                <a:spcPts val="160"/>
              </a:spcBef>
              <a:buChar char="•"/>
              <a:tabLst>
                <a:tab pos="1115695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diminution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30" dirty="0">
                <a:latin typeface="Calibri"/>
                <a:cs typeface="Calibri"/>
              </a:rPr>
              <a:t> hauteur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alvéolaire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postérieure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peut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être</a:t>
            </a:r>
            <a:r>
              <a:rPr sz="2400" spc="-25" dirty="0">
                <a:latin typeface="Calibri"/>
                <a:cs typeface="Calibri"/>
              </a:rPr>
              <a:t> maxillaire,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mandibulaire</a:t>
            </a:r>
            <a:endParaRPr sz="2400" dirty="0">
              <a:latin typeface="Calibri"/>
              <a:cs typeface="Calibri"/>
            </a:endParaRPr>
          </a:p>
          <a:p>
            <a:pPr marL="1116965">
              <a:spcBef>
                <a:spcPts val="200"/>
              </a:spcBef>
            </a:pP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 dirty="0">
              <a:latin typeface="Times New Roman"/>
              <a:cs typeface="Times New Roman"/>
            </a:endParaRPr>
          </a:p>
          <a:p>
            <a:pPr marL="666115">
              <a:spcBef>
                <a:spcPts val="160"/>
              </a:spcBef>
            </a:pPr>
            <a:r>
              <a:rPr sz="2400" b="1" spc="-20" dirty="0">
                <a:latin typeface="Calibri"/>
                <a:cs typeface="Calibri"/>
              </a:rPr>
              <a:t>Sur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TLR</a:t>
            </a:r>
            <a:endParaRPr sz="2400" b="1" dirty="0">
              <a:latin typeface="Calibri"/>
              <a:cs typeface="Calibri"/>
            </a:endParaRPr>
          </a:p>
          <a:p>
            <a:pPr marL="1116965" lvl="1" indent="-234315">
              <a:spcBef>
                <a:spcPts val="155"/>
              </a:spcBef>
              <a:buChar char="•"/>
              <a:tabLst>
                <a:tab pos="1116965" algn="l"/>
              </a:tabLst>
            </a:pPr>
            <a:r>
              <a:rPr sz="2400" spc="-35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Parallélisme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plans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:(bispinaI,occlusal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mandibulaire).</a:t>
            </a:r>
            <a:endParaRPr sz="2400" dirty="0">
              <a:latin typeface="Calibri"/>
              <a:cs typeface="Calibri"/>
            </a:endParaRPr>
          </a:p>
          <a:p>
            <a:pPr marL="1116965" lvl="1" indent="-234315">
              <a:spcBef>
                <a:spcPts val="155"/>
              </a:spcBef>
              <a:buChar char="•"/>
              <a:tabLst>
                <a:tab pos="1116965" algn="l"/>
              </a:tabLst>
            </a:pPr>
            <a:r>
              <a:rPr sz="2400" spc="-35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FMA:diminué.</a:t>
            </a:r>
            <a:endParaRPr sz="2400" dirty="0">
              <a:latin typeface="Calibri"/>
              <a:cs typeface="Calibri"/>
            </a:endParaRPr>
          </a:p>
          <a:p>
            <a:pPr marL="1116965" lvl="1" indent="-234315">
              <a:spcBef>
                <a:spcPts val="155"/>
              </a:spcBef>
              <a:buChar char="•"/>
              <a:tabLst>
                <a:tab pos="1116965" algn="l"/>
              </a:tabLst>
            </a:pPr>
            <a:r>
              <a:rPr sz="2400" spc="-35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Axe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Y:diminué.</a:t>
            </a:r>
            <a:endParaRPr sz="2400" dirty="0">
              <a:latin typeface="Calibri"/>
              <a:cs typeface="Calibri"/>
            </a:endParaRPr>
          </a:p>
          <a:p>
            <a:pPr marL="1116965" lvl="1" indent="-234315">
              <a:spcBef>
                <a:spcPts val="160"/>
              </a:spcBef>
              <a:buChar char="•"/>
              <a:tabLst>
                <a:tab pos="1116965" algn="l"/>
              </a:tabLst>
            </a:pPr>
            <a:r>
              <a:rPr sz="2400" spc="-35" dirty="0">
                <a:latin typeface="Calibri"/>
                <a:cs typeface="Calibri"/>
              </a:rPr>
              <a:t>-</a:t>
            </a:r>
            <a:r>
              <a:rPr sz="2400" spc="-20" dirty="0">
                <a:latin typeface="Calibri"/>
                <a:cs typeface="Calibri"/>
              </a:rPr>
              <a:t>Angle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goniaque: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fermé.</a:t>
            </a:r>
            <a:endParaRPr sz="2400" dirty="0">
              <a:latin typeface="Calibri"/>
              <a:cs typeface="Calibri"/>
            </a:endParaRPr>
          </a:p>
          <a:p>
            <a:pPr marL="1116965" lvl="1" indent="-234315">
              <a:spcBef>
                <a:spcPts val="155"/>
              </a:spcBef>
              <a:buChar char="•"/>
              <a:tabLst>
                <a:tab pos="1116965" algn="l"/>
              </a:tabLst>
            </a:pPr>
            <a:r>
              <a:rPr sz="2400" spc="-40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molaire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proches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plancher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du</a:t>
            </a:r>
            <a:r>
              <a:rPr sz="2400" spc="-25" dirty="0">
                <a:latin typeface="Calibri"/>
                <a:cs typeface="Calibri"/>
              </a:rPr>
              <a:t> sinus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maxillaire.</a:t>
            </a:r>
            <a:endParaRPr sz="2400" dirty="0">
              <a:latin typeface="Calibri"/>
              <a:cs typeface="Calibri"/>
            </a:endParaRPr>
          </a:p>
          <a:p>
            <a:pPr marL="1116965" lvl="1" indent="-234315">
              <a:spcBef>
                <a:spcPts val="204"/>
              </a:spcBef>
              <a:buChar char="•"/>
              <a:tabLst>
                <a:tab pos="1116965" algn="l"/>
              </a:tabLst>
            </a:pPr>
            <a:r>
              <a:rPr sz="2400" spc="-35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30" dirty="0">
                <a:latin typeface="Calibri"/>
                <a:cs typeface="Calibri"/>
              </a:rPr>
              <a:t> hauteur </a:t>
            </a:r>
            <a:r>
              <a:rPr sz="2400" dirty="0">
                <a:latin typeface="Calibri"/>
                <a:cs typeface="Calibri"/>
              </a:rPr>
              <a:t>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procès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alvéolaires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réduite.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4967547" y="9890974"/>
            <a:ext cx="383391" cy="155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185"/>
              </a:lnSpc>
            </a:pPr>
            <a:fld id="{81D60167-4931-47E6-BA6A-407CBD079E47}" type="slidenum">
              <a:rPr spc="-25" dirty="0"/>
              <a:pPr marL="36195">
                <a:lnSpc>
                  <a:spcPts val="1185"/>
                </a:lnSpc>
              </a:pPr>
              <a:t>18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023269" y="1040393"/>
            <a:ext cx="8966066" cy="4306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915"/>
              </a:spcBef>
            </a:pPr>
            <a:endParaRPr sz="2400" dirty="0">
              <a:latin typeface="Calibri"/>
              <a:cs typeface="Calibri"/>
            </a:endParaRPr>
          </a:p>
          <a:p>
            <a:pPr marL="274955" indent="-224154">
              <a:buAutoNum type="alphaUcPeriod" startAt="5"/>
              <a:tabLst>
                <a:tab pos="274955" algn="l"/>
              </a:tabLst>
            </a:pPr>
            <a:r>
              <a:rPr sz="2400" b="1" dirty="0">
                <a:latin typeface="Calibri"/>
                <a:cs typeface="Calibri"/>
              </a:rPr>
              <a:t>DIAGNOSTIC</a:t>
            </a:r>
            <a:r>
              <a:rPr sz="2400" b="1" spc="1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ETIOLOGIQUE</a:t>
            </a:r>
            <a:endParaRPr sz="2400" b="1" dirty="0">
              <a:latin typeface="Calibri"/>
              <a:cs typeface="Calibri"/>
            </a:endParaRPr>
          </a:p>
          <a:p>
            <a:pPr marL="768985" lvl="1" indent="-233045">
              <a:spcBef>
                <a:spcPts val="225"/>
              </a:spcBef>
              <a:buChar char="•"/>
              <a:tabLst>
                <a:tab pos="768985" algn="l"/>
              </a:tabLst>
            </a:pPr>
            <a:r>
              <a:rPr sz="2400" spc="-30" dirty="0">
                <a:latin typeface="Calibri"/>
                <a:cs typeface="Calibri"/>
              </a:rPr>
              <a:t>Héréditaire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+++</a:t>
            </a:r>
            <a:endParaRPr sz="2400" dirty="0">
              <a:latin typeface="Calibri"/>
              <a:cs typeface="Calibri"/>
            </a:endParaRPr>
          </a:p>
          <a:p>
            <a:pPr marL="768985" lvl="1" indent="-233045">
              <a:spcBef>
                <a:spcPts val="155"/>
              </a:spcBef>
              <a:buChar char="•"/>
              <a:tabLst>
                <a:tab pos="768985" algn="l"/>
              </a:tabLst>
            </a:pPr>
            <a:r>
              <a:rPr sz="2400" spc="-40" dirty="0">
                <a:latin typeface="Calibri"/>
                <a:cs typeface="Calibri"/>
              </a:rPr>
              <a:t>Rôle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l'enveloppe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musculaire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70255" lvl="1" indent="-234315">
              <a:spcBef>
                <a:spcPts val="155"/>
              </a:spcBef>
              <a:buChar char="•"/>
              <a:tabLst>
                <a:tab pos="770255" algn="l"/>
              </a:tabLst>
            </a:pPr>
            <a:r>
              <a:rPr sz="2400" spc="-40" dirty="0">
                <a:latin typeface="Calibri"/>
                <a:cs typeface="Calibri"/>
              </a:rPr>
              <a:t>masséter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est </a:t>
            </a:r>
            <a:r>
              <a:rPr sz="2400" spc="-30" dirty="0">
                <a:latin typeface="Calibri"/>
                <a:cs typeface="Calibri"/>
              </a:rPr>
              <a:t>puissant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Iarge,avec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insertion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antérieure</a:t>
            </a:r>
            <a:endParaRPr sz="2400" dirty="0">
              <a:latin typeface="Calibri"/>
              <a:cs typeface="Calibri"/>
            </a:endParaRPr>
          </a:p>
          <a:p>
            <a:pPr marL="772160" lvl="1" indent="-236220">
              <a:spcBef>
                <a:spcPts val="160"/>
              </a:spcBef>
              <a:buChar char="•"/>
              <a:tabLst>
                <a:tab pos="772160" algn="l"/>
              </a:tabLst>
            </a:pPr>
            <a:r>
              <a:rPr sz="2400" spc="-40" dirty="0">
                <a:latin typeface="Calibri"/>
                <a:cs typeface="Calibri"/>
              </a:rPr>
              <a:t>Ankylose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temporo-</a:t>
            </a:r>
            <a:r>
              <a:rPr sz="2400" spc="-10" dirty="0">
                <a:latin typeface="Calibri"/>
                <a:cs typeface="Calibri"/>
              </a:rPr>
              <a:t>mandibulaire.</a:t>
            </a:r>
            <a:endParaRPr sz="2400" dirty="0">
              <a:latin typeface="Calibri"/>
              <a:cs typeface="Calibri"/>
            </a:endParaRPr>
          </a:p>
          <a:p>
            <a:pPr marL="768985" lvl="1" indent="-233045">
              <a:spcBef>
                <a:spcPts val="155"/>
              </a:spcBef>
              <a:buChar char="•"/>
              <a:tabLst>
                <a:tab pos="768985" algn="l"/>
              </a:tabLst>
            </a:pPr>
            <a:r>
              <a:rPr sz="2400" spc="-35" dirty="0">
                <a:latin typeface="Calibri"/>
                <a:cs typeface="Calibri"/>
              </a:rPr>
              <a:t>Hypothyroïdie: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insuffisance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maturation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osseuse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335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5590" indent="-225425">
              <a:spcBef>
                <a:spcPts val="5"/>
              </a:spcBef>
              <a:buAutoNum type="alphaUcPeriod" startAt="5"/>
              <a:tabLst>
                <a:tab pos="275590" algn="l"/>
              </a:tabLst>
            </a:pPr>
            <a:r>
              <a:rPr sz="2400" b="1" spc="-10" dirty="0">
                <a:latin typeface="Calibri"/>
                <a:cs typeface="Calibri"/>
              </a:rPr>
              <a:t>DIAGNOSTIC</a:t>
            </a:r>
            <a:r>
              <a:rPr lang="fr-FR" sz="2400" b="1" spc="70" dirty="0">
                <a:latin typeface="Calibri"/>
                <a:cs typeface="Calibri"/>
              </a:rPr>
              <a:t> </a:t>
            </a:r>
            <a:r>
              <a:rPr lang="fr-FR" sz="2400" b="1" spc="-10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IFFÈRENTIEL</a:t>
            </a:r>
            <a:endParaRPr sz="2400" b="1" dirty="0">
              <a:latin typeface="Calibri"/>
              <a:cs typeface="Calibri"/>
            </a:endParaRPr>
          </a:p>
          <a:p>
            <a:pPr marL="276225" lvl="1" indent="-227965">
              <a:spcBef>
                <a:spcPts val="260"/>
              </a:spcBef>
              <a:buChar char="•"/>
              <a:tabLst>
                <a:tab pos="276225" algn="l"/>
              </a:tabLst>
            </a:pPr>
            <a:r>
              <a:rPr sz="2400" spc="-10" dirty="0">
                <a:latin typeface="Calibri"/>
                <a:cs typeface="Calibri"/>
              </a:rPr>
              <a:t>-Infra-</a:t>
            </a:r>
            <a:r>
              <a:rPr sz="2400" dirty="0">
                <a:latin typeface="Calibri"/>
                <a:cs typeface="Calibri"/>
              </a:rPr>
              <a:t>alvéolie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molaire.</a:t>
            </a:r>
            <a:endParaRPr sz="2400" dirty="0">
              <a:latin typeface="Calibri"/>
              <a:cs typeface="Calibri"/>
            </a:endParaRPr>
          </a:p>
          <a:p>
            <a:pPr marL="276225" lvl="1" indent="-227965">
              <a:spcBef>
                <a:spcPts val="219"/>
              </a:spcBef>
              <a:buChar char="•"/>
              <a:tabLst>
                <a:tab pos="276225" algn="l"/>
              </a:tabLst>
            </a:pPr>
            <a:r>
              <a:rPr sz="2400" spc="-10" dirty="0">
                <a:latin typeface="Calibri"/>
                <a:cs typeface="Calibri"/>
              </a:rPr>
              <a:t>-Supra-</a:t>
            </a:r>
            <a:r>
              <a:rPr sz="2400" dirty="0">
                <a:latin typeface="Calibri"/>
                <a:cs typeface="Calibri"/>
              </a:rPr>
              <a:t>alvéolie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incisive.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0269" y="1536700"/>
            <a:ext cx="13030200" cy="4295407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38125">
              <a:spcBef>
                <a:spcPts val="315"/>
              </a:spcBef>
            </a:pPr>
            <a:r>
              <a:rPr sz="3200" b="1" spc="-10" dirty="0">
                <a:latin typeface="Calibri"/>
                <a:cs typeface="Calibri"/>
              </a:rPr>
              <a:t>CONCLUSION</a:t>
            </a:r>
            <a:endParaRPr lang="fr-FR" sz="3200" b="1" spc="-10" dirty="0">
              <a:latin typeface="Calibri"/>
              <a:cs typeface="Calibri"/>
            </a:endParaRPr>
          </a:p>
          <a:p>
            <a:pPr marL="238125">
              <a:spcBef>
                <a:spcPts val="315"/>
              </a:spcBef>
            </a:pPr>
            <a:endParaRPr sz="3200" dirty="0">
              <a:latin typeface="Calibri"/>
              <a:cs typeface="Calibri"/>
            </a:endParaRPr>
          </a:p>
          <a:p>
            <a:pPr marL="239395" marR="5080" indent="-227329">
              <a:lnSpc>
                <a:spcPts val="1580"/>
              </a:lnSpc>
              <a:spcBef>
                <a:spcPts val="50"/>
              </a:spcBef>
              <a:buChar char="•"/>
              <a:tabLst>
                <a:tab pos="239395" algn="l"/>
              </a:tabLst>
            </a:pPr>
            <a:r>
              <a:rPr sz="3200" dirty="0">
                <a:latin typeface="Calibri"/>
                <a:cs typeface="Calibri"/>
              </a:rPr>
              <a:t>Les </a:t>
            </a:r>
            <a:r>
              <a:rPr sz="3200" spc="-10" dirty="0">
                <a:latin typeface="Calibri"/>
                <a:cs typeface="Calibri"/>
              </a:rPr>
              <a:t>anomalies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verticales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11111"/>
                </a:solidFill>
                <a:latin typeface="Calibri"/>
                <a:cs typeface="Calibri"/>
              </a:rPr>
              <a:t>le</a:t>
            </a:r>
            <a:r>
              <a:rPr sz="3200" spc="-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préjudice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esthétique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qu'elles </a:t>
            </a:r>
            <a:r>
              <a:rPr sz="3200" dirty="0" err="1">
                <a:latin typeface="Calibri"/>
                <a:cs typeface="Calibri"/>
              </a:rPr>
              <a:t>entraînent</a:t>
            </a:r>
            <a:r>
              <a:rPr sz="3200" dirty="0">
                <a:latin typeface="Calibri"/>
                <a:cs typeface="Calibri"/>
              </a:rPr>
              <a:t>,</a:t>
            </a:r>
            <a:endParaRPr lang="fr-FR" sz="3200" dirty="0">
              <a:latin typeface="Calibri"/>
              <a:cs typeface="Calibri"/>
            </a:endParaRPr>
          </a:p>
          <a:p>
            <a:pPr marL="12066" marR="5080">
              <a:lnSpc>
                <a:spcPts val="1580"/>
              </a:lnSpc>
              <a:spcBef>
                <a:spcPts val="50"/>
              </a:spcBef>
              <a:tabLst>
                <a:tab pos="239395" algn="l"/>
              </a:tabLst>
            </a:pPr>
            <a:endParaRPr lang="fr-FR" sz="3200" spc="25" dirty="0">
              <a:latin typeface="Calibri"/>
              <a:cs typeface="Calibri"/>
            </a:endParaRPr>
          </a:p>
          <a:p>
            <a:pPr marL="12066" marR="5080">
              <a:lnSpc>
                <a:spcPts val="1580"/>
              </a:lnSpc>
              <a:spcBef>
                <a:spcPts val="50"/>
              </a:spcBef>
              <a:tabLst>
                <a:tab pos="239395" algn="l"/>
              </a:tabLst>
            </a:pP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compliquent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bien </a:t>
            </a:r>
            <a:r>
              <a:rPr sz="3200" dirty="0">
                <a:latin typeface="Calibri"/>
                <a:cs typeface="Calibri"/>
              </a:rPr>
              <a:t>souvent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51515"/>
                </a:solidFill>
                <a:latin typeface="Calibri"/>
                <a:cs typeface="Calibri"/>
              </a:rPr>
              <a:t>II</a:t>
            </a:r>
            <a:r>
              <a:rPr sz="3200" spc="-3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III.</a:t>
            </a:r>
            <a:endParaRPr sz="3200" dirty="0">
              <a:latin typeface="Calibri"/>
              <a:cs typeface="Calibri"/>
            </a:endParaRPr>
          </a:p>
          <a:p>
            <a:pPr marL="239395" indent="-226695">
              <a:spcBef>
                <a:spcPts val="125"/>
              </a:spcBef>
              <a:buChar char="•"/>
              <a:tabLst>
                <a:tab pos="239395" algn="l"/>
              </a:tabLst>
            </a:pPr>
            <a:r>
              <a:rPr sz="3200" dirty="0">
                <a:latin typeface="Calibri"/>
                <a:cs typeface="Calibri"/>
              </a:rPr>
              <a:t>Il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semble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donc</a:t>
            </a:r>
            <a:r>
              <a:rPr sz="3200" spc="-10" dirty="0">
                <a:latin typeface="Calibri"/>
                <a:cs typeface="Calibri"/>
              </a:rPr>
              <a:t> important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respecter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dimension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verticale</a:t>
            </a:r>
            <a:endParaRPr sz="3200" dirty="0">
              <a:latin typeface="Calibri"/>
              <a:cs typeface="Calibri"/>
            </a:endParaRPr>
          </a:p>
          <a:p>
            <a:pPr marL="239395">
              <a:spcBef>
                <a:spcPts val="215"/>
              </a:spcBef>
            </a:pPr>
            <a:r>
              <a:rPr sz="3200" spc="-10" dirty="0">
                <a:latin typeface="Calibri"/>
                <a:cs typeface="Calibri"/>
              </a:rPr>
              <a:t>Prendre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conscience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de:</a:t>
            </a:r>
            <a:endParaRPr sz="3200" dirty="0">
              <a:latin typeface="Calibri"/>
              <a:cs typeface="Calibri"/>
            </a:endParaRPr>
          </a:p>
          <a:p>
            <a:pPr marL="240665" indent="-226060">
              <a:spcBef>
                <a:spcPts val="220"/>
              </a:spcBef>
              <a:buClr>
                <a:srgbClr val="1D1D1D"/>
              </a:buClr>
              <a:buChar char="-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la </a:t>
            </a:r>
            <a:r>
              <a:rPr sz="3200" spc="-10" dirty="0">
                <a:latin typeface="Calibri"/>
                <a:cs typeface="Calibri"/>
              </a:rPr>
              <a:t>liaison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entre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31313"/>
                </a:solidFill>
                <a:latin typeface="Calibri"/>
                <a:cs typeface="Calibri"/>
              </a:rPr>
              <a:t>le</a:t>
            </a:r>
            <a:r>
              <a:rPr sz="3200" spc="-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antéro-</a:t>
            </a:r>
            <a:r>
              <a:rPr sz="3200" dirty="0">
                <a:latin typeface="Calibri"/>
                <a:cs typeface="Calibri"/>
              </a:rPr>
              <a:t>postérieur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vertical,</a:t>
            </a:r>
            <a:endParaRPr sz="3200" dirty="0">
              <a:latin typeface="Calibri"/>
              <a:cs typeface="Calibri"/>
            </a:endParaRPr>
          </a:p>
          <a:p>
            <a:pPr marL="238760" indent="-224154">
              <a:spcBef>
                <a:spcPts val="215"/>
              </a:spcBef>
              <a:buClr>
                <a:srgbClr val="1D1D1D"/>
              </a:buClr>
              <a:buChar char="-"/>
              <a:tabLst>
                <a:tab pos="238760" algn="l"/>
              </a:tabLst>
            </a:pPr>
            <a:r>
              <a:rPr sz="3200" dirty="0">
                <a:latin typeface="Calibri"/>
                <a:cs typeface="Calibri"/>
              </a:rPr>
              <a:t>ainsi que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fonction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dimension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verticale</a:t>
            </a:r>
            <a:endParaRPr sz="3200" dirty="0">
              <a:latin typeface="Calibri"/>
              <a:cs typeface="Calibri"/>
            </a:endParaRPr>
          </a:p>
          <a:p>
            <a:pPr marL="238760" indent="-224154">
              <a:spcBef>
                <a:spcPts val="215"/>
              </a:spcBef>
              <a:buClr>
                <a:srgbClr val="1D1D1D"/>
              </a:buClr>
              <a:buChar char="-"/>
              <a:tabLst>
                <a:tab pos="238760" algn="l"/>
              </a:tabLst>
            </a:pPr>
            <a:r>
              <a:rPr sz="3200" dirty="0">
                <a:latin typeface="Calibri"/>
                <a:cs typeface="Calibri"/>
              </a:rPr>
              <a:t>et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aussi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l'effet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thérapeutique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qui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tendance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toujours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à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l'augmenter.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316748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23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4BC2AB-D543-48AE-A218-04B7DD700133}">
  <we:reference id="wa200005566" version="3.0.0.2" store="fr-F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105</TotalTime>
  <Words>2209</Words>
  <Application>Microsoft Office PowerPoint</Application>
  <PresentationFormat>Personnalisé</PresentationFormat>
  <Paragraphs>260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Gill Sans MT</vt:lpstr>
      <vt:lpstr>Times New Roman</vt:lpstr>
      <vt:lpstr>Galerie</vt:lpstr>
      <vt:lpstr>Diagnostic des anomalies basales du sens vertical</vt:lpstr>
      <vt:lpstr>INTRODUCTION </vt:lpstr>
      <vt:lpstr>1.  Terminologie des troubles verticaux des bases osseuses </vt:lpstr>
      <vt:lpstr>RAPPEL SUR LA CROISSANCE </vt:lpstr>
      <vt:lpstr>CROISSANCE VERTICALE DU MAXILLAIRE SUPERIEUR </vt:lpstr>
      <vt:lpstr>CROISSANCE VERTICALE DE LA MANDIBULE  </vt:lpstr>
      <vt:lpstr>Présentation PowerPoint</vt:lpstr>
      <vt:lpstr>LES  ELEMENTS DU DIAGNOSTIC DES DYSMORPHOSES  VERTICALES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INFINITY COMPUTER</cp:lastModifiedBy>
  <cp:revision>4</cp:revision>
  <dcterms:created xsi:type="dcterms:W3CDTF">2025-04-07T09:51:42Z</dcterms:created>
  <dcterms:modified xsi:type="dcterms:W3CDTF">2025-04-17T07:30:29Z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Producer">
    <vt:lpwstr>Haru Free PDF Library 2.4.0dev</vt:lpwstr>
  </property>
  <property fmtid="{D5CDD505-2E9C-101B-9397-08002B2CF9AE}" pid="4" name="LastSaved">
    <vt:filetime>2025-04-07T00:00:00Z</vt:filetime>
  </property>
</Properties>
</file>